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62" r:id="rId9"/>
    <p:sldId id="263" r:id="rId10"/>
    <p:sldId id="279" r:id="rId11"/>
    <p:sldId id="281" r:id="rId12"/>
    <p:sldId id="282" r:id="rId13"/>
    <p:sldId id="283" r:id="rId14"/>
    <p:sldId id="284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278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2" autoAdjust="0"/>
    <p:restoredTop sz="94673" autoAdjust="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49BDA-E55D-4DF3-804A-5F4DD1708E0B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92DDE-18F3-4AE2-8EF5-777552A12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plsqltutorial.com/plsql-block-structure/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068" y="1428736"/>
            <a:ext cx="8849864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619" y="1357298"/>
            <a:ext cx="8253056" cy="3906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995" y="1785926"/>
            <a:ext cx="8573847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Declaration Section:</a:t>
            </a: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/>
              <a:t>The Declaration section of a PL/SQL Block starts with the reserved keyword DECLARE. </a:t>
            </a:r>
            <a:endParaRPr lang="en-US" sz="2000" dirty="0" smtClean="0"/>
          </a:p>
          <a:p>
            <a:r>
              <a:rPr lang="en-US" sz="2000" dirty="0" smtClean="0"/>
              <a:t>This </a:t>
            </a:r>
            <a:r>
              <a:rPr lang="en-US" sz="2000" dirty="0"/>
              <a:t>section is optional and is used to declare any placeholders like variables, constants, records and cursors, which are used to manipulate data in the execution section.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>
                <a:solidFill>
                  <a:srgbClr val="FF0000"/>
                </a:solidFill>
              </a:rPr>
              <a:t>Execution Section:</a:t>
            </a: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/>
              <a:t>The Execution section of a PL/SQL Block starts with the reserved keyword BEGIN and ends with END. </a:t>
            </a:r>
            <a:endParaRPr lang="en-US" sz="2000" dirty="0" smtClean="0"/>
          </a:p>
          <a:p>
            <a:r>
              <a:rPr lang="en-US" sz="2000" dirty="0" smtClean="0"/>
              <a:t>This </a:t>
            </a:r>
            <a:r>
              <a:rPr lang="en-US" sz="2000" dirty="0"/>
              <a:t>is a mandatory section and is the section where the program logic is written to perform any task.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programmatic constructs like loops, conditional statement and SQL statements form the part of execution section.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>
                <a:solidFill>
                  <a:srgbClr val="FF0000"/>
                </a:solidFill>
              </a:rPr>
              <a:t>Exception Section:</a:t>
            </a: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/>
              <a:t>The Exception section of a PL/SQL Block starts with the reserved keyword EXCEPTION. </a:t>
            </a:r>
            <a:endParaRPr lang="en-US" sz="2000" dirty="0" smtClean="0"/>
          </a:p>
          <a:p>
            <a:r>
              <a:rPr lang="en-US" sz="2000" dirty="0" smtClean="0"/>
              <a:t>This </a:t>
            </a:r>
            <a:r>
              <a:rPr lang="en-US" sz="2000" dirty="0"/>
              <a:t>section is optional. Any errors in the program can be handled in this section, so that the PL/SQL Blocks terminates gracefully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407942"/>
            <a:ext cx="8286808" cy="536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9144000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181" y="2428868"/>
            <a:ext cx="8578785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7476"/>
            <a:ext cx="8858280" cy="4787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619" y="1357298"/>
            <a:ext cx="8253056" cy="3906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538" y="1009650"/>
            <a:ext cx="8924925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0"/>
            <a:ext cx="427672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279524"/>
            <a:ext cx="8429684" cy="5336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8572560" cy="4015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943103"/>
            <a:ext cx="8358246" cy="4321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42900"/>
            <a:ext cx="8286776" cy="5690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" y="2533650"/>
            <a:ext cx="8858250" cy="2466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2563" y="552450"/>
            <a:ext cx="6238875" cy="575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542925"/>
            <a:ext cx="4605356" cy="577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0813" y="542925"/>
            <a:ext cx="3762375" cy="577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81275" y="790575"/>
            <a:ext cx="3981450" cy="527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97" y="1928802"/>
            <a:ext cx="9136206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525" y="974725"/>
            <a:ext cx="8108950" cy="490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94" y="2428868"/>
            <a:ext cx="8691448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8656" y="785794"/>
            <a:ext cx="8626688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906995"/>
            <a:ext cx="8858312" cy="4696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071678"/>
            <a:ext cx="8940535" cy="241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186C15A-BBEE-762B-3041-09BD410E9047}"/>
              </a:ext>
            </a:extLst>
          </p:cNvPr>
          <p:cNvSpPr txBox="1"/>
          <p:nvPr/>
        </p:nvSpPr>
        <p:spPr>
          <a:xfrm>
            <a:off x="253746" y="455415"/>
            <a:ext cx="8497062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</a:rPr>
              <a:t>Exception Handling</a:t>
            </a:r>
          </a:p>
          <a:p>
            <a:pPr algn="l"/>
            <a:endParaRPr lang="en-IN" sz="2800" dirty="0">
              <a:solidFill>
                <a:srgbClr val="666666"/>
              </a:solidFill>
              <a:latin typeface="Trebuchet MS" panose="020B0603020202020204" pitchFamily="34" charset="0"/>
            </a:endParaRPr>
          </a:p>
          <a:p>
            <a:pPr algn="l"/>
            <a:endParaRPr lang="en-IN" sz="2800" b="0" i="0" dirty="0">
              <a:solidFill>
                <a:srgbClr val="666666"/>
              </a:solidFill>
              <a:effectLst/>
              <a:latin typeface="Trebuchet MS" panose="020B0603020202020204" pitchFamily="34" charset="0"/>
            </a:endParaRPr>
          </a:p>
          <a:p>
            <a:r>
              <a:rPr lang="en-IN" sz="2800" dirty="0"/>
              <a:t> An exception is defined as a special condition that changes the program execution flow. The PL/SQL provides you with a flexible and powerful way to handle such exceptions.</a:t>
            </a:r>
          </a:p>
          <a:p>
            <a:endParaRPr lang="en-IN" sz="2800" dirty="0"/>
          </a:p>
          <a:p>
            <a:r>
              <a:rPr lang="en-IN" sz="2800" dirty="0"/>
              <a:t>PL/SQL catches and handles exceptions by using exception handler architecture. Whenever an exception occurs, it is raised. The current </a:t>
            </a:r>
            <a:r>
              <a:rPr lang="en-IN" sz="2800" dirty="0">
                <a:hlinkClick r:id="rId2" tooltip="PL/SQL Block Structure"/>
              </a:rPr>
              <a:t>PL/SQL block</a:t>
            </a:r>
            <a:r>
              <a:rPr lang="en-IN" sz="2800" dirty="0"/>
              <a:t> execution halts, control is passed to a separate section called </a:t>
            </a:r>
            <a:r>
              <a:rPr lang="en-IN" sz="2800" i="1" dirty="0"/>
              <a:t>exception section</a:t>
            </a:r>
            <a:r>
              <a:rPr lang="en-IN" sz="2800" dirty="0"/>
              <a:t>.</a:t>
            </a:r>
          </a:p>
          <a:p>
            <a:pPr algn="l"/>
            <a:endParaRPr lang="en-IN" sz="2800" b="0" i="0" dirty="0">
              <a:solidFill>
                <a:srgbClr val="666666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71608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11B6B6F-AFDF-BCA1-E908-AE6168D2F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23" y="671128"/>
            <a:ext cx="5980154" cy="551574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308055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49B00-F589-7D4E-25A2-7CD7CE288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59" y="771154"/>
            <a:ext cx="6687483" cy="53156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01338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8BEBD41-F41A-EBEB-0EA0-32E8FEAAD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207" y="323417"/>
            <a:ext cx="4915586" cy="62111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23584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" y="1371600"/>
            <a:ext cx="7859268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2077765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70D1435-1719-B1E6-2FF1-CC72AB25E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30" y="1115568"/>
            <a:ext cx="8673290" cy="469087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04005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1781666"/>
            <a:ext cx="8865909" cy="4124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ato"/>
                <a:cs typeface="Arial" pitchFamily="34" charset="0"/>
              </a:rPr>
              <a:t>User-defined Exceptions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ato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PL/SQL allows you to define your own exceptions according to the need of your program.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A user-defined exception must be declared and then raised explicitly, using either a RAISE statement or the procedure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Arial" pitchFamily="34" charset="0"/>
              </a:rPr>
              <a:t>DBMS_STANDARD.RAISE_APPLICATION_ERROR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.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smtClean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The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syntax for declaring an exception is −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ui-monospace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ui-monospace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  <a:cs typeface="Arial" pitchFamily="34" charset="0"/>
              </a:rPr>
              <a:t>DECLARE my-exception EXCEPTION; 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81332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1D8C848-F1F5-8733-3AD9-4424FAE38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0"/>
            <a:ext cx="8092440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49398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161D1C1-723C-1A30-D82B-0075D1AF0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32" y="0"/>
            <a:ext cx="7074937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95786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3F49D83-5339-5579-8866-766FEC796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93" y="156706"/>
            <a:ext cx="7187615" cy="65445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322084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52CB0B8-28E4-D3CA-59B2-7B4C7AB04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60" y="513943"/>
            <a:ext cx="7644880" cy="583011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24426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8BB3A21-094E-3E35-740B-CAC49D4F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01" y="1357470"/>
            <a:ext cx="6105192" cy="38637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71988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0247AA5-5B0A-860A-3646-87A1DC73A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1" y="0"/>
            <a:ext cx="5938394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61253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2165219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57930E7-455A-1A5D-C0A7-01008DE69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7" y="0"/>
            <a:ext cx="6734195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47614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62545A6-876F-4353-485F-3827DEA82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060" y="0"/>
            <a:ext cx="5205880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23484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ADF5EFD-6C35-A9B6-D1AB-55F4788C8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55" y="1794391"/>
            <a:ext cx="6608891" cy="171473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54230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69FF20A-747B-8E64-3884-1DCBFC34F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1A42026-6E1C-FBBF-E1B9-870C2692A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38" y="561575"/>
            <a:ext cx="7380524" cy="57348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301475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A93147D-6DCE-81C6-EB7D-E8A884C1E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6ACD1E0-0FAD-3796-D453-0263B2D78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657" y="0"/>
            <a:ext cx="6506686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407829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628121-9A47-CFAA-D2A0-FFDB470A2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39D61FC-8150-8969-D978-448354892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246" y="-31636"/>
            <a:ext cx="4686448" cy="662372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029895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7EA34B5-28EB-26E6-0E74-E56ABC123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53" y="571101"/>
            <a:ext cx="6944694" cy="5715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35064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0302" y="701839"/>
            <a:ext cx="885367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Packages</a:t>
            </a:r>
          </a:p>
          <a:p>
            <a:endParaRPr lang="en-US" sz="2400" dirty="0" smtClean="0"/>
          </a:p>
          <a:p>
            <a:r>
              <a:rPr lang="en-US" sz="2400" dirty="0" smtClean="0"/>
              <a:t>PL/SQL package is a group of related functions, procedures, types, cursors, etc. </a:t>
            </a:r>
          </a:p>
          <a:p>
            <a:r>
              <a:rPr lang="en-US" sz="2400" dirty="0" smtClean="0"/>
              <a:t>PL/SQL package is like a library once written stored in the Oracle database and can be used by many applications.</a:t>
            </a:r>
          </a:p>
          <a:p>
            <a:endParaRPr lang="en-US" sz="2400" dirty="0" smtClean="0"/>
          </a:p>
          <a:p>
            <a:r>
              <a:rPr lang="en-US" sz="2400" dirty="0" smtClean="0"/>
              <a:t>A PL/SQL package has two parts: package specification and package body.</a:t>
            </a:r>
          </a:p>
          <a:p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FF0000"/>
                </a:solidFill>
              </a:rPr>
              <a:t>package specification is the public interface of applications. </a:t>
            </a:r>
          </a:p>
          <a:p>
            <a:endParaRPr lang="en-US" sz="2400" dirty="0" smtClean="0"/>
          </a:p>
          <a:p>
            <a:r>
              <a:rPr lang="en-US" sz="2400" dirty="0" smtClean="0"/>
              <a:t>The public means the stored function, procedures, types, etc., are accessible from other applications.</a:t>
            </a:r>
          </a:p>
          <a:p>
            <a:endParaRPr lang="en-US" sz="2400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A package body contains the code that implements the package specification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2326" y="1353974"/>
            <a:ext cx="831189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What is a Trigger?</a:t>
            </a:r>
          </a:p>
          <a:p>
            <a:endParaRPr lang="en-US" sz="3200" dirty="0" smtClean="0"/>
          </a:p>
          <a:p>
            <a:r>
              <a:rPr lang="en-US" sz="3200" dirty="0" smtClean="0"/>
              <a:t>A trigger is a pl/</a:t>
            </a:r>
            <a:r>
              <a:rPr lang="en-US" sz="3200" dirty="0" err="1" smtClean="0"/>
              <a:t>sql</a:t>
            </a:r>
            <a:r>
              <a:rPr lang="en-US" sz="3200" dirty="0" smtClean="0"/>
              <a:t> block structure which is fired when a DML statements like Insert, Delete, Update is executed on a database table.  </a:t>
            </a:r>
          </a:p>
          <a:p>
            <a:endParaRPr lang="en-US" sz="3200" dirty="0" smtClean="0"/>
          </a:p>
          <a:p>
            <a:r>
              <a:rPr lang="en-US" sz="3200" dirty="0" smtClean="0"/>
              <a:t>A trigger is triggered automatically when an associated DML statement is executed.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6314" y="894506"/>
            <a:ext cx="831189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1. Create Package Specification :</a:t>
            </a:r>
          </a:p>
          <a:p>
            <a:endParaRPr lang="en-US" dirty="0" smtClean="0"/>
          </a:p>
          <a:p>
            <a:r>
              <a:rPr lang="en-US" dirty="0" smtClean="0"/>
              <a:t>syntax:</a:t>
            </a:r>
          </a:p>
          <a:p>
            <a:r>
              <a:rPr lang="en-US" dirty="0" smtClean="0"/>
              <a:t>	Create or replace package </a:t>
            </a:r>
            <a:r>
              <a:rPr lang="en-US" dirty="0" err="1" smtClean="0"/>
              <a:t>package</a:t>
            </a:r>
            <a:r>
              <a:rPr lang="en-US" dirty="0" smtClean="0"/>
              <a:t>-name is</a:t>
            </a:r>
          </a:p>
          <a:p>
            <a:r>
              <a:rPr lang="en-US" dirty="0" smtClean="0"/>
              <a:t>		declaration of Procedures /Functions/cursors</a:t>
            </a:r>
          </a:p>
          <a:p>
            <a:r>
              <a:rPr lang="en-US" dirty="0" smtClean="0"/>
              <a:t>	end package-name;</a:t>
            </a:r>
          </a:p>
          <a:p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 smtClean="0"/>
              <a:t>. Create Package body</a:t>
            </a:r>
          </a:p>
          <a:p>
            <a:endParaRPr lang="en-US" dirty="0" smtClean="0"/>
          </a:p>
          <a:p>
            <a:r>
              <a:rPr lang="en-US" dirty="0" err="1" smtClean="0"/>
              <a:t>syn</a:t>
            </a:r>
            <a:r>
              <a:rPr lang="en-US" dirty="0" smtClean="0"/>
              <a:t>:</a:t>
            </a:r>
          </a:p>
          <a:p>
            <a:r>
              <a:rPr lang="en-US" dirty="0" smtClean="0"/>
              <a:t>	create or replace package body package-name is </a:t>
            </a:r>
          </a:p>
          <a:p>
            <a:r>
              <a:rPr lang="en-US" dirty="0" smtClean="0"/>
              <a:t>		implement package specification interfaces</a:t>
            </a:r>
          </a:p>
          <a:p>
            <a:r>
              <a:rPr lang="en-US" dirty="0" smtClean="0"/>
              <a:t>	end package-name;</a:t>
            </a:r>
          </a:p>
          <a:p>
            <a:endParaRPr lang="en-US" dirty="0" smtClean="0"/>
          </a:p>
          <a:p>
            <a:r>
              <a:rPr lang="en-US" dirty="0" smtClean="0"/>
              <a:t>3. To Call :</a:t>
            </a:r>
          </a:p>
          <a:p>
            <a:endParaRPr lang="en-US" dirty="0" smtClean="0"/>
          </a:p>
          <a:p>
            <a:r>
              <a:rPr lang="en-US" dirty="0" smtClean="0"/>
              <a:t>	Package-</a:t>
            </a:r>
            <a:r>
              <a:rPr lang="en-US" dirty="0" err="1" smtClean="0"/>
              <a:t>name.procedure</a:t>
            </a:r>
            <a:r>
              <a:rPr lang="en-US" dirty="0" smtClean="0"/>
              <a:t>/function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5376" y="581200"/>
            <a:ext cx="4110800" cy="5801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4350" y="1867376"/>
            <a:ext cx="84353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Dynamic SQL </a:t>
            </a:r>
            <a:r>
              <a:rPr lang="en-US" sz="2400" dirty="0" smtClean="0"/>
              <a:t>in PL/SQL refers to the construction and execution of SQL statements or entire PL/SQL blocks at runtime, rather than having them fully defined and fixed at compile time. </a:t>
            </a:r>
          </a:p>
          <a:p>
            <a:endParaRPr lang="en-US" sz="2400" dirty="0" smtClean="0"/>
          </a:p>
          <a:p>
            <a:r>
              <a:rPr lang="en-US" sz="2400" dirty="0" smtClean="0"/>
              <a:t>This provides flexibility, allowing programs to adapt to varying conditions or user inputs</a:t>
            </a:r>
          </a:p>
          <a:p>
            <a:endParaRPr lang="en-IN" sz="2400" dirty="0" smtClean="0"/>
          </a:p>
          <a:p>
            <a:endParaRPr lang="en-IN" sz="2400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EXECUTE IMMEDIATE </a:t>
            </a:r>
            <a:r>
              <a:rPr lang="en-US" sz="2400" dirty="0" smtClean="0"/>
              <a:t>executes the dynamically built SQL statement.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628" y="283464"/>
            <a:ext cx="8140446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Dynaic</a:t>
            </a:r>
            <a:r>
              <a:rPr lang="en-US" b="1" dirty="0" smtClean="0"/>
              <a:t> SQL</a:t>
            </a:r>
          </a:p>
          <a:p>
            <a:endParaRPr lang="en-US" dirty="0" smtClean="0"/>
          </a:p>
          <a:p>
            <a:r>
              <a:rPr lang="en-US" dirty="0" smtClean="0"/>
              <a:t>EXECUTE IMMEDIATE 'dynamic </a:t>
            </a:r>
            <a:r>
              <a:rPr lang="en-US" dirty="0" err="1" smtClean="0"/>
              <a:t>sql</a:t>
            </a:r>
            <a:r>
              <a:rPr lang="en-US" dirty="0" smtClean="0"/>
              <a:t> </a:t>
            </a:r>
            <a:r>
              <a:rPr lang="en-US" dirty="0" err="1" smtClean="0"/>
              <a:t>comand</a:t>
            </a:r>
            <a:r>
              <a:rPr lang="en-US" dirty="0" smtClean="0"/>
              <a:t>'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create or replace procedure </a:t>
            </a:r>
            <a:r>
              <a:rPr lang="en-US" dirty="0" err="1" smtClean="0"/>
              <a:t>drop_table</a:t>
            </a:r>
            <a:r>
              <a:rPr lang="en-US" dirty="0" smtClean="0"/>
              <a:t>(n in varchar2)is</a:t>
            </a:r>
          </a:p>
          <a:p>
            <a:r>
              <a:rPr lang="en-US" dirty="0" smtClean="0"/>
              <a:t>begin</a:t>
            </a:r>
          </a:p>
          <a:p>
            <a:endParaRPr lang="en-US" dirty="0" smtClean="0"/>
          </a:p>
          <a:p>
            <a:r>
              <a:rPr lang="en-US" dirty="0" smtClean="0"/>
              <a:t>EXECUTE IMMEDIATE 'DROP TABLE '||n;</a:t>
            </a:r>
          </a:p>
          <a:p>
            <a:endParaRPr lang="en-US" dirty="0" smtClean="0"/>
          </a:p>
          <a:p>
            <a:r>
              <a:rPr lang="en-US" dirty="0" smtClean="0"/>
              <a:t>end;</a:t>
            </a:r>
          </a:p>
          <a:p>
            <a:r>
              <a:rPr lang="en-US" dirty="0" smtClean="0"/>
              <a:t>/</a:t>
            </a:r>
          </a:p>
          <a:p>
            <a:endParaRPr lang="en-US" dirty="0" smtClean="0"/>
          </a:p>
          <a:p>
            <a:r>
              <a:rPr lang="en-US" dirty="0" smtClean="0"/>
              <a:t>create or replace procedure </a:t>
            </a:r>
            <a:r>
              <a:rPr lang="en-US" dirty="0" err="1" smtClean="0"/>
              <a:t>drop_object</a:t>
            </a:r>
            <a:r>
              <a:rPr lang="en-US" dirty="0" smtClean="0"/>
              <a:t>(t in varchar2, n in varchar2) </a:t>
            </a:r>
          </a:p>
          <a:p>
            <a:r>
              <a:rPr lang="en-US" dirty="0" smtClean="0"/>
              <a:t>is</a:t>
            </a:r>
          </a:p>
          <a:p>
            <a:r>
              <a:rPr lang="en-US" dirty="0" smtClean="0"/>
              <a:t>begin</a:t>
            </a:r>
          </a:p>
          <a:p>
            <a:endParaRPr lang="en-US" dirty="0" smtClean="0"/>
          </a:p>
          <a:p>
            <a:r>
              <a:rPr lang="en-US" dirty="0" smtClean="0"/>
              <a:t>EXECUTE IMMEDIATE 'DROP '||t||' '||n;</a:t>
            </a:r>
          </a:p>
          <a:p>
            <a:endParaRPr lang="en-US" dirty="0" smtClean="0"/>
          </a:p>
          <a:p>
            <a:r>
              <a:rPr lang="en-US" dirty="0" smtClean="0"/>
              <a:t>end;</a:t>
            </a:r>
          </a:p>
          <a:p>
            <a:r>
              <a:rPr lang="en-US" dirty="0" smtClean="0"/>
              <a:t>/</a:t>
            </a:r>
          </a:p>
          <a:p>
            <a:endParaRPr lang="en-US" dirty="0" smtClean="0"/>
          </a:p>
          <a:p>
            <a:r>
              <a:rPr lang="en-US" dirty="0" smtClean="0"/>
              <a:t>EXECUTE DROP_OBJECT('SEQUENCE','S1');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279</Words>
  <Application>Microsoft Office PowerPoint</Application>
  <PresentationFormat>On-screen Show (4:3)</PresentationFormat>
  <Paragraphs>87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16</cp:revision>
  <dcterms:created xsi:type="dcterms:W3CDTF">2025-07-29T14:52:37Z</dcterms:created>
  <dcterms:modified xsi:type="dcterms:W3CDTF">2025-08-01T06:37:04Z</dcterms:modified>
</cp:coreProperties>
</file>