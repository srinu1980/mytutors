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23" r:id="rId17"/>
    <p:sldId id="324" r:id="rId18"/>
    <p:sldId id="325" r:id="rId19"/>
    <p:sldId id="326" r:id="rId20"/>
    <p:sldId id="327" r:id="rId21"/>
    <p:sldId id="271" r:id="rId22"/>
    <p:sldId id="272" r:id="rId23"/>
    <p:sldId id="273" r:id="rId24"/>
    <p:sldId id="274" r:id="rId25"/>
    <p:sldId id="275" r:id="rId26"/>
    <p:sldId id="276" r:id="rId27"/>
    <p:sldId id="277" r:id="rId28"/>
    <p:sldId id="278" r:id="rId29"/>
    <p:sldId id="322"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E8C641-B484-4DD3-908D-357FC2BF3B4B}" type="datetimeFigureOut">
              <a:rPr lang="en-US" smtClean="0"/>
              <a:pPr/>
              <a:t>7/25/2024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E8C641-B484-4DD3-908D-357FC2BF3B4B}" type="datetimeFigureOut">
              <a:rPr lang="en-US" smtClean="0"/>
              <a:pPr/>
              <a:t>7/25/2024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E8C641-B484-4DD3-908D-357FC2BF3B4B}" type="datetimeFigureOut">
              <a:rPr lang="en-US" smtClean="0"/>
              <a:pPr/>
              <a:t>7/25/2024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E8C641-B484-4DD3-908D-357FC2BF3B4B}" type="datetimeFigureOut">
              <a:rPr lang="en-US" smtClean="0"/>
              <a:pPr/>
              <a:t>7/25/2024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E8C641-B484-4DD3-908D-357FC2BF3B4B}" type="datetimeFigureOut">
              <a:rPr lang="en-US" smtClean="0"/>
              <a:pPr/>
              <a:t>7/25/2024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8C641-B484-4DD3-908D-357FC2BF3B4B}" type="datetimeFigureOut">
              <a:rPr lang="en-US" smtClean="0"/>
              <a:pPr/>
              <a:t>7/25/2024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8C641-B484-4DD3-908D-357FC2BF3B4B}" type="datetimeFigureOut">
              <a:rPr lang="en-US" smtClean="0"/>
              <a:pPr/>
              <a:t>7/25/2024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E8C641-B484-4DD3-908D-357FC2BF3B4B}" type="datetimeFigureOut">
              <a:rPr lang="en-US" smtClean="0"/>
              <a:pPr/>
              <a:t>7/25/2024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E28C16-1B3B-4A9B-A9B3-9EEF041284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www.c-sharpcorner.com/article/component-in-react/"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www.pragimtech.com/blog/reactjs/reactjs-introduction/" TargetMode="External"/><Relationship Id="rId3" Type="http://schemas.openxmlformats.org/officeDocument/2006/relationships/hyperlink" Target="https://dotnettutorials.net/course/reactjs-tutorials/" TargetMode="External"/><Relationship Id="rId7" Type="http://schemas.openxmlformats.org/officeDocument/2006/relationships/hyperlink" Target="https://www.geeksforgeeks.org/react-tutorial/" TargetMode="External"/><Relationship Id="rId2" Type="http://schemas.openxmlformats.org/officeDocument/2006/relationships/hyperlink" Target="https://www.c-sharpcorner.com/article/jsx-and-hooks/" TargetMode="External"/><Relationship Id="rId1" Type="http://schemas.openxmlformats.org/officeDocument/2006/relationships/slideLayout" Target="../slideLayouts/slideLayout7.xml"/><Relationship Id="rId6" Type="http://schemas.openxmlformats.org/officeDocument/2006/relationships/hyperlink" Target="https://www.simplilearn.com/tutorials/reactjs-tutorial/reactjs-state" TargetMode="External"/><Relationship Id="rId5" Type="http://schemas.openxmlformats.org/officeDocument/2006/relationships/hyperlink" Target="https://www.tutorialspoint.com/reactjs/reactjs_introduction.htm" TargetMode="External"/><Relationship Id="rId4" Type="http://schemas.openxmlformats.org/officeDocument/2006/relationships/hyperlink" Target="https://www.guru99.com/reactjs-tutorial.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memberstack.com/blog/react-redux" TargetMode="External"/><Relationship Id="rId2" Type="http://schemas.openxmlformats.org/officeDocument/2006/relationships/hyperlink" Target="https://medium.com/swlh/what-is-redux-b16b42b33820"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https://mindmajix.com/react-js-tutorial</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1162050"/>
            <a:ext cx="9144000" cy="45339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14282" y="785794"/>
            <a:ext cx="8337550" cy="13208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srcRect/>
          <a:stretch>
            <a:fillRect/>
          </a:stretch>
        </p:blipFill>
        <p:spPr bwMode="auto">
          <a:xfrm>
            <a:off x="-35041" y="857232"/>
            <a:ext cx="9179041" cy="498159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71438" y="1285860"/>
            <a:ext cx="8929718" cy="378458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0" y="5357826"/>
            <a:ext cx="8299450" cy="10795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1117600"/>
            <a:ext cx="9144000" cy="46228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9086" y="406400"/>
            <a:ext cx="9173118" cy="5594368"/>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0" y="1012825"/>
            <a:ext cx="9144000" cy="483235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0" y="2801938"/>
            <a:ext cx="9144000" cy="198438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14422"/>
            <a:ext cx="8858312" cy="4031873"/>
          </a:xfrm>
          <a:prstGeom prst="rect">
            <a:avLst/>
          </a:prstGeom>
        </p:spPr>
        <p:txBody>
          <a:bodyPr wrap="square">
            <a:spAutoFit/>
          </a:bodyPr>
          <a:lstStyle/>
          <a:p>
            <a:r>
              <a:rPr lang="en-US" sz="3200" dirty="0"/>
              <a:t>React is a front-end library that is responsible for the user interface. </a:t>
            </a:r>
            <a:endParaRPr lang="en-US" sz="3200" dirty="0" smtClean="0"/>
          </a:p>
          <a:p>
            <a:endParaRPr lang="en-US" sz="3200" dirty="0"/>
          </a:p>
          <a:p>
            <a:r>
              <a:rPr lang="en-US" sz="3200" dirty="0" smtClean="0"/>
              <a:t>It </a:t>
            </a:r>
            <a:r>
              <a:rPr lang="en-US" sz="3200" dirty="0"/>
              <a:t>is neither a whole framework nor a language. It is an open source JavaScript library for building the UI (user interface) of an application</a:t>
            </a:r>
            <a:r>
              <a:rPr lang="en-US" sz="3200" dirty="0" smtClean="0"/>
              <a:t>.</a:t>
            </a:r>
          </a:p>
          <a:p>
            <a:endParaRPr lang="en-IN" sz="3200" dirty="0"/>
          </a:p>
          <a:p>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43841"/>
            <a:ext cx="8858280" cy="4524315"/>
          </a:xfrm>
          <a:prstGeom prst="rect">
            <a:avLst/>
          </a:prstGeom>
        </p:spPr>
        <p:txBody>
          <a:bodyPr wrap="square">
            <a:spAutoFit/>
          </a:bodyPr>
          <a:lstStyle/>
          <a:p>
            <a:r>
              <a:rPr lang="en-US" sz="2400" b="1" dirty="0" smtClean="0"/>
              <a:t>Why React</a:t>
            </a:r>
          </a:p>
          <a:p>
            <a:endParaRPr lang="en-US" sz="2400" dirty="0" smtClean="0"/>
          </a:p>
          <a:p>
            <a:r>
              <a:rPr lang="en-US" sz="2400" dirty="0" smtClean="0"/>
              <a:t>React is declarative, flexible, and easy to learn. React is maintained by </a:t>
            </a:r>
            <a:r>
              <a:rPr lang="en-US" sz="2400" dirty="0" err="1" smtClean="0"/>
              <a:t>Facebook</a:t>
            </a:r>
            <a:r>
              <a:rPr lang="en-US" sz="2400" dirty="0" smtClean="0"/>
              <a:t> and a community of individual developers. Currently, there is a great demand for React.js in the industry.</a:t>
            </a:r>
          </a:p>
          <a:p>
            <a:endParaRPr lang="en-US" sz="2400" dirty="0" smtClean="0"/>
          </a:p>
          <a:p>
            <a:r>
              <a:rPr lang="en-US" sz="2400" dirty="0" smtClean="0"/>
              <a:t>React can be used for development of single page applications or mobile applications. For complex applications, React uses additional libraries for state management, routing, and interaction with an API.</a:t>
            </a:r>
          </a:p>
          <a:p>
            <a:endParaRPr lang="en-US" sz="2400" dirty="0" smtClean="0"/>
          </a:p>
          <a:p>
            <a:r>
              <a:rPr lang="en-US" sz="2400" dirty="0" smtClean="0"/>
              <a:t>React allows us to compose complex UIs by writing a small piece of code. An isolated piece of code is called Component.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2828836"/>
            <a:ext cx="8715436" cy="1938992"/>
          </a:xfrm>
          <a:prstGeom prst="rect">
            <a:avLst/>
          </a:prstGeom>
        </p:spPr>
        <p:txBody>
          <a:bodyPr wrap="square">
            <a:spAutoFit/>
          </a:bodyPr>
          <a:lstStyle/>
          <a:p>
            <a:r>
              <a:rPr lang="en-US" sz="2400" b="1" dirty="0"/>
              <a:t>Prerequisites of </a:t>
            </a:r>
            <a:r>
              <a:rPr lang="en-US" sz="2400" b="1" dirty="0" smtClean="0"/>
              <a:t>React</a:t>
            </a:r>
          </a:p>
          <a:p>
            <a:endParaRPr lang="en-US" sz="2400" b="1" dirty="0"/>
          </a:p>
          <a:p>
            <a:r>
              <a:rPr lang="en-US" sz="2400" dirty="0"/>
              <a:t>You should have knowledge of HTML, CSS, and JavaScript fundamentals.</a:t>
            </a:r>
          </a:p>
          <a:p>
            <a:r>
              <a:rPr lang="en-US" sz="2400" dirty="0"/>
              <a:t>You should also be aware of ES6.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571480"/>
            <a:ext cx="8634095" cy="3970318"/>
          </a:xfrm>
          <a:prstGeom prst="rect">
            <a:avLst/>
          </a:prstGeom>
        </p:spPr>
        <p:txBody>
          <a:bodyPr wrap="none">
            <a:spAutoFit/>
          </a:bodyPr>
          <a:lstStyle/>
          <a:p>
            <a:r>
              <a:rPr lang="en-US" dirty="0"/>
              <a:t>Folder Structure In </a:t>
            </a:r>
            <a:r>
              <a:rPr lang="en-US" dirty="0" smtClean="0"/>
              <a:t>React</a:t>
            </a:r>
          </a:p>
          <a:p>
            <a:endParaRPr lang="en-IN" dirty="0"/>
          </a:p>
          <a:p>
            <a:endParaRPr lang="en-IN" dirty="0" smtClean="0"/>
          </a:p>
          <a:p>
            <a:r>
              <a:rPr lang="en-US" dirty="0"/>
              <a:t>Creating React applications</a:t>
            </a:r>
          </a:p>
          <a:p>
            <a:r>
              <a:rPr lang="en-US" dirty="0"/>
              <a:t> </a:t>
            </a:r>
          </a:p>
          <a:p>
            <a:r>
              <a:rPr lang="en-US" dirty="0"/>
              <a:t>In order to create a React application, we will be using the </a:t>
            </a:r>
            <a:r>
              <a:rPr lang="en-US" i="1" dirty="0"/>
              <a:t>create-react-app </a:t>
            </a:r>
            <a:r>
              <a:rPr lang="en-US" i="1" dirty="0" err="1"/>
              <a:t>node_module</a:t>
            </a:r>
            <a:r>
              <a:rPr lang="en-US" dirty="0"/>
              <a:t> </a:t>
            </a:r>
            <a:endParaRPr lang="en-US" dirty="0" smtClean="0"/>
          </a:p>
          <a:p>
            <a:r>
              <a:rPr lang="en-US" dirty="0" smtClean="0"/>
              <a:t>provided </a:t>
            </a:r>
            <a:r>
              <a:rPr lang="en-US" dirty="0"/>
              <a:t>by React. This helps us by creating a consistent folder structure automatically </a:t>
            </a:r>
            <a:endParaRPr lang="en-US" dirty="0" smtClean="0"/>
          </a:p>
          <a:p>
            <a:r>
              <a:rPr lang="en-US" dirty="0" smtClean="0"/>
              <a:t>so</a:t>
            </a:r>
            <a:r>
              <a:rPr lang="en-US" dirty="0"/>
              <a:t>, that we don’t need to care about proper and valid folder structure. </a:t>
            </a:r>
            <a:endParaRPr lang="en-US" dirty="0" smtClean="0"/>
          </a:p>
          <a:p>
            <a:endParaRPr lang="en-IN" dirty="0"/>
          </a:p>
          <a:p>
            <a:r>
              <a:rPr lang="en-US" i="1" dirty="0" err="1"/>
              <a:t>npx</a:t>
            </a:r>
            <a:r>
              <a:rPr lang="en-US" i="1" dirty="0"/>
              <a:t> create-react-app </a:t>
            </a:r>
            <a:r>
              <a:rPr lang="en-US" i="1" dirty="0" err="1" smtClean="0"/>
              <a:t>ReactDemo</a:t>
            </a:r>
            <a:endParaRPr lang="en-US" i="1" dirty="0" smtClean="0"/>
          </a:p>
          <a:p>
            <a:endParaRPr lang="en-IN" i="1" dirty="0"/>
          </a:p>
          <a:p>
            <a:endParaRPr lang="en-US" dirty="0"/>
          </a:p>
          <a:p>
            <a:endParaRPr lang="en-IN"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720840"/>
            <a:ext cx="8715436" cy="4247317"/>
          </a:xfrm>
          <a:prstGeom prst="rect">
            <a:avLst/>
          </a:prstGeom>
        </p:spPr>
        <p:txBody>
          <a:bodyPr wrap="square">
            <a:spAutoFit/>
          </a:bodyPr>
          <a:lstStyle/>
          <a:p>
            <a:r>
              <a:rPr lang="en-US" dirty="0"/>
              <a:t>After creating a React application, we will notice that in Terminal, it provides quick tips or commands that will help in executing the React application. </a:t>
            </a:r>
            <a:endParaRPr lang="en-US" dirty="0" smtClean="0"/>
          </a:p>
          <a:p>
            <a:endParaRPr lang="en-US" dirty="0"/>
          </a:p>
          <a:p>
            <a:r>
              <a:rPr lang="en-US" dirty="0" smtClean="0"/>
              <a:t>For </a:t>
            </a:r>
            <a:r>
              <a:rPr lang="en-US" dirty="0"/>
              <a:t>example -</a:t>
            </a:r>
          </a:p>
          <a:p>
            <a:endParaRPr lang="en-US" dirty="0" smtClean="0"/>
          </a:p>
          <a:p>
            <a:r>
              <a:rPr lang="en-US" b="1" dirty="0" err="1" smtClean="0"/>
              <a:t>npm</a:t>
            </a:r>
            <a:r>
              <a:rPr lang="en-US" b="1" dirty="0" smtClean="0"/>
              <a:t> </a:t>
            </a:r>
            <a:r>
              <a:rPr lang="en-US" b="1" dirty="0"/>
              <a:t>start</a:t>
            </a:r>
            <a:r>
              <a:rPr lang="en-US" dirty="0"/>
              <a:t> - This command will start the development server.</a:t>
            </a:r>
          </a:p>
          <a:p>
            <a:endParaRPr lang="en-US" dirty="0" smtClean="0"/>
          </a:p>
          <a:p>
            <a:r>
              <a:rPr lang="en-US" b="1" dirty="0" err="1" smtClean="0"/>
              <a:t>npm</a:t>
            </a:r>
            <a:r>
              <a:rPr lang="en-US" b="1" dirty="0" smtClean="0"/>
              <a:t> </a:t>
            </a:r>
            <a:r>
              <a:rPr lang="en-US" b="1" dirty="0"/>
              <a:t>run build</a:t>
            </a:r>
            <a:r>
              <a:rPr lang="en-US" dirty="0"/>
              <a:t> - Bundles the app into static files for production.</a:t>
            </a:r>
          </a:p>
          <a:p>
            <a:endParaRPr lang="en-US" b="1" dirty="0" smtClean="0"/>
          </a:p>
          <a:p>
            <a:r>
              <a:rPr lang="en-US" b="1" dirty="0" err="1" smtClean="0"/>
              <a:t>npm</a:t>
            </a:r>
            <a:r>
              <a:rPr lang="en-US" b="1" dirty="0" smtClean="0"/>
              <a:t> </a:t>
            </a:r>
            <a:r>
              <a:rPr lang="en-US" b="1" dirty="0"/>
              <a:t>test </a:t>
            </a:r>
            <a:r>
              <a:rPr lang="en-US" dirty="0"/>
              <a:t>- starts the test runner.</a:t>
            </a:r>
          </a:p>
          <a:p>
            <a:endParaRPr lang="en-US" dirty="0" smtClean="0"/>
          </a:p>
          <a:p>
            <a:r>
              <a:rPr lang="en-US" b="1" dirty="0" err="1" smtClean="0"/>
              <a:t>npm</a:t>
            </a:r>
            <a:r>
              <a:rPr lang="en-US" b="1" dirty="0" smtClean="0"/>
              <a:t> </a:t>
            </a:r>
            <a:r>
              <a:rPr lang="en-US" b="1" dirty="0"/>
              <a:t>run object</a:t>
            </a:r>
            <a:r>
              <a:rPr lang="en-US" dirty="0"/>
              <a:t> - Removes this tool and copies build dependencies, configuration files, and scripts into the app directory</a:t>
            </a:r>
            <a:r>
              <a:rPr lang="en-US" dirty="0" smtClean="0"/>
              <a:t>.</a:t>
            </a:r>
          </a:p>
          <a:p>
            <a:endParaRPr lang="en-US" dirty="0"/>
          </a:p>
          <a:p>
            <a:r>
              <a:rPr lang="en-US"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214282" y="285728"/>
            <a:ext cx="7729973" cy="6215106"/>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80963" y="300038"/>
            <a:ext cx="8982075" cy="62579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43508" y="1357298"/>
            <a:ext cx="8602794" cy="421484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60375" y="1279525"/>
            <a:ext cx="8223250" cy="42989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616075" y="663575"/>
            <a:ext cx="5911850" cy="55308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14356"/>
            <a:ext cx="8572560" cy="646331"/>
          </a:xfrm>
          <a:prstGeom prst="rect">
            <a:avLst/>
          </a:prstGeom>
        </p:spPr>
        <p:txBody>
          <a:bodyPr wrap="square">
            <a:spAutoFit/>
          </a:bodyPr>
          <a:lstStyle/>
          <a:p>
            <a:r>
              <a:rPr lang="en-US" dirty="0" smtClean="0"/>
              <a:t>https://www.youtube.com/watch?v=2iN1jSaNsFI&amp;list=PLkusOHO_VvuAtYE2PmWcfcffO7SK7VwUT&amp;index=52</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500042"/>
            <a:ext cx="8572560" cy="5355312"/>
          </a:xfrm>
          <a:prstGeom prst="rect">
            <a:avLst/>
          </a:prstGeom>
        </p:spPr>
        <p:txBody>
          <a:bodyPr wrap="square">
            <a:spAutoFit/>
          </a:bodyPr>
          <a:lstStyle/>
          <a:p>
            <a:r>
              <a:rPr lang="en-US" b="1" dirty="0"/>
              <a:t>Components In </a:t>
            </a:r>
            <a:r>
              <a:rPr lang="en-US" b="1" dirty="0" smtClean="0"/>
              <a:t>React</a:t>
            </a:r>
          </a:p>
          <a:p>
            <a:endParaRPr lang="en-IN" dirty="0"/>
          </a:p>
          <a:p>
            <a:endParaRPr lang="en-IN" dirty="0" smtClean="0"/>
          </a:p>
          <a:p>
            <a:r>
              <a:rPr lang="en-US" dirty="0" smtClean="0"/>
              <a:t>In </a:t>
            </a:r>
            <a:r>
              <a:rPr lang="en-US" dirty="0"/>
              <a:t>React, a component is referred to as an isolated piece of code which can be reused in one or the other module. </a:t>
            </a:r>
            <a:endParaRPr lang="en-US" dirty="0" smtClean="0"/>
          </a:p>
          <a:p>
            <a:r>
              <a:rPr lang="en-US" dirty="0" smtClean="0"/>
              <a:t>The </a:t>
            </a:r>
            <a:r>
              <a:rPr lang="en-US" dirty="0"/>
              <a:t>React application contains a root component in which other subcomponents are included; </a:t>
            </a:r>
            <a:endParaRPr lang="en-US" dirty="0" smtClean="0"/>
          </a:p>
          <a:p>
            <a:endParaRPr lang="en-US" dirty="0"/>
          </a:p>
          <a:p>
            <a:r>
              <a:rPr lang="en-US" dirty="0" smtClean="0"/>
              <a:t>for </a:t>
            </a:r>
            <a:r>
              <a:rPr lang="en-US" dirty="0"/>
              <a:t>example - in a single page, the application is subdivided into 3 parts - Header, Main Content, and Footer. </a:t>
            </a:r>
            <a:endParaRPr lang="en-US" dirty="0" smtClean="0"/>
          </a:p>
          <a:p>
            <a:endParaRPr lang="en-US" dirty="0"/>
          </a:p>
          <a:p>
            <a:r>
              <a:rPr lang="en-US" dirty="0" smtClean="0"/>
              <a:t>So</a:t>
            </a:r>
            <a:r>
              <a:rPr lang="en-US" dirty="0"/>
              <a:t>, there is a single App Component having 3 subcomponents - Header Component, </a:t>
            </a:r>
            <a:r>
              <a:rPr lang="en-US" dirty="0" err="1"/>
              <a:t>MainContent</a:t>
            </a:r>
            <a:r>
              <a:rPr lang="en-US" dirty="0"/>
              <a:t> Component, and Footer Component.</a:t>
            </a:r>
          </a:p>
          <a:p>
            <a:r>
              <a:rPr lang="en-US" dirty="0"/>
              <a:t> </a:t>
            </a:r>
          </a:p>
          <a:p>
            <a:r>
              <a:rPr lang="en-US" b="1" dirty="0"/>
              <a:t>There are 2 types of components in React.js</a:t>
            </a:r>
          </a:p>
          <a:p>
            <a:endParaRPr lang="en-US" dirty="0" smtClean="0"/>
          </a:p>
          <a:p>
            <a:r>
              <a:rPr lang="en-US" dirty="0" smtClean="0"/>
              <a:t>Stateless </a:t>
            </a:r>
            <a:r>
              <a:rPr lang="en-US" dirty="0"/>
              <a:t>Functional Component</a:t>
            </a:r>
          </a:p>
          <a:p>
            <a:r>
              <a:rPr lang="en-US" dirty="0" err="1"/>
              <a:t>Stateful</a:t>
            </a:r>
            <a:r>
              <a:rPr lang="en-US" dirty="0"/>
              <a:t> Class Component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997839"/>
            <a:ext cx="8715436" cy="4524315"/>
          </a:xfrm>
          <a:prstGeom prst="rect">
            <a:avLst/>
          </a:prstGeom>
        </p:spPr>
        <p:txBody>
          <a:bodyPr wrap="square">
            <a:spAutoFit/>
          </a:bodyPr>
          <a:lstStyle/>
          <a:p>
            <a:r>
              <a:rPr lang="en-US" dirty="0"/>
              <a:t>Stateless Functional </a:t>
            </a:r>
            <a:r>
              <a:rPr lang="en-US" dirty="0" smtClean="0"/>
              <a:t>Component</a:t>
            </a:r>
          </a:p>
          <a:p>
            <a:endParaRPr lang="en-US" dirty="0"/>
          </a:p>
          <a:p>
            <a:r>
              <a:rPr lang="en-US" dirty="0"/>
              <a:t>This type of component includes simple JavaScript functions. These components include immutable properties, i.e., the value for properties cannot be changed. </a:t>
            </a:r>
            <a:endParaRPr lang="en-US" dirty="0" smtClean="0"/>
          </a:p>
          <a:p>
            <a:endParaRPr lang="en-US" dirty="0"/>
          </a:p>
          <a:p>
            <a:r>
              <a:rPr lang="en-US" dirty="0" smtClean="0"/>
              <a:t>We </a:t>
            </a:r>
            <a:r>
              <a:rPr lang="en-US" dirty="0"/>
              <a:t>need to use Hooks </a:t>
            </a:r>
            <a:r>
              <a:rPr lang="en-US" dirty="0" smtClean="0"/>
              <a:t>to </a:t>
            </a:r>
            <a:r>
              <a:rPr lang="en-US" dirty="0"/>
              <a:t>achieve functionality for making changes in properties using JS. </a:t>
            </a:r>
            <a:endParaRPr lang="en-US" dirty="0" smtClean="0"/>
          </a:p>
          <a:p>
            <a:r>
              <a:rPr lang="en-US" dirty="0" smtClean="0"/>
              <a:t>A </a:t>
            </a:r>
            <a:r>
              <a:rPr lang="en-US" dirty="0"/>
              <a:t>functional component is used mainly for UI.</a:t>
            </a:r>
          </a:p>
          <a:p>
            <a:endParaRPr lang="en-US" dirty="0" smtClean="0"/>
          </a:p>
          <a:p>
            <a:r>
              <a:rPr lang="en-US" b="1" dirty="0"/>
              <a:t>function</a:t>
            </a:r>
            <a:r>
              <a:rPr lang="en-US" dirty="0"/>
              <a:t> Demo(props</a:t>
            </a:r>
            <a:r>
              <a:rPr lang="en-US" dirty="0" smtClean="0"/>
              <a:t>)</a:t>
            </a:r>
          </a:p>
          <a:p>
            <a:r>
              <a:rPr lang="en-US" dirty="0"/>
              <a:t> {  </a:t>
            </a:r>
          </a:p>
          <a:p>
            <a:r>
              <a:rPr lang="en-US" b="1" dirty="0"/>
              <a:t>   return</a:t>
            </a:r>
            <a:r>
              <a:rPr lang="en-US" dirty="0"/>
              <a:t> &lt;h1&gt; Hello, {</a:t>
            </a:r>
            <a:r>
              <a:rPr lang="en-US" dirty="0" err="1"/>
              <a:t>props.Name</a:t>
            </a:r>
            <a:r>
              <a:rPr lang="en-US" dirty="0"/>
              <a:t>} &lt;/h1&gt;;  </a:t>
            </a:r>
          </a:p>
          <a:p>
            <a:r>
              <a:rPr lang="en-US" dirty="0"/>
              <a:t>}  </a:t>
            </a:r>
            <a:endParaRPr lang="en-US" dirty="0" smtClean="0"/>
          </a:p>
          <a:p>
            <a:endParaRPr lang="en-IN" dirty="0"/>
          </a:p>
          <a:p>
            <a:endParaRPr lang="en-IN" dirty="0" smtClean="0"/>
          </a:p>
          <a:p>
            <a:r>
              <a:rPr lang="en-US" dirty="0" smtClean="0">
                <a:hlinkClick r:id="rId2"/>
              </a:rPr>
              <a:t>Components In React (c-sharpcorner.com)</a:t>
            </a:r>
            <a:endParaRPr lang="en-US" dirty="0"/>
          </a:p>
          <a:p>
            <a:r>
              <a:rPr 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551837"/>
            <a:ext cx="8715436" cy="3693319"/>
          </a:xfrm>
          <a:prstGeom prst="rect">
            <a:avLst/>
          </a:prstGeom>
        </p:spPr>
        <p:txBody>
          <a:bodyPr wrap="square">
            <a:spAutoFit/>
          </a:bodyPr>
          <a:lstStyle/>
          <a:p>
            <a:r>
              <a:rPr lang="en-US" dirty="0" err="1"/>
              <a:t>Stateful</a:t>
            </a:r>
            <a:r>
              <a:rPr lang="en-US" dirty="0"/>
              <a:t> Class Component</a:t>
            </a:r>
          </a:p>
          <a:p>
            <a:r>
              <a:rPr lang="en-US" dirty="0"/>
              <a:t> </a:t>
            </a:r>
          </a:p>
          <a:p>
            <a:r>
              <a:rPr lang="en-US" dirty="0"/>
              <a:t>The Class component is ES6 classes which extend the Component class from React library. The class component must include the render method which returns HTML</a:t>
            </a:r>
            <a:r>
              <a:rPr lang="en-US" dirty="0" smtClean="0"/>
              <a:t>.</a:t>
            </a:r>
          </a:p>
          <a:p>
            <a:endParaRPr lang="en-IN" dirty="0"/>
          </a:p>
          <a:p>
            <a:endParaRPr lang="en-IN" dirty="0" smtClean="0"/>
          </a:p>
          <a:p>
            <a:r>
              <a:rPr lang="en-US" b="1" dirty="0"/>
              <a:t>class</a:t>
            </a:r>
            <a:r>
              <a:rPr lang="en-US" dirty="0"/>
              <a:t> Demo </a:t>
            </a:r>
            <a:r>
              <a:rPr lang="en-US" b="1" dirty="0"/>
              <a:t>extends</a:t>
            </a:r>
            <a:r>
              <a:rPr lang="en-US" dirty="0"/>
              <a:t> </a:t>
            </a:r>
            <a:r>
              <a:rPr lang="en-US" dirty="0" err="1"/>
              <a:t>React.Component</a:t>
            </a:r>
            <a:r>
              <a:rPr lang="en-US" dirty="0"/>
              <a:t>{  </a:t>
            </a:r>
          </a:p>
          <a:p>
            <a:r>
              <a:rPr lang="en-US" dirty="0"/>
              <a:t>   render(){  </a:t>
            </a:r>
          </a:p>
          <a:p>
            <a:r>
              <a:rPr lang="en-US" b="1" dirty="0"/>
              <a:t>   return</a:t>
            </a:r>
            <a:r>
              <a:rPr lang="en-US" dirty="0"/>
              <a:t> &lt;h1&gt; Hello, {</a:t>
            </a:r>
            <a:r>
              <a:rPr lang="en-US" dirty="0" err="1"/>
              <a:t>props.Name</a:t>
            </a:r>
            <a:r>
              <a:rPr lang="en-US" dirty="0"/>
              <a:t>} &lt;/h1&gt;;  </a:t>
            </a:r>
          </a:p>
          <a:p>
            <a:r>
              <a:rPr lang="en-US" dirty="0"/>
              <a:t>   }  </a:t>
            </a:r>
          </a:p>
          <a:p>
            <a:r>
              <a:rPr lang="en-US" dirty="0"/>
              <a:t>}  </a:t>
            </a:r>
          </a:p>
          <a:p>
            <a:endParaRPr lang="en-IN"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413338"/>
            <a:ext cx="8858312" cy="1200329"/>
          </a:xfrm>
          <a:prstGeom prst="rect">
            <a:avLst/>
          </a:prstGeom>
        </p:spPr>
        <p:txBody>
          <a:bodyPr wrap="square">
            <a:spAutoFit/>
          </a:bodyPr>
          <a:lstStyle/>
          <a:p>
            <a:r>
              <a:rPr lang="en-US" b="1" dirty="0"/>
              <a:t>Important Point</a:t>
            </a:r>
            <a:endParaRPr lang="en-US" dirty="0"/>
          </a:p>
          <a:p>
            <a:r>
              <a:rPr lang="en-US" dirty="0"/>
              <a:t>You can use it without exporting/importing class/functional component.</a:t>
            </a:r>
          </a:p>
          <a:p>
            <a:r>
              <a:rPr lang="en-US" dirty="0"/>
              <a:t>The imported class/function must be in upper case; else it will give an error.</a:t>
            </a:r>
          </a:p>
          <a:p>
            <a:r>
              <a:rPr lang="en-US" dirty="0"/>
              <a:t>Class/Functional component returning JSX </a:t>
            </a:r>
            <a:r>
              <a:rPr lang="en-US" dirty="0" err="1"/>
              <a:t>i.e</a:t>
            </a:r>
            <a:r>
              <a:rPr lang="en-US" dirty="0"/>
              <a:t>) </a:t>
            </a:r>
            <a:r>
              <a:rPr lang="en-US" dirty="0" err="1"/>
              <a:t>Javascript</a:t>
            </a:r>
            <a:r>
              <a:rPr lang="en-US" dirty="0"/>
              <a:t> XML.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2000250"/>
            <a:ext cx="9215470" cy="292894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82341"/>
            <a:ext cx="8929718" cy="2585323"/>
          </a:xfrm>
          <a:prstGeom prst="rect">
            <a:avLst/>
          </a:prstGeom>
        </p:spPr>
        <p:txBody>
          <a:bodyPr wrap="square">
            <a:spAutoFit/>
          </a:bodyPr>
          <a:lstStyle/>
          <a:p>
            <a:r>
              <a:rPr lang="en-US" dirty="0"/>
              <a:t>What is JSX?</a:t>
            </a:r>
          </a:p>
          <a:p>
            <a:r>
              <a:rPr lang="en-US" dirty="0"/>
              <a:t> </a:t>
            </a:r>
          </a:p>
          <a:p>
            <a:r>
              <a:rPr lang="en-US" dirty="0"/>
              <a:t>JSX is a JavaScript XML used in React applications. JSX is not compulsory to use in React applications but it makes your code more readable, reliable, and easy to modify. JSX is an extension to JavaScript.</a:t>
            </a:r>
          </a:p>
          <a:p>
            <a:r>
              <a:rPr lang="en-US" dirty="0"/>
              <a:t> </a:t>
            </a:r>
          </a:p>
          <a:p>
            <a:r>
              <a:rPr lang="en-US" dirty="0"/>
              <a:t>JSX uses HTML syntax to create elements and components. It is just like a </a:t>
            </a:r>
            <a:r>
              <a:rPr lang="en-US" dirty="0" err="1"/>
              <a:t>templating</a:t>
            </a:r>
            <a:r>
              <a:rPr lang="en-US" dirty="0"/>
              <a:t> syntax. It has the tag name, attributes, and children. JSX compiles the code into pure JavaScript which can be understood by the browser.</a:t>
            </a:r>
          </a:p>
        </p:txBody>
      </p:sp>
      <p:sp>
        <p:nvSpPr>
          <p:cNvPr id="3" name="Rectangle 2"/>
          <p:cNvSpPr/>
          <p:nvPr/>
        </p:nvSpPr>
        <p:spPr>
          <a:xfrm>
            <a:off x="357158" y="5354437"/>
            <a:ext cx="4572000" cy="646331"/>
          </a:xfrm>
          <a:prstGeom prst="rect">
            <a:avLst/>
          </a:prstGeom>
        </p:spPr>
        <p:txBody>
          <a:bodyPr>
            <a:spAutoFit/>
          </a:bodyPr>
          <a:lstStyle/>
          <a:p>
            <a:r>
              <a:rPr lang="en-US" dirty="0" smtClean="0"/>
              <a:t>https://github.com/racharlasrikanth/react-full-course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642918"/>
            <a:ext cx="8429684" cy="3970318"/>
          </a:xfrm>
          <a:prstGeom prst="rect">
            <a:avLst/>
          </a:prstGeom>
        </p:spPr>
        <p:txBody>
          <a:bodyPr wrap="square">
            <a:spAutoFit/>
          </a:bodyPr>
          <a:lstStyle/>
          <a:p>
            <a:r>
              <a:rPr lang="en-US" dirty="0" smtClean="0">
                <a:hlinkClick r:id="rId2"/>
              </a:rPr>
              <a:t>React JSX And Hooks (c-sharpcorner.com)</a:t>
            </a:r>
            <a:endParaRPr lang="en-US" dirty="0" smtClean="0"/>
          </a:p>
          <a:p>
            <a:endParaRPr lang="en-IN" dirty="0"/>
          </a:p>
          <a:p>
            <a:endParaRPr lang="en-IN" dirty="0" smtClean="0"/>
          </a:p>
          <a:p>
            <a:r>
              <a:rPr lang="en-US" dirty="0" smtClean="0">
                <a:hlinkClick r:id="rId3"/>
              </a:rPr>
              <a:t>https://dotnettutorials.net/course/reactjs-tutorials/</a:t>
            </a:r>
            <a:endParaRPr lang="en-US" dirty="0" smtClean="0"/>
          </a:p>
          <a:p>
            <a:endParaRPr lang="en-IN" dirty="0"/>
          </a:p>
          <a:p>
            <a:r>
              <a:rPr lang="en-US" dirty="0" smtClean="0">
                <a:hlinkClick r:id="rId4"/>
              </a:rPr>
              <a:t>https://www.guru99.com/reactjs-tutorial.html</a:t>
            </a:r>
            <a:endParaRPr lang="en-US" dirty="0" smtClean="0"/>
          </a:p>
          <a:p>
            <a:endParaRPr lang="en-IN" dirty="0"/>
          </a:p>
          <a:p>
            <a:r>
              <a:rPr lang="en-US" dirty="0" smtClean="0">
                <a:hlinkClick r:id="rId5"/>
              </a:rPr>
              <a:t>https://www.tutorialspoint.com/reactjs/reactjs_introduction.htm</a:t>
            </a:r>
            <a:endParaRPr lang="en-US" dirty="0" smtClean="0"/>
          </a:p>
          <a:p>
            <a:endParaRPr lang="en-IN" dirty="0"/>
          </a:p>
          <a:p>
            <a:r>
              <a:rPr lang="en-US" dirty="0" smtClean="0">
                <a:hlinkClick r:id="rId6"/>
              </a:rPr>
              <a:t>https://www.simplilearn.com/tutorials/reactjs-tutorial/reactjs-state</a:t>
            </a:r>
            <a:endParaRPr lang="en-US" dirty="0" smtClean="0"/>
          </a:p>
          <a:p>
            <a:r>
              <a:rPr lang="en-US" dirty="0" smtClean="0">
                <a:hlinkClick r:id="rId7"/>
              </a:rPr>
              <a:t>https://www.geeksforgeeks.org/react-tutorial/</a:t>
            </a:r>
            <a:endParaRPr lang="en-US" dirty="0" smtClean="0"/>
          </a:p>
          <a:p>
            <a:endParaRPr lang="en-IN" dirty="0"/>
          </a:p>
          <a:p>
            <a:r>
              <a:rPr lang="en-US" dirty="0" smtClean="0">
                <a:hlinkClick r:id="rId8"/>
              </a:rPr>
              <a:t>https://www.pragimtech.com/blog/reactjs/reactjs-introduction/</a:t>
            </a:r>
            <a:endParaRPr lang="en-US"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1604" y="1928802"/>
            <a:ext cx="5857915" cy="1015663"/>
          </a:xfrm>
          <a:prstGeom prst="rect">
            <a:avLst/>
          </a:prstGeom>
        </p:spPr>
        <p:txBody>
          <a:bodyPr wrap="square">
            <a:spAutoFit/>
          </a:bodyPr>
          <a:lstStyle/>
          <a:p>
            <a:r>
              <a:rPr lang="en-US" sz="6000" b="1" dirty="0" smtClean="0">
                <a:solidFill>
                  <a:srgbClr val="FF0000"/>
                </a:solidFill>
              </a:rPr>
              <a:t>   React - </a:t>
            </a:r>
            <a:r>
              <a:rPr lang="en-US" sz="6000" b="1" dirty="0" err="1" smtClean="0">
                <a:solidFill>
                  <a:srgbClr val="FF0000"/>
                </a:solidFill>
              </a:rPr>
              <a:t>Redux</a:t>
            </a:r>
            <a:endParaRPr lang="en-US" sz="6000" b="1" dirty="0">
              <a:solidFill>
                <a:srgbClr val="FF0000"/>
              </a:solidFill>
            </a:endParaRPr>
          </a:p>
        </p:txBody>
      </p:sp>
      <p:sp>
        <p:nvSpPr>
          <p:cNvPr id="3" name="Rectangle 2"/>
          <p:cNvSpPr/>
          <p:nvPr/>
        </p:nvSpPr>
        <p:spPr>
          <a:xfrm>
            <a:off x="428596" y="3105835"/>
            <a:ext cx="6357966" cy="1477328"/>
          </a:xfrm>
          <a:prstGeom prst="rect">
            <a:avLst/>
          </a:prstGeom>
        </p:spPr>
        <p:txBody>
          <a:bodyPr wrap="square">
            <a:spAutoFit/>
          </a:bodyPr>
          <a:lstStyle/>
          <a:p>
            <a:r>
              <a:rPr lang="en-US" dirty="0" smtClean="0">
                <a:hlinkClick r:id="rId2"/>
              </a:rPr>
              <a:t>https://medium.com/swlh/what-is-redux-b16b42b33820</a:t>
            </a:r>
            <a:endParaRPr lang="en-US" dirty="0" smtClean="0"/>
          </a:p>
          <a:p>
            <a:endParaRPr lang="en-IN" dirty="0" smtClean="0"/>
          </a:p>
          <a:p>
            <a:r>
              <a:rPr lang="en-US" dirty="0" smtClean="0">
                <a:hlinkClick r:id="rId3"/>
              </a:rPr>
              <a:t>https://www.memberstack.com/blog/react-redux</a:t>
            </a:r>
            <a:endParaRPr lang="en-US" dirty="0" smtClean="0"/>
          </a:p>
          <a:p>
            <a:endParaRPr lang="en-IN"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71744"/>
            <a:ext cx="9001156" cy="3046988"/>
          </a:xfrm>
          <a:prstGeom prst="rect">
            <a:avLst/>
          </a:prstGeom>
        </p:spPr>
        <p:txBody>
          <a:bodyPr wrap="square">
            <a:spAutoFit/>
          </a:bodyPr>
          <a:lstStyle/>
          <a:p>
            <a:r>
              <a:rPr lang="en-US" sz="2400" dirty="0" smtClean="0"/>
              <a:t>At a high level, </a:t>
            </a:r>
            <a:r>
              <a:rPr lang="en-US" sz="2400" dirty="0" err="1" smtClean="0"/>
              <a:t>redux</a:t>
            </a:r>
            <a:r>
              <a:rPr lang="en-US" sz="2400" dirty="0" smtClean="0"/>
              <a:t> is a global state management library for JavaScript apps. </a:t>
            </a:r>
          </a:p>
          <a:p>
            <a:endParaRPr lang="en-US" sz="2400" dirty="0" smtClean="0"/>
          </a:p>
          <a:p>
            <a:r>
              <a:rPr lang="en-US" sz="2400" dirty="0" smtClean="0"/>
              <a:t>React </a:t>
            </a:r>
            <a:r>
              <a:rPr lang="en-US" sz="2400" dirty="0" err="1" smtClean="0"/>
              <a:t>Redux</a:t>
            </a:r>
            <a:r>
              <a:rPr lang="en-US" sz="2400" dirty="0" smtClean="0"/>
              <a:t> will offer us a central store to hold all the React application states. </a:t>
            </a:r>
          </a:p>
          <a:p>
            <a:endParaRPr lang="en-US" sz="2400" dirty="0" smtClean="0"/>
          </a:p>
          <a:p>
            <a:r>
              <a:rPr lang="en-US" sz="2400" dirty="0" smtClean="0"/>
              <a:t>It has an API so any component at any level of the app can access and update the state at any time.</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90550" y="1800225"/>
            <a:ext cx="7962900" cy="325755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95325" y="1766888"/>
            <a:ext cx="7753350" cy="332422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581025" y="1447800"/>
            <a:ext cx="7981950" cy="39624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srcRect/>
          <a:stretch>
            <a:fillRect/>
          </a:stretch>
        </p:blipFill>
        <p:spPr bwMode="auto">
          <a:xfrm>
            <a:off x="1528763" y="1804988"/>
            <a:ext cx="6086475" cy="32480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023938" y="1352550"/>
            <a:ext cx="7096125" cy="41529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276350" y="1590675"/>
            <a:ext cx="6591300" cy="36766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242385" y="1428736"/>
            <a:ext cx="8687333" cy="3681427"/>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571472" y="285728"/>
            <a:ext cx="7629525" cy="225742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285720" y="3143248"/>
            <a:ext cx="7096125" cy="294322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714348" y="785794"/>
            <a:ext cx="7286625" cy="2400300"/>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647721" y="3667145"/>
            <a:ext cx="7496179" cy="2619375"/>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314325" y="1528763"/>
            <a:ext cx="8515350" cy="380047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428596" y="714356"/>
            <a:ext cx="7929618" cy="3714776"/>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271463" y="1819275"/>
            <a:ext cx="8601075" cy="3219450"/>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357158" y="214290"/>
            <a:ext cx="8362950" cy="109220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0" y="500042"/>
            <a:ext cx="9017000" cy="1079500"/>
          </a:xfrm>
          <a:prstGeom prst="rect">
            <a:avLst/>
          </a:prstGeom>
          <a:noFill/>
          <a:ln w="9525">
            <a:noFill/>
            <a:miter lim="800000"/>
            <a:headEnd/>
            <a:tailEnd/>
          </a:ln>
          <a:effectLst/>
        </p:spPr>
      </p:pic>
      <p:pic>
        <p:nvPicPr>
          <p:cNvPr id="13315" name="Picture 3"/>
          <p:cNvPicPr>
            <a:picLocks noChangeAspect="1" noChangeArrowheads="1"/>
          </p:cNvPicPr>
          <p:nvPr/>
        </p:nvPicPr>
        <p:blipFill>
          <a:blip r:embed="rId3"/>
          <a:srcRect/>
          <a:stretch>
            <a:fillRect/>
          </a:stretch>
        </p:blipFill>
        <p:spPr bwMode="auto">
          <a:xfrm>
            <a:off x="71406" y="2082814"/>
            <a:ext cx="9001156" cy="33464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0" y="1657350"/>
            <a:ext cx="9874250" cy="35433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0" y="1590674"/>
            <a:ext cx="9144000" cy="4052903"/>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32" y="214290"/>
            <a:ext cx="9144000" cy="4006850"/>
          </a:xfrm>
          <a:prstGeom prst="rect">
            <a:avLst/>
          </a:prstGeom>
          <a:noFill/>
          <a:ln w="9525">
            <a:noFill/>
            <a:miter lim="800000"/>
            <a:headEnd/>
            <a:tailEnd/>
          </a:ln>
          <a:effectLst/>
        </p:spPr>
      </p:pic>
      <p:pic>
        <p:nvPicPr>
          <p:cNvPr id="16387" name="Picture 3"/>
          <p:cNvPicPr>
            <a:picLocks noChangeAspect="1" noChangeArrowheads="1"/>
          </p:cNvPicPr>
          <p:nvPr/>
        </p:nvPicPr>
        <p:blipFill>
          <a:blip r:embed="rId3"/>
          <a:srcRect/>
          <a:stretch>
            <a:fillRect/>
          </a:stretch>
        </p:blipFill>
        <p:spPr bwMode="auto">
          <a:xfrm>
            <a:off x="1500166" y="4643446"/>
            <a:ext cx="5857916" cy="1276134"/>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149225" y="1187450"/>
            <a:ext cx="8845550" cy="44831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71438" y="500042"/>
            <a:ext cx="9001156" cy="2143712"/>
          </a:xfrm>
          <a:prstGeom prst="rect">
            <a:avLst/>
          </a:prstGeom>
          <a:noFill/>
          <a:ln w="9525">
            <a:noFill/>
            <a:miter lim="800000"/>
            <a:headEnd/>
            <a:tailEnd/>
          </a:ln>
          <a:effectLst/>
        </p:spPr>
      </p:pic>
      <p:pic>
        <p:nvPicPr>
          <p:cNvPr id="18435" name="Picture 3"/>
          <p:cNvPicPr>
            <a:picLocks noChangeAspect="1" noChangeArrowheads="1"/>
          </p:cNvPicPr>
          <p:nvPr/>
        </p:nvPicPr>
        <p:blipFill>
          <a:blip r:embed="rId3"/>
          <a:srcRect/>
          <a:stretch>
            <a:fillRect/>
          </a:stretch>
        </p:blipFill>
        <p:spPr bwMode="auto">
          <a:xfrm>
            <a:off x="785786" y="3570308"/>
            <a:ext cx="6134100" cy="278765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500034" y="1285860"/>
            <a:ext cx="6072230" cy="1383546"/>
          </a:xfrm>
          <a:prstGeom prst="rect">
            <a:avLst/>
          </a:prstGeom>
          <a:noFill/>
          <a:ln w="9525">
            <a:noFill/>
            <a:miter lim="800000"/>
            <a:headEnd/>
            <a:tailEnd/>
          </a:ln>
          <a:effectLst/>
        </p:spPr>
      </p:pic>
      <p:pic>
        <p:nvPicPr>
          <p:cNvPr id="19459" name="Picture 3"/>
          <p:cNvPicPr>
            <a:picLocks noChangeAspect="1" noChangeArrowheads="1"/>
          </p:cNvPicPr>
          <p:nvPr/>
        </p:nvPicPr>
        <p:blipFill>
          <a:blip r:embed="rId3"/>
          <a:srcRect/>
          <a:stretch>
            <a:fillRect/>
          </a:stretch>
        </p:blipFill>
        <p:spPr bwMode="auto">
          <a:xfrm>
            <a:off x="571472" y="3500438"/>
            <a:ext cx="7131050" cy="20574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79375" y="214290"/>
            <a:ext cx="8985250" cy="2825750"/>
          </a:xfrm>
          <a:prstGeom prst="rect">
            <a:avLst/>
          </a:prstGeom>
          <a:noFill/>
          <a:ln w="9525">
            <a:noFill/>
            <a:miter lim="800000"/>
            <a:headEnd/>
            <a:tailEnd/>
          </a:ln>
          <a:effectLst/>
        </p:spPr>
      </p:pic>
      <p:pic>
        <p:nvPicPr>
          <p:cNvPr id="20483" name="Picture 3"/>
          <p:cNvPicPr>
            <a:picLocks noChangeAspect="1" noChangeArrowheads="1"/>
          </p:cNvPicPr>
          <p:nvPr/>
        </p:nvPicPr>
        <p:blipFill>
          <a:blip r:embed="rId3"/>
          <a:srcRect/>
          <a:stretch>
            <a:fillRect/>
          </a:stretch>
        </p:blipFill>
        <p:spPr bwMode="auto">
          <a:xfrm>
            <a:off x="3214678" y="2928934"/>
            <a:ext cx="666750" cy="619125"/>
          </a:xfrm>
          <a:prstGeom prst="rect">
            <a:avLst/>
          </a:prstGeom>
          <a:noFill/>
          <a:ln w="9525">
            <a:noFill/>
            <a:miter lim="800000"/>
            <a:headEnd/>
            <a:tailEnd/>
          </a:ln>
          <a:effectLst/>
        </p:spPr>
      </p:pic>
      <p:pic>
        <p:nvPicPr>
          <p:cNvPr id="20484" name="Picture 4"/>
          <p:cNvPicPr>
            <a:picLocks noChangeAspect="1" noChangeArrowheads="1"/>
          </p:cNvPicPr>
          <p:nvPr/>
        </p:nvPicPr>
        <p:blipFill>
          <a:blip r:embed="rId4"/>
          <a:srcRect/>
          <a:stretch>
            <a:fillRect/>
          </a:stretch>
        </p:blipFill>
        <p:spPr bwMode="auto">
          <a:xfrm>
            <a:off x="319112" y="3929066"/>
            <a:ext cx="7753350" cy="27178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srcRect/>
          <a:stretch>
            <a:fillRect/>
          </a:stretch>
        </p:blipFill>
        <p:spPr bwMode="auto">
          <a:xfrm>
            <a:off x="450850" y="1304925"/>
            <a:ext cx="8242300" cy="42481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a:stretch>
            <a:fillRect/>
          </a:stretch>
        </p:blipFill>
        <p:spPr bwMode="auto">
          <a:xfrm>
            <a:off x="928662" y="289570"/>
            <a:ext cx="7000924" cy="563180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srcRect/>
          <a:stretch>
            <a:fillRect/>
          </a:stretch>
        </p:blipFill>
        <p:spPr bwMode="auto">
          <a:xfrm>
            <a:off x="0" y="214290"/>
            <a:ext cx="8820150" cy="1609725"/>
          </a:xfrm>
          <a:prstGeom prst="rect">
            <a:avLst/>
          </a:prstGeom>
          <a:noFill/>
          <a:ln w="9525">
            <a:noFill/>
            <a:miter lim="800000"/>
            <a:headEnd/>
            <a:tailEnd/>
          </a:ln>
          <a:effectLst/>
        </p:spPr>
      </p:pic>
      <p:pic>
        <p:nvPicPr>
          <p:cNvPr id="23555" name="Picture 3"/>
          <p:cNvPicPr>
            <a:picLocks noChangeAspect="1" noChangeArrowheads="1"/>
          </p:cNvPicPr>
          <p:nvPr/>
        </p:nvPicPr>
        <p:blipFill>
          <a:blip r:embed="rId3"/>
          <a:srcRect/>
          <a:stretch>
            <a:fillRect/>
          </a:stretch>
        </p:blipFill>
        <p:spPr bwMode="auto">
          <a:xfrm>
            <a:off x="-30130" y="2898775"/>
            <a:ext cx="9245600" cy="106045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srcRect/>
          <a:stretch>
            <a:fillRect/>
          </a:stretch>
        </p:blipFill>
        <p:spPr bwMode="auto">
          <a:xfrm>
            <a:off x="1028700" y="1171575"/>
            <a:ext cx="7086600" cy="451485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a:stretch>
            <a:fillRect/>
          </a:stretch>
        </p:blipFill>
        <p:spPr bwMode="auto">
          <a:xfrm>
            <a:off x="400050" y="428604"/>
            <a:ext cx="8343900" cy="1200150"/>
          </a:xfrm>
          <a:prstGeom prst="rect">
            <a:avLst/>
          </a:prstGeom>
          <a:noFill/>
          <a:ln w="9525">
            <a:noFill/>
            <a:miter lim="800000"/>
            <a:headEnd/>
            <a:tailEnd/>
          </a:ln>
          <a:effectLst/>
        </p:spPr>
      </p:pic>
      <p:pic>
        <p:nvPicPr>
          <p:cNvPr id="25603" name="Picture 3"/>
          <p:cNvPicPr>
            <a:picLocks noChangeAspect="1" noChangeArrowheads="1"/>
          </p:cNvPicPr>
          <p:nvPr/>
        </p:nvPicPr>
        <p:blipFill>
          <a:blip r:embed="rId3"/>
          <a:srcRect/>
          <a:stretch>
            <a:fillRect/>
          </a:stretch>
        </p:blipFill>
        <p:spPr bwMode="auto">
          <a:xfrm>
            <a:off x="438150" y="2157433"/>
            <a:ext cx="8267700" cy="4200525"/>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571472" y="357166"/>
            <a:ext cx="7029450" cy="4210050"/>
          </a:xfrm>
          <a:prstGeom prst="rect">
            <a:avLst/>
          </a:prstGeom>
          <a:noFill/>
          <a:ln w="9525">
            <a:noFill/>
            <a:miter lim="800000"/>
            <a:headEnd/>
            <a:tailEnd/>
          </a:ln>
          <a:effectLst/>
        </p:spPr>
      </p:pic>
      <p:pic>
        <p:nvPicPr>
          <p:cNvPr id="26627" name="Picture 3"/>
          <p:cNvPicPr>
            <a:picLocks noChangeAspect="1" noChangeArrowheads="1"/>
          </p:cNvPicPr>
          <p:nvPr/>
        </p:nvPicPr>
        <p:blipFill>
          <a:blip r:embed="rId3"/>
          <a:srcRect/>
          <a:stretch>
            <a:fillRect/>
          </a:stretch>
        </p:blipFill>
        <p:spPr bwMode="auto">
          <a:xfrm>
            <a:off x="500034" y="4929198"/>
            <a:ext cx="7381875" cy="85725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srcRect/>
          <a:stretch>
            <a:fillRect/>
          </a:stretch>
        </p:blipFill>
        <p:spPr bwMode="auto">
          <a:xfrm>
            <a:off x="285720" y="285728"/>
            <a:ext cx="8172450" cy="1066800"/>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285720" y="2000240"/>
            <a:ext cx="6934200" cy="211455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2"/>
          <a:srcRect/>
          <a:stretch>
            <a:fillRect/>
          </a:stretch>
        </p:blipFill>
        <p:spPr bwMode="auto">
          <a:xfrm>
            <a:off x="238125" y="1419225"/>
            <a:ext cx="8667750" cy="4019550"/>
          </a:xfrm>
          <a:prstGeom prst="rect">
            <a:avLst/>
          </a:prstGeom>
          <a:noFill/>
          <a:ln w="9525">
            <a:noFill/>
            <a:miter lim="800000"/>
            <a:headEnd/>
            <a:tailEnd/>
          </a:ln>
          <a:effectLst/>
        </p:spPr>
      </p:pic>
      <p:pic>
        <p:nvPicPr>
          <p:cNvPr id="28676" name="Picture 4"/>
          <p:cNvPicPr>
            <a:picLocks noChangeAspect="1" noChangeArrowheads="1"/>
          </p:cNvPicPr>
          <p:nvPr/>
        </p:nvPicPr>
        <p:blipFill>
          <a:blip r:embed="rId3"/>
          <a:srcRect/>
          <a:stretch>
            <a:fillRect/>
          </a:stretch>
        </p:blipFill>
        <p:spPr bwMode="auto">
          <a:xfrm>
            <a:off x="928662" y="5791221"/>
            <a:ext cx="5695950" cy="63817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srcRect/>
          <a:stretch>
            <a:fillRect/>
          </a:stretch>
        </p:blipFill>
        <p:spPr bwMode="auto">
          <a:xfrm>
            <a:off x="1119188" y="1271588"/>
            <a:ext cx="6905625" cy="431482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500034" y="214290"/>
            <a:ext cx="6419850" cy="1181100"/>
          </a:xfrm>
          <a:prstGeom prst="rect">
            <a:avLst/>
          </a:prstGeom>
          <a:noFill/>
          <a:ln w="9525">
            <a:noFill/>
            <a:miter lim="800000"/>
            <a:headEnd/>
            <a:tailEnd/>
          </a:ln>
          <a:effectLst/>
        </p:spPr>
      </p:pic>
      <p:pic>
        <p:nvPicPr>
          <p:cNvPr id="30723" name="Picture 3"/>
          <p:cNvPicPr>
            <a:picLocks noChangeAspect="1" noChangeArrowheads="1"/>
          </p:cNvPicPr>
          <p:nvPr/>
        </p:nvPicPr>
        <p:blipFill>
          <a:blip r:embed="rId3"/>
          <a:srcRect/>
          <a:stretch>
            <a:fillRect/>
          </a:stretch>
        </p:blipFill>
        <p:spPr bwMode="auto">
          <a:xfrm>
            <a:off x="357158" y="2524145"/>
            <a:ext cx="7800975" cy="3762375"/>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srcRect/>
          <a:stretch>
            <a:fillRect/>
          </a:stretch>
        </p:blipFill>
        <p:spPr bwMode="auto">
          <a:xfrm>
            <a:off x="0" y="1400175"/>
            <a:ext cx="9309100" cy="405765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a:stretch>
            <a:fillRect/>
          </a:stretch>
        </p:blipFill>
        <p:spPr bwMode="auto">
          <a:xfrm>
            <a:off x="133350" y="714356"/>
            <a:ext cx="9010650" cy="3028950"/>
          </a:xfrm>
          <a:prstGeom prst="rect">
            <a:avLst/>
          </a:prstGeom>
          <a:noFill/>
          <a:ln w="9525">
            <a:noFill/>
            <a:miter lim="800000"/>
            <a:headEnd/>
            <a:tailEnd/>
          </a:ln>
          <a:effectLst/>
        </p:spPr>
      </p:pic>
      <p:pic>
        <p:nvPicPr>
          <p:cNvPr id="32771" name="Picture 3"/>
          <p:cNvPicPr>
            <a:picLocks noChangeAspect="1" noChangeArrowheads="1"/>
          </p:cNvPicPr>
          <p:nvPr/>
        </p:nvPicPr>
        <p:blipFill>
          <a:blip r:embed="rId3"/>
          <a:srcRect/>
          <a:stretch>
            <a:fillRect/>
          </a:stretch>
        </p:blipFill>
        <p:spPr bwMode="auto">
          <a:xfrm>
            <a:off x="500034" y="4286256"/>
            <a:ext cx="8159750" cy="88265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571472" y="285728"/>
            <a:ext cx="7956550" cy="2019300"/>
          </a:xfrm>
          <a:prstGeom prst="rect">
            <a:avLst/>
          </a:prstGeom>
          <a:noFill/>
          <a:ln w="9525">
            <a:noFill/>
            <a:miter lim="800000"/>
            <a:headEnd/>
            <a:tailEnd/>
          </a:ln>
          <a:effectLst/>
        </p:spPr>
      </p:pic>
      <p:pic>
        <p:nvPicPr>
          <p:cNvPr id="33795" name="Picture 3"/>
          <p:cNvPicPr>
            <a:picLocks noChangeAspect="1" noChangeArrowheads="1"/>
          </p:cNvPicPr>
          <p:nvPr/>
        </p:nvPicPr>
        <p:blipFill>
          <a:blip r:embed="rId3"/>
          <a:srcRect/>
          <a:stretch>
            <a:fillRect/>
          </a:stretch>
        </p:blipFill>
        <p:spPr bwMode="auto">
          <a:xfrm>
            <a:off x="428596" y="2276486"/>
            <a:ext cx="8547100" cy="272415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238125" y="1155700"/>
            <a:ext cx="8667750" cy="45466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srcRect/>
          <a:stretch>
            <a:fillRect/>
          </a:stretch>
        </p:blipFill>
        <p:spPr bwMode="auto">
          <a:xfrm>
            <a:off x="0" y="928670"/>
            <a:ext cx="9143999" cy="445613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a:stretch>
            <a:fillRect/>
          </a:stretch>
        </p:blipFill>
        <p:spPr bwMode="auto">
          <a:xfrm>
            <a:off x="357158" y="71414"/>
            <a:ext cx="8147050" cy="4343400"/>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a:stretch>
            <a:fillRect/>
          </a:stretch>
        </p:blipFill>
        <p:spPr bwMode="auto">
          <a:xfrm>
            <a:off x="0" y="642918"/>
            <a:ext cx="9829800" cy="4687907"/>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0" y="214290"/>
            <a:ext cx="9144000" cy="3251200"/>
          </a:xfrm>
          <a:prstGeom prst="rect">
            <a:avLst/>
          </a:prstGeom>
          <a:noFill/>
          <a:ln w="9525">
            <a:noFill/>
            <a:miter lim="800000"/>
            <a:headEnd/>
            <a:tailEnd/>
          </a:ln>
          <a:effectLst/>
        </p:spPr>
      </p:pic>
      <p:pic>
        <p:nvPicPr>
          <p:cNvPr id="38915" name="Picture 3"/>
          <p:cNvPicPr>
            <a:picLocks noChangeAspect="1" noChangeArrowheads="1"/>
          </p:cNvPicPr>
          <p:nvPr/>
        </p:nvPicPr>
        <p:blipFill>
          <a:blip r:embed="rId3"/>
          <a:srcRect/>
          <a:stretch>
            <a:fillRect/>
          </a:stretch>
        </p:blipFill>
        <p:spPr bwMode="auto">
          <a:xfrm>
            <a:off x="285784" y="3813186"/>
            <a:ext cx="8858216" cy="118745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srcRect/>
          <a:stretch>
            <a:fillRect/>
          </a:stretch>
        </p:blipFill>
        <p:spPr bwMode="auto">
          <a:xfrm>
            <a:off x="142844" y="357166"/>
            <a:ext cx="8715436" cy="1737296"/>
          </a:xfrm>
          <a:prstGeom prst="rect">
            <a:avLst/>
          </a:prstGeom>
          <a:noFill/>
          <a:ln w="9525">
            <a:noFill/>
            <a:miter lim="800000"/>
            <a:headEnd/>
            <a:tailEnd/>
          </a:ln>
          <a:effectLst/>
        </p:spPr>
      </p:pic>
      <p:pic>
        <p:nvPicPr>
          <p:cNvPr id="39939" name="Picture 3"/>
          <p:cNvPicPr>
            <a:picLocks noChangeAspect="1" noChangeArrowheads="1"/>
          </p:cNvPicPr>
          <p:nvPr/>
        </p:nvPicPr>
        <p:blipFill>
          <a:blip r:embed="rId3"/>
          <a:srcRect/>
          <a:stretch>
            <a:fillRect/>
          </a:stretch>
        </p:blipFill>
        <p:spPr bwMode="auto">
          <a:xfrm>
            <a:off x="12700" y="2643182"/>
            <a:ext cx="9118600" cy="1130300"/>
          </a:xfrm>
          <a:prstGeom prst="rect">
            <a:avLst/>
          </a:prstGeom>
          <a:noFill/>
          <a:ln w="9525">
            <a:noFill/>
            <a:miter lim="800000"/>
            <a:headEnd/>
            <a:tailEnd/>
          </a:ln>
          <a:effectLst/>
        </p:spPr>
      </p:pic>
      <p:pic>
        <p:nvPicPr>
          <p:cNvPr id="39940" name="Picture 4"/>
          <p:cNvPicPr>
            <a:picLocks noChangeAspect="1" noChangeArrowheads="1"/>
          </p:cNvPicPr>
          <p:nvPr/>
        </p:nvPicPr>
        <p:blipFill>
          <a:blip r:embed="rId4"/>
          <a:srcRect/>
          <a:stretch>
            <a:fillRect/>
          </a:stretch>
        </p:blipFill>
        <p:spPr bwMode="auto">
          <a:xfrm>
            <a:off x="0" y="4429132"/>
            <a:ext cx="8604250" cy="183515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a:stretch>
            <a:fillRect/>
          </a:stretch>
        </p:blipFill>
        <p:spPr bwMode="auto">
          <a:xfrm>
            <a:off x="0" y="285728"/>
            <a:ext cx="9144000" cy="3879850"/>
          </a:xfrm>
          <a:prstGeom prst="rect">
            <a:avLst/>
          </a:prstGeom>
          <a:noFill/>
          <a:ln w="9525">
            <a:noFill/>
            <a:miter lim="800000"/>
            <a:headEnd/>
            <a:tailEnd/>
          </a:ln>
          <a:effectLst/>
        </p:spPr>
      </p:pic>
      <p:pic>
        <p:nvPicPr>
          <p:cNvPr id="40963" name="Picture 3"/>
          <p:cNvPicPr>
            <a:picLocks noChangeAspect="1" noChangeArrowheads="1"/>
          </p:cNvPicPr>
          <p:nvPr/>
        </p:nvPicPr>
        <p:blipFill>
          <a:blip r:embed="rId3"/>
          <a:srcRect/>
          <a:stretch>
            <a:fillRect/>
          </a:stretch>
        </p:blipFill>
        <p:spPr bwMode="auto">
          <a:xfrm>
            <a:off x="-32" y="4500570"/>
            <a:ext cx="9144032" cy="145415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967335"/>
            <a:ext cx="8501122" cy="646331"/>
          </a:xfrm>
          <a:prstGeom prst="rect">
            <a:avLst/>
          </a:prstGeom>
        </p:spPr>
        <p:txBody>
          <a:bodyPr wrap="square">
            <a:spAutoFit/>
          </a:bodyPr>
          <a:lstStyle/>
          <a:p>
            <a:r>
              <a:rPr lang="en-US" dirty="0" smtClean="0"/>
              <a:t>https://www.youtube.com/watch?v=xnAWeJ1npBk&amp;list=PLNRAO669WN3IrpGdG8XcGYdRrA1PZwGB0&amp;index=14</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851</TotalTime>
  <Words>544</Words>
  <Application>Microsoft Office PowerPoint</Application>
  <PresentationFormat>On-screen Show (4:3)</PresentationFormat>
  <Paragraphs>113</Paragraphs>
  <Slides>72</Slides>
  <Notes>0</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Office Theme</vt:lpstr>
      <vt:lpstr>https://mindmajix.com/react-js-tutorial</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Windows User</cp:lastModifiedBy>
  <cp:revision>78</cp:revision>
  <dcterms:created xsi:type="dcterms:W3CDTF">2024-03-23T11:16:18Z</dcterms:created>
  <dcterms:modified xsi:type="dcterms:W3CDTF">2024-07-25T05:19:08Z</dcterms:modified>
</cp:coreProperties>
</file>