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485" r:id="rId3"/>
    <p:sldId id="469" r:id="rId4"/>
    <p:sldId id="471" r:id="rId5"/>
    <p:sldId id="472" r:id="rId6"/>
    <p:sldId id="462" r:id="rId7"/>
    <p:sldId id="262" r:id="rId8"/>
    <p:sldId id="453" r:id="rId9"/>
    <p:sldId id="267" r:id="rId10"/>
    <p:sldId id="456" r:id="rId11"/>
    <p:sldId id="454" r:id="rId12"/>
    <p:sldId id="271" r:id="rId13"/>
    <p:sldId id="458" r:id="rId14"/>
    <p:sldId id="273" r:id="rId15"/>
    <p:sldId id="274" r:id="rId16"/>
    <p:sldId id="275" r:id="rId17"/>
    <p:sldId id="281" r:id="rId18"/>
    <p:sldId id="282" r:id="rId19"/>
    <p:sldId id="459" r:id="rId20"/>
    <p:sldId id="283" r:id="rId21"/>
    <p:sldId id="460" r:id="rId22"/>
    <p:sldId id="284" r:id="rId23"/>
    <p:sldId id="285" r:id="rId24"/>
    <p:sldId id="475" r:id="rId25"/>
    <p:sldId id="286" r:id="rId26"/>
    <p:sldId id="486" r:id="rId27"/>
    <p:sldId id="288" r:id="rId28"/>
    <p:sldId id="287" r:id="rId29"/>
    <p:sldId id="289" r:id="rId30"/>
    <p:sldId id="290" r:id="rId31"/>
    <p:sldId id="332" r:id="rId32"/>
    <p:sldId id="298" r:id="rId33"/>
    <p:sldId id="461" r:id="rId34"/>
    <p:sldId id="339" r:id="rId35"/>
    <p:sldId id="341" r:id="rId36"/>
    <p:sldId id="340" r:id="rId37"/>
    <p:sldId id="348" r:id="rId38"/>
    <p:sldId id="301" r:id="rId39"/>
    <p:sldId id="306" r:id="rId40"/>
    <p:sldId id="303" r:id="rId41"/>
    <p:sldId id="488" r:id="rId42"/>
    <p:sldId id="489" r:id="rId43"/>
    <p:sldId id="296" r:id="rId44"/>
    <p:sldId id="326" r:id="rId45"/>
    <p:sldId id="324" r:id="rId46"/>
    <p:sldId id="325" r:id="rId47"/>
    <p:sldId id="310" r:id="rId48"/>
    <p:sldId id="311" r:id="rId49"/>
    <p:sldId id="312" r:id="rId50"/>
    <p:sldId id="328" r:id="rId51"/>
    <p:sldId id="329" r:id="rId52"/>
    <p:sldId id="571" r:id="rId53"/>
    <p:sldId id="313" r:id="rId54"/>
    <p:sldId id="327" r:id="rId55"/>
    <p:sldId id="315" r:id="rId56"/>
    <p:sldId id="572" r:id="rId57"/>
    <p:sldId id="345" r:id="rId58"/>
    <p:sldId id="317" r:id="rId59"/>
    <p:sldId id="318" r:id="rId60"/>
    <p:sldId id="377" r:id="rId61"/>
    <p:sldId id="375" r:id="rId62"/>
    <p:sldId id="320" r:id="rId63"/>
    <p:sldId id="573" r:id="rId64"/>
    <p:sldId id="321" r:id="rId65"/>
    <p:sldId id="323" r:id="rId66"/>
    <p:sldId id="322" r:id="rId67"/>
    <p:sldId id="493" r:id="rId68"/>
    <p:sldId id="494" r:id="rId69"/>
    <p:sldId id="390" r:id="rId70"/>
    <p:sldId id="381" r:id="rId71"/>
    <p:sldId id="391" r:id="rId72"/>
    <p:sldId id="383" r:id="rId73"/>
    <p:sldId id="384" r:id="rId74"/>
    <p:sldId id="481" r:id="rId75"/>
    <p:sldId id="574" r:id="rId76"/>
    <p:sldId id="482" r:id="rId77"/>
    <p:sldId id="483" r:id="rId78"/>
    <p:sldId id="385" r:id="rId79"/>
    <p:sldId id="395" r:id="rId80"/>
    <p:sldId id="396" r:id="rId81"/>
    <p:sldId id="495" r:id="rId82"/>
    <p:sldId id="496" r:id="rId83"/>
    <p:sldId id="497" r:id="rId84"/>
    <p:sldId id="499" r:id="rId85"/>
    <p:sldId id="506" r:id="rId86"/>
    <p:sldId id="504" r:id="rId87"/>
    <p:sldId id="507" r:id="rId88"/>
    <p:sldId id="508" r:id="rId89"/>
    <p:sldId id="509" r:id="rId90"/>
    <p:sldId id="512" r:id="rId91"/>
    <p:sldId id="513" r:id="rId92"/>
    <p:sldId id="517" r:id="rId93"/>
    <p:sldId id="518" r:id="rId94"/>
    <p:sldId id="519" r:id="rId95"/>
    <p:sldId id="520" r:id="rId96"/>
    <p:sldId id="522" r:id="rId97"/>
    <p:sldId id="576" r:id="rId98"/>
    <p:sldId id="525" r:id="rId99"/>
    <p:sldId id="541" r:id="rId100"/>
    <p:sldId id="542" r:id="rId101"/>
    <p:sldId id="543" r:id="rId102"/>
    <p:sldId id="544" r:id="rId103"/>
    <p:sldId id="526" r:id="rId104"/>
    <p:sldId id="584" r:id="rId105"/>
    <p:sldId id="585" r:id="rId106"/>
    <p:sldId id="586" r:id="rId107"/>
    <p:sldId id="527" r:id="rId108"/>
    <p:sldId id="583" r:id="rId109"/>
    <p:sldId id="529" r:id="rId110"/>
    <p:sldId id="530" r:id="rId111"/>
    <p:sldId id="531" r:id="rId112"/>
    <p:sldId id="532" r:id="rId113"/>
    <p:sldId id="533" r:id="rId114"/>
    <p:sldId id="577" r:id="rId115"/>
    <p:sldId id="579" r:id="rId116"/>
    <p:sldId id="580" r:id="rId117"/>
    <p:sldId id="581" r:id="rId118"/>
    <p:sldId id="582" r:id="rId119"/>
    <p:sldId id="578" r:id="rId120"/>
    <p:sldId id="534" r:id="rId121"/>
    <p:sldId id="535" r:id="rId122"/>
    <p:sldId id="536" r:id="rId123"/>
    <p:sldId id="537" r:id="rId124"/>
    <p:sldId id="538" r:id="rId125"/>
    <p:sldId id="539" r:id="rId126"/>
    <p:sldId id="540" r:id="rId127"/>
    <p:sldId id="545" r:id="rId128"/>
    <p:sldId id="546" r:id="rId129"/>
    <p:sldId id="564" r:id="rId130"/>
    <p:sldId id="547" r:id="rId131"/>
    <p:sldId id="548" r:id="rId132"/>
    <p:sldId id="587" r:id="rId133"/>
    <p:sldId id="588" r:id="rId134"/>
    <p:sldId id="589" r:id="rId135"/>
    <p:sldId id="591" r:id="rId136"/>
    <p:sldId id="592" r:id="rId137"/>
    <p:sldId id="593" r:id="rId138"/>
    <p:sldId id="594" r:id="rId139"/>
    <p:sldId id="596" r:id="rId140"/>
    <p:sldId id="597" r:id="rId141"/>
    <p:sldId id="599" r:id="rId142"/>
    <p:sldId id="549" r:id="rId143"/>
    <p:sldId id="550" r:id="rId144"/>
    <p:sldId id="551" r:id="rId145"/>
    <p:sldId id="552" r:id="rId146"/>
    <p:sldId id="553" r:id="rId147"/>
    <p:sldId id="554" r:id="rId148"/>
    <p:sldId id="555" r:id="rId149"/>
    <p:sldId id="568" r:id="rId150"/>
    <p:sldId id="569" r:id="rId151"/>
    <p:sldId id="570" r:id="rId152"/>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85" d="100"/>
          <a:sy n="85" d="100"/>
        </p:scale>
        <p:origin x="1554" y="90"/>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63" Type="http://schemas.openxmlformats.org/officeDocument/2006/relationships/slide" Target="slides/slide62.xml"/><Relationship Id="rId84" Type="http://schemas.openxmlformats.org/officeDocument/2006/relationships/slide" Target="slides/slide83.xml"/><Relationship Id="rId138" Type="http://schemas.openxmlformats.org/officeDocument/2006/relationships/slide" Target="slides/slide137.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53" Type="http://schemas.openxmlformats.org/officeDocument/2006/relationships/slide" Target="slides/slide52.xml"/><Relationship Id="rId74" Type="http://schemas.openxmlformats.org/officeDocument/2006/relationships/slide" Target="slides/slide73.xml"/><Relationship Id="rId128" Type="http://schemas.openxmlformats.org/officeDocument/2006/relationships/slide" Target="slides/slide127.xml"/><Relationship Id="rId149" Type="http://schemas.openxmlformats.org/officeDocument/2006/relationships/slide" Target="slides/slide148.xml"/><Relationship Id="rId5" Type="http://schemas.openxmlformats.org/officeDocument/2006/relationships/slide" Target="slides/slide4.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slide" Target="slides/slide112.xml"/><Relationship Id="rId118" Type="http://schemas.openxmlformats.org/officeDocument/2006/relationships/slide" Target="slides/slide117.xml"/><Relationship Id="rId134" Type="http://schemas.openxmlformats.org/officeDocument/2006/relationships/slide" Target="slides/slide133.xml"/><Relationship Id="rId139" Type="http://schemas.openxmlformats.org/officeDocument/2006/relationships/slide" Target="slides/slide138.xml"/><Relationship Id="rId80" Type="http://schemas.openxmlformats.org/officeDocument/2006/relationships/slide" Target="slides/slide79.xml"/><Relationship Id="rId85" Type="http://schemas.openxmlformats.org/officeDocument/2006/relationships/slide" Target="slides/slide84.xml"/><Relationship Id="rId150" Type="http://schemas.openxmlformats.org/officeDocument/2006/relationships/slide" Target="slides/slide149.xml"/><Relationship Id="rId155" Type="http://schemas.openxmlformats.org/officeDocument/2006/relationships/theme" Target="theme/theme1.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124" Type="http://schemas.openxmlformats.org/officeDocument/2006/relationships/slide" Target="slides/slide123.xml"/><Relationship Id="rId129" Type="http://schemas.openxmlformats.org/officeDocument/2006/relationships/slide" Target="slides/slide128.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40" Type="http://schemas.openxmlformats.org/officeDocument/2006/relationships/slide" Target="slides/slide139.xml"/><Relationship Id="rId145" Type="http://schemas.openxmlformats.org/officeDocument/2006/relationships/slide" Target="slides/slide144.xml"/><Relationship Id="rId1" Type="http://schemas.openxmlformats.org/officeDocument/2006/relationships/slideMaster" Target="slideMasters/slideMaster1.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119" Type="http://schemas.openxmlformats.org/officeDocument/2006/relationships/slide" Target="slides/slide118.xml"/><Relationship Id="rId44" Type="http://schemas.openxmlformats.org/officeDocument/2006/relationships/slide" Target="slides/slide43.xml"/><Relationship Id="rId60" Type="http://schemas.openxmlformats.org/officeDocument/2006/relationships/slide" Target="slides/slide59.xml"/><Relationship Id="rId65" Type="http://schemas.openxmlformats.org/officeDocument/2006/relationships/slide" Target="slides/slide64.xml"/><Relationship Id="rId81" Type="http://schemas.openxmlformats.org/officeDocument/2006/relationships/slide" Target="slides/slide80.xml"/><Relationship Id="rId86" Type="http://schemas.openxmlformats.org/officeDocument/2006/relationships/slide" Target="slides/slide85.xml"/><Relationship Id="rId130" Type="http://schemas.openxmlformats.org/officeDocument/2006/relationships/slide" Target="slides/slide129.xml"/><Relationship Id="rId135" Type="http://schemas.openxmlformats.org/officeDocument/2006/relationships/slide" Target="slides/slide134.xml"/><Relationship Id="rId151" Type="http://schemas.openxmlformats.org/officeDocument/2006/relationships/slide" Target="slides/slide150.xml"/><Relationship Id="rId156" Type="http://schemas.openxmlformats.org/officeDocument/2006/relationships/tableStyles" Target="tableStyles.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slide" Target="slides/slide124.xml"/><Relationship Id="rId141" Type="http://schemas.openxmlformats.org/officeDocument/2006/relationships/slide" Target="slides/slide140.xml"/><Relationship Id="rId146" Type="http://schemas.openxmlformats.org/officeDocument/2006/relationships/slide" Target="slides/slide145.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131" Type="http://schemas.openxmlformats.org/officeDocument/2006/relationships/slide" Target="slides/slide130.xml"/><Relationship Id="rId136" Type="http://schemas.openxmlformats.org/officeDocument/2006/relationships/slide" Target="slides/slide135.xml"/><Relationship Id="rId61" Type="http://schemas.openxmlformats.org/officeDocument/2006/relationships/slide" Target="slides/slide60.xml"/><Relationship Id="rId82" Type="http://schemas.openxmlformats.org/officeDocument/2006/relationships/slide" Target="slides/slide81.xml"/><Relationship Id="rId152" Type="http://schemas.openxmlformats.org/officeDocument/2006/relationships/slide" Target="slides/slide15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slide" Target="slides/slide125.xml"/><Relationship Id="rId147" Type="http://schemas.openxmlformats.org/officeDocument/2006/relationships/slide" Target="slides/slide14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142" Type="http://schemas.openxmlformats.org/officeDocument/2006/relationships/slide" Target="slides/slide141.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137" Type="http://schemas.openxmlformats.org/officeDocument/2006/relationships/slide" Target="slides/slide136.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32" Type="http://schemas.openxmlformats.org/officeDocument/2006/relationships/slide" Target="slides/slide131.xml"/><Relationship Id="rId153" Type="http://schemas.openxmlformats.org/officeDocument/2006/relationships/presProps" Target="presProps.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143" Type="http://schemas.openxmlformats.org/officeDocument/2006/relationships/slide" Target="slides/slide142.xml"/><Relationship Id="rId148" Type="http://schemas.openxmlformats.org/officeDocument/2006/relationships/slide" Target="slides/slide147.xml"/><Relationship Id="rId4" Type="http://schemas.openxmlformats.org/officeDocument/2006/relationships/slide" Target="slides/slide3.xml"/><Relationship Id="rId9" Type="http://schemas.openxmlformats.org/officeDocument/2006/relationships/slide" Target="slides/slide8.xml"/><Relationship Id="rId26" Type="http://schemas.openxmlformats.org/officeDocument/2006/relationships/slide" Target="slides/slide25.xml"/><Relationship Id="rId47" Type="http://schemas.openxmlformats.org/officeDocument/2006/relationships/slide" Target="slides/slide46.xml"/><Relationship Id="rId68" Type="http://schemas.openxmlformats.org/officeDocument/2006/relationships/slide" Target="slides/slide67.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slide" Target="slides/slide132.xml"/><Relationship Id="rId154" Type="http://schemas.openxmlformats.org/officeDocument/2006/relationships/viewProps" Target="viewProps.xml"/><Relationship Id="rId16" Type="http://schemas.openxmlformats.org/officeDocument/2006/relationships/slide" Target="slides/slide15.xml"/><Relationship Id="rId37" Type="http://schemas.openxmlformats.org/officeDocument/2006/relationships/slide" Target="slides/slide36.xml"/><Relationship Id="rId58" Type="http://schemas.openxmlformats.org/officeDocument/2006/relationships/slide" Target="slides/slide57.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44" Type="http://schemas.openxmlformats.org/officeDocument/2006/relationships/slide" Target="slides/slide143.xml"/><Relationship Id="rId90" Type="http://schemas.openxmlformats.org/officeDocument/2006/relationships/slide" Target="slides/slide89.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337F8406-7A99-4FD6-96D7-95C3528A9C6E}" type="datetimeFigureOut">
              <a:rPr lang="en-US" smtClean="0"/>
              <a:pPr/>
              <a:t>9/3/2024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D3E528-D93D-41D1-83BA-50A29352533C}"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337F8406-7A99-4FD6-96D7-95C3528A9C6E}" type="datetimeFigureOut">
              <a:rPr lang="en-US" smtClean="0"/>
              <a:pPr/>
              <a:t>9/3/2024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D3E528-D93D-41D1-83BA-50A29352533C}"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337F8406-7A99-4FD6-96D7-95C3528A9C6E}" type="datetimeFigureOut">
              <a:rPr lang="en-US" smtClean="0"/>
              <a:pPr/>
              <a:t>9/3/2024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D3E528-D93D-41D1-83BA-50A29352533C}"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337F8406-7A99-4FD6-96D7-95C3528A9C6E}" type="datetimeFigureOut">
              <a:rPr lang="en-US" smtClean="0"/>
              <a:pPr/>
              <a:t>9/3/2024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D3E528-D93D-41D1-83BA-50A29352533C}"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337F8406-7A99-4FD6-96D7-95C3528A9C6E}" type="datetimeFigureOut">
              <a:rPr lang="en-US" smtClean="0"/>
              <a:pPr/>
              <a:t>9/3/2024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9BD3E528-D93D-41D1-83BA-50A29352533C}"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337F8406-7A99-4FD6-96D7-95C3528A9C6E}" type="datetimeFigureOut">
              <a:rPr lang="en-US" smtClean="0"/>
              <a:pPr/>
              <a:t>9/3/2024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BD3E528-D93D-41D1-83BA-50A29352533C}"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37F8406-7A99-4FD6-96D7-95C3528A9C6E}" type="datetimeFigureOut">
              <a:rPr lang="en-US" smtClean="0"/>
              <a:pPr/>
              <a:t>9/3/2024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BD3E528-D93D-41D1-83BA-50A29352533C}"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337F8406-7A99-4FD6-96D7-95C3528A9C6E}" type="datetimeFigureOut">
              <a:rPr lang="en-US" smtClean="0"/>
              <a:pPr/>
              <a:t>9/3/2024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D3E528-D93D-41D1-83BA-50A29352533C}"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337F8406-7A99-4FD6-96D7-95C3528A9C6E}" type="datetimeFigureOut">
              <a:rPr lang="en-US" smtClean="0"/>
              <a:pPr/>
              <a:t>9/3/2024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D3E528-D93D-41D1-83BA-50A29352533C}"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337F8406-7A99-4FD6-96D7-95C3528A9C6E}" type="datetimeFigureOut">
              <a:rPr lang="en-US" smtClean="0"/>
              <a:pPr/>
              <a:t>9/3/2024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D3E528-D93D-41D1-83BA-50A29352533C}"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337F8406-7A99-4FD6-96D7-95C3528A9C6E}" type="datetimeFigureOut">
              <a:rPr lang="en-US" smtClean="0"/>
              <a:pPr/>
              <a:t>9/3/2024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D3E528-D93D-41D1-83BA-50A29352533C}"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37F8406-7A99-4FD6-96D7-95C3528A9C6E}" type="datetimeFigureOut">
              <a:rPr lang="en-US" smtClean="0"/>
              <a:pPr/>
              <a:t>9/3/2024</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BD3E528-D93D-41D1-83BA-50A29352533C}"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jpe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19.jpe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2" Type="http://schemas.openxmlformats.org/officeDocument/2006/relationships/hyperlink" Target="https://www.scientecheasy.com/2020/06/access-specifiers-in-java.html/" TargetMode="External"/><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2" Type="http://schemas.openxmlformats.org/officeDocument/2006/relationships/image" Target="../media/image29.jpeg"/><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38.png"/><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3" Type="http://schemas.openxmlformats.org/officeDocument/2006/relationships/hyperlink" Target="https://www.splessons.com/lesson/java-override/" TargetMode="External"/><Relationship Id="rId2" Type="http://schemas.openxmlformats.org/officeDocument/2006/relationships/hyperlink" Target="https://www.splessons.com/lesson/overloading-in-java/" TargetMode="External"/><Relationship Id="rId1" Type="http://schemas.openxmlformats.org/officeDocument/2006/relationships/slideLayout" Target="../slideLayouts/slideLayout7.xml"/><Relationship Id="rId4" Type="http://schemas.openxmlformats.org/officeDocument/2006/relationships/image" Target="../media/image41.jpeg"/></Relationships>
</file>

<file path=ppt/slides/_rels/slide48.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image" Target="../media/image44.png"/><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2" Type="http://schemas.openxmlformats.org/officeDocument/2006/relationships/image" Target="../media/image48.jpeg"/><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2" Type="http://schemas.openxmlformats.org/officeDocument/2006/relationships/image" Target="../media/image51.png"/><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2" Type="http://schemas.openxmlformats.org/officeDocument/2006/relationships/image" Target="../media/image52.png"/><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2" Type="http://schemas.openxmlformats.org/officeDocument/2006/relationships/image" Target="../media/image53.jpeg"/><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2" Type="http://schemas.openxmlformats.org/officeDocument/2006/relationships/image" Target="../media/image54.png"/><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2" Type="http://schemas.openxmlformats.org/officeDocument/2006/relationships/image" Target="../media/image55.jpeg"/><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2" Type="http://schemas.openxmlformats.org/officeDocument/2006/relationships/image" Target="../media/image56.png"/><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2" Type="http://schemas.openxmlformats.org/officeDocument/2006/relationships/image" Target="../media/image57.png"/><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2" Type="http://schemas.openxmlformats.org/officeDocument/2006/relationships/image" Target="../media/image58.png"/><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image" Target="../media/image59.png"/><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2" Type="http://schemas.openxmlformats.org/officeDocument/2006/relationships/image" Target="../media/image61.png"/><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2" Type="http://schemas.openxmlformats.org/officeDocument/2006/relationships/image" Target="../media/image62.png"/><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1.xml.rels><?xml version="1.0" encoding="UTF-8" standalone="yes"?>
<Relationships xmlns="http://schemas.openxmlformats.org/package/2006/relationships"><Relationship Id="rId2" Type="http://schemas.openxmlformats.org/officeDocument/2006/relationships/image" Target="../media/image63.png"/><Relationship Id="rId1" Type="http://schemas.openxmlformats.org/officeDocument/2006/relationships/slideLayout" Target="../slideLayouts/slideLayout7.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3.xml.rels><?xml version="1.0" encoding="UTF-8" standalone="yes"?>
<Relationships xmlns="http://schemas.openxmlformats.org/package/2006/relationships"><Relationship Id="rId2" Type="http://schemas.openxmlformats.org/officeDocument/2006/relationships/image" Target="../media/image64.png"/><Relationship Id="rId1" Type="http://schemas.openxmlformats.org/officeDocument/2006/relationships/slideLayout" Target="../slideLayouts/slideLayout7.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5.xml.rels><?xml version="1.0" encoding="UTF-8" standalone="yes"?>
<Relationships xmlns="http://schemas.openxmlformats.org/package/2006/relationships"><Relationship Id="rId2" Type="http://schemas.openxmlformats.org/officeDocument/2006/relationships/image" Target="../media/image65.png"/><Relationship Id="rId1" Type="http://schemas.openxmlformats.org/officeDocument/2006/relationships/slideLayout" Target="../slideLayouts/slideLayout7.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0.xml.rels><?xml version="1.0" encoding="UTF-8" standalone="yes"?>
<Relationships xmlns="http://schemas.openxmlformats.org/package/2006/relationships"><Relationship Id="rId2" Type="http://schemas.openxmlformats.org/officeDocument/2006/relationships/image" Target="../media/image66.png"/><Relationship Id="rId1" Type="http://schemas.openxmlformats.org/officeDocument/2006/relationships/slideLayout" Target="../slideLayouts/slideLayout7.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2.xml.rels><?xml version="1.0" encoding="UTF-8" standalone="yes"?>
<Relationships xmlns="http://schemas.openxmlformats.org/package/2006/relationships"><Relationship Id="rId2" Type="http://schemas.openxmlformats.org/officeDocument/2006/relationships/image" Target="../media/image67.png"/><Relationship Id="rId1" Type="http://schemas.openxmlformats.org/officeDocument/2006/relationships/slideLayout" Target="../slideLayouts/slideLayout7.xml"/></Relationships>
</file>

<file path=ppt/slides/_rels/slide93.xml.rels><?xml version="1.0" encoding="UTF-8" standalone="yes"?>
<Relationships xmlns="http://schemas.openxmlformats.org/package/2006/relationships"><Relationship Id="rId2" Type="http://schemas.openxmlformats.org/officeDocument/2006/relationships/image" Target="../media/image68.png"/><Relationship Id="rId1" Type="http://schemas.openxmlformats.org/officeDocument/2006/relationships/slideLayout" Target="../slideLayouts/slideLayout7.xml"/></Relationships>
</file>

<file path=ppt/slides/_rels/slide94.xml.rels><?xml version="1.0" encoding="UTF-8" standalone="yes"?>
<Relationships xmlns="http://schemas.openxmlformats.org/package/2006/relationships"><Relationship Id="rId2" Type="http://schemas.openxmlformats.org/officeDocument/2006/relationships/image" Target="../media/image69.png"/><Relationship Id="rId1" Type="http://schemas.openxmlformats.org/officeDocument/2006/relationships/slideLayout" Target="../slideLayouts/slideLayout7.xml"/></Relationships>
</file>

<file path=ppt/slides/_rels/slide95.xml.rels><?xml version="1.0" encoding="UTF-8" standalone="yes"?>
<Relationships xmlns="http://schemas.openxmlformats.org/package/2006/relationships"><Relationship Id="rId2" Type="http://schemas.openxmlformats.org/officeDocument/2006/relationships/image" Target="../media/image70.png"/><Relationship Id="rId1" Type="http://schemas.openxmlformats.org/officeDocument/2006/relationships/slideLayout" Target="../slideLayouts/slideLayout7.xml"/></Relationships>
</file>

<file path=ppt/slides/_rels/slide96.xml.rels><?xml version="1.0" encoding="UTF-8" standalone="yes"?>
<Relationships xmlns="http://schemas.openxmlformats.org/package/2006/relationships"><Relationship Id="rId2" Type="http://schemas.openxmlformats.org/officeDocument/2006/relationships/image" Target="../media/image71.png"/><Relationship Id="rId1" Type="http://schemas.openxmlformats.org/officeDocument/2006/relationships/slideLayout" Target="../slideLayouts/slideLayout7.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8.xml.rels><?xml version="1.0" encoding="UTF-8" standalone="yes"?>
<Relationships xmlns="http://schemas.openxmlformats.org/package/2006/relationships"><Relationship Id="rId2" Type="http://schemas.openxmlformats.org/officeDocument/2006/relationships/image" Target="../media/image72.png"/><Relationship Id="rId1" Type="http://schemas.openxmlformats.org/officeDocument/2006/relationships/slideLayout" Target="../slideLayouts/slideLayout7.xml"/></Relationships>
</file>

<file path=ppt/slides/_rels/slide99.xml.rels><?xml version="1.0" encoding="UTF-8" standalone="yes"?>
<Relationships xmlns="http://schemas.openxmlformats.org/package/2006/relationships"><Relationship Id="rId2" Type="http://schemas.openxmlformats.org/officeDocument/2006/relationships/image" Target="../media/image73.png"/><Relationship Id="rId1" Type="http://schemas.openxmlformats.org/officeDocument/2006/relationships/slideLayout" Target="../slideLayouts/slideLayout7.xml"/></Relationships>
</file>

<file path=ppt/slides/_rels/slide100.xml.rels><?xml version="1.0" encoding="UTF-8" standalone="yes"?>
<Relationships xmlns="http://schemas.openxmlformats.org/package/2006/relationships"><Relationship Id="rId2" Type="http://schemas.openxmlformats.org/officeDocument/2006/relationships/image" Target="../media/image74.png"/><Relationship Id="rId1" Type="http://schemas.openxmlformats.org/officeDocument/2006/relationships/slideLayout" Target="../slideLayouts/slideLayout7.xml"/></Relationships>
</file>

<file path=ppt/slides/_rels/slide101.xml.rels><?xml version="1.0" encoding="UTF-8" standalone="yes"?>
<Relationships xmlns="http://schemas.openxmlformats.org/package/2006/relationships"><Relationship Id="rId2" Type="http://schemas.openxmlformats.org/officeDocument/2006/relationships/image" Target="../media/image75.png"/><Relationship Id="rId1" Type="http://schemas.openxmlformats.org/officeDocument/2006/relationships/slideLayout" Target="../slideLayouts/slideLayout7.xml"/></Relationships>
</file>

<file path=ppt/slides/_rels/slide102.xml.rels><?xml version="1.0" encoding="UTF-8" standalone="yes"?>
<Relationships xmlns="http://schemas.openxmlformats.org/package/2006/relationships"><Relationship Id="rId2" Type="http://schemas.openxmlformats.org/officeDocument/2006/relationships/image" Target="../media/image76.png"/><Relationship Id="rId1" Type="http://schemas.openxmlformats.org/officeDocument/2006/relationships/slideLayout" Target="../slideLayouts/slideLayout7.xml"/></Relationships>
</file>

<file path=ppt/slides/_rels/slide103.xml.rels><?xml version="1.0" encoding="UTF-8" standalone="yes"?>
<Relationships xmlns="http://schemas.openxmlformats.org/package/2006/relationships"><Relationship Id="rId2" Type="http://schemas.openxmlformats.org/officeDocument/2006/relationships/image" Target="../media/image77.png"/><Relationship Id="rId1" Type="http://schemas.openxmlformats.org/officeDocument/2006/relationships/slideLayout" Target="../slideLayouts/slideLayout7.xml"/></Relationships>
</file>

<file path=ppt/slides/_rels/slide104.xml.rels><?xml version="1.0" encoding="UTF-8" standalone="yes"?>
<Relationships xmlns="http://schemas.openxmlformats.org/package/2006/relationships"><Relationship Id="rId2" Type="http://schemas.openxmlformats.org/officeDocument/2006/relationships/image" Target="../media/image78.png"/><Relationship Id="rId1" Type="http://schemas.openxmlformats.org/officeDocument/2006/relationships/slideLayout" Target="../slideLayouts/slideLayout7.xml"/></Relationships>
</file>

<file path=ppt/slides/_rels/slide105.xml.rels><?xml version="1.0" encoding="UTF-8" standalone="yes"?>
<Relationships xmlns="http://schemas.openxmlformats.org/package/2006/relationships"><Relationship Id="rId2" Type="http://schemas.openxmlformats.org/officeDocument/2006/relationships/image" Target="../media/image79.png"/><Relationship Id="rId1" Type="http://schemas.openxmlformats.org/officeDocument/2006/relationships/slideLayout" Target="../slideLayouts/slideLayout7.xml"/></Relationships>
</file>

<file path=ppt/slides/_rels/slide106.xml.rels><?xml version="1.0" encoding="UTF-8" standalone="yes"?>
<Relationships xmlns="http://schemas.openxmlformats.org/package/2006/relationships"><Relationship Id="rId2" Type="http://schemas.openxmlformats.org/officeDocument/2006/relationships/image" Target="../media/image80.png"/><Relationship Id="rId1" Type="http://schemas.openxmlformats.org/officeDocument/2006/relationships/slideLayout" Target="../slideLayouts/slideLayout7.xml"/></Relationships>
</file>

<file path=ppt/slides/_rels/slide107.xml.rels><?xml version="1.0" encoding="UTF-8" standalone="yes"?>
<Relationships xmlns="http://schemas.openxmlformats.org/package/2006/relationships"><Relationship Id="rId2" Type="http://schemas.openxmlformats.org/officeDocument/2006/relationships/image" Target="../media/image81.png"/><Relationship Id="rId1" Type="http://schemas.openxmlformats.org/officeDocument/2006/relationships/slideLayout" Target="../slideLayouts/slideLayout7.xml"/></Relationships>
</file>

<file path=ppt/slides/_rels/slide108.xml.rels><?xml version="1.0" encoding="UTF-8" standalone="yes"?>
<Relationships xmlns="http://schemas.openxmlformats.org/package/2006/relationships"><Relationship Id="rId2" Type="http://schemas.openxmlformats.org/officeDocument/2006/relationships/image" Target="../media/image82.png"/><Relationship Id="rId1" Type="http://schemas.openxmlformats.org/officeDocument/2006/relationships/slideLayout" Target="../slideLayouts/slideLayout7.xml"/></Relationships>
</file>

<file path=ppt/slides/_rels/slide109.xml.rels><?xml version="1.0" encoding="UTF-8" standalone="yes"?>
<Relationships xmlns="http://schemas.openxmlformats.org/package/2006/relationships"><Relationship Id="rId2" Type="http://schemas.openxmlformats.org/officeDocument/2006/relationships/image" Target="../media/image83.png"/><Relationship Id="rId1" Type="http://schemas.openxmlformats.org/officeDocument/2006/relationships/slideLayout" Target="../slideLayouts/slideLayout7.xml"/></Relationships>
</file>

<file path=ppt/slides/_rels/slide110.xml.rels><?xml version="1.0" encoding="UTF-8" standalone="yes"?>
<Relationships xmlns="http://schemas.openxmlformats.org/package/2006/relationships"><Relationship Id="rId2" Type="http://schemas.openxmlformats.org/officeDocument/2006/relationships/image" Target="../media/image84.png"/><Relationship Id="rId1" Type="http://schemas.openxmlformats.org/officeDocument/2006/relationships/slideLayout" Target="../slideLayouts/slideLayout7.xml"/></Relationships>
</file>

<file path=ppt/slides/_rels/slide111.xml.rels><?xml version="1.0" encoding="UTF-8" standalone="yes"?>
<Relationships xmlns="http://schemas.openxmlformats.org/package/2006/relationships"><Relationship Id="rId2" Type="http://schemas.openxmlformats.org/officeDocument/2006/relationships/image" Target="../media/image85.png"/><Relationship Id="rId1" Type="http://schemas.openxmlformats.org/officeDocument/2006/relationships/slideLayout" Target="../slideLayouts/slideLayout7.xml"/></Relationships>
</file>

<file path=ppt/slides/_rels/slide112.xml.rels><?xml version="1.0" encoding="UTF-8" standalone="yes"?>
<Relationships xmlns="http://schemas.openxmlformats.org/package/2006/relationships"><Relationship Id="rId2" Type="http://schemas.openxmlformats.org/officeDocument/2006/relationships/image" Target="../media/image86.png"/><Relationship Id="rId1" Type="http://schemas.openxmlformats.org/officeDocument/2006/relationships/slideLayout" Target="../slideLayouts/slideLayout7.xml"/></Relationships>
</file>

<file path=ppt/slides/_rels/slide113.xml.rels><?xml version="1.0" encoding="UTF-8" standalone="yes"?>
<Relationships xmlns="http://schemas.openxmlformats.org/package/2006/relationships"><Relationship Id="rId2" Type="http://schemas.openxmlformats.org/officeDocument/2006/relationships/image" Target="../media/image87.png"/><Relationship Id="rId1" Type="http://schemas.openxmlformats.org/officeDocument/2006/relationships/slideLayout" Target="../slideLayouts/slideLayout7.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8.xml.rels><?xml version="1.0" encoding="UTF-8" standalone="yes"?>
<Relationships xmlns="http://schemas.openxmlformats.org/package/2006/relationships"><Relationship Id="rId2" Type="http://schemas.openxmlformats.org/officeDocument/2006/relationships/image" Target="../media/image88.png"/><Relationship Id="rId1" Type="http://schemas.openxmlformats.org/officeDocument/2006/relationships/slideLayout" Target="../slideLayouts/slideLayout7.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0.xml.rels><?xml version="1.0" encoding="UTF-8" standalone="yes"?>
<Relationships xmlns="http://schemas.openxmlformats.org/package/2006/relationships"><Relationship Id="rId2" Type="http://schemas.openxmlformats.org/officeDocument/2006/relationships/image" Target="../media/image89.png"/><Relationship Id="rId1" Type="http://schemas.openxmlformats.org/officeDocument/2006/relationships/slideLayout" Target="../slideLayouts/slideLayout7.xml"/></Relationships>
</file>

<file path=ppt/slides/_rels/slide121.xml.rels><?xml version="1.0" encoding="UTF-8" standalone="yes"?>
<Relationships xmlns="http://schemas.openxmlformats.org/package/2006/relationships"><Relationship Id="rId2" Type="http://schemas.openxmlformats.org/officeDocument/2006/relationships/image" Target="../media/image90.png"/><Relationship Id="rId1" Type="http://schemas.openxmlformats.org/officeDocument/2006/relationships/slideLayout" Target="../slideLayouts/slideLayout7.xml"/></Relationships>
</file>

<file path=ppt/slides/_rels/slide122.xml.rels><?xml version="1.0" encoding="UTF-8" standalone="yes"?>
<Relationships xmlns="http://schemas.openxmlformats.org/package/2006/relationships"><Relationship Id="rId2" Type="http://schemas.openxmlformats.org/officeDocument/2006/relationships/image" Target="../media/image91.png"/><Relationship Id="rId1" Type="http://schemas.openxmlformats.org/officeDocument/2006/relationships/slideLayout" Target="../slideLayouts/slideLayout7.xml"/></Relationships>
</file>

<file path=ppt/slides/_rels/slide123.xml.rels><?xml version="1.0" encoding="UTF-8" standalone="yes"?>
<Relationships xmlns="http://schemas.openxmlformats.org/package/2006/relationships"><Relationship Id="rId2" Type="http://schemas.openxmlformats.org/officeDocument/2006/relationships/image" Target="../media/image92.png"/><Relationship Id="rId1" Type="http://schemas.openxmlformats.org/officeDocument/2006/relationships/slideLayout" Target="../slideLayouts/slideLayout7.xml"/></Relationships>
</file>

<file path=ppt/slides/_rels/slide124.xml.rels><?xml version="1.0" encoding="UTF-8" standalone="yes"?>
<Relationships xmlns="http://schemas.openxmlformats.org/package/2006/relationships"><Relationship Id="rId2" Type="http://schemas.openxmlformats.org/officeDocument/2006/relationships/image" Target="../media/image93.png"/><Relationship Id="rId1" Type="http://schemas.openxmlformats.org/officeDocument/2006/relationships/slideLayout" Target="../slideLayouts/slideLayout7.xml"/></Relationships>
</file>

<file path=ppt/slides/_rels/slide125.xml.rels><?xml version="1.0" encoding="UTF-8" standalone="yes"?>
<Relationships xmlns="http://schemas.openxmlformats.org/package/2006/relationships"><Relationship Id="rId2" Type="http://schemas.openxmlformats.org/officeDocument/2006/relationships/image" Target="../media/image94.png"/><Relationship Id="rId1" Type="http://schemas.openxmlformats.org/officeDocument/2006/relationships/slideLayout" Target="../slideLayouts/slideLayout7.xml"/></Relationships>
</file>

<file path=ppt/slides/_rels/slide126.xml.rels><?xml version="1.0" encoding="UTF-8" standalone="yes"?>
<Relationships xmlns="http://schemas.openxmlformats.org/package/2006/relationships"><Relationship Id="rId2" Type="http://schemas.openxmlformats.org/officeDocument/2006/relationships/image" Target="../media/image95.png"/><Relationship Id="rId1" Type="http://schemas.openxmlformats.org/officeDocument/2006/relationships/slideLayout" Target="../slideLayouts/slideLayout7.xml"/></Relationships>
</file>

<file path=ppt/slides/_rels/slide127.xml.rels><?xml version="1.0" encoding="UTF-8" standalone="yes"?>
<Relationships xmlns="http://schemas.openxmlformats.org/package/2006/relationships"><Relationship Id="rId2" Type="http://schemas.openxmlformats.org/officeDocument/2006/relationships/image" Target="../media/image96.png"/><Relationship Id="rId1" Type="http://schemas.openxmlformats.org/officeDocument/2006/relationships/slideLayout" Target="../slideLayouts/slideLayout7.xml"/></Relationships>
</file>

<file path=ppt/slides/_rels/slide128.xml.rels><?xml version="1.0" encoding="UTF-8" standalone="yes"?>
<Relationships xmlns="http://schemas.openxmlformats.org/package/2006/relationships"><Relationship Id="rId2" Type="http://schemas.openxmlformats.org/officeDocument/2006/relationships/image" Target="../media/image97.png"/><Relationship Id="rId1" Type="http://schemas.openxmlformats.org/officeDocument/2006/relationships/slideLayout" Target="../slideLayouts/slideLayout7.xml"/></Relationships>
</file>

<file path=ppt/slides/_rels/slide129.xml.rels><?xml version="1.0" encoding="UTF-8" standalone="yes"?>
<Relationships xmlns="http://schemas.openxmlformats.org/package/2006/relationships"><Relationship Id="rId2" Type="http://schemas.openxmlformats.org/officeDocument/2006/relationships/image" Target="../media/image98.png"/><Relationship Id="rId1" Type="http://schemas.openxmlformats.org/officeDocument/2006/relationships/slideLayout" Target="../slideLayouts/slideLayout7.xml"/></Relationships>
</file>

<file path=ppt/slides/_rels/slide130.xml.rels><?xml version="1.0" encoding="UTF-8" standalone="yes"?>
<Relationships xmlns="http://schemas.openxmlformats.org/package/2006/relationships"><Relationship Id="rId2" Type="http://schemas.openxmlformats.org/officeDocument/2006/relationships/image" Target="../media/image99.png"/><Relationship Id="rId1" Type="http://schemas.openxmlformats.org/officeDocument/2006/relationships/slideLayout" Target="../slideLayouts/slideLayout7.xml"/></Relationships>
</file>

<file path=ppt/slides/_rels/slide131.xml.rels><?xml version="1.0" encoding="UTF-8" standalone="yes"?>
<Relationships xmlns="http://schemas.openxmlformats.org/package/2006/relationships"><Relationship Id="rId2" Type="http://schemas.openxmlformats.org/officeDocument/2006/relationships/image" Target="../media/image100.png"/><Relationship Id="rId1" Type="http://schemas.openxmlformats.org/officeDocument/2006/relationships/slideLayout" Target="../slideLayouts/slideLayout7.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3.xml.rels><?xml version="1.0" encoding="UTF-8" standalone="yes"?>
<Relationships xmlns="http://schemas.openxmlformats.org/package/2006/relationships"><Relationship Id="rId2" Type="http://schemas.openxmlformats.org/officeDocument/2006/relationships/image" Target="../media/image101.png"/><Relationship Id="rId1" Type="http://schemas.openxmlformats.org/officeDocument/2006/relationships/slideLayout" Target="../slideLayouts/slideLayout7.xml"/></Relationships>
</file>

<file path=ppt/slides/_rels/slide134.xml.rels><?xml version="1.0" encoding="UTF-8" standalone="yes"?>
<Relationships xmlns="http://schemas.openxmlformats.org/package/2006/relationships"><Relationship Id="rId2" Type="http://schemas.openxmlformats.org/officeDocument/2006/relationships/image" Target="../media/image102.png"/><Relationship Id="rId1" Type="http://schemas.openxmlformats.org/officeDocument/2006/relationships/slideLayout" Target="../slideLayouts/slideLayout7.xml"/></Relationships>
</file>

<file path=ppt/slides/_rels/slide135.xml.rels><?xml version="1.0" encoding="UTF-8" standalone="yes"?>
<Relationships xmlns="http://schemas.openxmlformats.org/package/2006/relationships"><Relationship Id="rId2" Type="http://schemas.openxmlformats.org/officeDocument/2006/relationships/image" Target="../media/image103.png"/><Relationship Id="rId1" Type="http://schemas.openxmlformats.org/officeDocument/2006/relationships/slideLayout" Target="../slideLayouts/slideLayout7.xml"/></Relationships>
</file>

<file path=ppt/slides/_rels/slide136.xml.rels><?xml version="1.0" encoding="UTF-8" standalone="yes"?>
<Relationships xmlns="http://schemas.openxmlformats.org/package/2006/relationships"><Relationship Id="rId2" Type="http://schemas.openxmlformats.org/officeDocument/2006/relationships/image" Target="../media/image104.png"/><Relationship Id="rId1" Type="http://schemas.openxmlformats.org/officeDocument/2006/relationships/slideLayout" Target="../slideLayouts/slideLayout7.xml"/></Relationships>
</file>

<file path=ppt/slides/_rels/slide137.xml.rels><?xml version="1.0" encoding="UTF-8" standalone="yes"?>
<Relationships xmlns="http://schemas.openxmlformats.org/package/2006/relationships"><Relationship Id="rId2" Type="http://schemas.openxmlformats.org/officeDocument/2006/relationships/image" Target="../media/image105.png"/><Relationship Id="rId1" Type="http://schemas.openxmlformats.org/officeDocument/2006/relationships/slideLayout" Target="../slideLayouts/slideLayout7.xml"/></Relationships>
</file>

<file path=ppt/slides/_rels/slide138.xml.rels><?xml version="1.0" encoding="UTF-8" standalone="yes"?>
<Relationships xmlns="http://schemas.openxmlformats.org/package/2006/relationships"><Relationship Id="rId2" Type="http://schemas.openxmlformats.org/officeDocument/2006/relationships/image" Target="../media/image106.png"/><Relationship Id="rId1" Type="http://schemas.openxmlformats.org/officeDocument/2006/relationships/slideLayout" Target="../slideLayouts/slideLayout7.xml"/></Relationships>
</file>

<file path=ppt/slides/_rels/slide139.xml.rels><?xml version="1.0" encoding="UTF-8" standalone="yes"?>
<Relationships xmlns="http://schemas.openxmlformats.org/package/2006/relationships"><Relationship Id="rId2" Type="http://schemas.openxmlformats.org/officeDocument/2006/relationships/image" Target="../media/image107.png"/><Relationship Id="rId1" Type="http://schemas.openxmlformats.org/officeDocument/2006/relationships/slideLayout" Target="../slideLayouts/slideLayout7.xml"/></Relationships>
</file>

<file path=ppt/slides/_rels/slide140.xml.rels><?xml version="1.0" encoding="UTF-8" standalone="yes"?>
<Relationships xmlns="http://schemas.openxmlformats.org/package/2006/relationships"><Relationship Id="rId2" Type="http://schemas.openxmlformats.org/officeDocument/2006/relationships/image" Target="../media/image108.png"/><Relationship Id="rId1" Type="http://schemas.openxmlformats.org/officeDocument/2006/relationships/slideLayout" Target="../slideLayouts/slideLayout7.xml"/></Relationships>
</file>

<file path=ppt/slides/_rels/slide141.xml.rels><?xml version="1.0" encoding="UTF-8" standalone="yes"?>
<Relationships xmlns="http://schemas.openxmlformats.org/package/2006/relationships"><Relationship Id="rId2" Type="http://schemas.openxmlformats.org/officeDocument/2006/relationships/image" Target="../media/image109.png"/><Relationship Id="rId1" Type="http://schemas.openxmlformats.org/officeDocument/2006/relationships/slideLayout" Target="../slideLayouts/slideLayout7.xml"/></Relationships>
</file>

<file path=ppt/slides/_rels/slide142.xml.rels><?xml version="1.0" encoding="UTF-8" standalone="yes"?>
<Relationships xmlns="http://schemas.openxmlformats.org/package/2006/relationships"><Relationship Id="rId2" Type="http://schemas.openxmlformats.org/officeDocument/2006/relationships/image" Target="../media/image110.png"/><Relationship Id="rId1" Type="http://schemas.openxmlformats.org/officeDocument/2006/relationships/slideLayout" Target="../slideLayouts/slideLayout7.xml"/></Relationships>
</file>

<file path=ppt/slides/_rels/slide143.xml.rels><?xml version="1.0" encoding="UTF-8" standalone="yes"?>
<Relationships xmlns="http://schemas.openxmlformats.org/package/2006/relationships"><Relationship Id="rId2" Type="http://schemas.openxmlformats.org/officeDocument/2006/relationships/image" Target="../media/image111.png"/><Relationship Id="rId1" Type="http://schemas.openxmlformats.org/officeDocument/2006/relationships/slideLayout" Target="../slideLayouts/slideLayout7.xml"/></Relationships>
</file>

<file path=ppt/slides/_rels/slide144.xml.rels><?xml version="1.0" encoding="UTF-8" standalone="yes"?>
<Relationships xmlns="http://schemas.openxmlformats.org/package/2006/relationships"><Relationship Id="rId2" Type="http://schemas.openxmlformats.org/officeDocument/2006/relationships/image" Target="../media/image112.png"/><Relationship Id="rId1" Type="http://schemas.openxmlformats.org/officeDocument/2006/relationships/slideLayout" Target="../slideLayouts/slideLayout7.xml"/></Relationships>
</file>

<file path=ppt/slides/_rels/slide145.xml.rels><?xml version="1.0" encoding="UTF-8" standalone="yes"?>
<Relationships xmlns="http://schemas.openxmlformats.org/package/2006/relationships"><Relationship Id="rId2" Type="http://schemas.openxmlformats.org/officeDocument/2006/relationships/image" Target="../media/image113.png"/><Relationship Id="rId1" Type="http://schemas.openxmlformats.org/officeDocument/2006/relationships/slideLayout" Target="../slideLayouts/slideLayout7.xml"/></Relationships>
</file>

<file path=ppt/slides/_rels/slide146.xml.rels><?xml version="1.0" encoding="UTF-8" standalone="yes"?>
<Relationships xmlns="http://schemas.openxmlformats.org/package/2006/relationships"><Relationship Id="rId2" Type="http://schemas.openxmlformats.org/officeDocument/2006/relationships/image" Target="../media/image114.png"/><Relationship Id="rId1" Type="http://schemas.openxmlformats.org/officeDocument/2006/relationships/slideLayout" Target="../slideLayouts/slideLayout7.xml"/></Relationships>
</file>

<file path=ppt/slides/_rels/slide147.xml.rels><?xml version="1.0" encoding="UTF-8" standalone="yes"?>
<Relationships xmlns="http://schemas.openxmlformats.org/package/2006/relationships"><Relationship Id="rId2" Type="http://schemas.openxmlformats.org/officeDocument/2006/relationships/image" Target="../media/image115.png"/><Relationship Id="rId1" Type="http://schemas.openxmlformats.org/officeDocument/2006/relationships/slideLayout" Target="../slideLayouts/slideLayout7.xml"/></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9.xml.rels><?xml version="1.0" encoding="UTF-8" standalone="yes"?>
<Relationships xmlns="http://schemas.openxmlformats.org/package/2006/relationships"><Relationship Id="rId2" Type="http://schemas.openxmlformats.org/officeDocument/2006/relationships/image" Target="../media/image116.png"/><Relationship Id="rId1" Type="http://schemas.openxmlformats.org/officeDocument/2006/relationships/slideLayout" Target="../slideLayouts/slideLayout7.xml"/></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1.xml.rels><?xml version="1.0" encoding="UTF-8" standalone="yes"?>
<Relationships xmlns="http://schemas.openxmlformats.org/package/2006/relationships"><Relationship Id="rId2" Type="http://schemas.openxmlformats.org/officeDocument/2006/relationships/hyperlink" Target="https://www.youtube.com/watch?v=sh4SuuoZjiE" TargetMode="Externa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endParaRPr lang="en-US"/>
          </a:p>
        </p:txBody>
      </p:sp>
      <p:sp>
        <p:nvSpPr>
          <p:cNvPr id="3" name="Subtitle 2"/>
          <p:cNvSpPr>
            <a:spLocks noGrp="1"/>
          </p:cNvSpPr>
          <p:nvPr>
            <p:ph type="subTitle" idx="1"/>
          </p:nvPr>
        </p:nvSpPr>
        <p:spPr/>
        <p:txBody>
          <a:bodyPr/>
          <a:lstStyle/>
          <a:p>
            <a:endParaRPr lang="en-US"/>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071538" y="3244334"/>
            <a:ext cx="4061673" cy="584775"/>
          </a:xfrm>
          <a:prstGeom prst="rect">
            <a:avLst/>
          </a:prstGeom>
        </p:spPr>
        <p:txBody>
          <a:bodyPr wrap="square">
            <a:spAutoFit/>
          </a:bodyPr>
          <a:lstStyle/>
          <a:p>
            <a:r>
              <a:rPr lang="en-US" sz="3200" b="1" dirty="0" smtClean="0"/>
              <a:t>Session -1</a:t>
            </a:r>
            <a:endParaRPr lang="en-US" sz="3200" b="1"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14282" y="1928802"/>
            <a:ext cx="8643998" cy="3693319"/>
          </a:xfrm>
          <a:prstGeom prst="rect">
            <a:avLst/>
          </a:prstGeom>
        </p:spPr>
        <p:txBody>
          <a:bodyPr wrap="square">
            <a:spAutoFit/>
          </a:bodyPr>
          <a:lstStyle/>
          <a:p>
            <a:r>
              <a:rPr lang="en-US" b="1" dirty="0" smtClean="0">
                <a:solidFill>
                  <a:srgbClr val="FF0000"/>
                </a:solidFill>
                <a:latin typeface="Arial" pitchFamily="34" charset="0"/>
                <a:cs typeface="Arial" pitchFamily="34" charset="0"/>
              </a:rPr>
              <a:t>Java</a:t>
            </a:r>
            <a:r>
              <a:rPr lang="en-US" dirty="0" smtClean="0">
                <a:latin typeface="Arial" pitchFamily="34" charset="0"/>
                <a:cs typeface="Arial" pitchFamily="34" charset="0"/>
              </a:rPr>
              <a:t> is a general-purpose, class-based, high-level and object-oriented programming language that was initially developed by Sun Microsystems (now a subsidiary of Oracle) in 1995. </a:t>
            </a:r>
          </a:p>
          <a:p>
            <a:endParaRPr lang="en-US" dirty="0" smtClean="0">
              <a:latin typeface="Arial" pitchFamily="34" charset="0"/>
              <a:cs typeface="Arial" pitchFamily="34" charset="0"/>
            </a:endParaRPr>
          </a:p>
          <a:p>
            <a:r>
              <a:rPr lang="en-US" dirty="0" smtClean="0">
                <a:latin typeface="Arial" pitchFamily="34" charset="0"/>
                <a:cs typeface="Arial" pitchFamily="34" charset="0"/>
              </a:rPr>
              <a:t>It follows the principle </a:t>
            </a:r>
            <a:r>
              <a:rPr lang="en-US" dirty="0" smtClean="0">
                <a:solidFill>
                  <a:srgbClr val="FF0000"/>
                </a:solidFill>
                <a:latin typeface="Arial" pitchFamily="34" charset="0"/>
                <a:cs typeface="Arial" pitchFamily="34" charset="0"/>
              </a:rPr>
              <a:t>of </a:t>
            </a:r>
            <a:r>
              <a:rPr lang="en-US" b="1" dirty="0" smtClean="0">
                <a:solidFill>
                  <a:srgbClr val="FF0000"/>
                </a:solidFill>
                <a:latin typeface="Arial" pitchFamily="34" charset="0"/>
                <a:cs typeface="Arial" pitchFamily="34" charset="0"/>
              </a:rPr>
              <a:t>WORA (Write Once Run Anywhere)</a:t>
            </a:r>
            <a:r>
              <a:rPr lang="en-US" dirty="0" smtClean="0">
                <a:solidFill>
                  <a:srgbClr val="FF0000"/>
                </a:solidFill>
                <a:latin typeface="Arial" pitchFamily="34" charset="0"/>
                <a:cs typeface="Arial" pitchFamily="34" charset="0"/>
              </a:rPr>
              <a:t> </a:t>
            </a:r>
            <a:r>
              <a:rPr lang="en-US" dirty="0" smtClean="0">
                <a:latin typeface="Arial" pitchFamily="34" charset="0"/>
                <a:cs typeface="Arial" pitchFamily="34" charset="0"/>
              </a:rPr>
              <a:t>– you can run a java program as many times as you want on a Java supported platform after it is compiled.</a:t>
            </a:r>
          </a:p>
          <a:p>
            <a:r>
              <a:rPr lang="en-US" dirty="0" smtClean="0">
                <a:latin typeface="Arial" pitchFamily="34" charset="0"/>
                <a:cs typeface="Arial" pitchFamily="34" charset="0"/>
              </a:rPr>
              <a:t> There is no need for recompilation.</a:t>
            </a:r>
          </a:p>
          <a:p>
            <a:endParaRPr lang="en-US" dirty="0" smtClean="0">
              <a:latin typeface="Arial" pitchFamily="34" charset="0"/>
              <a:cs typeface="Arial" pitchFamily="34" charset="0"/>
            </a:endParaRPr>
          </a:p>
          <a:p>
            <a:endParaRPr lang="en-US" dirty="0" smtClean="0">
              <a:latin typeface="Arial" pitchFamily="34" charset="0"/>
              <a:cs typeface="Arial" pitchFamily="34" charset="0"/>
            </a:endParaRPr>
          </a:p>
          <a:p>
            <a:r>
              <a:rPr lang="en-US" dirty="0" smtClean="0">
                <a:latin typeface="Arial" pitchFamily="34" charset="0"/>
                <a:cs typeface="Arial" pitchFamily="34" charset="0"/>
              </a:rPr>
              <a:t>A </a:t>
            </a:r>
            <a:r>
              <a:rPr lang="en-US" dirty="0" smtClean="0">
                <a:solidFill>
                  <a:srgbClr val="FF0000"/>
                </a:solidFill>
                <a:latin typeface="Arial" pitchFamily="34" charset="0"/>
                <a:cs typeface="Arial" pitchFamily="34" charset="0"/>
              </a:rPr>
              <a:t>platform</a:t>
            </a:r>
            <a:r>
              <a:rPr lang="en-US" dirty="0" smtClean="0">
                <a:latin typeface="Arial" pitchFamily="34" charset="0"/>
                <a:cs typeface="Arial" pitchFamily="34" charset="0"/>
              </a:rPr>
              <a:t> is any hardware or software environment where you can run your programs. Java is known as a platform because it has a </a:t>
            </a:r>
            <a:r>
              <a:rPr lang="en-US" dirty="0" smtClean="0">
                <a:solidFill>
                  <a:srgbClr val="FF0000"/>
                </a:solidFill>
                <a:latin typeface="Arial" pitchFamily="34" charset="0"/>
                <a:cs typeface="Arial" pitchFamily="34" charset="0"/>
              </a:rPr>
              <a:t>runtime environment (JRE) and API. </a:t>
            </a:r>
            <a:endParaRPr lang="en-US" dirty="0">
              <a:solidFill>
                <a:srgbClr val="FF0000"/>
              </a:solidFill>
              <a:latin typeface="Arial" pitchFamily="34" charset="0"/>
              <a:cs typeface="Arial" pitchFamily="34" charset="0"/>
            </a:endParaRPr>
          </a:p>
        </p:txBody>
      </p:sp>
      <p:sp>
        <p:nvSpPr>
          <p:cNvPr id="3" name="Rectangle 2"/>
          <p:cNvSpPr/>
          <p:nvPr/>
        </p:nvSpPr>
        <p:spPr>
          <a:xfrm>
            <a:off x="285720" y="642918"/>
            <a:ext cx="3643338" cy="584775"/>
          </a:xfrm>
          <a:prstGeom prst="rect">
            <a:avLst/>
          </a:prstGeom>
        </p:spPr>
        <p:txBody>
          <a:bodyPr wrap="square">
            <a:spAutoFit/>
          </a:bodyPr>
          <a:lstStyle/>
          <a:p>
            <a:pPr fontAlgn="base"/>
            <a:r>
              <a:rPr lang="en-US" sz="3200" b="1" dirty="0" smtClean="0">
                <a:solidFill>
                  <a:srgbClr val="FF0000"/>
                </a:solidFill>
              </a:rPr>
              <a:t>What is Java?</a:t>
            </a:r>
            <a:endParaRPr lang="en-US" sz="3200" b="1" dirty="0">
              <a:solidFill>
                <a:srgbClr val="FF0000"/>
              </a:solidFill>
            </a:endParaRPr>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218" name="Picture 2"/>
          <p:cNvPicPr>
            <a:picLocks noChangeAspect="1" noChangeArrowheads="1"/>
          </p:cNvPicPr>
          <p:nvPr/>
        </p:nvPicPr>
        <p:blipFill>
          <a:blip r:embed="rId2"/>
          <a:srcRect/>
          <a:stretch>
            <a:fillRect/>
          </a:stretch>
        </p:blipFill>
        <p:spPr bwMode="auto">
          <a:xfrm>
            <a:off x="0" y="714356"/>
            <a:ext cx="8286808" cy="2545147"/>
          </a:xfrm>
          <a:prstGeom prst="rect">
            <a:avLst/>
          </a:prstGeom>
          <a:noFill/>
          <a:ln w="9525">
            <a:noFill/>
            <a:miter lim="800000"/>
            <a:headEnd/>
            <a:tailEnd/>
          </a:ln>
          <a:effectLst/>
        </p:spPr>
      </p:pic>
      <p:pic>
        <p:nvPicPr>
          <p:cNvPr id="9219" name="Picture 3"/>
          <p:cNvPicPr>
            <a:picLocks noChangeAspect="1" noChangeArrowheads="1"/>
          </p:cNvPicPr>
          <p:nvPr/>
        </p:nvPicPr>
        <p:blipFill>
          <a:blip r:embed="rId3"/>
          <a:srcRect/>
          <a:stretch>
            <a:fillRect/>
          </a:stretch>
        </p:blipFill>
        <p:spPr bwMode="auto">
          <a:xfrm>
            <a:off x="3536538" y="3286124"/>
            <a:ext cx="5269329" cy="3286148"/>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266" name="Picture 2"/>
          <p:cNvPicPr>
            <a:picLocks noChangeAspect="1" noChangeArrowheads="1"/>
          </p:cNvPicPr>
          <p:nvPr/>
        </p:nvPicPr>
        <p:blipFill>
          <a:blip r:embed="rId2"/>
          <a:srcRect/>
          <a:stretch>
            <a:fillRect/>
          </a:stretch>
        </p:blipFill>
        <p:spPr bwMode="auto">
          <a:xfrm>
            <a:off x="357158" y="1571612"/>
            <a:ext cx="7643866" cy="3914775"/>
          </a:xfrm>
          <a:prstGeom prst="rect">
            <a:avLst/>
          </a:prstGeom>
          <a:noFill/>
          <a:ln w="9525">
            <a:noFill/>
            <a:miter lim="800000"/>
            <a:headEnd/>
            <a:tailEnd/>
          </a:ln>
          <a:effectLst/>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a:blip r:embed="rId2"/>
          <a:srcRect/>
          <a:stretch>
            <a:fillRect/>
          </a:stretch>
        </p:blipFill>
        <p:spPr bwMode="auto">
          <a:xfrm>
            <a:off x="304223" y="642918"/>
            <a:ext cx="8584915" cy="6143668"/>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p:cNvPicPr>
            <a:picLocks noChangeAspect="1" noChangeArrowheads="1"/>
          </p:cNvPicPr>
          <p:nvPr/>
        </p:nvPicPr>
        <p:blipFill>
          <a:blip r:embed="rId2"/>
          <a:srcRect/>
          <a:stretch>
            <a:fillRect/>
          </a:stretch>
        </p:blipFill>
        <p:spPr bwMode="auto">
          <a:xfrm>
            <a:off x="290513" y="1500188"/>
            <a:ext cx="8562975" cy="3857625"/>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5842" name="Picture 2"/>
          <p:cNvPicPr>
            <a:picLocks noChangeAspect="1" noChangeArrowheads="1"/>
          </p:cNvPicPr>
          <p:nvPr/>
        </p:nvPicPr>
        <p:blipFill>
          <a:blip r:embed="rId2" cstate="print"/>
          <a:srcRect/>
          <a:stretch>
            <a:fillRect/>
          </a:stretch>
        </p:blipFill>
        <p:spPr bwMode="auto">
          <a:xfrm>
            <a:off x="0" y="692696"/>
            <a:ext cx="9144000" cy="5522386"/>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338" name="Picture 2" descr="Differences between JDK, JRE and JVM - GeeksforGeeks"/>
          <p:cNvPicPr>
            <a:picLocks noChangeAspect="1" noChangeArrowheads="1"/>
          </p:cNvPicPr>
          <p:nvPr/>
        </p:nvPicPr>
        <p:blipFill>
          <a:blip r:embed="rId2" cstate="print"/>
          <a:srcRect/>
          <a:stretch>
            <a:fillRect/>
          </a:stretch>
        </p:blipFill>
        <p:spPr bwMode="auto">
          <a:xfrm>
            <a:off x="0" y="1028674"/>
            <a:ext cx="4314825" cy="4200526"/>
          </a:xfrm>
          <a:prstGeom prst="rect">
            <a:avLst/>
          </a:prstGeom>
          <a:noFill/>
        </p:spPr>
      </p:pic>
      <p:pic>
        <p:nvPicPr>
          <p:cNvPr id="14340" name="Picture 4" descr="JDK JRE JVM JIT - Java Compiler"/>
          <p:cNvPicPr>
            <a:picLocks noChangeAspect="1" noChangeArrowheads="1"/>
          </p:cNvPicPr>
          <p:nvPr/>
        </p:nvPicPr>
        <p:blipFill>
          <a:blip r:embed="rId3" cstate="print"/>
          <a:srcRect/>
          <a:stretch>
            <a:fillRect/>
          </a:stretch>
        </p:blipFill>
        <p:spPr bwMode="auto">
          <a:xfrm>
            <a:off x="4860032" y="1052736"/>
            <a:ext cx="3914775" cy="3295651"/>
          </a:xfrm>
          <a:prstGeom prst="rect">
            <a:avLst/>
          </a:prstGeom>
          <a:noFill/>
        </p:spPr>
      </p:pic>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4818" name="Picture 2"/>
          <p:cNvPicPr>
            <a:picLocks noChangeAspect="1" noChangeArrowheads="1"/>
          </p:cNvPicPr>
          <p:nvPr/>
        </p:nvPicPr>
        <p:blipFill>
          <a:blip r:embed="rId2" cstate="print"/>
          <a:srcRect/>
          <a:stretch>
            <a:fillRect/>
          </a:stretch>
        </p:blipFill>
        <p:spPr bwMode="auto">
          <a:xfrm>
            <a:off x="428596" y="714356"/>
            <a:ext cx="8424936" cy="4800302"/>
          </a:xfrm>
          <a:prstGeom prst="rect">
            <a:avLst/>
          </a:prstGeom>
          <a:noFill/>
          <a:ln w="9525">
            <a:noFill/>
            <a:miter lim="800000"/>
            <a:headEnd/>
            <a:tailEnd/>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265" name="Picture 1"/>
          <p:cNvPicPr>
            <a:picLocks noChangeAspect="1" noChangeArrowheads="1"/>
          </p:cNvPicPr>
          <p:nvPr/>
        </p:nvPicPr>
        <p:blipFill>
          <a:blip r:embed="rId2" cstate="print"/>
          <a:srcRect/>
          <a:stretch>
            <a:fillRect/>
          </a:stretch>
        </p:blipFill>
        <p:spPr bwMode="auto">
          <a:xfrm>
            <a:off x="107504" y="797446"/>
            <a:ext cx="8892480" cy="4359746"/>
          </a:xfrm>
          <a:prstGeom prst="rect">
            <a:avLst/>
          </a:prstGeom>
          <a:noFill/>
          <a:ln w="9525">
            <a:noFill/>
            <a:miter lim="800000"/>
            <a:headEnd/>
            <a:tailEnd/>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41" name="Picture 1"/>
          <p:cNvPicPr>
            <a:picLocks noChangeAspect="1" noChangeArrowheads="1"/>
          </p:cNvPicPr>
          <p:nvPr/>
        </p:nvPicPr>
        <p:blipFill>
          <a:blip r:embed="rId2" cstate="print"/>
          <a:srcRect/>
          <a:stretch>
            <a:fillRect/>
          </a:stretch>
        </p:blipFill>
        <p:spPr bwMode="auto">
          <a:xfrm>
            <a:off x="571472" y="642918"/>
            <a:ext cx="7467600" cy="4953000"/>
          </a:xfrm>
          <a:prstGeom prst="rect">
            <a:avLst/>
          </a:prstGeom>
          <a:noFill/>
          <a:ln w="9525">
            <a:noFill/>
            <a:miter lim="800000"/>
            <a:headEnd/>
            <a:tailEnd/>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7890" name="Picture 2"/>
          <p:cNvPicPr>
            <a:picLocks noChangeAspect="1" noChangeArrowheads="1"/>
          </p:cNvPicPr>
          <p:nvPr/>
        </p:nvPicPr>
        <p:blipFill>
          <a:blip r:embed="rId2" cstate="print"/>
          <a:srcRect/>
          <a:stretch>
            <a:fillRect/>
          </a:stretch>
        </p:blipFill>
        <p:spPr bwMode="auto">
          <a:xfrm>
            <a:off x="611560" y="476672"/>
            <a:ext cx="7992888" cy="5544616"/>
          </a:xfrm>
          <a:prstGeom prst="rect">
            <a:avLst/>
          </a:prstGeom>
          <a:noFill/>
          <a:ln w="9525">
            <a:noFill/>
            <a:miter lim="800000"/>
            <a:headEnd/>
            <a:tailEnd/>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22" name="Picture 2"/>
          <p:cNvPicPr>
            <a:picLocks noChangeAspect="1" noChangeArrowheads="1"/>
          </p:cNvPicPr>
          <p:nvPr/>
        </p:nvPicPr>
        <p:blipFill>
          <a:blip r:embed="rId2" cstate="print"/>
          <a:srcRect/>
          <a:stretch>
            <a:fillRect/>
          </a:stretch>
        </p:blipFill>
        <p:spPr bwMode="auto">
          <a:xfrm>
            <a:off x="300339" y="980728"/>
            <a:ext cx="8376117" cy="4608511"/>
          </a:xfrm>
          <a:prstGeom prst="rect">
            <a:avLst/>
          </a:prstGeom>
          <a:noFill/>
          <a:ln w="9525">
            <a:noFill/>
            <a:miter lim="800000"/>
            <a:headEnd/>
            <a:tailEnd/>
          </a:ln>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1746" name="Picture 2"/>
          <p:cNvPicPr>
            <a:picLocks noChangeAspect="1" noChangeArrowheads="1"/>
          </p:cNvPicPr>
          <p:nvPr/>
        </p:nvPicPr>
        <p:blipFill>
          <a:blip r:embed="rId2" cstate="print"/>
          <a:srcRect/>
          <a:stretch>
            <a:fillRect/>
          </a:stretch>
        </p:blipFill>
        <p:spPr bwMode="auto">
          <a:xfrm>
            <a:off x="100013" y="2181225"/>
            <a:ext cx="8943975" cy="2495550"/>
          </a:xfrm>
          <a:prstGeom prst="rect">
            <a:avLst/>
          </a:prstGeom>
          <a:noFill/>
          <a:ln w="9525">
            <a:noFill/>
            <a:miter lim="800000"/>
            <a:headEnd/>
            <a:tailEnd/>
          </a:ln>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2770" name="Picture 2"/>
          <p:cNvPicPr>
            <a:picLocks noChangeAspect="1" noChangeArrowheads="1"/>
          </p:cNvPicPr>
          <p:nvPr/>
        </p:nvPicPr>
        <p:blipFill>
          <a:blip r:embed="rId2" cstate="print"/>
          <a:srcRect/>
          <a:stretch>
            <a:fillRect/>
          </a:stretch>
        </p:blipFill>
        <p:spPr bwMode="auto">
          <a:xfrm>
            <a:off x="539552" y="1772816"/>
            <a:ext cx="7872875" cy="3745582"/>
          </a:xfrm>
          <a:prstGeom prst="rect">
            <a:avLst/>
          </a:prstGeom>
          <a:noFill/>
          <a:ln w="9525">
            <a:noFill/>
            <a:miter lim="800000"/>
            <a:headEnd/>
            <a:tailEnd/>
          </a:ln>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8914" name="Picture 2"/>
          <p:cNvPicPr>
            <a:picLocks noChangeAspect="1" noChangeArrowheads="1"/>
          </p:cNvPicPr>
          <p:nvPr/>
        </p:nvPicPr>
        <p:blipFill>
          <a:blip r:embed="rId2" cstate="print"/>
          <a:srcRect/>
          <a:stretch>
            <a:fillRect/>
          </a:stretch>
        </p:blipFill>
        <p:spPr bwMode="auto">
          <a:xfrm>
            <a:off x="486156" y="404664"/>
            <a:ext cx="8262307" cy="5904656"/>
          </a:xfrm>
          <a:prstGeom prst="rect">
            <a:avLst/>
          </a:prstGeom>
          <a:noFill/>
          <a:ln w="9525">
            <a:noFill/>
            <a:miter lim="800000"/>
            <a:headEnd/>
            <a:tailEnd/>
          </a:ln>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9938" name="Picture 2"/>
          <p:cNvPicPr>
            <a:picLocks noChangeAspect="1" noChangeArrowheads="1"/>
          </p:cNvPicPr>
          <p:nvPr/>
        </p:nvPicPr>
        <p:blipFill>
          <a:blip r:embed="rId2" cstate="print"/>
          <a:srcRect/>
          <a:stretch>
            <a:fillRect/>
          </a:stretch>
        </p:blipFill>
        <p:spPr bwMode="auto">
          <a:xfrm>
            <a:off x="183880" y="692696"/>
            <a:ext cx="8636592" cy="4896543"/>
          </a:xfrm>
          <a:prstGeom prst="rect">
            <a:avLst/>
          </a:prstGeom>
          <a:noFill/>
          <a:ln w="9525">
            <a:noFill/>
            <a:miter lim="800000"/>
            <a:headEnd/>
            <a:tailEnd/>
          </a:ln>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6" name="AutoShape 2" descr="Reintroduction to Java Data Types | getKT"/>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1028" name="AutoShape 4" descr="Reintroduction to Java Data Types | getKT"/>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pic>
        <p:nvPicPr>
          <p:cNvPr id="1029" name="Picture 5"/>
          <p:cNvPicPr>
            <a:picLocks noChangeAspect="1" noChangeArrowheads="1"/>
          </p:cNvPicPr>
          <p:nvPr/>
        </p:nvPicPr>
        <p:blipFill>
          <a:blip r:embed="rId2" cstate="print"/>
          <a:srcRect/>
          <a:stretch>
            <a:fillRect/>
          </a:stretch>
        </p:blipFill>
        <p:spPr bwMode="auto">
          <a:xfrm>
            <a:off x="196016" y="428604"/>
            <a:ext cx="8662264" cy="5929354"/>
          </a:xfrm>
          <a:prstGeom prst="rect">
            <a:avLst/>
          </a:prstGeom>
          <a:noFill/>
          <a:ln w="9525">
            <a:noFill/>
            <a:miter lim="800000"/>
            <a:headEnd/>
            <a:tailEnd/>
          </a:ln>
          <a:effectLst/>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9986" name="Picture 2" descr="Java Primitive Data Types Size and Range"/>
          <p:cNvPicPr>
            <a:picLocks noChangeAspect="1" noChangeArrowheads="1"/>
          </p:cNvPicPr>
          <p:nvPr/>
        </p:nvPicPr>
        <p:blipFill>
          <a:blip r:embed="rId2"/>
          <a:srcRect/>
          <a:stretch>
            <a:fillRect/>
          </a:stretch>
        </p:blipFill>
        <p:spPr bwMode="auto">
          <a:xfrm>
            <a:off x="7905" y="1000108"/>
            <a:ext cx="9017064" cy="5072098"/>
          </a:xfrm>
          <a:prstGeom prst="rect">
            <a:avLst/>
          </a:prstGeom>
          <a:noFill/>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noChangeArrowheads="1"/>
          </p:cNvPicPr>
          <p:nvPr/>
        </p:nvPicPr>
        <p:blipFill>
          <a:blip r:embed="rId2" cstate="print"/>
          <a:srcRect/>
          <a:stretch>
            <a:fillRect/>
          </a:stretch>
        </p:blipFill>
        <p:spPr bwMode="auto">
          <a:xfrm>
            <a:off x="285720" y="1071546"/>
            <a:ext cx="8501122" cy="5286412"/>
          </a:xfrm>
          <a:prstGeom prst="rect">
            <a:avLst/>
          </a:prstGeom>
          <a:noFill/>
          <a:ln w="9525">
            <a:noFill/>
            <a:miter lim="800000"/>
            <a:headEnd/>
            <a:tailEnd/>
          </a:ln>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1987" name="Picture 3"/>
          <p:cNvPicPr>
            <a:picLocks noChangeAspect="1" noChangeArrowheads="1"/>
          </p:cNvPicPr>
          <p:nvPr/>
        </p:nvPicPr>
        <p:blipFill>
          <a:blip r:embed="rId2" cstate="print"/>
          <a:srcRect/>
          <a:stretch>
            <a:fillRect/>
          </a:stretch>
        </p:blipFill>
        <p:spPr bwMode="auto">
          <a:xfrm>
            <a:off x="71406" y="428604"/>
            <a:ext cx="9001156" cy="5786478"/>
          </a:xfrm>
          <a:prstGeom prst="rect">
            <a:avLst/>
          </a:prstGeom>
          <a:noFill/>
          <a:ln w="9525">
            <a:noFill/>
            <a:miter lim="800000"/>
            <a:headEnd/>
            <a:tailEnd/>
          </a:ln>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7458" name="AutoShape 2" descr="Operators in Java with Examples"/>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147460" name="AutoShape 4" descr="Operators in Java with Examples"/>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pic>
        <p:nvPicPr>
          <p:cNvPr id="147461" name="Picture 5"/>
          <p:cNvPicPr>
            <a:picLocks noChangeAspect="1" noChangeArrowheads="1"/>
          </p:cNvPicPr>
          <p:nvPr/>
        </p:nvPicPr>
        <p:blipFill>
          <a:blip r:embed="rId2"/>
          <a:srcRect/>
          <a:stretch>
            <a:fillRect/>
          </a:stretch>
        </p:blipFill>
        <p:spPr bwMode="auto">
          <a:xfrm>
            <a:off x="857224" y="1357298"/>
            <a:ext cx="6513327" cy="3536967"/>
          </a:xfrm>
          <a:prstGeom prst="rect">
            <a:avLst/>
          </a:prstGeom>
          <a:noFill/>
          <a:ln w="9525">
            <a:noFill/>
            <a:miter lim="800000"/>
            <a:headEnd/>
            <a:tailEnd/>
          </a:ln>
          <a:effectLst/>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928662" y="1997839"/>
            <a:ext cx="5929338" cy="2862322"/>
          </a:xfrm>
          <a:prstGeom prst="rect">
            <a:avLst/>
          </a:prstGeom>
        </p:spPr>
        <p:txBody>
          <a:bodyPr wrap="square">
            <a:spAutoFit/>
          </a:bodyPr>
          <a:lstStyle/>
          <a:p>
            <a:pPr fontAlgn="base"/>
            <a:r>
              <a:rPr lang="en-US" b="1" dirty="0" smtClean="0"/>
              <a:t>There as many types of Operators in Java as follows:</a:t>
            </a:r>
          </a:p>
          <a:p>
            <a:pPr fontAlgn="base"/>
            <a:endParaRPr lang="en-US" dirty="0" smtClean="0"/>
          </a:p>
          <a:p>
            <a:pPr fontAlgn="base">
              <a:buFont typeface="Arial" pitchFamily="34" charset="0"/>
              <a:buChar char="•"/>
            </a:pPr>
            <a:r>
              <a:rPr lang="en-US" dirty="0" smtClean="0"/>
              <a:t>Arithmetic Operator</a:t>
            </a:r>
          </a:p>
          <a:p>
            <a:pPr fontAlgn="base">
              <a:buFont typeface="Arial" pitchFamily="34" charset="0"/>
              <a:buChar char="•"/>
            </a:pPr>
            <a:r>
              <a:rPr lang="en-US" dirty="0" smtClean="0"/>
              <a:t>Assignment Operator</a:t>
            </a:r>
          </a:p>
          <a:p>
            <a:pPr fontAlgn="base">
              <a:buFont typeface="Arial" pitchFamily="34" charset="0"/>
              <a:buChar char="•"/>
            </a:pPr>
            <a:r>
              <a:rPr lang="en-US" dirty="0" smtClean="0"/>
              <a:t>Relational Operator</a:t>
            </a:r>
          </a:p>
          <a:p>
            <a:pPr fontAlgn="base">
              <a:buFont typeface="Arial" pitchFamily="34" charset="0"/>
              <a:buChar char="•"/>
            </a:pPr>
            <a:r>
              <a:rPr lang="en-US" dirty="0" smtClean="0"/>
              <a:t>Logical Operator</a:t>
            </a:r>
          </a:p>
          <a:p>
            <a:pPr fontAlgn="base">
              <a:buFont typeface="Arial" pitchFamily="34" charset="0"/>
              <a:buChar char="•"/>
            </a:pPr>
            <a:r>
              <a:rPr lang="en-US" dirty="0" smtClean="0"/>
              <a:t>Bitwise Operator</a:t>
            </a:r>
          </a:p>
          <a:p>
            <a:pPr fontAlgn="base">
              <a:buFont typeface="Arial" pitchFamily="34" charset="0"/>
              <a:buChar char="•"/>
            </a:pPr>
            <a:r>
              <a:rPr lang="en-US" dirty="0" smtClean="0"/>
              <a:t>Unary Operator</a:t>
            </a:r>
          </a:p>
          <a:p>
            <a:pPr fontAlgn="base">
              <a:buFont typeface="Arial" pitchFamily="34" charset="0"/>
              <a:buChar char="•"/>
            </a:pPr>
            <a:r>
              <a:rPr lang="en-US" dirty="0" smtClean="0"/>
              <a:t>Shift Operator</a:t>
            </a:r>
          </a:p>
          <a:p>
            <a:pPr fontAlgn="base">
              <a:buFont typeface="Arial" pitchFamily="34" charset="0"/>
              <a:buChar char="•"/>
            </a:pPr>
            <a:r>
              <a:rPr lang="en-US" dirty="0" smtClean="0"/>
              <a:t>Ternary Operator</a:t>
            </a:r>
            <a:endParaRPr lang="en-US"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a:blip r:embed="rId2"/>
          <a:srcRect/>
          <a:stretch>
            <a:fillRect/>
          </a:stretch>
        </p:blipFill>
        <p:spPr bwMode="auto">
          <a:xfrm>
            <a:off x="561975" y="738188"/>
            <a:ext cx="8020050" cy="5381625"/>
          </a:xfrm>
          <a:prstGeom prst="rect">
            <a:avLst/>
          </a:prstGeom>
          <a:noFill/>
          <a:ln w="9525">
            <a:noFill/>
            <a:miter lim="800000"/>
            <a:headEnd/>
            <a:tailEnd/>
          </a:ln>
          <a:effectLst/>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28596" y="1142984"/>
            <a:ext cx="7858180" cy="3662541"/>
          </a:xfrm>
          <a:prstGeom prst="rect">
            <a:avLst/>
          </a:prstGeom>
        </p:spPr>
        <p:txBody>
          <a:bodyPr wrap="square">
            <a:spAutoFit/>
          </a:bodyPr>
          <a:lstStyle/>
          <a:p>
            <a:r>
              <a:rPr lang="en-US" sz="4000" b="1" dirty="0" smtClean="0"/>
              <a:t>Session 2</a:t>
            </a:r>
          </a:p>
          <a:p>
            <a:pPr>
              <a:buFont typeface="Wingdings" pitchFamily="2" charset="2"/>
              <a:buChar char="Ø"/>
            </a:pPr>
            <a:endParaRPr lang="en-IN" sz="2400" b="1" dirty="0" smtClean="0"/>
          </a:p>
          <a:p>
            <a:pPr>
              <a:buFont typeface="Wingdings" pitchFamily="2" charset="2"/>
              <a:buChar char="Ø"/>
            </a:pPr>
            <a:r>
              <a:rPr lang="en-IN" sz="2400" b="1" dirty="0" smtClean="0"/>
              <a:t>Array</a:t>
            </a:r>
          </a:p>
          <a:p>
            <a:pPr>
              <a:buFont typeface="Wingdings" pitchFamily="2" charset="2"/>
              <a:buChar char="Ø"/>
            </a:pPr>
            <a:r>
              <a:rPr lang="en-IN" sz="2400" b="1" dirty="0" smtClean="0"/>
              <a:t>OOPS Concept</a:t>
            </a:r>
          </a:p>
          <a:p>
            <a:pPr>
              <a:buFont typeface="Wingdings" pitchFamily="2" charset="2"/>
              <a:buChar char="Ø"/>
            </a:pPr>
            <a:r>
              <a:rPr lang="en-IN" sz="2400" b="1" dirty="0" smtClean="0"/>
              <a:t>Encapsulation</a:t>
            </a:r>
          </a:p>
          <a:p>
            <a:pPr>
              <a:buFont typeface="Wingdings" pitchFamily="2" charset="2"/>
              <a:buChar char="Ø"/>
            </a:pPr>
            <a:r>
              <a:rPr lang="en-IN" sz="2400" b="1" dirty="0" smtClean="0"/>
              <a:t>Abstraction</a:t>
            </a:r>
          </a:p>
          <a:p>
            <a:pPr>
              <a:buFont typeface="Wingdings" pitchFamily="2" charset="2"/>
              <a:buChar char="Ø"/>
            </a:pPr>
            <a:r>
              <a:rPr lang="en-IN" sz="2400" b="1" dirty="0" smtClean="0"/>
              <a:t>Inheritance</a:t>
            </a:r>
          </a:p>
          <a:p>
            <a:pPr>
              <a:buFont typeface="Wingdings" pitchFamily="2" charset="2"/>
              <a:buChar char="Ø"/>
            </a:pPr>
            <a:r>
              <a:rPr lang="en-IN" sz="2400" b="1" dirty="0" smtClean="0"/>
              <a:t>Polymorphism</a:t>
            </a:r>
          </a:p>
          <a:p>
            <a:pPr>
              <a:buFont typeface="Wingdings" pitchFamily="2" charset="2"/>
              <a:buChar char="Ø"/>
            </a:pPr>
            <a:r>
              <a:rPr lang="en-IN" sz="2400" b="1" dirty="0" smtClean="0"/>
              <a:t>Abstract class  &amp; Interfaces</a:t>
            </a:r>
            <a:endParaRPr lang="en-US" sz="2400" b="1"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6082" name="Picture 2"/>
          <p:cNvPicPr>
            <a:picLocks noChangeAspect="1" noChangeArrowheads="1"/>
          </p:cNvPicPr>
          <p:nvPr/>
        </p:nvPicPr>
        <p:blipFill>
          <a:blip r:embed="rId2" cstate="print"/>
          <a:srcRect/>
          <a:stretch>
            <a:fillRect/>
          </a:stretch>
        </p:blipFill>
        <p:spPr bwMode="auto">
          <a:xfrm>
            <a:off x="71406" y="980728"/>
            <a:ext cx="8739011" cy="4734288"/>
          </a:xfrm>
          <a:prstGeom prst="rect">
            <a:avLst/>
          </a:prstGeom>
          <a:noFill/>
          <a:ln w="9525">
            <a:noFill/>
            <a:miter lim="800000"/>
            <a:headEnd/>
            <a:tailEnd/>
          </a:ln>
        </p:spPr>
      </p:pic>
      <p:sp>
        <p:nvSpPr>
          <p:cNvPr id="3" name="Rectangle 2"/>
          <p:cNvSpPr/>
          <p:nvPr/>
        </p:nvSpPr>
        <p:spPr>
          <a:xfrm>
            <a:off x="1428728" y="853843"/>
            <a:ext cx="7143800" cy="646331"/>
          </a:xfrm>
          <a:prstGeom prst="rect">
            <a:avLst/>
          </a:prstGeom>
        </p:spPr>
        <p:txBody>
          <a:bodyPr wrap="square">
            <a:spAutoFit/>
          </a:bodyPr>
          <a:lstStyle/>
          <a:p>
            <a:r>
              <a:rPr lang="en-US" b="1" dirty="0" smtClean="0"/>
              <a:t>Arrays</a:t>
            </a:r>
            <a:r>
              <a:rPr lang="en-US" dirty="0" smtClean="0"/>
              <a:t> are fundamental structures in Java that allow us to store multiple values of the same type in a single variable.</a:t>
            </a:r>
            <a:endParaRPr lang="en-US"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5058" name="Picture 2"/>
          <p:cNvPicPr>
            <a:picLocks noChangeAspect="1" noChangeArrowheads="1"/>
          </p:cNvPicPr>
          <p:nvPr/>
        </p:nvPicPr>
        <p:blipFill>
          <a:blip r:embed="rId2" cstate="print"/>
          <a:srcRect/>
          <a:stretch>
            <a:fillRect/>
          </a:stretch>
        </p:blipFill>
        <p:spPr bwMode="auto">
          <a:xfrm>
            <a:off x="454374" y="1285860"/>
            <a:ext cx="8235252" cy="4286280"/>
          </a:xfrm>
          <a:prstGeom prst="rect">
            <a:avLst/>
          </a:prstGeom>
          <a:noFill/>
          <a:ln w="9525">
            <a:noFill/>
            <a:miter lim="800000"/>
            <a:headEnd/>
            <a:tailEnd/>
          </a:ln>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7106" name="Picture 2"/>
          <p:cNvPicPr>
            <a:picLocks noChangeAspect="1" noChangeArrowheads="1"/>
          </p:cNvPicPr>
          <p:nvPr/>
        </p:nvPicPr>
        <p:blipFill>
          <a:blip r:embed="rId2" cstate="print"/>
          <a:srcRect/>
          <a:stretch>
            <a:fillRect/>
          </a:stretch>
        </p:blipFill>
        <p:spPr bwMode="auto">
          <a:xfrm>
            <a:off x="564640" y="1230309"/>
            <a:ext cx="7793574" cy="4198955"/>
          </a:xfrm>
          <a:prstGeom prst="rect">
            <a:avLst/>
          </a:prstGeom>
          <a:noFill/>
          <a:ln w="9525">
            <a:noFill/>
            <a:miter lim="800000"/>
            <a:headEnd/>
            <a:tailEnd/>
          </a:ln>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8130" name="Picture 2"/>
          <p:cNvPicPr>
            <a:picLocks noChangeAspect="1" noChangeArrowheads="1"/>
          </p:cNvPicPr>
          <p:nvPr/>
        </p:nvPicPr>
        <p:blipFill>
          <a:blip r:embed="rId2" cstate="print"/>
          <a:srcRect/>
          <a:stretch>
            <a:fillRect/>
          </a:stretch>
        </p:blipFill>
        <p:spPr bwMode="auto">
          <a:xfrm>
            <a:off x="1387475" y="1679575"/>
            <a:ext cx="6369050" cy="3498850"/>
          </a:xfrm>
          <a:prstGeom prst="rect">
            <a:avLst/>
          </a:prstGeom>
          <a:noFill/>
          <a:ln w="9525">
            <a:noFill/>
            <a:miter lim="800000"/>
            <a:headEnd/>
            <a:tailEnd/>
          </a:ln>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28596" y="1142984"/>
            <a:ext cx="8208912" cy="4893647"/>
          </a:xfrm>
          <a:prstGeom prst="rect">
            <a:avLst/>
          </a:prstGeom>
        </p:spPr>
        <p:txBody>
          <a:bodyPr wrap="square">
            <a:spAutoFit/>
          </a:bodyPr>
          <a:lstStyle/>
          <a:p>
            <a:r>
              <a:rPr lang="en-US" sz="2400" b="1" dirty="0" smtClean="0"/>
              <a:t>Object-oriented programming (OOP) </a:t>
            </a:r>
            <a:r>
              <a:rPr lang="en-US" sz="2400" dirty="0" smtClean="0"/>
              <a:t>in Java is a programming methodology or paradigm (model) to design a computer program using </a:t>
            </a:r>
            <a:r>
              <a:rPr lang="en-US" sz="2400" b="1" dirty="0" smtClean="0"/>
              <a:t>classes and objects</a:t>
            </a:r>
            <a:r>
              <a:rPr lang="en-US" sz="2400" dirty="0" smtClean="0"/>
              <a:t>.</a:t>
            </a:r>
          </a:p>
          <a:p>
            <a:endParaRPr lang="en-US" sz="2400" dirty="0" smtClean="0"/>
          </a:p>
          <a:p>
            <a:r>
              <a:rPr lang="en-US" sz="2400" dirty="0" smtClean="0"/>
              <a:t>It is the most popular programming paradigm and widely used in the software industry today. It is an extension of </a:t>
            </a:r>
            <a:r>
              <a:rPr lang="en-US" sz="2400" b="1" dirty="0" smtClean="0"/>
              <a:t>procedural programming.</a:t>
            </a:r>
          </a:p>
          <a:p>
            <a:endParaRPr lang="en-US" sz="2400" dirty="0" smtClean="0"/>
          </a:p>
          <a:p>
            <a:r>
              <a:rPr lang="en-US" sz="2400" dirty="0" smtClean="0"/>
              <a:t>Procedural programming means writing code </a:t>
            </a:r>
            <a:r>
              <a:rPr lang="en-US" sz="2400" b="1" dirty="0" smtClean="0"/>
              <a:t>without objects</a:t>
            </a:r>
            <a:r>
              <a:rPr lang="en-US" sz="2400" dirty="0" smtClean="0"/>
              <a:t>. Whereas, object-oriented programming means writing code with objects. It contains data in the form of fields or variables (often known as </a:t>
            </a:r>
            <a:r>
              <a:rPr lang="en-US" sz="2400" b="1" dirty="0" smtClean="0"/>
              <a:t>attributes or properties </a:t>
            </a:r>
            <a:r>
              <a:rPr lang="en-US" sz="2400" dirty="0" smtClean="0"/>
              <a:t>in java) and functionality code in the form of </a:t>
            </a:r>
            <a:r>
              <a:rPr lang="en-US" sz="2400" b="1" dirty="0" smtClean="0"/>
              <a:t>methods</a:t>
            </a:r>
            <a:r>
              <a:rPr lang="en-US" sz="2400" dirty="0" smtClean="0"/>
              <a:t> (often known as </a:t>
            </a:r>
            <a:r>
              <a:rPr lang="en-US" sz="2400" b="1" dirty="0" smtClean="0"/>
              <a:t>behavior</a:t>
            </a:r>
            <a:r>
              <a:rPr lang="en-US" sz="2400" dirty="0" smtClean="0"/>
              <a:t> in java).</a:t>
            </a:r>
            <a:endParaRPr lang="en-US" sz="24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14282" y="785794"/>
            <a:ext cx="1883336" cy="369332"/>
          </a:xfrm>
          <a:prstGeom prst="rect">
            <a:avLst/>
          </a:prstGeom>
        </p:spPr>
        <p:txBody>
          <a:bodyPr wrap="none">
            <a:spAutoFit/>
          </a:bodyPr>
          <a:lstStyle/>
          <a:p>
            <a:r>
              <a:rPr lang="en-US" b="1" dirty="0" smtClean="0"/>
              <a:t>What is an Object</a:t>
            </a:r>
            <a:endParaRPr lang="en-US" b="1" dirty="0"/>
          </a:p>
        </p:txBody>
      </p:sp>
      <p:sp>
        <p:nvSpPr>
          <p:cNvPr id="4" name="Rectangle 3"/>
          <p:cNvSpPr/>
          <p:nvPr/>
        </p:nvSpPr>
        <p:spPr>
          <a:xfrm>
            <a:off x="35496" y="1428736"/>
            <a:ext cx="8964488" cy="2862322"/>
          </a:xfrm>
          <a:prstGeom prst="rect">
            <a:avLst/>
          </a:prstGeom>
        </p:spPr>
        <p:txBody>
          <a:bodyPr wrap="square">
            <a:spAutoFit/>
          </a:bodyPr>
          <a:lstStyle/>
          <a:p>
            <a:r>
              <a:rPr lang="en-US" b="1" dirty="0" smtClean="0"/>
              <a:t>Characteristics of an object in </a:t>
            </a:r>
            <a:r>
              <a:rPr lang="en-US" b="1" dirty="0" err="1" smtClean="0"/>
              <a:t>Java</a:t>
            </a:r>
            <a:r>
              <a:rPr lang="en-US" dirty="0" err="1" smtClean="0"/>
              <a:t>An</a:t>
            </a:r>
            <a:r>
              <a:rPr lang="en-US" dirty="0" smtClean="0"/>
              <a:t> object has three characteristics:</a:t>
            </a:r>
          </a:p>
          <a:p>
            <a:endParaRPr lang="en-US" dirty="0" smtClean="0"/>
          </a:p>
          <a:p>
            <a:r>
              <a:rPr lang="en-US" dirty="0" smtClean="0"/>
              <a:t>1. </a:t>
            </a:r>
            <a:r>
              <a:rPr lang="en-US" b="1" dirty="0" smtClean="0"/>
              <a:t>State:</a:t>
            </a:r>
            <a:r>
              <a:rPr lang="en-US" dirty="0" smtClean="0"/>
              <a:t> State represents properties of an object. It is represented by instance variable/attribute of an object. The properties of an object are important because the outcome of functions depend on the properties.</a:t>
            </a:r>
          </a:p>
          <a:p>
            <a:endParaRPr lang="en-US" dirty="0" smtClean="0"/>
          </a:p>
          <a:p>
            <a:r>
              <a:rPr lang="en-US" dirty="0" smtClean="0"/>
              <a:t>2. </a:t>
            </a:r>
            <a:r>
              <a:rPr lang="en-US" b="1" dirty="0" smtClean="0"/>
              <a:t>Behavior:</a:t>
            </a:r>
            <a:r>
              <a:rPr lang="en-US" dirty="0" smtClean="0"/>
              <a:t> Behavior represents functionality or actions. It is represented by methods in Java.</a:t>
            </a:r>
          </a:p>
          <a:p>
            <a:endParaRPr lang="en-US" dirty="0" smtClean="0"/>
          </a:p>
          <a:p>
            <a:r>
              <a:rPr lang="en-US" dirty="0" smtClean="0"/>
              <a:t>3. </a:t>
            </a:r>
            <a:r>
              <a:rPr lang="en-US" b="1" dirty="0" smtClean="0"/>
              <a:t>Identity:</a:t>
            </a:r>
            <a:r>
              <a:rPr lang="en-US" dirty="0" smtClean="0"/>
              <a:t> Identity represents the unique name of an object. It differentiates one object from the other. The unique name of an object is used to identify the object.</a:t>
            </a:r>
            <a:endParaRPr lang="en-US"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8898" name="Picture 2"/>
          <p:cNvPicPr>
            <a:picLocks noChangeAspect="1" noChangeArrowheads="1"/>
          </p:cNvPicPr>
          <p:nvPr/>
        </p:nvPicPr>
        <p:blipFill>
          <a:blip r:embed="rId2"/>
          <a:srcRect/>
          <a:stretch>
            <a:fillRect/>
          </a:stretch>
        </p:blipFill>
        <p:spPr bwMode="auto">
          <a:xfrm>
            <a:off x="0" y="571480"/>
            <a:ext cx="9144000" cy="5786454"/>
          </a:xfrm>
          <a:prstGeom prst="rect">
            <a:avLst/>
          </a:prstGeom>
          <a:noFill/>
          <a:ln w="9525">
            <a:noFill/>
            <a:miter lim="800000"/>
            <a:headEnd/>
            <a:tailEnd/>
          </a:ln>
          <a:effectLst/>
        </p:spPr>
      </p:pic>
      <p:sp>
        <p:nvSpPr>
          <p:cNvPr id="3" name="Rectangle 2"/>
          <p:cNvSpPr/>
          <p:nvPr/>
        </p:nvSpPr>
        <p:spPr>
          <a:xfrm>
            <a:off x="-71470" y="-71462"/>
            <a:ext cx="9215470" cy="369332"/>
          </a:xfrm>
          <a:prstGeom prst="rect">
            <a:avLst/>
          </a:prstGeom>
        </p:spPr>
        <p:txBody>
          <a:bodyPr wrap="square">
            <a:spAutoFit/>
          </a:bodyPr>
          <a:lstStyle/>
          <a:p>
            <a:r>
              <a:rPr lang="en-US" dirty="0" smtClean="0"/>
              <a:t>Following image illustrates, as if car is a object what are it’s fields and methods</a:t>
            </a:r>
            <a:endParaRPr lang="en-US"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79512" y="751344"/>
            <a:ext cx="8712968" cy="4247317"/>
          </a:xfrm>
          <a:prstGeom prst="rect">
            <a:avLst/>
          </a:prstGeom>
        </p:spPr>
        <p:txBody>
          <a:bodyPr wrap="square">
            <a:spAutoFit/>
          </a:bodyPr>
          <a:lstStyle/>
          <a:p>
            <a:r>
              <a:rPr lang="en-US" dirty="0" smtClean="0"/>
              <a:t>1. </a:t>
            </a:r>
            <a:r>
              <a:rPr lang="en-US" b="1" dirty="0" smtClean="0"/>
              <a:t>Modifiers:</a:t>
            </a:r>
            <a:r>
              <a:rPr lang="en-US" dirty="0" smtClean="0"/>
              <a:t> A class can be either public or default </a:t>
            </a:r>
            <a:r>
              <a:rPr lang="en-US" dirty="0" smtClean="0">
                <a:hlinkClick r:id="rId2"/>
              </a:rPr>
              <a:t>access modifier</a:t>
            </a:r>
            <a:r>
              <a:rPr lang="en-US" dirty="0" smtClean="0"/>
              <a:t>. But the members of class can be public, private, default, and protected. All these are the access modifiers.</a:t>
            </a:r>
          </a:p>
          <a:p>
            <a:endParaRPr lang="en-US" dirty="0" smtClean="0"/>
          </a:p>
          <a:p>
            <a:r>
              <a:rPr lang="en-US" dirty="0" smtClean="0"/>
              <a:t>2. </a:t>
            </a:r>
            <a:r>
              <a:rPr lang="en-US" b="1" dirty="0" smtClean="0"/>
              <a:t>Class name:</a:t>
            </a:r>
            <a:r>
              <a:rPr lang="en-US" dirty="0" smtClean="0"/>
              <a:t> By convention, a class name should begin with a capital letter and subsequent characters lowercased (for example Student). If a name consists of multiple words, the first letter of each word should be uppercased ( for example </a:t>
            </a:r>
            <a:r>
              <a:rPr lang="en-US" dirty="0" err="1" smtClean="0"/>
              <a:t>CollegerStudent</a:t>
            </a:r>
            <a:r>
              <a:rPr lang="en-US" dirty="0" smtClean="0"/>
              <a:t>).</a:t>
            </a:r>
          </a:p>
          <a:p>
            <a:endParaRPr lang="en-US" dirty="0" smtClean="0"/>
          </a:p>
          <a:p>
            <a:endParaRPr lang="en-US" dirty="0" smtClean="0"/>
          </a:p>
          <a:p>
            <a:r>
              <a:rPr lang="en-US" dirty="0" smtClean="0"/>
              <a:t>A class name can also start with an underscore ”_”. The following class name can be valid such as _, _Student. Keywords cannot be a valid class name. For example, class, true, null, etc are not accepted as a class name.</a:t>
            </a:r>
          </a:p>
          <a:p>
            <a:endParaRPr lang="en-US" dirty="0" smtClean="0"/>
          </a:p>
          <a:p>
            <a:endParaRPr lang="en-US" dirty="0" smtClean="0"/>
          </a:p>
          <a:p>
            <a:r>
              <a:rPr lang="en-US" dirty="0" smtClean="0"/>
              <a:t>3. </a:t>
            </a:r>
            <a:r>
              <a:rPr lang="en-US" b="1" dirty="0" smtClean="0"/>
              <a:t>Body:</a:t>
            </a:r>
            <a:r>
              <a:rPr lang="en-US" dirty="0" smtClean="0"/>
              <a:t> Every class’s body is enclosed in a pair of left and right braces. In the body,  a class can contain the following members.</a:t>
            </a:r>
            <a:endParaRPr lang="en-US"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3" name="Rectangle 1"/>
          <p:cNvSpPr>
            <a:spLocks noChangeArrowheads="1"/>
          </p:cNvSpPr>
          <p:nvPr/>
        </p:nvSpPr>
        <p:spPr bwMode="auto">
          <a:xfrm>
            <a:off x="0" y="0"/>
            <a:ext cx="9144000" cy="4496082"/>
          </a:xfrm>
          <a:prstGeom prst="rect">
            <a:avLst/>
          </a:prstGeom>
          <a:noFill/>
          <a:ln w="9525">
            <a:noFill/>
            <a:miter lim="800000"/>
            <a:headEnd/>
            <a:tailEnd/>
          </a:ln>
          <a:effectLst/>
        </p:spPr>
        <p:txBody>
          <a:bodyPr vert="horz" wrap="square" lIns="0" tIns="0" rIns="0" bIns="6348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b="1" i="0" u="none" strike="noStrike" cap="none" normalizeH="0" baseline="0" dirty="0" smtClean="0">
                <a:ln>
                  <a:noFill/>
                </a:ln>
                <a:solidFill>
                  <a:srgbClr val="333333"/>
                </a:solidFill>
                <a:effectLst/>
                <a:latin typeface="+mj-lt"/>
                <a:cs typeface="Arial" pitchFamily="34" charset="0"/>
              </a:rPr>
              <a:t>Access Modifiers in Java</a:t>
            </a:r>
          </a:p>
          <a:p>
            <a:pPr marL="0" marR="0" lvl="0" indent="0" algn="l" defTabSz="914400" rtl="0" eaLnBrk="1" fontAlgn="base" latinLnBrk="0" hangingPunct="1">
              <a:lnSpc>
                <a:spcPct val="100000"/>
              </a:lnSpc>
              <a:spcBef>
                <a:spcPct val="0"/>
              </a:spcBef>
              <a:spcAft>
                <a:spcPct val="0"/>
              </a:spcAft>
              <a:buClrTx/>
              <a:buSzTx/>
              <a:buFontTx/>
              <a:buNone/>
              <a:tabLst/>
            </a:pPr>
            <a:endParaRPr kumimoji="0" lang="en-US" b="0" i="0" u="none" strike="noStrike" cap="none" normalizeH="0" baseline="0" dirty="0" smtClean="0">
              <a:ln>
                <a:noFill/>
              </a:ln>
              <a:solidFill>
                <a:srgbClr val="333333"/>
              </a:solidFill>
              <a:effectLst/>
              <a:latin typeface="+mj-lt"/>
              <a:cs typeface="Arial"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b="0" i="0" u="none" strike="noStrike" cap="none" normalizeH="0" baseline="0" dirty="0" smtClean="0">
                <a:ln>
                  <a:noFill/>
                </a:ln>
                <a:solidFill>
                  <a:srgbClr val="333333"/>
                </a:solidFill>
                <a:effectLst/>
                <a:latin typeface="+mj-lt"/>
                <a:cs typeface="Arial" pitchFamily="34" charset="0"/>
              </a:rPr>
              <a:t>Access modifiers are keywords in Java that are used to set accessibility. An access modifier restricts the access of a class, constructor, data member and method in another class.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b="0" i="0" u="none" strike="noStrike" cap="none" normalizeH="0" baseline="0" dirty="0" smtClean="0">
              <a:ln>
                <a:noFill/>
              </a:ln>
              <a:solidFill>
                <a:schemeClr val="tx1"/>
              </a:solidFill>
              <a:effectLst/>
              <a:latin typeface="+mj-lt"/>
              <a:cs typeface="Arial"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b="0" i="0" u="none" strike="noStrike" cap="none" normalizeH="0" baseline="0" dirty="0" smtClean="0">
                <a:ln>
                  <a:noFill/>
                </a:ln>
                <a:solidFill>
                  <a:srgbClr val="333333"/>
                </a:solidFill>
                <a:effectLst/>
                <a:latin typeface="+mj-lt"/>
                <a:cs typeface="Arial" pitchFamily="34" charset="0"/>
              </a:rPr>
              <a:t>Java language has four access modifier to control access level for classes and its members.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b="0" i="0" u="none" strike="noStrike" cap="none" normalizeH="0" baseline="0" dirty="0" smtClean="0">
              <a:ln>
                <a:noFill/>
              </a:ln>
              <a:solidFill>
                <a:schemeClr val="tx1"/>
              </a:solidFill>
              <a:effectLst/>
              <a:latin typeface="+mj-lt"/>
              <a:cs typeface="Arial"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b="1" i="0" u="none" strike="noStrike" cap="none" normalizeH="0" baseline="0" dirty="0" smtClean="0">
                <a:ln>
                  <a:noFill/>
                </a:ln>
                <a:solidFill>
                  <a:srgbClr val="333333"/>
                </a:solidFill>
                <a:effectLst/>
                <a:latin typeface="+mj-lt"/>
                <a:cs typeface="Arial" pitchFamily="34" charset="0"/>
              </a:rPr>
              <a:t>Default:</a:t>
            </a:r>
            <a:r>
              <a:rPr kumimoji="0" lang="en-US" b="0" i="0" u="none" strike="noStrike" cap="none" normalizeH="0" baseline="0" dirty="0" smtClean="0">
                <a:ln>
                  <a:noFill/>
                </a:ln>
                <a:solidFill>
                  <a:srgbClr val="333333"/>
                </a:solidFill>
                <a:effectLst/>
                <a:latin typeface="+mj-lt"/>
                <a:cs typeface="Arial" pitchFamily="34" charset="0"/>
              </a:rPr>
              <a:t> Default has scope only inside the same package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b="1" i="0" u="none" strike="noStrike" cap="none" normalizeH="0" baseline="0" dirty="0" smtClean="0">
                <a:ln>
                  <a:noFill/>
                </a:ln>
                <a:solidFill>
                  <a:srgbClr val="333333"/>
                </a:solidFill>
                <a:effectLst/>
                <a:latin typeface="+mj-lt"/>
                <a:cs typeface="Arial" pitchFamily="34" charset="0"/>
              </a:rPr>
              <a:t>Public:</a:t>
            </a:r>
            <a:r>
              <a:rPr kumimoji="0" lang="en-US" b="0" i="0" u="none" strike="noStrike" cap="none" normalizeH="0" baseline="0" dirty="0" smtClean="0">
                <a:ln>
                  <a:noFill/>
                </a:ln>
                <a:solidFill>
                  <a:srgbClr val="333333"/>
                </a:solidFill>
                <a:effectLst/>
                <a:latin typeface="+mj-lt"/>
                <a:cs typeface="Arial" pitchFamily="34" charset="0"/>
              </a:rPr>
              <a:t> Public has scope that is visible everywhere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b="1" i="0" u="none" strike="noStrike" cap="none" normalizeH="0" baseline="0" dirty="0" smtClean="0">
                <a:ln>
                  <a:noFill/>
                </a:ln>
                <a:solidFill>
                  <a:srgbClr val="333333"/>
                </a:solidFill>
                <a:effectLst/>
                <a:latin typeface="+mj-lt"/>
                <a:cs typeface="Arial" pitchFamily="34" charset="0"/>
              </a:rPr>
              <a:t>Protected:</a:t>
            </a:r>
            <a:r>
              <a:rPr kumimoji="0" lang="en-US" b="0" i="0" u="none" strike="noStrike" cap="none" normalizeH="0" baseline="0" dirty="0" smtClean="0">
                <a:ln>
                  <a:noFill/>
                </a:ln>
                <a:solidFill>
                  <a:srgbClr val="333333"/>
                </a:solidFill>
                <a:effectLst/>
                <a:latin typeface="+mj-lt"/>
                <a:cs typeface="Arial" pitchFamily="34" charset="0"/>
              </a:rPr>
              <a:t> Protected has scope within the package and all sub classes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b="1" i="0" u="none" strike="noStrike" cap="none" normalizeH="0" baseline="0" dirty="0" smtClean="0">
                <a:ln>
                  <a:noFill/>
                </a:ln>
                <a:solidFill>
                  <a:srgbClr val="333333"/>
                </a:solidFill>
                <a:effectLst/>
                <a:latin typeface="+mj-lt"/>
                <a:cs typeface="Arial" pitchFamily="34" charset="0"/>
              </a:rPr>
              <a:t>Private:</a:t>
            </a:r>
            <a:r>
              <a:rPr kumimoji="0" lang="en-US" b="0" i="0" u="none" strike="noStrike" cap="none" normalizeH="0" baseline="0" dirty="0" smtClean="0">
                <a:ln>
                  <a:noFill/>
                </a:ln>
                <a:solidFill>
                  <a:srgbClr val="333333"/>
                </a:solidFill>
                <a:effectLst/>
                <a:latin typeface="+mj-lt"/>
                <a:cs typeface="Arial" pitchFamily="34" charset="0"/>
              </a:rPr>
              <a:t> Private has scope only within the classes</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b="0" i="0" u="none" strike="noStrike" cap="none" normalizeH="0" baseline="0" dirty="0" smtClean="0">
              <a:ln>
                <a:noFill/>
              </a:ln>
              <a:solidFill>
                <a:srgbClr val="333333"/>
              </a:solidFill>
              <a:effectLst/>
              <a:latin typeface="+mj-lt"/>
              <a:cs typeface="Arial"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b="0" i="0" u="none" strike="noStrike" cap="none" normalizeH="0" baseline="0" dirty="0" smtClean="0">
                <a:ln>
                  <a:noFill/>
                </a:ln>
                <a:solidFill>
                  <a:srgbClr val="333333"/>
                </a:solidFill>
                <a:effectLst/>
                <a:latin typeface="+mj-lt"/>
                <a:cs typeface="Arial" pitchFamily="34" charset="0"/>
              </a:rPr>
              <a:t>Java also supports many non-access modifiers,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b="0" i="0" u="none" strike="noStrike" cap="none" normalizeH="0" baseline="0" dirty="0" smtClean="0">
                <a:ln>
                  <a:noFill/>
                </a:ln>
                <a:solidFill>
                  <a:srgbClr val="333333"/>
                </a:solidFill>
                <a:effectLst/>
                <a:latin typeface="+mj-lt"/>
                <a:cs typeface="Arial" pitchFamily="34" charset="0"/>
              </a:rPr>
              <a:t>such as </a:t>
            </a:r>
            <a:r>
              <a:rPr kumimoji="0" lang="en-US" b="1" i="0" u="none" strike="noStrike" cap="none" normalizeH="0" baseline="0" dirty="0" smtClean="0">
                <a:ln>
                  <a:noFill/>
                </a:ln>
                <a:solidFill>
                  <a:srgbClr val="333333"/>
                </a:solidFill>
                <a:effectLst/>
                <a:latin typeface="+mj-lt"/>
                <a:cs typeface="Arial" pitchFamily="34" charset="0"/>
              </a:rPr>
              <a:t>static, abstract,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b="1" i="0" u="none" strike="noStrike" cap="none" normalizeH="0" baseline="0" dirty="0" smtClean="0">
                <a:ln>
                  <a:noFill/>
                </a:ln>
                <a:solidFill>
                  <a:srgbClr val="333333"/>
                </a:solidFill>
                <a:effectLst/>
                <a:latin typeface="+mj-lt"/>
                <a:cs typeface="Arial" pitchFamily="34" charset="0"/>
              </a:rPr>
              <a:t>synchronized, native,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b="1" i="0" u="none" strike="noStrike" cap="none" normalizeH="0" baseline="0" dirty="0" smtClean="0">
                <a:ln>
                  <a:noFill/>
                </a:ln>
                <a:solidFill>
                  <a:srgbClr val="333333"/>
                </a:solidFill>
                <a:effectLst/>
                <a:latin typeface="+mj-lt"/>
                <a:cs typeface="Arial" pitchFamily="34" charset="0"/>
              </a:rPr>
              <a:t>volatile, transient</a:t>
            </a:r>
            <a:r>
              <a:rPr kumimoji="0" lang="en-US" b="0" i="0" u="none" strike="noStrike" cap="none" normalizeH="0" baseline="0" dirty="0" smtClean="0">
                <a:ln>
                  <a:noFill/>
                </a:ln>
                <a:solidFill>
                  <a:srgbClr val="333333"/>
                </a:solidFill>
                <a:effectLst/>
                <a:latin typeface="+mj-lt"/>
                <a:cs typeface="Arial" pitchFamily="34" charset="0"/>
              </a:rPr>
              <a:t> etc.</a:t>
            </a:r>
            <a:endParaRPr kumimoji="0" lang="en-US" b="0" i="0" u="none" strike="noStrike" cap="none" normalizeH="0" baseline="0" dirty="0" smtClean="0">
              <a:ln>
                <a:noFill/>
              </a:ln>
              <a:solidFill>
                <a:schemeClr val="tx1"/>
              </a:solidFill>
              <a:effectLst/>
              <a:latin typeface="+mj-lt"/>
              <a:cs typeface="Arial" pitchFamily="34" charset="0"/>
            </a:endParaRPr>
          </a:p>
        </p:txBody>
      </p:sp>
      <p:pic>
        <p:nvPicPr>
          <p:cNvPr id="100355" name="Picture 3" descr="Access modifier in java"/>
          <p:cNvPicPr>
            <a:picLocks noChangeAspect="1" noChangeArrowheads="1"/>
          </p:cNvPicPr>
          <p:nvPr/>
        </p:nvPicPr>
        <p:blipFill>
          <a:blip r:embed="rId2" cstate="print"/>
          <a:srcRect/>
          <a:stretch>
            <a:fillRect/>
          </a:stretch>
        </p:blipFill>
        <p:spPr bwMode="auto">
          <a:xfrm>
            <a:off x="4499280" y="2780928"/>
            <a:ext cx="4644720" cy="4077072"/>
          </a:xfrm>
          <a:prstGeom prst="rect">
            <a:avLst/>
          </a:prstGeom>
          <a:noFill/>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8306" name="Picture 2"/>
          <p:cNvPicPr>
            <a:picLocks noChangeAspect="1" noChangeArrowheads="1"/>
          </p:cNvPicPr>
          <p:nvPr/>
        </p:nvPicPr>
        <p:blipFill>
          <a:blip r:embed="rId2" cstate="print"/>
          <a:srcRect/>
          <a:stretch>
            <a:fillRect/>
          </a:stretch>
        </p:blipFill>
        <p:spPr bwMode="auto">
          <a:xfrm>
            <a:off x="467544" y="980728"/>
            <a:ext cx="8568952" cy="5184576"/>
          </a:xfrm>
          <a:prstGeom prst="rect">
            <a:avLst/>
          </a:prstGeom>
          <a:noFill/>
          <a:ln w="9525">
            <a:noFill/>
            <a:miter lim="800000"/>
            <a:headEnd/>
            <a:tailEnd/>
          </a:ln>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noChangeArrowheads="1"/>
          </p:cNvPicPr>
          <p:nvPr/>
        </p:nvPicPr>
        <p:blipFill>
          <a:blip r:embed="rId2" cstate="print"/>
          <a:srcRect/>
          <a:stretch>
            <a:fillRect/>
          </a:stretch>
        </p:blipFill>
        <p:spPr bwMode="auto">
          <a:xfrm>
            <a:off x="70812" y="404665"/>
            <a:ext cx="8965684" cy="6120680"/>
          </a:xfrm>
          <a:prstGeom prst="rect">
            <a:avLst/>
          </a:prstGeom>
          <a:noFill/>
          <a:ln w="9525">
            <a:noFill/>
            <a:miter lim="800000"/>
            <a:headEnd/>
            <a:tailEnd/>
          </a:ln>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p:cNvPicPr>
            <a:picLocks noChangeAspect="1" noChangeArrowheads="1"/>
          </p:cNvPicPr>
          <p:nvPr/>
        </p:nvPicPr>
        <p:blipFill>
          <a:blip r:embed="rId2" cstate="print"/>
          <a:srcRect/>
          <a:stretch>
            <a:fillRect/>
          </a:stretch>
        </p:blipFill>
        <p:spPr bwMode="auto">
          <a:xfrm>
            <a:off x="541054" y="1803399"/>
            <a:ext cx="7888597" cy="4194145"/>
          </a:xfrm>
          <a:prstGeom prst="rect">
            <a:avLst/>
          </a:prstGeom>
          <a:noFill/>
          <a:ln w="9525">
            <a:noFill/>
            <a:miter lim="800000"/>
            <a:headEnd/>
            <a:tailEnd/>
          </a:ln>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2" name="Picture 2"/>
          <p:cNvPicPr>
            <a:picLocks noChangeAspect="1" noChangeArrowheads="1"/>
          </p:cNvPicPr>
          <p:nvPr/>
        </p:nvPicPr>
        <p:blipFill>
          <a:blip r:embed="rId2" cstate="print"/>
          <a:srcRect/>
          <a:stretch>
            <a:fillRect/>
          </a:stretch>
        </p:blipFill>
        <p:spPr bwMode="auto">
          <a:xfrm>
            <a:off x="683568" y="476672"/>
            <a:ext cx="7920880" cy="5958481"/>
          </a:xfrm>
          <a:prstGeom prst="rect">
            <a:avLst/>
          </a:prstGeom>
          <a:noFill/>
          <a:ln w="9525">
            <a:noFill/>
            <a:miter lim="800000"/>
            <a:headEnd/>
            <a:tailEnd/>
          </a:ln>
        </p:spPr>
      </p:pic>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p:cNvPicPr>
            <a:picLocks noChangeAspect="1" noChangeArrowheads="1"/>
          </p:cNvPicPr>
          <p:nvPr/>
        </p:nvPicPr>
        <p:blipFill>
          <a:blip r:embed="rId2" cstate="print"/>
          <a:srcRect/>
          <a:stretch>
            <a:fillRect/>
          </a:stretch>
        </p:blipFill>
        <p:spPr bwMode="auto">
          <a:xfrm>
            <a:off x="142844" y="571480"/>
            <a:ext cx="8858311" cy="5715040"/>
          </a:xfrm>
          <a:prstGeom prst="rect">
            <a:avLst/>
          </a:prstGeom>
          <a:noFill/>
          <a:ln w="9525">
            <a:noFill/>
            <a:miter lim="800000"/>
            <a:headEnd/>
            <a:tailEnd/>
          </a:ln>
        </p:spPr>
      </p:pic>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a:blip r:embed="rId2" cstate="print"/>
          <a:srcRect/>
          <a:stretch>
            <a:fillRect/>
          </a:stretch>
        </p:blipFill>
        <p:spPr bwMode="auto">
          <a:xfrm>
            <a:off x="85663" y="928670"/>
            <a:ext cx="8915493" cy="5072098"/>
          </a:xfrm>
          <a:prstGeom prst="rect">
            <a:avLst/>
          </a:prstGeom>
          <a:noFill/>
          <a:ln w="9525">
            <a:noFill/>
            <a:miter lim="800000"/>
            <a:headEnd/>
            <a:tailEnd/>
          </a:ln>
        </p:spPr>
      </p:pic>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14282" y="785794"/>
            <a:ext cx="7929618" cy="5078313"/>
          </a:xfrm>
          <a:prstGeom prst="rect">
            <a:avLst/>
          </a:prstGeom>
        </p:spPr>
        <p:txBody>
          <a:bodyPr wrap="square">
            <a:spAutoFit/>
          </a:bodyPr>
          <a:lstStyle/>
          <a:p>
            <a:r>
              <a:rPr lang="en-IN" b="1" dirty="0" smtClean="0"/>
              <a:t>Static keyword</a:t>
            </a:r>
            <a:endParaRPr lang="en-US" b="1" dirty="0" smtClean="0"/>
          </a:p>
          <a:p>
            <a:endParaRPr lang="en-US" dirty="0" smtClean="0"/>
          </a:p>
          <a:p>
            <a:r>
              <a:rPr lang="en-US" dirty="0" smtClean="0"/>
              <a:t>The static keyword in Java is mainly used for memory management. </a:t>
            </a:r>
          </a:p>
          <a:p>
            <a:r>
              <a:rPr lang="en-US" dirty="0" smtClean="0"/>
              <a:t>The static keyword in Java is used to share the same variable or method of a given class.</a:t>
            </a:r>
          </a:p>
          <a:p>
            <a:endParaRPr lang="en-IN" dirty="0" smtClean="0"/>
          </a:p>
          <a:p>
            <a:r>
              <a:rPr lang="en-US" b="1" dirty="0" smtClean="0"/>
              <a:t>Static Variables</a:t>
            </a:r>
          </a:p>
          <a:p>
            <a:endParaRPr lang="en-US" b="1" dirty="0" smtClean="0"/>
          </a:p>
          <a:p>
            <a:r>
              <a:rPr lang="en-US" dirty="0" smtClean="0"/>
              <a:t>when we create objects of a class, then every object will have its own copy of all the variables of the class</a:t>
            </a:r>
          </a:p>
          <a:p>
            <a:endParaRPr lang="en-IN" dirty="0" smtClean="0"/>
          </a:p>
          <a:p>
            <a:endParaRPr lang="en-IN" dirty="0" smtClean="0"/>
          </a:p>
          <a:p>
            <a:r>
              <a:rPr lang="en-US" b="1" dirty="0" smtClean="0"/>
              <a:t>Static Methods</a:t>
            </a:r>
          </a:p>
          <a:p>
            <a:endParaRPr lang="en-US" b="1" dirty="0" smtClean="0"/>
          </a:p>
          <a:p>
            <a:r>
              <a:rPr lang="en-US" dirty="0" smtClean="0"/>
              <a:t>Static methods are also called class methods. It is because a static method belongs to the class rather than the object of a class.</a:t>
            </a:r>
          </a:p>
          <a:p>
            <a:endParaRPr lang="en-US" dirty="0" smtClean="0"/>
          </a:p>
          <a:p>
            <a:endParaRPr lang="en-US"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170" name="Picture 2"/>
          <p:cNvPicPr>
            <a:picLocks noChangeAspect="1" noChangeArrowheads="1"/>
          </p:cNvPicPr>
          <p:nvPr/>
        </p:nvPicPr>
        <p:blipFill>
          <a:blip r:embed="rId2" cstate="print"/>
          <a:srcRect/>
          <a:stretch>
            <a:fillRect/>
          </a:stretch>
        </p:blipFill>
        <p:spPr bwMode="auto">
          <a:xfrm>
            <a:off x="173523" y="1124744"/>
            <a:ext cx="8934981" cy="4485109"/>
          </a:xfrm>
          <a:prstGeom prst="rect">
            <a:avLst/>
          </a:prstGeom>
          <a:noFill/>
          <a:ln w="9525">
            <a:noFill/>
            <a:miter lim="800000"/>
            <a:headEnd/>
            <a:tailEnd/>
          </a:ln>
        </p:spPr>
      </p:pic>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noChangeArrowheads="1"/>
          </p:cNvPicPr>
          <p:nvPr/>
        </p:nvPicPr>
        <p:blipFill>
          <a:blip r:embed="rId2" cstate="print"/>
          <a:srcRect/>
          <a:stretch>
            <a:fillRect/>
          </a:stretch>
        </p:blipFill>
        <p:spPr bwMode="auto">
          <a:xfrm>
            <a:off x="0" y="785794"/>
            <a:ext cx="8786842" cy="5429288"/>
          </a:xfrm>
          <a:prstGeom prst="rect">
            <a:avLst/>
          </a:prstGeom>
          <a:noFill/>
          <a:ln w="9525">
            <a:noFill/>
            <a:miter lim="800000"/>
            <a:headEnd/>
            <a:tailEnd/>
          </a:ln>
        </p:spPr>
      </p:pic>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3250" name="Picture 2"/>
          <p:cNvPicPr>
            <a:picLocks noChangeAspect="1" noChangeArrowheads="1"/>
          </p:cNvPicPr>
          <p:nvPr/>
        </p:nvPicPr>
        <p:blipFill>
          <a:blip r:embed="rId2" cstate="print"/>
          <a:srcRect/>
          <a:stretch>
            <a:fillRect/>
          </a:stretch>
        </p:blipFill>
        <p:spPr bwMode="auto">
          <a:xfrm>
            <a:off x="1476375" y="2765425"/>
            <a:ext cx="6191250" cy="1327150"/>
          </a:xfrm>
          <a:prstGeom prst="rect">
            <a:avLst/>
          </a:prstGeom>
          <a:noFill/>
          <a:ln w="9525">
            <a:noFill/>
            <a:miter lim="800000"/>
            <a:headEnd/>
            <a:tailEnd/>
          </a:ln>
        </p:spPr>
      </p:pic>
      <p:pic>
        <p:nvPicPr>
          <p:cNvPr id="53251" name="Picture 3"/>
          <p:cNvPicPr>
            <a:picLocks noChangeAspect="1" noChangeArrowheads="1"/>
          </p:cNvPicPr>
          <p:nvPr/>
        </p:nvPicPr>
        <p:blipFill>
          <a:blip r:embed="rId3" cstate="print"/>
          <a:srcRect/>
          <a:stretch>
            <a:fillRect/>
          </a:stretch>
        </p:blipFill>
        <p:spPr bwMode="auto">
          <a:xfrm>
            <a:off x="187204" y="1142984"/>
            <a:ext cx="8632567" cy="4500594"/>
          </a:xfrm>
          <a:prstGeom prst="rect">
            <a:avLst/>
          </a:prstGeom>
          <a:noFill/>
          <a:ln w="9525">
            <a:noFill/>
            <a:miter lim="800000"/>
            <a:headEnd/>
            <a:tailEnd/>
          </a:ln>
        </p:spPr>
      </p:pic>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a:blip r:embed="rId2" cstate="print"/>
          <a:srcRect/>
          <a:stretch>
            <a:fillRect/>
          </a:stretch>
        </p:blipFill>
        <p:spPr bwMode="auto">
          <a:xfrm>
            <a:off x="396572" y="1285860"/>
            <a:ext cx="8490037" cy="4357718"/>
          </a:xfrm>
          <a:prstGeom prst="rect">
            <a:avLst/>
          </a:prstGeom>
          <a:noFill/>
          <a:ln w="9525">
            <a:noFill/>
            <a:miter lim="800000"/>
            <a:headEnd/>
            <a:tailEnd/>
          </a:ln>
        </p:spPr>
      </p:pic>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107504" y="548680"/>
            <a:ext cx="8568952" cy="2308324"/>
          </a:xfrm>
          <a:prstGeom prst="rect">
            <a:avLst/>
          </a:prstGeom>
        </p:spPr>
        <p:txBody>
          <a:bodyPr wrap="square">
            <a:spAutoFit/>
          </a:bodyPr>
          <a:lstStyle/>
          <a:p>
            <a:r>
              <a:rPr lang="en-US" b="1" dirty="0" smtClean="0"/>
              <a:t>Polymorphism</a:t>
            </a:r>
            <a:r>
              <a:rPr lang="en-US" dirty="0" smtClean="0"/>
              <a:t> in OOPS concept that means one can perform a single action by various ways, actually poly means </a:t>
            </a:r>
            <a:r>
              <a:rPr lang="en-US" b="1" dirty="0" smtClean="0"/>
              <a:t>many</a:t>
            </a:r>
            <a:r>
              <a:rPr lang="en-US" dirty="0" smtClean="0"/>
              <a:t> and morph means </a:t>
            </a:r>
            <a:r>
              <a:rPr lang="en-US" b="1" dirty="0" smtClean="0"/>
              <a:t>forms</a:t>
            </a:r>
            <a:r>
              <a:rPr lang="en-US" dirty="0" smtClean="0"/>
              <a:t>, these both words are Greek words. </a:t>
            </a:r>
          </a:p>
          <a:p>
            <a:r>
              <a:rPr lang="en-US" dirty="0" smtClean="0"/>
              <a:t>There are </a:t>
            </a:r>
            <a:r>
              <a:rPr lang="en-US" b="1" dirty="0" smtClean="0"/>
              <a:t>two types in polymorphism</a:t>
            </a:r>
            <a:r>
              <a:rPr lang="en-US" dirty="0" smtClean="0"/>
              <a:t>, one is </a:t>
            </a:r>
            <a:r>
              <a:rPr lang="en-US" b="1" dirty="0" smtClean="0"/>
              <a:t>compile time polymorphism </a:t>
            </a:r>
            <a:r>
              <a:rPr lang="en-US" dirty="0" smtClean="0"/>
              <a:t>and the second one is </a:t>
            </a:r>
            <a:r>
              <a:rPr lang="en-US" b="1" dirty="0" smtClean="0"/>
              <a:t>runtime polymorphism</a:t>
            </a:r>
            <a:r>
              <a:rPr lang="en-US" dirty="0" smtClean="0"/>
              <a:t>. </a:t>
            </a:r>
          </a:p>
          <a:p>
            <a:r>
              <a:rPr lang="en-US" dirty="0" smtClean="0"/>
              <a:t>By using method </a:t>
            </a:r>
            <a:r>
              <a:rPr lang="en-US" dirty="0" smtClean="0">
                <a:hlinkClick r:id="rId2" tooltip="Overloading  In Java"/>
              </a:rPr>
              <a:t>overloading </a:t>
            </a:r>
            <a:r>
              <a:rPr lang="en-US" dirty="0" smtClean="0"/>
              <a:t>and method </a:t>
            </a:r>
            <a:r>
              <a:rPr lang="en-US" dirty="0" smtClean="0">
                <a:hlinkClick r:id="rId3" tooltip="Overriding In Java"/>
              </a:rPr>
              <a:t>overriding </a:t>
            </a:r>
            <a:r>
              <a:rPr lang="en-US" dirty="0" smtClean="0"/>
              <a:t>developer can perform polymorphism.</a:t>
            </a:r>
          </a:p>
          <a:p>
            <a:endParaRPr lang="en-IN" dirty="0" smtClean="0"/>
          </a:p>
        </p:txBody>
      </p:sp>
      <p:pic>
        <p:nvPicPr>
          <p:cNvPr id="24579" name="Picture 3" descr="Java Tutorial : Polymorphism in Java | Java Polymorphism | learntek.org"/>
          <p:cNvPicPr>
            <a:picLocks noChangeAspect="1" noChangeArrowheads="1"/>
          </p:cNvPicPr>
          <p:nvPr/>
        </p:nvPicPr>
        <p:blipFill>
          <a:blip r:embed="rId4" cstate="print"/>
          <a:srcRect/>
          <a:stretch>
            <a:fillRect/>
          </a:stretch>
        </p:blipFill>
        <p:spPr bwMode="auto">
          <a:xfrm>
            <a:off x="1357290" y="3071811"/>
            <a:ext cx="6500858" cy="3215926"/>
          </a:xfrm>
          <a:prstGeom prst="rect">
            <a:avLst/>
          </a:prstGeom>
          <a:noFill/>
        </p:spPr>
      </p:pic>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3553" name="Picture 1"/>
          <p:cNvPicPr>
            <a:picLocks noChangeAspect="1" noChangeArrowheads="1"/>
          </p:cNvPicPr>
          <p:nvPr/>
        </p:nvPicPr>
        <p:blipFill>
          <a:blip r:embed="rId2" cstate="print"/>
          <a:srcRect/>
          <a:stretch>
            <a:fillRect/>
          </a:stretch>
        </p:blipFill>
        <p:spPr bwMode="auto">
          <a:xfrm>
            <a:off x="755577" y="319088"/>
            <a:ext cx="6821562" cy="6219825"/>
          </a:xfrm>
          <a:prstGeom prst="rect">
            <a:avLst/>
          </a:prstGeom>
          <a:noFill/>
          <a:ln w="9525">
            <a:noFill/>
            <a:miter lim="800000"/>
            <a:headEnd/>
            <a:tailEnd/>
          </a:ln>
        </p:spPr>
      </p:pic>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530" name="Picture 2"/>
          <p:cNvPicPr>
            <a:picLocks noChangeAspect="1" noChangeArrowheads="1"/>
          </p:cNvPicPr>
          <p:nvPr/>
        </p:nvPicPr>
        <p:blipFill>
          <a:blip r:embed="rId2" cstate="print"/>
          <a:srcRect/>
          <a:stretch>
            <a:fillRect/>
          </a:stretch>
        </p:blipFill>
        <p:spPr bwMode="auto">
          <a:xfrm>
            <a:off x="192110" y="1831974"/>
            <a:ext cx="8635701" cy="4117306"/>
          </a:xfrm>
          <a:prstGeom prst="rect">
            <a:avLst/>
          </a:prstGeom>
          <a:noFill/>
          <a:ln w="9525">
            <a:noFill/>
            <a:miter lim="800000"/>
            <a:headEnd/>
            <a:tailEnd/>
          </a:ln>
        </p:spPr>
      </p:pic>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7042" name="Picture 2"/>
          <p:cNvPicPr>
            <a:picLocks noChangeAspect="1" noChangeArrowheads="1"/>
          </p:cNvPicPr>
          <p:nvPr/>
        </p:nvPicPr>
        <p:blipFill>
          <a:blip r:embed="rId2" cstate="print"/>
          <a:srcRect/>
          <a:stretch>
            <a:fillRect/>
          </a:stretch>
        </p:blipFill>
        <p:spPr bwMode="auto">
          <a:xfrm>
            <a:off x="1259632" y="404664"/>
            <a:ext cx="6336704" cy="2965450"/>
          </a:xfrm>
          <a:prstGeom prst="rect">
            <a:avLst/>
          </a:prstGeom>
          <a:noFill/>
          <a:ln w="9525">
            <a:noFill/>
            <a:miter lim="800000"/>
            <a:headEnd/>
            <a:tailEnd/>
          </a:ln>
        </p:spPr>
      </p:pic>
      <p:pic>
        <p:nvPicPr>
          <p:cNvPr id="3" name="Picture 13"/>
          <p:cNvPicPr>
            <a:picLocks noChangeAspect="1" noChangeArrowheads="1"/>
          </p:cNvPicPr>
          <p:nvPr/>
        </p:nvPicPr>
        <p:blipFill>
          <a:blip r:embed="rId3" cstate="print"/>
          <a:srcRect/>
          <a:stretch>
            <a:fillRect/>
          </a:stretch>
        </p:blipFill>
        <p:spPr bwMode="auto">
          <a:xfrm>
            <a:off x="1619672" y="3429000"/>
            <a:ext cx="6120680" cy="2880320"/>
          </a:xfrm>
          <a:prstGeom prst="rect">
            <a:avLst/>
          </a:prstGeom>
          <a:noFill/>
          <a:ln w="9525">
            <a:noFill/>
            <a:miter lim="800000"/>
            <a:headEnd/>
            <a:tailEnd/>
          </a:ln>
        </p:spPr>
      </p:pic>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AutoShape 2" descr="Javarevisited: Top 21 Java Final Modifier (Keyword) Interview Questions and  Answers"/>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88068" name="AutoShape 4" descr="Javarevisited: Top 21 Java Final Modifier (Keyword) Interview Questions and  Answers"/>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88070" name="AutoShape 6" descr="Javarevisited: Top 21 Java Final Modifier (Keyword) Interview Questions and  Answers"/>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88072" name="AutoShape 8" descr="Javarevisited: Top 21 Java Final Modifier (Keyword) Interview Questions and  Answers"/>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88074" name="AutoShape 10" descr="Java Final Keyword, Variable, Method and Class - TechVidvan"/>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88076" name="AutoShape 12" descr="Java Final Keyword, Variable, Method and Class - TechVidvan"/>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pic>
        <p:nvPicPr>
          <p:cNvPr id="88078" name="Picture 14"/>
          <p:cNvPicPr>
            <a:picLocks noChangeAspect="1" noChangeArrowheads="1"/>
          </p:cNvPicPr>
          <p:nvPr/>
        </p:nvPicPr>
        <p:blipFill>
          <a:blip r:embed="rId2" cstate="print"/>
          <a:srcRect/>
          <a:stretch>
            <a:fillRect/>
          </a:stretch>
        </p:blipFill>
        <p:spPr bwMode="auto">
          <a:xfrm>
            <a:off x="1187624" y="332656"/>
            <a:ext cx="5040560" cy="6120680"/>
          </a:xfrm>
          <a:prstGeom prst="rect">
            <a:avLst/>
          </a:prstGeom>
          <a:noFill/>
          <a:ln w="9525">
            <a:noFill/>
            <a:miter lim="800000"/>
            <a:headEnd/>
            <a:tailEnd/>
          </a:ln>
        </p:spPr>
      </p:pic>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1997130942"/>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Rectangle 1"/>
          <p:cNvSpPr>
            <a:spLocks noChangeArrowheads="1"/>
          </p:cNvSpPr>
          <p:nvPr/>
        </p:nvSpPr>
        <p:spPr bwMode="auto">
          <a:xfrm>
            <a:off x="179512" y="-49358"/>
            <a:ext cx="8424936" cy="836037"/>
          </a:xfrm>
          <a:prstGeom prst="rect">
            <a:avLst/>
          </a:prstGeom>
          <a:solidFill>
            <a:srgbClr val="FFFFFF"/>
          </a:solidFill>
          <a:ln w="9525">
            <a:noFill/>
            <a:miter lim="800000"/>
            <a:headEnd/>
            <a:tailEnd/>
          </a:ln>
          <a:effectLst/>
        </p:spPr>
        <p:txBody>
          <a:bodyPr vert="horz" wrap="square" lIns="0" tIns="139656" rIns="0" bIns="139656"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800" b="1" i="0" u="none" strike="noStrike" cap="none" normalizeH="0" baseline="0" dirty="0" smtClean="0">
                <a:ln>
                  <a:noFill/>
                </a:ln>
                <a:solidFill>
                  <a:srgbClr val="000000"/>
                </a:solidFill>
                <a:effectLst/>
                <a:latin typeface="Arial" pitchFamily="34" charset="0"/>
                <a:cs typeface="Arial" pitchFamily="34" charset="0"/>
              </a:rPr>
              <a:t>Package in Java</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dirty="0" smtClean="0">
              <a:ln>
                <a:noFill/>
              </a:ln>
              <a:solidFill>
                <a:schemeClr val="tx1"/>
              </a:solidFill>
              <a:effectLst/>
              <a:latin typeface="Arial" pitchFamily="34" charset="0"/>
              <a:cs typeface="Arial" pitchFamily="34" charset="0"/>
            </a:endParaRPr>
          </a:p>
        </p:txBody>
      </p:sp>
      <p:sp>
        <p:nvSpPr>
          <p:cNvPr id="21506" name="Rectangle 2"/>
          <p:cNvSpPr>
            <a:spLocks noChangeArrowheads="1"/>
          </p:cNvSpPr>
          <p:nvPr/>
        </p:nvSpPr>
        <p:spPr bwMode="auto">
          <a:xfrm>
            <a:off x="0" y="457200"/>
            <a:ext cx="9144000" cy="15875"/>
          </a:xfrm>
          <a:prstGeom prst="rect">
            <a:avLst/>
          </a:prstGeom>
          <a:solidFill>
            <a:srgbClr val="000000"/>
          </a:solidFill>
          <a:ln w="9525">
            <a:solidFill>
              <a:schemeClr val="tx1"/>
            </a:solidFill>
            <a:prstDash val="solid"/>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1507" name="Rectangle 3"/>
          <p:cNvSpPr>
            <a:spLocks noChangeArrowheads="1"/>
          </p:cNvSpPr>
          <p:nvPr/>
        </p:nvSpPr>
        <p:spPr bwMode="auto">
          <a:xfrm>
            <a:off x="0" y="358322"/>
            <a:ext cx="8748464" cy="2308324"/>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600" b="0" i="0" u="none" strike="noStrike" cap="none" normalizeH="0" baseline="0" dirty="0" smtClean="0">
                <a:ln>
                  <a:noFill/>
                </a:ln>
                <a:solidFill>
                  <a:srgbClr val="000000"/>
                </a:solidFill>
                <a:effectLst/>
                <a:latin typeface="+mj-lt"/>
                <a:cs typeface="Arial" pitchFamily="34" charset="0"/>
              </a:rPr>
              <a:t>A package is nothing but a physical folder structure (directories) that contains a group of related classes, interfaces, and sub-packages according to their functionality. It provides a convenient way to organize your work.</a:t>
            </a:r>
          </a:p>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600" b="0" i="0" u="none" strike="noStrike" cap="none" normalizeH="0" baseline="0" dirty="0" smtClean="0">
              <a:ln>
                <a:noFill/>
              </a:ln>
              <a:solidFill>
                <a:srgbClr val="000000"/>
              </a:solidFill>
              <a:effectLst/>
              <a:latin typeface="+mj-lt"/>
              <a:cs typeface="Arial" pitchFamily="34" charset="0"/>
            </a:endParaRPr>
          </a:p>
          <a:p>
            <a:r>
              <a:rPr lang="en-US" sz="1600" dirty="0" smtClean="0">
                <a:latin typeface="+mj-lt"/>
              </a:rPr>
              <a:t>A real-life example is when you download a movie, song, or game, you make a different folder for each category like movie, song, etc. In the same way, a group of packages in java is just like a library.</a:t>
            </a:r>
          </a:p>
          <a:p>
            <a:r>
              <a:rPr lang="en-US" sz="1600" dirty="0" smtClean="0">
                <a:latin typeface="+mj-lt"/>
              </a:rPr>
              <a:t>The classes and interfaces of a package are like books in the library that can reuse several times when we need. This reusability nature of packages makes programming easy.</a:t>
            </a:r>
          </a:p>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600" b="0" i="0" u="none" strike="noStrike" cap="none" normalizeH="0" baseline="0" dirty="0" smtClean="0">
              <a:ln>
                <a:noFill/>
              </a:ln>
              <a:solidFill>
                <a:schemeClr val="tx1"/>
              </a:solidFill>
              <a:effectLst/>
              <a:latin typeface="+mj-lt"/>
              <a:cs typeface="Arial" pitchFamily="34" charset="0"/>
            </a:endParaRPr>
          </a:p>
        </p:txBody>
      </p:sp>
      <p:pic>
        <p:nvPicPr>
          <p:cNvPr id="21508" name="Picture 4"/>
          <p:cNvPicPr>
            <a:picLocks noChangeAspect="1" noChangeArrowheads="1"/>
          </p:cNvPicPr>
          <p:nvPr/>
        </p:nvPicPr>
        <p:blipFill>
          <a:blip r:embed="rId2" cstate="print"/>
          <a:srcRect/>
          <a:stretch>
            <a:fillRect/>
          </a:stretch>
        </p:blipFill>
        <p:spPr bwMode="auto">
          <a:xfrm>
            <a:off x="1115616" y="2791381"/>
            <a:ext cx="4968552" cy="3445931"/>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51520" y="476672"/>
            <a:ext cx="8136904" cy="1477328"/>
          </a:xfrm>
          <a:prstGeom prst="rect">
            <a:avLst/>
          </a:prstGeom>
        </p:spPr>
        <p:txBody>
          <a:bodyPr wrap="square">
            <a:spAutoFit/>
          </a:bodyPr>
          <a:lstStyle/>
          <a:p>
            <a:r>
              <a:rPr lang="en-US" b="1" dirty="0" smtClean="0"/>
              <a:t>Predefined Packages in Java (Built-in Packages)</a:t>
            </a:r>
          </a:p>
          <a:p>
            <a:r>
              <a:rPr lang="en-US" dirty="0" smtClean="0"/>
              <a:t>Predefined packages in java are those which are developed by Sun </a:t>
            </a:r>
            <a:r>
              <a:rPr lang="en-US" dirty="0" err="1" smtClean="0"/>
              <a:t>Microsystem</a:t>
            </a:r>
            <a:r>
              <a:rPr lang="en-US" dirty="0" smtClean="0"/>
              <a:t>. They are also called built-in packages in java. These packages consist of a large number of predefined classes, interfaces, and methods that are used by the programmer to perform any task in his programs.</a:t>
            </a:r>
            <a:endParaRPr lang="en-US" dirty="0"/>
          </a:p>
        </p:txBody>
      </p:sp>
      <p:pic>
        <p:nvPicPr>
          <p:cNvPr id="3" name="Picture 2" descr="Packages in java and how to use them"/>
          <p:cNvPicPr>
            <a:picLocks noChangeAspect="1" noChangeArrowheads="1"/>
          </p:cNvPicPr>
          <p:nvPr/>
        </p:nvPicPr>
        <p:blipFill>
          <a:blip r:embed="rId2" cstate="print"/>
          <a:srcRect/>
          <a:stretch>
            <a:fillRect/>
          </a:stretch>
        </p:blipFill>
        <p:spPr bwMode="auto">
          <a:xfrm>
            <a:off x="1115616" y="2564904"/>
            <a:ext cx="6743700" cy="4067176"/>
          </a:xfrm>
          <a:prstGeom prst="rect">
            <a:avLst/>
          </a:prstGeom>
          <a:noFill/>
        </p:spPr>
      </p:pic>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51520" y="476672"/>
            <a:ext cx="8640960" cy="1477328"/>
          </a:xfrm>
          <a:prstGeom prst="rect">
            <a:avLst/>
          </a:prstGeom>
        </p:spPr>
        <p:txBody>
          <a:bodyPr wrap="square">
            <a:spAutoFit/>
          </a:bodyPr>
          <a:lstStyle/>
          <a:p>
            <a:r>
              <a:rPr lang="en-US" b="1" dirty="0" smtClean="0"/>
              <a:t>Naming Convention to declare User-defined Package in Real-time Project</a:t>
            </a:r>
          </a:p>
          <a:p>
            <a:endParaRPr lang="en-US" b="1" dirty="0" smtClean="0"/>
          </a:p>
          <a:p>
            <a:r>
              <a:rPr lang="en-US" dirty="0" smtClean="0"/>
              <a:t>While developing your project, you must follow some naming convention regarding packages declaration. Let’s take an example to understand the convention. See below a complete package structure of the project.</a:t>
            </a:r>
            <a:endParaRPr lang="en-US" dirty="0"/>
          </a:p>
        </p:txBody>
      </p:sp>
      <p:pic>
        <p:nvPicPr>
          <p:cNvPr id="19457" name="Picture 1"/>
          <p:cNvPicPr>
            <a:picLocks noChangeAspect="1" noChangeArrowheads="1"/>
          </p:cNvPicPr>
          <p:nvPr/>
        </p:nvPicPr>
        <p:blipFill>
          <a:blip r:embed="rId2" cstate="print"/>
          <a:srcRect/>
          <a:stretch>
            <a:fillRect/>
          </a:stretch>
        </p:blipFill>
        <p:spPr bwMode="auto">
          <a:xfrm>
            <a:off x="1403647" y="2060848"/>
            <a:ext cx="6123523" cy="3918198"/>
          </a:xfrm>
          <a:prstGeom prst="rect">
            <a:avLst/>
          </a:prstGeom>
          <a:noFill/>
          <a:ln w="9525">
            <a:noFill/>
            <a:miter lim="800000"/>
            <a:headEnd/>
            <a:tailEnd/>
          </a:ln>
        </p:spPr>
      </p:pic>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https://miro.medium.com/v2/resize:fit:1016/1*DD4U7YdGi3GhtOhyTnTE9w.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9512" y="1700808"/>
            <a:ext cx="8856984" cy="324036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62365132"/>
      </p:ext>
    </p:extLst>
  </p:cSld>
  <p:clrMapOvr>
    <a:masterClrMapping/>
  </p:clrMapOvr>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7521" name="Picture 1"/>
          <p:cNvPicPr>
            <a:picLocks noChangeAspect="1" noChangeArrowheads="1"/>
          </p:cNvPicPr>
          <p:nvPr/>
        </p:nvPicPr>
        <p:blipFill>
          <a:blip r:embed="rId2" cstate="print"/>
          <a:srcRect/>
          <a:stretch>
            <a:fillRect/>
          </a:stretch>
        </p:blipFill>
        <p:spPr bwMode="auto">
          <a:xfrm>
            <a:off x="3059832" y="3450453"/>
            <a:ext cx="6445250" cy="3371850"/>
          </a:xfrm>
          <a:prstGeom prst="rect">
            <a:avLst/>
          </a:prstGeom>
          <a:noFill/>
          <a:ln w="9525">
            <a:noFill/>
            <a:miter lim="800000"/>
            <a:headEnd/>
            <a:tailEnd/>
          </a:ln>
        </p:spPr>
      </p:pic>
      <p:sp>
        <p:nvSpPr>
          <p:cNvPr id="2" name="Rectangle 1"/>
          <p:cNvSpPr/>
          <p:nvPr/>
        </p:nvSpPr>
        <p:spPr>
          <a:xfrm>
            <a:off x="106462" y="116632"/>
            <a:ext cx="9037538" cy="3816429"/>
          </a:xfrm>
          <a:prstGeom prst="rect">
            <a:avLst/>
          </a:prstGeom>
        </p:spPr>
        <p:txBody>
          <a:bodyPr wrap="square">
            <a:spAutoFit/>
          </a:bodyPr>
          <a:lstStyle/>
          <a:p>
            <a:r>
              <a:rPr lang="en-US" sz="2400" b="1" dirty="0" smtClean="0"/>
              <a:t>Abstract Class</a:t>
            </a:r>
          </a:p>
          <a:p>
            <a:endParaRPr lang="en-US" dirty="0" smtClean="0"/>
          </a:p>
          <a:p>
            <a:r>
              <a:rPr lang="en-US" sz="2000" dirty="0" smtClean="0"/>
              <a:t>A class which is declared using </a:t>
            </a:r>
            <a:r>
              <a:rPr lang="en-US" sz="2000" b="1" dirty="0" smtClean="0"/>
              <a:t>abstract keyword</a:t>
            </a:r>
            <a:r>
              <a:rPr lang="en-US" sz="2000" dirty="0" smtClean="0"/>
              <a:t> known as </a:t>
            </a:r>
            <a:r>
              <a:rPr lang="en-US" sz="2000" b="1" dirty="0" smtClean="0"/>
              <a:t>abstract class</a:t>
            </a:r>
            <a:r>
              <a:rPr lang="en-US" sz="2000" dirty="0" smtClean="0"/>
              <a:t>. An abstract class may or may not have abstract methods. We cannot create object of abstract class.</a:t>
            </a:r>
          </a:p>
          <a:p>
            <a:r>
              <a:rPr lang="en-US" sz="2000" dirty="0" smtClean="0"/>
              <a:t>It is used to achieve abstraction but it does not provide 100% abstraction because it can have </a:t>
            </a:r>
            <a:r>
              <a:rPr lang="en-US" sz="2000" b="1" dirty="0" smtClean="0"/>
              <a:t>concrete</a:t>
            </a:r>
            <a:r>
              <a:rPr lang="en-US" sz="2000" dirty="0" smtClean="0"/>
              <a:t> methods.</a:t>
            </a:r>
          </a:p>
          <a:p>
            <a:endParaRPr lang="en-US" sz="2000" dirty="0" smtClean="0"/>
          </a:p>
          <a:p>
            <a:pPr>
              <a:buFont typeface="Arial" pitchFamily="34" charset="0"/>
              <a:buChar char="•"/>
            </a:pPr>
            <a:r>
              <a:rPr lang="en-US" sz="2000" dirty="0" smtClean="0"/>
              <a:t>An abstract class must be declared with an abstract keyword.</a:t>
            </a:r>
          </a:p>
          <a:p>
            <a:pPr>
              <a:buFont typeface="Arial" pitchFamily="34" charset="0"/>
              <a:buChar char="•"/>
            </a:pPr>
            <a:r>
              <a:rPr lang="en-US" sz="2000" dirty="0" smtClean="0"/>
              <a:t>It can have abstract and non-abstract methods.</a:t>
            </a:r>
          </a:p>
          <a:p>
            <a:pPr>
              <a:buFont typeface="Arial" pitchFamily="34" charset="0"/>
              <a:buChar char="•"/>
            </a:pPr>
            <a:r>
              <a:rPr lang="en-US" sz="2000" dirty="0" smtClean="0"/>
              <a:t>It cannot be instantiated.</a:t>
            </a:r>
          </a:p>
          <a:p>
            <a:pPr>
              <a:buFont typeface="Arial" pitchFamily="34" charset="0"/>
              <a:buChar char="•"/>
            </a:pPr>
            <a:r>
              <a:rPr lang="en-US" sz="2000" dirty="0" smtClean="0"/>
              <a:t>It is used for abstraction.</a:t>
            </a:r>
            <a:endParaRPr lang="en-US" sz="2000" dirty="0"/>
          </a:p>
        </p:txBody>
      </p:sp>
    </p:spTree>
  </p:cSld>
  <p:clrMapOvr>
    <a:masterClrMapping/>
  </p:clrMapOvr>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409" name="Picture 1"/>
          <p:cNvPicPr>
            <a:picLocks noChangeAspect="1" noChangeArrowheads="1"/>
          </p:cNvPicPr>
          <p:nvPr/>
        </p:nvPicPr>
        <p:blipFill>
          <a:blip r:embed="rId2" cstate="print"/>
          <a:srcRect/>
          <a:stretch>
            <a:fillRect/>
          </a:stretch>
        </p:blipFill>
        <p:spPr bwMode="auto">
          <a:xfrm>
            <a:off x="395536" y="0"/>
            <a:ext cx="7992888" cy="4221088"/>
          </a:xfrm>
          <a:prstGeom prst="rect">
            <a:avLst/>
          </a:prstGeom>
          <a:noFill/>
          <a:ln w="9525">
            <a:noFill/>
            <a:miter lim="800000"/>
            <a:headEnd/>
            <a:tailEnd/>
          </a:ln>
        </p:spPr>
      </p:pic>
      <p:sp>
        <p:nvSpPr>
          <p:cNvPr id="3" name="Rectangle 2"/>
          <p:cNvSpPr/>
          <p:nvPr/>
        </p:nvSpPr>
        <p:spPr>
          <a:xfrm>
            <a:off x="179512" y="4437112"/>
            <a:ext cx="8964488" cy="2246769"/>
          </a:xfrm>
          <a:prstGeom prst="rect">
            <a:avLst/>
          </a:prstGeom>
        </p:spPr>
        <p:txBody>
          <a:bodyPr wrap="square">
            <a:spAutoFit/>
          </a:bodyPr>
          <a:lstStyle/>
          <a:p>
            <a:r>
              <a:rPr lang="en-US" sz="2000" dirty="0" smtClean="0"/>
              <a:t>Interface is a concept which is used to achieve abstraction in Java. This is the only way by which we can achieve full abstraction. Interfaces are syntactically similar to classes, but you cannot create instance of an </a:t>
            </a:r>
            <a:r>
              <a:rPr lang="en-US" sz="2000" b="1" dirty="0" smtClean="0"/>
              <a:t>Interface</a:t>
            </a:r>
            <a:r>
              <a:rPr lang="en-US" sz="2000" dirty="0" smtClean="0"/>
              <a:t> and their methods are declared without any body. It can have When you create an interface it defines what a class can do without saying anything about how the class will do it.</a:t>
            </a:r>
          </a:p>
          <a:p>
            <a:r>
              <a:rPr lang="en-US" sz="2000" dirty="0" smtClean="0"/>
              <a:t>It can have only abstract methods and static fields. </a:t>
            </a:r>
          </a:p>
          <a:p>
            <a:r>
              <a:rPr lang="en-US" sz="2000" dirty="0" smtClean="0"/>
              <a:t>However, from </a:t>
            </a:r>
            <a:r>
              <a:rPr lang="en-US" sz="2000" b="1" dirty="0" smtClean="0"/>
              <a:t>Java 8</a:t>
            </a:r>
            <a:r>
              <a:rPr lang="en-US" sz="2000" dirty="0" smtClean="0"/>
              <a:t>, interface can have </a:t>
            </a:r>
            <a:r>
              <a:rPr lang="en-US" sz="2000" b="1" dirty="0" smtClean="0"/>
              <a:t>default</a:t>
            </a:r>
            <a:r>
              <a:rPr lang="en-US" sz="2000" dirty="0" smtClean="0"/>
              <a:t> and </a:t>
            </a:r>
            <a:r>
              <a:rPr lang="en-US" sz="2000" b="1" dirty="0" smtClean="0"/>
              <a:t>static methods</a:t>
            </a:r>
            <a:endParaRPr lang="en-US" sz="2000" dirty="0"/>
          </a:p>
        </p:txBody>
      </p:sp>
    </p:spTree>
  </p:cSld>
  <p:clrMapOvr>
    <a:masterClrMapping/>
  </p:clrMapOvr>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23528" y="260648"/>
            <a:ext cx="6606480" cy="1938992"/>
          </a:xfrm>
          <a:prstGeom prst="rect">
            <a:avLst/>
          </a:prstGeom>
        </p:spPr>
        <p:txBody>
          <a:bodyPr wrap="square">
            <a:spAutoFit/>
          </a:bodyPr>
          <a:lstStyle/>
          <a:p>
            <a:r>
              <a:rPr lang="en-US" sz="2400" b="1" dirty="0" smtClean="0"/>
              <a:t>Advantages of Interface</a:t>
            </a:r>
          </a:p>
          <a:p>
            <a:endParaRPr lang="en-US" sz="2400" b="1" dirty="0" smtClean="0"/>
          </a:p>
          <a:p>
            <a:pPr marL="342900" indent="-342900">
              <a:buFont typeface="Arial" panose="020B0604020202020204" pitchFamily="34" charset="0"/>
              <a:buChar char="•"/>
            </a:pPr>
            <a:r>
              <a:rPr lang="en-US" sz="2400" dirty="0" smtClean="0"/>
              <a:t>It Support multiple inheritance</a:t>
            </a:r>
          </a:p>
          <a:p>
            <a:pPr marL="342900" indent="-342900">
              <a:buFont typeface="Arial" panose="020B0604020202020204" pitchFamily="34" charset="0"/>
              <a:buChar char="•"/>
            </a:pPr>
            <a:r>
              <a:rPr lang="en-US" sz="2400" dirty="0" smtClean="0"/>
              <a:t>It helps to achieve abstraction</a:t>
            </a:r>
          </a:p>
          <a:p>
            <a:pPr marL="342900" indent="-342900">
              <a:buFont typeface="Arial" panose="020B0604020202020204" pitchFamily="34" charset="0"/>
              <a:buChar char="•"/>
            </a:pPr>
            <a:r>
              <a:rPr lang="en-US" sz="2400" dirty="0" smtClean="0"/>
              <a:t>It can be used to achieve loose coupling.</a:t>
            </a:r>
            <a:endParaRPr lang="en-US" sz="2400" dirty="0"/>
          </a:p>
        </p:txBody>
      </p:sp>
      <p:pic>
        <p:nvPicPr>
          <p:cNvPr id="3" name="Picture 2" descr="Interface in Java"/>
          <p:cNvPicPr>
            <a:picLocks noChangeAspect="1" noChangeArrowheads="1"/>
          </p:cNvPicPr>
          <p:nvPr/>
        </p:nvPicPr>
        <p:blipFill>
          <a:blip r:embed="rId2" cstate="print"/>
          <a:srcRect/>
          <a:stretch>
            <a:fillRect/>
          </a:stretch>
        </p:blipFill>
        <p:spPr bwMode="auto">
          <a:xfrm>
            <a:off x="2627784" y="2492896"/>
            <a:ext cx="5334000" cy="3495675"/>
          </a:xfrm>
          <a:prstGeom prst="rect">
            <a:avLst/>
          </a:prstGeom>
          <a:noFill/>
        </p:spPr>
      </p:pic>
    </p:spTree>
  </p:cSld>
  <p:clrMapOvr>
    <a:masterClrMapping/>
  </p:clrMapOvr>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179512" y="16567"/>
            <a:ext cx="5735866" cy="646331"/>
          </a:xfrm>
          <a:prstGeom prst="rect">
            <a:avLst/>
          </a:prstGeom>
        </p:spPr>
        <p:txBody>
          <a:bodyPr wrap="none">
            <a:spAutoFit/>
          </a:bodyPr>
          <a:lstStyle/>
          <a:p>
            <a:r>
              <a:rPr lang="en-US" sz="3600" b="1" dirty="0" smtClean="0"/>
              <a:t> Exception  handling in Java?</a:t>
            </a:r>
            <a:endParaRPr lang="en-US" sz="3600" b="1" dirty="0"/>
          </a:p>
        </p:txBody>
      </p:sp>
      <p:sp>
        <p:nvSpPr>
          <p:cNvPr id="6" name="Rectangle 5"/>
          <p:cNvSpPr/>
          <p:nvPr/>
        </p:nvSpPr>
        <p:spPr>
          <a:xfrm>
            <a:off x="38117" y="704988"/>
            <a:ext cx="9073008" cy="6124754"/>
          </a:xfrm>
          <a:prstGeom prst="rect">
            <a:avLst/>
          </a:prstGeom>
        </p:spPr>
        <p:txBody>
          <a:bodyPr wrap="square">
            <a:spAutoFit/>
          </a:bodyPr>
          <a:lstStyle/>
          <a:p>
            <a:r>
              <a:rPr lang="en-US" sz="2800" dirty="0" smtClean="0"/>
              <a:t>In general, an exception means a problem or an abnormal condition that stops a computer program from processing information in a normal way.</a:t>
            </a:r>
          </a:p>
          <a:p>
            <a:endParaRPr lang="en-US" sz="2800" dirty="0" smtClean="0"/>
          </a:p>
          <a:p>
            <a:r>
              <a:rPr lang="en-US" sz="2800" dirty="0" smtClean="0"/>
              <a:t>An </a:t>
            </a:r>
            <a:r>
              <a:rPr lang="en-US" sz="2800" b="1" dirty="0" smtClean="0"/>
              <a:t>exception in java</a:t>
            </a:r>
            <a:r>
              <a:rPr lang="en-US" sz="2800" dirty="0" smtClean="0"/>
              <a:t> is an object representing an error or an abnormal condition that occurs at runtime execution and interrupts (disrupts) the normal execution flow of the program.</a:t>
            </a:r>
          </a:p>
          <a:p>
            <a:endParaRPr lang="en-US" sz="2800" dirty="0" smtClean="0"/>
          </a:p>
          <a:p>
            <a:endParaRPr lang="en-US" sz="2800" dirty="0" smtClean="0"/>
          </a:p>
          <a:p>
            <a:r>
              <a:rPr lang="en-US" sz="2800" dirty="0" smtClean="0"/>
              <a:t>An exception can be </a:t>
            </a:r>
            <a:r>
              <a:rPr lang="en-US" sz="2800" b="1" dirty="0" smtClean="0"/>
              <a:t>identified only at runtime</a:t>
            </a:r>
            <a:r>
              <a:rPr lang="en-US" sz="2800" dirty="0" smtClean="0"/>
              <a:t>, not at compile time. Therefore, it is also called runtime errors that are thrown as exceptions in Java. They occur while a program is running.</a:t>
            </a:r>
            <a:endParaRPr lang="en-US" sz="2800" dirty="0"/>
          </a:p>
        </p:txBody>
      </p:sp>
    </p:spTree>
  </p:cSld>
  <p:clrMapOvr>
    <a:masterClrMapping/>
  </p:clrMapOvr>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337" name="Picture 1"/>
          <p:cNvPicPr>
            <a:picLocks noChangeAspect="1" noChangeArrowheads="1"/>
          </p:cNvPicPr>
          <p:nvPr/>
        </p:nvPicPr>
        <p:blipFill>
          <a:blip r:embed="rId2" cstate="print"/>
          <a:srcRect/>
          <a:stretch>
            <a:fillRect/>
          </a:stretch>
        </p:blipFill>
        <p:spPr bwMode="auto">
          <a:xfrm>
            <a:off x="107504" y="0"/>
            <a:ext cx="8784976" cy="4854362"/>
          </a:xfrm>
          <a:prstGeom prst="rect">
            <a:avLst/>
          </a:prstGeom>
          <a:noFill/>
          <a:ln w="9525">
            <a:noFill/>
            <a:miter lim="800000"/>
            <a:headEnd/>
            <a:tailEnd/>
          </a:ln>
        </p:spPr>
      </p:pic>
      <p:sp>
        <p:nvSpPr>
          <p:cNvPr id="3" name="Rectangle 2"/>
          <p:cNvSpPr/>
          <p:nvPr/>
        </p:nvSpPr>
        <p:spPr>
          <a:xfrm>
            <a:off x="323528" y="5085184"/>
            <a:ext cx="8568952" cy="1584176"/>
          </a:xfrm>
          <a:prstGeom prst="rect">
            <a:avLst/>
          </a:prstGeom>
        </p:spPr>
        <p:txBody>
          <a:bodyPr wrap="square">
            <a:spAutoFit/>
          </a:bodyPr>
          <a:lstStyle/>
          <a:p>
            <a:r>
              <a:rPr lang="en-US" sz="2400" b="1" dirty="0" smtClean="0"/>
              <a:t>1. </a:t>
            </a:r>
            <a:r>
              <a:rPr lang="en-US" sz="2400" dirty="0" smtClean="0"/>
              <a:t>Suppose you are watching a video on </a:t>
            </a:r>
            <a:r>
              <a:rPr lang="en-US" sz="2400" dirty="0" err="1" smtClean="0"/>
              <a:t>Youtube</a:t>
            </a:r>
            <a:r>
              <a:rPr lang="en-US" sz="2400" dirty="0" smtClean="0"/>
              <a:t>, suddenly, internet connectivity is disconnected or not working. In this case, you are not able to continue watching the video on </a:t>
            </a:r>
            <a:r>
              <a:rPr lang="en-US" sz="2400" dirty="0" err="1" smtClean="0"/>
              <a:t>Youtube</a:t>
            </a:r>
            <a:r>
              <a:rPr lang="en-US" sz="2400" dirty="0" smtClean="0"/>
              <a:t>. This interruption is nothing but an exception.</a:t>
            </a:r>
            <a:endParaRPr lang="en-US" sz="2400" dirty="0"/>
          </a:p>
        </p:txBody>
      </p:sp>
    </p:spTree>
  </p:cSld>
  <p:clrMapOvr>
    <a:masterClrMapping/>
  </p:clrMapOvr>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07504" y="1412776"/>
            <a:ext cx="8640960" cy="3416320"/>
          </a:xfrm>
          <a:prstGeom prst="rect">
            <a:avLst/>
          </a:prstGeom>
        </p:spPr>
        <p:txBody>
          <a:bodyPr wrap="square">
            <a:spAutoFit/>
          </a:bodyPr>
          <a:lstStyle/>
          <a:p>
            <a:r>
              <a:rPr lang="en-US" sz="2400" b="1" dirty="0" smtClean="0"/>
              <a:t>2.</a:t>
            </a:r>
            <a:r>
              <a:rPr lang="en-US" sz="2400" dirty="0" smtClean="0"/>
              <a:t> Suppose a person is traveling by car from Mumbai to </a:t>
            </a:r>
            <a:r>
              <a:rPr lang="en-US" sz="2400" dirty="0" err="1" smtClean="0"/>
              <a:t>Pune</a:t>
            </a:r>
            <a:r>
              <a:rPr lang="en-US" sz="2400" dirty="0" smtClean="0"/>
              <a:t>. After traveling mid-distance, the tire of his car is punctured. This unexpected or unwanted event is nothing but an exception.</a:t>
            </a:r>
          </a:p>
          <a:p>
            <a:endParaRPr lang="en-US" sz="2400" dirty="0" smtClean="0"/>
          </a:p>
          <a:p>
            <a:r>
              <a:rPr lang="en-US" sz="2400" dirty="0" smtClean="0"/>
              <a:t>The car owner always keeps an extra tire as an alternative on a long-distance journey. </a:t>
            </a:r>
          </a:p>
          <a:p>
            <a:r>
              <a:rPr lang="en-US" sz="2400" dirty="0" smtClean="0"/>
              <a:t>He changes the punctured tire by a new tire. </a:t>
            </a:r>
          </a:p>
          <a:p>
            <a:r>
              <a:rPr lang="en-US" sz="2400" dirty="0" smtClean="0"/>
              <a:t>After changing the tire, he continues the rest of the journey. </a:t>
            </a:r>
          </a:p>
          <a:p>
            <a:r>
              <a:rPr lang="en-US" sz="2400" dirty="0" smtClean="0"/>
              <a:t>This alternative way is called exception handling.</a:t>
            </a:r>
            <a:endParaRPr lang="en-US" sz="2400" dirty="0"/>
          </a:p>
        </p:txBody>
      </p:sp>
    </p:spTree>
    <p:extLst>
      <p:ext uri="{BB962C8B-B14F-4D97-AF65-F5344CB8AC3E}">
        <p14:creationId xmlns:p14="http://schemas.microsoft.com/office/powerpoint/2010/main" val="3271386956"/>
      </p:ext>
    </p:extLst>
  </p:cSld>
  <p:clrMapOvr>
    <a:masterClrMapping/>
  </p:clrMapOvr>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0" y="260648"/>
            <a:ext cx="8964488" cy="3170099"/>
          </a:xfrm>
          <a:prstGeom prst="rect">
            <a:avLst/>
          </a:prstGeom>
        </p:spPr>
        <p:txBody>
          <a:bodyPr wrap="square">
            <a:spAutoFit/>
          </a:bodyPr>
          <a:lstStyle/>
          <a:p>
            <a:r>
              <a:rPr lang="en-US" sz="2000" b="1" dirty="0" smtClean="0"/>
              <a:t>Types of Java Exceptions</a:t>
            </a:r>
          </a:p>
          <a:p>
            <a:endParaRPr lang="en-US" sz="2000" dirty="0" smtClean="0"/>
          </a:p>
          <a:p>
            <a:r>
              <a:rPr lang="en-US" sz="2000" dirty="0" smtClean="0"/>
              <a:t>There are mainly two types of exceptions: </a:t>
            </a:r>
            <a:r>
              <a:rPr lang="en-US" sz="2000" b="1" dirty="0" smtClean="0"/>
              <a:t>checked and unchecked</a:t>
            </a:r>
            <a:r>
              <a:rPr lang="en-US" sz="2000" dirty="0" smtClean="0"/>
              <a:t>. </a:t>
            </a:r>
          </a:p>
          <a:p>
            <a:r>
              <a:rPr lang="en-US" sz="2000" dirty="0" smtClean="0"/>
              <a:t>Here, an error is considered as the unchecked exception. </a:t>
            </a:r>
          </a:p>
          <a:p>
            <a:endParaRPr lang="en-US" sz="2000" dirty="0" smtClean="0"/>
          </a:p>
          <a:p>
            <a:r>
              <a:rPr lang="en-US" sz="2000" dirty="0" smtClean="0"/>
              <a:t>According to Oracle, there are three types of exceptions:</a:t>
            </a:r>
          </a:p>
          <a:p>
            <a:endParaRPr lang="en-US" sz="2000" dirty="0" smtClean="0"/>
          </a:p>
          <a:p>
            <a:pPr>
              <a:buFont typeface="Arial" pitchFamily="34" charset="0"/>
              <a:buChar char="•"/>
            </a:pPr>
            <a:r>
              <a:rPr lang="en-US" sz="2000" dirty="0" smtClean="0"/>
              <a:t>Checked Exception</a:t>
            </a:r>
          </a:p>
          <a:p>
            <a:pPr>
              <a:buFont typeface="Arial" pitchFamily="34" charset="0"/>
              <a:buChar char="•"/>
            </a:pPr>
            <a:r>
              <a:rPr lang="en-US" sz="2000" dirty="0" smtClean="0"/>
              <a:t>Unchecked Exception</a:t>
            </a:r>
          </a:p>
          <a:p>
            <a:pPr>
              <a:buFont typeface="Arial" pitchFamily="34" charset="0"/>
              <a:buChar char="•"/>
            </a:pPr>
            <a:r>
              <a:rPr lang="en-US" sz="2000" dirty="0" smtClean="0"/>
              <a:t>Error</a:t>
            </a:r>
            <a:endParaRPr lang="en-US" sz="2000" dirty="0"/>
          </a:p>
        </p:txBody>
      </p:sp>
      <p:pic>
        <p:nvPicPr>
          <p:cNvPr id="13315" name="Picture 3" descr="Types of Java Exceptions"/>
          <p:cNvPicPr>
            <a:picLocks noChangeAspect="1" noChangeArrowheads="1"/>
          </p:cNvPicPr>
          <p:nvPr/>
        </p:nvPicPr>
        <p:blipFill>
          <a:blip r:embed="rId2" cstate="print"/>
          <a:srcRect/>
          <a:stretch>
            <a:fillRect/>
          </a:stretch>
        </p:blipFill>
        <p:spPr bwMode="auto">
          <a:xfrm>
            <a:off x="4429644" y="2420888"/>
            <a:ext cx="4696172" cy="4320480"/>
          </a:xfrm>
          <a:prstGeom prst="rect">
            <a:avLst/>
          </a:prstGeom>
          <a:noFill/>
        </p:spPr>
      </p:pic>
    </p:spTree>
  </p:cSld>
  <p:clrMapOvr>
    <a:masterClrMapping/>
  </p:clrMapOvr>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51520" y="404664"/>
            <a:ext cx="8712968" cy="5632311"/>
          </a:xfrm>
          <a:prstGeom prst="rect">
            <a:avLst/>
          </a:prstGeom>
        </p:spPr>
        <p:txBody>
          <a:bodyPr wrap="square">
            <a:spAutoFit/>
          </a:bodyPr>
          <a:lstStyle/>
          <a:p>
            <a:r>
              <a:rPr lang="en-US" sz="2000" b="1" dirty="0" smtClean="0"/>
              <a:t>1) Checked Exception</a:t>
            </a:r>
          </a:p>
          <a:p>
            <a:endParaRPr lang="en-US" sz="2000" dirty="0" smtClean="0"/>
          </a:p>
          <a:p>
            <a:r>
              <a:rPr lang="en-US" sz="2000" dirty="0" smtClean="0"/>
              <a:t>The classes which directly inherit </a:t>
            </a:r>
            <a:r>
              <a:rPr lang="en-US" sz="2000" dirty="0" err="1" smtClean="0"/>
              <a:t>Throwable</a:t>
            </a:r>
            <a:r>
              <a:rPr lang="en-US" sz="2000" dirty="0" smtClean="0"/>
              <a:t> class except </a:t>
            </a:r>
            <a:r>
              <a:rPr lang="en-US" sz="2000" dirty="0" err="1" smtClean="0"/>
              <a:t>RuntimeException</a:t>
            </a:r>
            <a:r>
              <a:rPr lang="en-US" sz="2000" dirty="0" smtClean="0"/>
              <a:t> and Error are known as checked exceptions e.g. </a:t>
            </a:r>
            <a:r>
              <a:rPr lang="en-US" sz="2000" dirty="0" err="1" smtClean="0"/>
              <a:t>IOException</a:t>
            </a:r>
            <a:r>
              <a:rPr lang="en-US" sz="2000" dirty="0" smtClean="0"/>
              <a:t>, </a:t>
            </a:r>
            <a:r>
              <a:rPr lang="en-US" sz="2000" dirty="0" err="1" smtClean="0"/>
              <a:t>SQLException</a:t>
            </a:r>
            <a:r>
              <a:rPr lang="en-US" sz="2000" dirty="0" smtClean="0"/>
              <a:t> etc. Checked exceptions are checked at compile-time.</a:t>
            </a:r>
          </a:p>
          <a:p>
            <a:endParaRPr lang="en-IN" sz="2000" dirty="0" smtClean="0"/>
          </a:p>
          <a:p>
            <a:endParaRPr lang="en-US" sz="2000" b="1" dirty="0" smtClean="0"/>
          </a:p>
          <a:p>
            <a:r>
              <a:rPr lang="en-US" sz="2000" b="1" dirty="0" smtClean="0"/>
              <a:t>2) Unchecked Exception</a:t>
            </a:r>
          </a:p>
          <a:p>
            <a:endParaRPr lang="en-US" sz="2000" dirty="0" smtClean="0"/>
          </a:p>
          <a:p>
            <a:r>
              <a:rPr lang="en-US" sz="2000" dirty="0" smtClean="0"/>
              <a:t>The classes which inherit </a:t>
            </a:r>
            <a:r>
              <a:rPr lang="en-US" sz="2000" dirty="0" err="1" smtClean="0"/>
              <a:t>RuntimeException</a:t>
            </a:r>
            <a:r>
              <a:rPr lang="en-US" sz="2000" dirty="0" smtClean="0"/>
              <a:t> are known as unchecked exceptions e.g. </a:t>
            </a:r>
            <a:r>
              <a:rPr lang="en-US" sz="2000" dirty="0" err="1" smtClean="0"/>
              <a:t>ArithmeticException</a:t>
            </a:r>
            <a:r>
              <a:rPr lang="en-US" sz="2000" dirty="0" smtClean="0"/>
              <a:t>, </a:t>
            </a:r>
            <a:r>
              <a:rPr lang="en-US" sz="2000" dirty="0" err="1" smtClean="0"/>
              <a:t>NullPointerException</a:t>
            </a:r>
            <a:r>
              <a:rPr lang="en-US" sz="2000" dirty="0" smtClean="0"/>
              <a:t>, </a:t>
            </a:r>
            <a:r>
              <a:rPr lang="en-US" sz="2000" dirty="0" err="1" smtClean="0"/>
              <a:t>ArrayIndexOutOfBoundsException</a:t>
            </a:r>
            <a:r>
              <a:rPr lang="en-US" sz="2000" dirty="0" smtClean="0"/>
              <a:t> etc. Unchecked exceptions are not checked at compile-time, but they are checked at runtime.</a:t>
            </a:r>
          </a:p>
          <a:p>
            <a:endParaRPr lang="en-US" sz="2000" dirty="0" smtClean="0"/>
          </a:p>
          <a:p>
            <a:endParaRPr lang="en-US" sz="2000" b="1" dirty="0" smtClean="0"/>
          </a:p>
          <a:p>
            <a:r>
              <a:rPr lang="en-US" sz="2000" b="1" dirty="0" smtClean="0"/>
              <a:t>3) Error</a:t>
            </a:r>
          </a:p>
          <a:p>
            <a:r>
              <a:rPr lang="en-US" sz="2000" dirty="0" smtClean="0"/>
              <a:t>Error is irrecoverable e.g. </a:t>
            </a:r>
            <a:r>
              <a:rPr lang="en-US" sz="2000" dirty="0" err="1" smtClean="0"/>
              <a:t>OutOfMemoryError</a:t>
            </a:r>
            <a:r>
              <a:rPr lang="en-US" sz="2000" dirty="0" smtClean="0"/>
              <a:t>, </a:t>
            </a:r>
            <a:r>
              <a:rPr lang="en-US" sz="2000" dirty="0" err="1" smtClean="0"/>
              <a:t>VirtualMachineError</a:t>
            </a:r>
            <a:r>
              <a:rPr lang="en-US" sz="2000" dirty="0" smtClean="0"/>
              <a:t>, </a:t>
            </a:r>
            <a:r>
              <a:rPr lang="en-US" sz="2000" dirty="0" err="1" smtClean="0"/>
              <a:t>AssertionError</a:t>
            </a:r>
            <a:r>
              <a:rPr lang="en-US" sz="2000" dirty="0" smtClean="0"/>
              <a:t> etc.</a:t>
            </a:r>
            <a:endParaRPr lang="en-US" sz="2000" dirty="0"/>
          </a:p>
        </p:txBody>
      </p:sp>
    </p:spTree>
  </p:cSld>
  <p:clrMapOvr>
    <a:masterClrMapping/>
  </p:clrMapOvr>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noChangeArrowheads="1"/>
          </p:cNvPicPr>
          <p:nvPr/>
        </p:nvPicPr>
        <p:blipFill>
          <a:blip r:embed="rId2" cstate="print"/>
          <a:srcRect/>
          <a:stretch>
            <a:fillRect/>
          </a:stretch>
        </p:blipFill>
        <p:spPr bwMode="auto">
          <a:xfrm>
            <a:off x="338257" y="188640"/>
            <a:ext cx="8338199" cy="666936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260648"/>
            <a:ext cx="9144000" cy="5262979"/>
          </a:xfrm>
          <a:prstGeom prst="rect">
            <a:avLst/>
          </a:prstGeom>
        </p:spPr>
        <p:txBody>
          <a:bodyPr wrap="square">
            <a:spAutoFit/>
          </a:bodyPr>
          <a:lstStyle/>
          <a:p>
            <a:endParaRPr lang="en-US" sz="2800" dirty="0" smtClean="0"/>
          </a:p>
          <a:p>
            <a:r>
              <a:rPr lang="en-US" sz="2800" dirty="0" smtClean="0"/>
              <a:t>Java provides five essential keywords to handle an exception. </a:t>
            </a:r>
          </a:p>
          <a:p>
            <a:r>
              <a:rPr lang="en-US" sz="2800" dirty="0" smtClean="0"/>
              <a:t>They are:</a:t>
            </a:r>
          </a:p>
          <a:p>
            <a:endParaRPr lang="en-US" sz="2800" dirty="0" smtClean="0"/>
          </a:p>
          <a:p>
            <a:pPr>
              <a:buFont typeface="Arial" pitchFamily="34" charset="0"/>
              <a:buChar char="•"/>
            </a:pPr>
            <a:r>
              <a:rPr lang="en-US" sz="2800" dirty="0" smtClean="0"/>
              <a:t>try</a:t>
            </a:r>
          </a:p>
          <a:p>
            <a:pPr>
              <a:buFont typeface="Arial" pitchFamily="34" charset="0"/>
              <a:buChar char="•"/>
            </a:pPr>
            <a:r>
              <a:rPr lang="en-US" sz="2800" dirty="0" smtClean="0"/>
              <a:t>catch</a:t>
            </a:r>
          </a:p>
          <a:p>
            <a:pPr>
              <a:buFont typeface="Arial" pitchFamily="34" charset="0"/>
              <a:buChar char="•"/>
            </a:pPr>
            <a:r>
              <a:rPr lang="en-US" sz="2800" dirty="0" smtClean="0"/>
              <a:t>finally</a:t>
            </a:r>
          </a:p>
          <a:p>
            <a:pPr>
              <a:buFont typeface="Arial" pitchFamily="34" charset="0"/>
              <a:buChar char="•"/>
            </a:pPr>
            <a:r>
              <a:rPr lang="en-US" sz="2800" dirty="0" smtClean="0"/>
              <a:t>throw</a:t>
            </a:r>
          </a:p>
          <a:p>
            <a:pPr>
              <a:buFont typeface="Arial" pitchFamily="34" charset="0"/>
              <a:buChar char="•"/>
            </a:pPr>
            <a:r>
              <a:rPr lang="en-US" sz="2800" dirty="0" smtClean="0"/>
              <a:t>Throws</a:t>
            </a:r>
          </a:p>
          <a:p>
            <a:endParaRPr lang="en-IN" sz="2800" dirty="0" smtClean="0"/>
          </a:p>
          <a:p>
            <a:endParaRPr lang="en-IN" sz="2800" dirty="0" smtClean="0"/>
          </a:p>
          <a:p>
            <a:r>
              <a:rPr lang="en-US" sz="2800" dirty="0" smtClean="0"/>
              <a:t>These keywords can be used to handle exceptions properly.</a:t>
            </a:r>
            <a:endParaRPr lang="en-US" sz="2800" dirty="0"/>
          </a:p>
        </p:txBody>
      </p:sp>
    </p:spTree>
    <p:extLst>
      <p:ext uri="{BB962C8B-B14F-4D97-AF65-F5344CB8AC3E}">
        <p14:creationId xmlns:p14="http://schemas.microsoft.com/office/powerpoint/2010/main" val="4151179302"/>
      </p:ext>
    </p:extLst>
  </p:cSld>
  <p:clrMapOvr>
    <a:masterClrMapping/>
  </p:clrMapOvr>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07504" y="404664"/>
            <a:ext cx="9036496" cy="5262979"/>
          </a:xfrm>
          <a:prstGeom prst="rect">
            <a:avLst/>
          </a:prstGeom>
        </p:spPr>
        <p:txBody>
          <a:bodyPr wrap="square">
            <a:spAutoFit/>
          </a:bodyPr>
          <a:lstStyle/>
          <a:p>
            <a:endParaRPr lang="en-US" sz="2400" dirty="0" smtClean="0"/>
          </a:p>
          <a:p>
            <a:r>
              <a:rPr lang="en-US" sz="2400" b="1" dirty="0" smtClean="0"/>
              <a:t>Try Block in Java</a:t>
            </a:r>
          </a:p>
          <a:p>
            <a:endParaRPr lang="en-US" sz="2400" b="1" dirty="0" smtClean="0"/>
          </a:p>
          <a:p>
            <a:r>
              <a:rPr lang="en-US" sz="2400" dirty="0" smtClean="0"/>
              <a:t>A keyword “try” is a block of code or statements that might throw an exception. That’s why a try block is also known as exception generated block. </a:t>
            </a:r>
          </a:p>
          <a:p>
            <a:endParaRPr lang="en-IN" sz="2400" dirty="0" smtClean="0"/>
          </a:p>
          <a:p>
            <a:endParaRPr lang="en-US" sz="2400" dirty="0" smtClean="0"/>
          </a:p>
          <a:p>
            <a:r>
              <a:rPr lang="en-US" sz="2400" dirty="0" smtClean="0"/>
              <a:t>The three possible forms of try block are as follows:</a:t>
            </a:r>
          </a:p>
          <a:p>
            <a:endParaRPr lang="en-US" sz="2400" dirty="0" smtClean="0"/>
          </a:p>
          <a:p>
            <a:r>
              <a:rPr lang="en-US" sz="2400" dirty="0" smtClean="0">
                <a:solidFill>
                  <a:srgbClr val="FF0000"/>
                </a:solidFill>
              </a:rPr>
              <a:t>try-catch:</a:t>
            </a:r>
            <a:r>
              <a:rPr lang="en-US" sz="2400" dirty="0" smtClean="0"/>
              <a:t> A try block is always followed by one or more catch blocks.</a:t>
            </a:r>
          </a:p>
          <a:p>
            <a:r>
              <a:rPr lang="en-US" sz="2400" dirty="0" smtClean="0">
                <a:solidFill>
                  <a:srgbClr val="FF0000"/>
                </a:solidFill>
              </a:rPr>
              <a:t>try-finally: </a:t>
            </a:r>
            <a:r>
              <a:rPr lang="en-US" sz="2400" dirty="0" smtClean="0"/>
              <a:t>A try block followed by a finally block.</a:t>
            </a:r>
          </a:p>
          <a:p>
            <a:r>
              <a:rPr lang="en-US" sz="2400" dirty="0" smtClean="0">
                <a:solidFill>
                  <a:srgbClr val="FF0000"/>
                </a:solidFill>
              </a:rPr>
              <a:t>try-catch-finally: </a:t>
            </a:r>
            <a:r>
              <a:rPr lang="en-US" sz="2400" dirty="0" smtClean="0"/>
              <a:t>A try block followed by one or more catch blocks followed by a finally block.</a:t>
            </a:r>
            <a:endParaRPr lang="en-US" sz="2400" dirty="0"/>
          </a:p>
        </p:txBody>
      </p:sp>
    </p:spTree>
    <p:extLst>
      <p:ext uri="{BB962C8B-B14F-4D97-AF65-F5344CB8AC3E}">
        <p14:creationId xmlns:p14="http://schemas.microsoft.com/office/powerpoint/2010/main" val="674891989"/>
      </p:ext>
    </p:extLst>
  </p:cSld>
  <p:clrMapOvr>
    <a:masterClrMapping/>
  </p:clrMapOvr>
  <p:timing>
    <p:tnLst>
      <p:par>
        <p:cTn id="1" dur="indefinite" restart="never" nodeType="tmRoot"/>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0" y="260648"/>
            <a:ext cx="9036496" cy="5632311"/>
          </a:xfrm>
          <a:prstGeom prst="rect">
            <a:avLst/>
          </a:prstGeom>
        </p:spPr>
        <p:txBody>
          <a:bodyPr wrap="square">
            <a:spAutoFit/>
          </a:bodyPr>
          <a:lstStyle/>
          <a:p>
            <a:r>
              <a:rPr lang="en-US" sz="2000" b="1" dirty="0" smtClean="0"/>
              <a:t>Catch Block in Java</a:t>
            </a:r>
          </a:p>
          <a:p>
            <a:endParaRPr lang="en-US" sz="2000" dirty="0" smtClean="0"/>
          </a:p>
          <a:p>
            <a:endParaRPr lang="en-US" sz="2000" dirty="0" smtClean="0"/>
          </a:p>
          <a:p>
            <a:r>
              <a:rPr lang="en-US" sz="2000" dirty="0" smtClean="0"/>
              <a:t>A keyword “catch” is a block of code that handles the exception thrown by the try block. That’s why it is also known as exception handler block. A catch block that catches an exception, must be followed by try block that generates an exception.</a:t>
            </a:r>
          </a:p>
          <a:p>
            <a:endParaRPr lang="en-IN" sz="2000" dirty="0" smtClean="0"/>
          </a:p>
          <a:p>
            <a:r>
              <a:rPr lang="en-US" sz="2000" dirty="0" smtClean="0"/>
              <a:t>The general syntax of try-catch block (exception handling block) is as follows:</a:t>
            </a:r>
          </a:p>
          <a:p>
            <a:r>
              <a:rPr lang="en-US" sz="2000" dirty="0" smtClean="0"/>
              <a:t/>
            </a:r>
            <a:br>
              <a:rPr lang="en-US" sz="2000" dirty="0" smtClean="0"/>
            </a:br>
            <a:r>
              <a:rPr lang="en-US" sz="2000" b="1" dirty="0" smtClean="0"/>
              <a:t>Syntax:</a:t>
            </a:r>
          </a:p>
          <a:p>
            <a:r>
              <a:rPr lang="en-US" sz="2000" dirty="0" smtClean="0"/>
              <a:t>try </a:t>
            </a:r>
          </a:p>
          <a:p>
            <a:r>
              <a:rPr lang="en-US" sz="2000" dirty="0" smtClean="0"/>
              <a:t>{ </a:t>
            </a:r>
          </a:p>
          <a:p>
            <a:r>
              <a:rPr lang="en-US" sz="2000" dirty="0" smtClean="0"/>
              <a:t>  // A block of code; // generates an exception </a:t>
            </a:r>
          </a:p>
          <a:p>
            <a:r>
              <a:rPr lang="en-US" sz="2000" dirty="0" smtClean="0"/>
              <a:t>} </a:t>
            </a:r>
          </a:p>
          <a:p>
            <a:r>
              <a:rPr lang="en-US" sz="2000" dirty="0" smtClean="0"/>
              <a:t>catch(</a:t>
            </a:r>
            <a:r>
              <a:rPr lang="en-US" sz="2000" dirty="0" err="1" smtClean="0"/>
              <a:t>exception_class</a:t>
            </a:r>
            <a:r>
              <a:rPr lang="en-US" sz="2000" dirty="0" smtClean="0"/>
              <a:t> </a:t>
            </a:r>
            <a:r>
              <a:rPr lang="en-US" sz="2000" dirty="0" err="1" smtClean="0"/>
              <a:t>var</a:t>
            </a:r>
            <a:r>
              <a:rPr lang="en-US" sz="2000" dirty="0" smtClean="0"/>
              <a:t>) </a:t>
            </a:r>
          </a:p>
          <a:p>
            <a:r>
              <a:rPr lang="en-US" sz="2000" dirty="0" smtClean="0"/>
              <a:t>{ </a:t>
            </a:r>
          </a:p>
          <a:p>
            <a:r>
              <a:rPr lang="en-US" sz="2000" dirty="0" smtClean="0"/>
              <a:t>  // Code to be executed when an exception is thrown. </a:t>
            </a:r>
          </a:p>
          <a:p>
            <a:r>
              <a:rPr lang="en-US" sz="2000" dirty="0" smtClean="0"/>
              <a:t>}</a:t>
            </a:r>
            <a:endParaRPr lang="en-US" sz="2000" dirty="0"/>
          </a:p>
        </p:txBody>
      </p:sp>
    </p:spTree>
  </p:cSld>
  <p:clrMapOvr>
    <a:masterClrMapping/>
  </p:clrMapOvr>
  <p:timing>
    <p:tnLst>
      <p:par>
        <p:cTn id="1" dur="indefinite" restart="never" nodeType="tmRoot"/>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9266" name="Picture 2" descr="Java Try Catch Block with Example - Scientech Easy"/>
          <p:cNvPicPr>
            <a:picLocks noChangeAspect="1" noChangeArrowheads="1"/>
          </p:cNvPicPr>
          <p:nvPr/>
        </p:nvPicPr>
        <p:blipFill>
          <a:blip r:embed="rId2" cstate="print"/>
          <a:srcRect/>
          <a:stretch>
            <a:fillRect/>
          </a:stretch>
        </p:blipFill>
        <p:spPr bwMode="auto">
          <a:xfrm>
            <a:off x="683568" y="980728"/>
            <a:ext cx="8244916" cy="5496611"/>
          </a:xfrm>
          <a:prstGeom prst="rect">
            <a:avLst/>
          </a:prstGeom>
          <a:noFill/>
        </p:spPr>
      </p:pic>
    </p:spTree>
  </p:cSld>
  <p:clrMapOvr>
    <a:masterClrMapping/>
  </p:clrMapOvr>
  <p:timing>
    <p:tnLst>
      <p:par>
        <p:cTn id="1" dur="indefinite" restart="never" nodeType="tmRoot"/>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116632"/>
            <a:ext cx="4105419" cy="369332"/>
          </a:xfrm>
          <a:prstGeom prst="rect">
            <a:avLst/>
          </a:prstGeom>
        </p:spPr>
        <p:txBody>
          <a:bodyPr wrap="none">
            <a:spAutoFit/>
          </a:bodyPr>
          <a:lstStyle/>
          <a:p>
            <a:r>
              <a:rPr lang="en-US" b="1" dirty="0" smtClean="0"/>
              <a:t>Rules of using Try and Catch block in Java</a:t>
            </a:r>
            <a:endParaRPr lang="en-US" b="1" dirty="0"/>
          </a:p>
        </p:txBody>
      </p:sp>
      <p:sp>
        <p:nvSpPr>
          <p:cNvPr id="3" name="Rectangle 2"/>
          <p:cNvSpPr/>
          <p:nvPr/>
        </p:nvSpPr>
        <p:spPr>
          <a:xfrm>
            <a:off x="323528" y="548680"/>
            <a:ext cx="8568952" cy="1938992"/>
          </a:xfrm>
          <a:prstGeom prst="rect">
            <a:avLst/>
          </a:prstGeom>
        </p:spPr>
        <p:txBody>
          <a:bodyPr wrap="square">
            <a:spAutoFit/>
          </a:bodyPr>
          <a:lstStyle/>
          <a:p>
            <a:r>
              <a:rPr lang="en-US" sz="2000" dirty="0" smtClean="0"/>
              <a:t>1. Java try-catch block must be within a method.</a:t>
            </a:r>
            <a:br>
              <a:rPr lang="en-US" sz="2000" dirty="0" smtClean="0"/>
            </a:br>
            <a:r>
              <a:rPr lang="en-US" sz="2000" dirty="0" smtClean="0"/>
              <a:t>2. A try block can not be used without a catch or finally block. It must be followed by at least one catch block otherwise, the compilation error will occur.</a:t>
            </a:r>
            <a:br>
              <a:rPr lang="en-US" sz="2000" dirty="0" smtClean="0"/>
            </a:br>
            <a:r>
              <a:rPr lang="en-US" sz="2000" dirty="0" smtClean="0"/>
              <a:t>3. A catch block must be followed by try block. There should not be any statement between the end of try block and the beginning of catch block.</a:t>
            </a:r>
            <a:br>
              <a:rPr lang="en-US" sz="2000" dirty="0" smtClean="0"/>
            </a:br>
            <a:r>
              <a:rPr lang="en-US" sz="2000" dirty="0" smtClean="0"/>
              <a:t>4. A finally block cannot come before catch block.</a:t>
            </a:r>
            <a:endParaRPr lang="en-US" sz="2000" dirty="0"/>
          </a:p>
        </p:txBody>
      </p:sp>
      <p:pic>
        <p:nvPicPr>
          <p:cNvPr id="151554" name="Picture 2"/>
          <p:cNvPicPr>
            <a:picLocks noChangeAspect="1" noChangeArrowheads="1"/>
          </p:cNvPicPr>
          <p:nvPr/>
        </p:nvPicPr>
        <p:blipFill>
          <a:blip r:embed="rId2" cstate="print"/>
          <a:srcRect/>
          <a:stretch>
            <a:fillRect/>
          </a:stretch>
        </p:blipFill>
        <p:spPr bwMode="auto">
          <a:xfrm>
            <a:off x="1003156" y="2780928"/>
            <a:ext cx="6161132" cy="4155182"/>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23528" y="476672"/>
            <a:ext cx="8568952" cy="5632311"/>
          </a:xfrm>
          <a:prstGeom prst="rect">
            <a:avLst/>
          </a:prstGeom>
        </p:spPr>
        <p:txBody>
          <a:bodyPr wrap="square">
            <a:spAutoFit/>
          </a:bodyPr>
          <a:lstStyle/>
          <a:p>
            <a:endParaRPr lang="en-US" sz="2400" b="1" dirty="0" smtClean="0"/>
          </a:p>
          <a:p>
            <a:r>
              <a:rPr lang="en-US" sz="2400" b="1" dirty="0" smtClean="0"/>
              <a:t>Finally Block  </a:t>
            </a:r>
            <a:r>
              <a:rPr lang="en-US" sz="2400" dirty="0" smtClean="0"/>
              <a:t> A “finally” is a keyword used to create a block of code that follows a try or catch block.</a:t>
            </a:r>
          </a:p>
          <a:p>
            <a:endParaRPr lang="en-US" sz="2400" dirty="0" smtClean="0"/>
          </a:p>
          <a:p>
            <a:r>
              <a:rPr lang="en-US" sz="2400" dirty="0" smtClean="0"/>
              <a:t>A finally block contains all the crucial codes such as </a:t>
            </a:r>
            <a:r>
              <a:rPr lang="en-US" sz="2400" b="1" dirty="0" smtClean="0"/>
              <a:t>closing connections, stream, etc </a:t>
            </a:r>
            <a:r>
              <a:rPr lang="en-US" sz="2400" dirty="0" smtClean="0"/>
              <a:t>that is always executed whether an exception occurs within a try block or not.</a:t>
            </a:r>
          </a:p>
          <a:p>
            <a:endParaRPr lang="en-US" sz="2400" dirty="0" smtClean="0"/>
          </a:p>
          <a:p>
            <a:r>
              <a:rPr lang="en-US" sz="2400" dirty="0" smtClean="0"/>
              <a:t>When finally block is attached with a </a:t>
            </a:r>
            <a:r>
              <a:rPr lang="en-US" sz="2400" b="1" dirty="0" smtClean="0"/>
              <a:t>try-catch block</a:t>
            </a:r>
            <a:r>
              <a:rPr lang="en-US" sz="2400" b="1" dirty="0"/>
              <a:t>,</a:t>
            </a:r>
            <a:r>
              <a:rPr lang="en-US" sz="2400" dirty="0" smtClean="0"/>
              <a:t> it is always executed whether the catch block has handled the exception thrown by try block or not.</a:t>
            </a:r>
          </a:p>
          <a:p>
            <a:endParaRPr lang="en-IN" sz="2400" b="1" dirty="0" smtClean="0"/>
          </a:p>
          <a:p>
            <a:endParaRPr lang="en-IN" sz="2400" b="1" dirty="0" smtClean="0"/>
          </a:p>
          <a:p>
            <a:endParaRPr lang="en-US" sz="2400" b="1" dirty="0" smtClean="0"/>
          </a:p>
          <a:p>
            <a:endParaRPr lang="en-US" sz="2400" dirty="0"/>
          </a:p>
        </p:txBody>
      </p:sp>
    </p:spTree>
  </p:cSld>
  <p:clrMapOvr>
    <a:masterClrMapping/>
  </p:clrMapOvr>
  <p:timing>
    <p:tnLst>
      <p:par>
        <p:cTn id="1" dur="indefinite" restart="never" nodeType="tmRoot"/>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Rectangle 26"/>
          <p:cNvSpPr/>
          <p:nvPr/>
        </p:nvSpPr>
        <p:spPr>
          <a:xfrm>
            <a:off x="323528" y="620688"/>
            <a:ext cx="3528392" cy="3477875"/>
          </a:xfrm>
          <a:prstGeom prst="rect">
            <a:avLst/>
          </a:prstGeom>
        </p:spPr>
        <p:txBody>
          <a:bodyPr wrap="square">
            <a:spAutoFit/>
          </a:bodyPr>
          <a:lstStyle/>
          <a:p>
            <a:r>
              <a:rPr lang="en-US" sz="2000" b="1" dirty="0" smtClean="0">
                <a:solidFill>
                  <a:srgbClr val="FF0000"/>
                </a:solidFill>
              </a:rPr>
              <a:t>Syntax for try-finally block:</a:t>
            </a:r>
          </a:p>
          <a:p>
            <a:r>
              <a:rPr lang="en-US" sz="2000" dirty="0" smtClean="0"/>
              <a:t>try</a:t>
            </a:r>
          </a:p>
          <a:p>
            <a:r>
              <a:rPr lang="en-US" sz="2000" dirty="0" smtClean="0"/>
              <a:t>{</a:t>
            </a:r>
          </a:p>
          <a:p>
            <a:r>
              <a:rPr lang="en-US" sz="2000" dirty="0" smtClean="0"/>
              <a:t>  statement1;</a:t>
            </a:r>
          </a:p>
          <a:p>
            <a:r>
              <a:rPr lang="en-US" sz="2000" dirty="0" smtClean="0"/>
              <a:t>  statement2;</a:t>
            </a:r>
          </a:p>
          <a:p>
            <a:r>
              <a:rPr lang="en-US" sz="2000" dirty="0" smtClean="0"/>
              <a:t>}</a:t>
            </a:r>
          </a:p>
          <a:p>
            <a:r>
              <a:rPr lang="en-US" sz="2000" dirty="0" smtClean="0"/>
              <a:t>finally // finally block</a:t>
            </a:r>
          </a:p>
          <a:p>
            <a:r>
              <a:rPr lang="en-US" sz="2000" dirty="0" smtClean="0"/>
              <a:t>{</a:t>
            </a:r>
          </a:p>
          <a:p>
            <a:r>
              <a:rPr lang="en-US" sz="2000" dirty="0" smtClean="0"/>
              <a:t>  statement3;</a:t>
            </a:r>
          </a:p>
          <a:p>
            <a:r>
              <a:rPr lang="en-US" sz="2000" dirty="0" smtClean="0"/>
              <a:t>}</a:t>
            </a:r>
          </a:p>
          <a:p>
            <a:endParaRPr lang="en-IN" sz="2000" dirty="0" smtClean="0"/>
          </a:p>
        </p:txBody>
      </p:sp>
      <p:sp>
        <p:nvSpPr>
          <p:cNvPr id="2" name="Rectangle 1"/>
          <p:cNvSpPr/>
          <p:nvPr/>
        </p:nvSpPr>
        <p:spPr>
          <a:xfrm>
            <a:off x="4355976" y="476672"/>
            <a:ext cx="4572000" cy="5632311"/>
          </a:xfrm>
          <a:prstGeom prst="rect">
            <a:avLst/>
          </a:prstGeom>
        </p:spPr>
        <p:txBody>
          <a:bodyPr>
            <a:spAutoFit/>
          </a:bodyPr>
          <a:lstStyle/>
          <a:p>
            <a:r>
              <a:rPr lang="en-US" sz="2400" b="1" dirty="0">
                <a:solidFill>
                  <a:srgbClr val="FF0000"/>
                </a:solidFill>
              </a:rPr>
              <a:t>Syntax for try-catch-finally block:</a:t>
            </a:r>
          </a:p>
          <a:p>
            <a:r>
              <a:rPr lang="en-US" sz="2400" dirty="0"/>
              <a:t>try </a:t>
            </a:r>
          </a:p>
          <a:p>
            <a:r>
              <a:rPr lang="en-US" sz="2400" dirty="0"/>
              <a:t>{ </a:t>
            </a:r>
          </a:p>
          <a:p>
            <a:r>
              <a:rPr lang="en-US" sz="2400" dirty="0"/>
              <a:t> statement1; </a:t>
            </a:r>
          </a:p>
          <a:p>
            <a:r>
              <a:rPr lang="en-US" sz="2400" dirty="0"/>
              <a:t> statement2; </a:t>
            </a:r>
          </a:p>
          <a:p>
            <a:r>
              <a:rPr lang="en-US" sz="2400" dirty="0"/>
              <a:t>} </a:t>
            </a:r>
          </a:p>
          <a:p>
            <a:r>
              <a:rPr lang="en-US" sz="2400" dirty="0"/>
              <a:t>catch(</a:t>
            </a:r>
            <a:r>
              <a:rPr lang="en-US" sz="2400" dirty="0" err="1"/>
              <a:t>Exceptiontype</a:t>
            </a:r>
            <a:r>
              <a:rPr lang="en-US" sz="2400" dirty="0"/>
              <a:t> e1) </a:t>
            </a:r>
          </a:p>
          <a:p>
            <a:r>
              <a:rPr lang="en-US" sz="2400" dirty="0"/>
              <a:t>{ </a:t>
            </a:r>
          </a:p>
          <a:p>
            <a:r>
              <a:rPr lang="en-US" sz="2400" dirty="0"/>
              <a:t>  statement3; </a:t>
            </a:r>
          </a:p>
          <a:p>
            <a:r>
              <a:rPr lang="en-US" sz="2400" dirty="0"/>
              <a:t> } </a:t>
            </a:r>
          </a:p>
          <a:p>
            <a:r>
              <a:rPr lang="en-US" sz="2400" dirty="0"/>
              <a:t> statement4; </a:t>
            </a:r>
          </a:p>
          <a:p>
            <a:r>
              <a:rPr lang="en-US" sz="2400" dirty="0"/>
              <a:t>finally </a:t>
            </a:r>
          </a:p>
          <a:p>
            <a:r>
              <a:rPr lang="en-US" sz="2400" dirty="0"/>
              <a:t>{ </a:t>
            </a:r>
          </a:p>
          <a:p>
            <a:r>
              <a:rPr lang="en-US" sz="2400" dirty="0"/>
              <a:t>  statement5; </a:t>
            </a:r>
          </a:p>
          <a:p>
            <a:r>
              <a:rPr lang="en-US" sz="2400" dirty="0"/>
              <a:t>}</a:t>
            </a:r>
          </a:p>
        </p:txBody>
      </p:sp>
    </p:spTree>
  </p:cSld>
  <p:clrMapOvr>
    <a:masterClrMapping/>
  </p:clrMapOvr>
  <p:timing>
    <p:tnLst>
      <p:par>
        <p:cTn id="1" dur="indefinite" restart="never" nodeType="tmRoot"/>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a:blip r:embed="rId2"/>
          <a:srcRect/>
          <a:stretch>
            <a:fillRect/>
          </a:stretch>
        </p:blipFill>
        <p:spPr bwMode="auto">
          <a:xfrm>
            <a:off x="0" y="188640"/>
            <a:ext cx="8929718" cy="4464496"/>
          </a:xfrm>
          <a:prstGeom prst="rect">
            <a:avLst/>
          </a:prstGeom>
          <a:noFill/>
          <a:ln w="9525">
            <a:noFill/>
            <a:miter lim="800000"/>
            <a:headEnd/>
            <a:tailEnd/>
          </a:ln>
          <a:effectLst/>
        </p:spPr>
      </p:pic>
      <p:pic>
        <p:nvPicPr>
          <p:cNvPr id="1027" name="Picture 3"/>
          <p:cNvPicPr>
            <a:picLocks noChangeAspect="1" noChangeArrowheads="1"/>
          </p:cNvPicPr>
          <p:nvPr/>
        </p:nvPicPr>
        <p:blipFill>
          <a:blip r:embed="rId3"/>
          <a:srcRect/>
          <a:stretch>
            <a:fillRect/>
          </a:stretch>
        </p:blipFill>
        <p:spPr bwMode="auto">
          <a:xfrm>
            <a:off x="755576" y="5301208"/>
            <a:ext cx="5753100" cy="895350"/>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539552" y="980728"/>
            <a:ext cx="6840760" cy="4708981"/>
          </a:xfrm>
          <a:prstGeom prst="rect">
            <a:avLst/>
          </a:prstGeom>
        </p:spPr>
        <p:txBody>
          <a:bodyPr wrap="square">
            <a:spAutoFit/>
          </a:bodyPr>
          <a:lstStyle/>
          <a:p>
            <a:r>
              <a:rPr lang="en-US" sz="2000" dirty="0"/>
              <a:t>class Test </a:t>
            </a:r>
            <a:endParaRPr lang="en-US" sz="2000" dirty="0" smtClean="0"/>
          </a:p>
          <a:p>
            <a:r>
              <a:rPr lang="en-US" sz="2000" dirty="0" smtClean="0"/>
              <a:t>{ </a:t>
            </a:r>
            <a:endParaRPr lang="en-US" sz="2000" dirty="0"/>
          </a:p>
          <a:p>
            <a:r>
              <a:rPr lang="en-US" sz="2000" dirty="0"/>
              <a:t>static void </a:t>
            </a:r>
            <a:r>
              <a:rPr lang="en-US" sz="2000" dirty="0" err="1"/>
              <a:t>avg</a:t>
            </a:r>
            <a:r>
              <a:rPr lang="en-US" sz="2000" dirty="0"/>
              <a:t>() </a:t>
            </a:r>
          </a:p>
          <a:p>
            <a:r>
              <a:rPr lang="en-US" sz="2000" dirty="0"/>
              <a:t>{</a:t>
            </a:r>
          </a:p>
          <a:p>
            <a:r>
              <a:rPr lang="en-US" sz="2000" dirty="0"/>
              <a:t> try { throw new </a:t>
            </a:r>
            <a:r>
              <a:rPr lang="en-US" sz="2000" dirty="0" err="1"/>
              <a:t>ArithmeticException</a:t>
            </a:r>
            <a:r>
              <a:rPr lang="en-US" sz="2000" dirty="0"/>
              <a:t>("demo");</a:t>
            </a:r>
          </a:p>
          <a:p>
            <a:r>
              <a:rPr lang="en-US" sz="2000" dirty="0"/>
              <a:t> } </a:t>
            </a:r>
          </a:p>
          <a:p>
            <a:r>
              <a:rPr lang="en-US" sz="2000" dirty="0"/>
              <a:t>catch(</a:t>
            </a:r>
            <a:r>
              <a:rPr lang="en-US" sz="2000" dirty="0" err="1"/>
              <a:t>ArithmeticException</a:t>
            </a:r>
            <a:r>
              <a:rPr lang="en-US" sz="2000" dirty="0"/>
              <a:t> e)</a:t>
            </a:r>
          </a:p>
          <a:p>
            <a:r>
              <a:rPr lang="en-US" sz="2000" dirty="0"/>
              <a:t> { </a:t>
            </a:r>
            <a:r>
              <a:rPr lang="en-US" sz="2000" dirty="0" err="1"/>
              <a:t>System.out.println</a:t>
            </a:r>
            <a:r>
              <a:rPr lang="en-US" sz="2000" dirty="0"/>
              <a:t>("Exception caught"); } } </a:t>
            </a:r>
          </a:p>
          <a:p>
            <a:endParaRPr lang="en-US" sz="2000" dirty="0"/>
          </a:p>
          <a:p>
            <a:r>
              <a:rPr lang="en-US" sz="2000" dirty="0"/>
              <a:t>public static void main(String </a:t>
            </a:r>
            <a:r>
              <a:rPr lang="en-US" sz="2000" dirty="0" err="1"/>
              <a:t>args</a:t>
            </a:r>
            <a:r>
              <a:rPr lang="en-US" sz="2000" dirty="0"/>
              <a:t>[]) </a:t>
            </a:r>
          </a:p>
          <a:p>
            <a:r>
              <a:rPr lang="en-US" sz="2000" dirty="0"/>
              <a:t>{</a:t>
            </a:r>
          </a:p>
          <a:p>
            <a:r>
              <a:rPr lang="en-US" sz="2000" dirty="0"/>
              <a:t> </a:t>
            </a:r>
            <a:r>
              <a:rPr lang="en-US" sz="2000" dirty="0" err="1"/>
              <a:t>avg</a:t>
            </a:r>
            <a:r>
              <a:rPr lang="en-US" sz="2000" dirty="0"/>
              <a:t>();</a:t>
            </a:r>
          </a:p>
          <a:p>
            <a:r>
              <a:rPr lang="en-US" sz="2000" dirty="0"/>
              <a:t> }</a:t>
            </a:r>
          </a:p>
          <a:p>
            <a:r>
              <a:rPr lang="en-US" sz="2000" dirty="0"/>
              <a:t> }</a:t>
            </a:r>
          </a:p>
          <a:p>
            <a:endParaRPr lang="en-IN" sz="2000" dirty="0"/>
          </a:p>
        </p:txBody>
      </p:sp>
    </p:spTree>
    <p:extLst>
      <p:ext uri="{BB962C8B-B14F-4D97-AF65-F5344CB8AC3E}">
        <p14:creationId xmlns:p14="http://schemas.microsoft.com/office/powerpoint/2010/main" val="3025790284"/>
      </p:ext>
    </p:extLst>
  </p:cSld>
  <p:clrMapOvr>
    <a:masterClrMapping/>
  </p:clrMapOvr>
  <p:timing>
    <p:tnLst>
      <p:par>
        <p:cTn id="1" dur="indefinite" restart="never" nodeType="tmRoot"/>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p:cNvPicPr>
            <a:picLocks noChangeAspect="1" noChangeArrowheads="1"/>
          </p:cNvPicPr>
          <p:nvPr/>
        </p:nvPicPr>
        <p:blipFill>
          <a:blip r:embed="rId2"/>
          <a:srcRect/>
          <a:stretch>
            <a:fillRect/>
          </a:stretch>
        </p:blipFill>
        <p:spPr bwMode="auto">
          <a:xfrm>
            <a:off x="35340" y="1340768"/>
            <a:ext cx="9001156" cy="3562350"/>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p:cNvPicPr>
            <a:picLocks noChangeAspect="1" noChangeArrowheads="1"/>
          </p:cNvPicPr>
          <p:nvPr/>
        </p:nvPicPr>
        <p:blipFill>
          <a:blip r:embed="rId2"/>
          <a:srcRect/>
          <a:stretch>
            <a:fillRect/>
          </a:stretch>
        </p:blipFill>
        <p:spPr bwMode="auto">
          <a:xfrm>
            <a:off x="71406" y="1343038"/>
            <a:ext cx="8965090" cy="4894273"/>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5496" y="116632"/>
            <a:ext cx="8928992" cy="5355312"/>
          </a:xfrm>
          <a:prstGeom prst="rect">
            <a:avLst/>
          </a:prstGeom>
        </p:spPr>
        <p:txBody>
          <a:bodyPr wrap="square">
            <a:spAutoFit/>
          </a:bodyPr>
          <a:lstStyle/>
          <a:p>
            <a:r>
              <a:rPr lang="en-US" b="1" dirty="0" smtClean="0"/>
              <a:t>Custom Exceptions:</a:t>
            </a:r>
          </a:p>
          <a:p>
            <a:endParaRPr lang="en-US" b="1" dirty="0" smtClean="0"/>
          </a:p>
          <a:p>
            <a:endParaRPr lang="en-IN" dirty="0" smtClean="0"/>
          </a:p>
          <a:p>
            <a:r>
              <a:rPr lang="en-US" dirty="0" smtClean="0"/>
              <a:t>class </a:t>
            </a:r>
            <a:r>
              <a:rPr lang="en-US" dirty="0" err="1" smtClean="0"/>
              <a:t>MyException</a:t>
            </a:r>
            <a:r>
              <a:rPr lang="en-US" dirty="0" smtClean="0"/>
              <a:t> extends Exception</a:t>
            </a:r>
          </a:p>
          <a:p>
            <a:r>
              <a:rPr lang="en-US" dirty="0" smtClean="0"/>
              <a:t> { </a:t>
            </a:r>
          </a:p>
          <a:p>
            <a:r>
              <a:rPr lang="en-US" dirty="0" smtClean="0"/>
              <a:t>private </a:t>
            </a:r>
            <a:r>
              <a:rPr lang="en-US" dirty="0" err="1" smtClean="0"/>
              <a:t>int</a:t>
            </a:r>
            <a:r>
              <a:rPr lang="en-US" dirty="0" smtClean="0"/>
              <a:t> ex; </a:t>
            </a:r>
          </a:p>
          <a:p>
            <a:r>
              <a:rPr lang="en-US" dirty="0" err="1" smtClean="0"/>
              <a:t>MyException</a:t>
            </a:r>
            <a:r>
              <a:rPr lang="en-US" dirty="0" smtClean="0"/>
              <a:t>(</a:t>
            </a:r>
            <a:r>
              <a:rPr lang="en-US" dirty="0" err="1" smtClean="0"/>
              <a:t>int</a:t>
            </a:r>
            <a:r>
              <a:rPr lang="en-US" dirty="0" smtClean="0"/>
              <a:t> a) </a:t>
            </a:r>
          </a:p>
          <a:p>
            <a:r>
              <a:rPr lang="en-US" dirty="0" smtClean="0"/>
              <a:t>{ ex = a; } </a:t>
            </a:r>
          </a:p>
          <a:p>
            <a:r>
              <a:rPr lang="en-US" dirty="0" smtClean="0"/>
              <a:t>public String </a:t>
            </a:r>
            <a:r>
              <a:rPr lang="en-US" dirty="0" err="1" smtClean="0"/>
              <a:t>toString</a:t>
            </a:r>
            <a:r>
              <a:rPr lang="en-US" dirty="0" smtClean="0"/>
              <a:t>()</a:t>
            </a:r>
          </a:p>
          <a:p>
            <a:r>
              <a:rPr lang="en-US" dirty="0" smtClean="0"/>
              <a:t> { return "</a:t>
            </a:r>
            <a:r>
              <a:rPr lang="en-US" dirty="0" err="1" smtClean="0"/>
              <a:t>MyException</a:t>
            </a:r>
            <a:r>
              <a:rPr lang="en-US" dirty="0" smtClean="0"/>
              <a:t>[" + ex +"] is less than zero"; }</a:t>
            </a:r>
          </a:p>
          <a:p>
            <a:r>
              <a:rPr lang="en-US" dirty="0" smtClean="0"/>
              <a:t> } </a:t>
            </a:r>
          </a:p>
          <a:p>
            <a:r>
              <a:rPr lang="en-US" dirty="0" smtClean="0"/>
              <a:t>class Demo { </a:t>
            </a:r>
          </a:p>
          <a:p>
            <a:r>
              <a:rPr lang="en-US" dirty="0" smtClean="0"/>
              <a:t>static void sum(</a:t>
            </a:r>
            <a:r>
              <a:rPr lang="en-US" dirty="0" err="1" smtClean="0"/>
              <a:t>int</a:t>
            </a:r>
            <a:r>
              <a:rPr lang="en-US" dirty="0" smtClean="0"/>
              <a:t> </a:t>
            </a:r>
            <a:r>
              <a:rPr lang="en-US" dirty="0" err="1" smtClean="0"/>
              <a:t>a,int</a:t>
            </a:r>
            <a:r>
              <a:rPr lang="en-US" dirty="0" smtClean="0"/>
              <a:t> b) throws </a:t>
            </a:r>
            <a:r>
              <a:rPr lang="en-US" dirty="0" err="1" smtClean="0"/>
              <a:t>MyException</a:t>
            </a:r>
            <a:r>
              <a:rPr lang="en-US" dirty="0" smtClean="0"/>
              <a:t> {</a:t>
            </a:r>
          </a:p>
          <a:p>
            <a:r>
              <a:rPr lang="en-US" dirty="0" smtClean="0"/>
              <a:t> if(a&lt;0) { throw new </a:t>
            </a:r>
            <a:r>
              <a:rPr lang="en-US" dirty="0" err="1" smtClean="0"/>
              <a:t>MyException</a:t>
            </a:r>
            <a:r>
              <a:rPr lang="en-US" dirty="0" smtClean="0"/>
              <a:t>(a); //calling constructor of user-defined exception class } else { </a:t>
            </a:r>
            <a:r>
              <a:rPr lang="en-US" dirty="0" err="1" smtClean="0"/>
              <a:t>System.out.println</a:t>
            </a:r>
            <a:r>
              <a:rPr lang="en-US" dirty="0" smtClean="0"/>
              <a:t>(</a:t>
            </a:r>
            <a:r>
              <a:rPr lang="en-US" dirty="0" err="1" smtClean="0"/>
              <a:t>a+b</a:t>
            </a:r>
            <a:r>
              <a:rPr lang="en-US" dirty="0" smtClean="0"/>
              <a:t>); } } </a:t>
            </a:r>
          </a:p>
          <a:p>
            <a:r>
              <a:rPr lang="en-US" dirty="0" smtClean="0"/>
              <a:t>public static void main(String[] </a:t>
            </a:r>
            <a:r>
              <a:rPr lang="en-US" dirty="0" err="1" smtClean="0"/>
              <a:t>args</a:t>
            </a:r>
            <a:r>
              <a:rPr lang="en-US" dirty="0" smtClean="0"/>
              <a:t>) </a:t>
            </a:r>
          </a:p>
          <a:p>
            <a:r>
              <a:rPr lang="en-US" dirty="0" smtClean="0"/>
              <a:t>{ try { sum(-10, 10); } </a:t>
            </a:r>
          </a:p>
          <a:p>
            <a:r>
              <a:rPr lang="en-US" dirty="0" smtClean="0"/>
              <a:t>catch(</a:t>
            </a:r>
            <a:r>
              <a:rPr lang="en-US" dirty="0" err="1" smtClean="0"/>
              <a:t>MyException</a:t>
            </a:r>
            <a:r>
              <a:rPr lang="en-US" dirty="0" smtClean="0"/>
              <a:t> me) </a:t>
            </a:r>
          </a:p>
          <a:p>
            <a:r>
              <a:rPr lang="en-US" dirty="0" smtClean="0"/>
              <a:t>{ </a:t>
            </a:r>
            <a:r>
              <a:rPr lang="en-US" dirty="0" err="1" smtClean="0"/>
              <a:t>System.out.println</a:t>
            </a:r>
            <a:r>
              <a:rPr lang="en-US" dirty="0" smtClean="0"/>
              <a:t>(me); //it calls the </a:t>
            </a:r>
            <a:r>
              <a:rPr lang="en-US" dirty="0" err="1" smtClean="0"/>
              <a:t>toString</a:t>
            </a:r>
            <a:r>
              <a:rPr lang="en-US" dirty="0" smtClean="0"/>
              <a:t>() method of user-defined Exception } } }</a:t>
            </a:r>
          </a:p>
        </p:txBody>
      </p:sp>
    </p:spTree>
  </p:cSld>
  <p:clrMapOvr>
    <a:masterClrMapping/>
  </p:clrMapOvr>
  <p:timing>
    <p:tnLst>
      <p:par>
        <p:cTn id="1" dur="indefinite" restart="never" nodeType="tmRoot"/>
      </p:par>
    </p:tn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179512" y="260648"/>
            <a:ext cx="3530390" cy="523220"/>
          </a:xfrm>
          <a:prstGeom prst="rect">
            <a:avLst/>
          </a:prstGeom>
        </p:spPr>
        <p:txBody>
          <a:bodyPr wrap="none">
            <a:spAutoFit/>
          </a:bodyPr>
          <a:lstStyle/>
          <a:p>
            <a:r>
              <a:rPr lang="en-US" sz="2800" b="1" dirty="0" smtClean="0"/>
              <a:t> Collection Framework</a:t>
            </a:r>
            <a:endParaRPr lang="en-US" sz="2800" b="1" dirty="0"/>
          </a:p>
        </p:txBody>
      </p:sp>
      <p:sp>
        <p:nvSpPr>
          <p:cNvPr id="4" name="Rectangle 3"/>
          <p:cNvSpPr/>
          <p:nvPr/>
        </p:nvSpPr>
        <p:spPr>
          <a:xfrm>
            <a:off x="107504" y="1484784"/>
            <a:ext cx="9036496" cy="5016758"/>
          </a:xfrm>
          <a:prstGeom prst="rect">
            <a:avLst/>
          </a:prstGeom>
        </p:spPr>
        <p:txBody>
          <a:bodyPr wrap="square">
            <a:spAutoFit/>
          </a:bodyPr>
          <a:lstStyle/>
          <a:p>
            <a:r>
              <a:rPr lang="en-US" sz="2000" dirty="0" smtClean="0"/>
              <a:t>A collection is a group of objects. In Java, these objects are called elements of the collection.</a:t>
            </a:r>
          </a:p>
          <a:p>
            <a:r>
              <a:rPr lang="en-US" sz="2000" dirty="0" smtClean="0"/>
              <a:t>The Java Collections Framework is a collection of interfaces and classes which helps in storing and processing the data efficiently.</a:t>
            </a:r>
          </a:p>
          <a:p>
            <a:endParaRPr lang="en-US" sz="2000" dirty="0" smtClean="0"/>
          </a:p>
          <a:p>
            <a:r>
              <a:rPr lang="en-US" sz="2000" dirty="0" smtClean="0"/>
              <a:t>You can perform all operations such as searching, sorting, insertion, manipulation, deletion, etc., on Java collections just like you do it on data.</a:t>
            </a:r>
          </a:p>
          <a:p>
            <a:endParaRPr lang="en-IN" sz="2000" dirty="0" smtClean="0"/>
          </a:p>
          <a:p>
            <a:r>
              <a:rPr lang="en-US" sz="2000" dirty="0" smtClean="0"/>
              <a:t>A Java collection framework includes the following:</a:t>
            </a:r>
          </a:p>
          <a:p>
            <a:endParaRPr lang="en-US" sz="2000" dirty="0" smtClean="0"/>
          </a:p>
          <a:p>
            <a:pPr>
              <a:buFont typeface="Arial" pitchFamily="34" charset="0"/>
              <a:buChar char="•"/>
            </a:pPr>
            <a:r>
              <a:rPr lang="en-US" sz="2000" dirty="0" smtClean="0"/>
              <a:t>Interfaces</a:t>
            </a:r>
          </a:p>
          <a:p>
            <a:pPr>
              <a:buFont typeface="Arial" pitchFamily="34" charset="0"/>
              <a:buChar char="•"/>
            </a:pPr>
            <a:r>
              <a:rPr lang="en-US" sz="2000" dirty="0" smtClean="0"/>
              <a:t>Classes</a:t>
            </a:r>
          </a:p>
          <a:p>
            <a:pPr>
              <a:buFont typeface="Arial" pitchFamily="34" charset="0"/>
              <a:buChar char="•"/>
            </a:pPr>
            <a:r>
              <a:rPr lang="en-US" sz="2000" dirty="0" smtClean="0"/>
              <a:t>Algorithm</a:t>
            </a:r>
          </a:p>
          <a:p>
            <a:endParaRPr lang="en-US" sz="2000" dirty="0" smtClean="0"/>
          </a:p>
          <a:p>
            <a:endParaRPr lang="en-US" sz="2000" dirty="0" smtClean="0"/>
          </a:p>
          <a:p>
            <a:r>
              <a:rPr lang="en-US" sz="2000" dirty="0" smtClean="0"/>
              <a:t> </a:t>
            </a:r>
            <a:endParaRPr lang="en-US" sz="2000" dirty="0"/>
          </a:p>
        </p:txBody>
      </p:sp>
    </p:spTree>
  </p:cSld>
  <p:clrMapOvr>
    <a:masterClrMapping/>
  </p:clrMapOvr>
  <p:timing>
    <p:tnLst>
      <p:par>
        <p:cTn id="1" dur="indefinite" restart="never" nodeType="tmRoot"/>
      </p:par>
    </p:tn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51520" y="889844"/>
            <a:ext cx="8640960" cy="3477875"/>
          </a:xfrm>
          <a:prstGeom prst="rect">
            <a:avLst/>
          </a:prstGeom>
        </p:spPr>
        <p:txBody>
          <a:bodyPr wrap="square">
            <a:spAutoFit/>
          </a:bodyPr>
          <a:lstStyle/>
          <a:p>
            <a:r>
              <a:rPr lang="en-US" sz="2000" b="1" dirty="0" smtClean="0"/>
              <a:t>Interfaces</a:t>
            </a:r>
            <a:r>
              <a:rPr lang="en-US" sz="2000" dirty="0" smtClean="0"/>
              <a:t>: Interface in Java refers to the abstract data types. They allow Java collections to be manipulated independently from the details of their representation</a:t>
            </a:r>
          </a:p>
          <a:p>
            <a:endParaRPr lang="en-US" sz="2000" dirty="0" smtClean="0"/>
          </a:p>
          <a:p>
            <a:r>
              <a:rPr lang="en-US" sz="2000" b="1" dirty="0" smtClean="0"/>
              <a:t>Classes: </a:t>
            </a:r>
            <a:r>
              <a:rPr lang="en-US" sz="2000" dirty="0" smtClean="0"/>
              <a:t>Classes in Java are the implementation of the collection interface. It basically refers to the data structures that are used again and again.</a:t>
            </a:r>
          </a:p>
          <a:p>
            <a:endParaRPr lang="en-US" sz="2000" b="1" dirty="0" smtClean="0"/>
          </a:p>
          <a:p>
            <a:endParaRPr lang="en-US" sz="2000" b="1" dirty="0" smtClean="0"/>
          </a:p>
          <a:p>
            <a:r>
              <a:rPr lang="en-US" sz="2000" b="1" dirty="0" smtClean="0"/>
              <a:t>Algorithm:</a:t>
            </a:r>
            <a:r>
              <a:rPr lang="en-US" sz="2000" dirty="0" smtClean="0"/>
              <a:t> Algorithm refers to the methods which are used to perform operations such as searching and sorting, on objects that implement collection interfaces. </a:t>
            </a:r>
          </a:p>
        </p:txBody>
      </p:sp>
    </p:spTree>
  </p:cSld>
  <p:clrMapOvr>
    <a:masterClrMapping/>
  </p:clrMapOvr>
  <p:timing>
    <p:tnLst>
      <p:par>
        <p:cTn id="1" dur="indefinite" restart="never" nodeType="tmRoot"/>
      </p:par>
    </p:tn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51520" y="188640"/>
            <a:ext cx="8640960" cy="2400657"/>
          </a:xfrm>
          <a:prstGeom prst="rect">
            <a:avLst/>
          </a:prstGeom>
        </p:spPr>
        <p:txBody>
          <a:bodyPr wrap="square">
            <a:spAutoFit/>
          </a:bodyPr>
          <a:lstStyle/>
          <a:p>
            <a:r>
              <a:rPr lang="en-US" sz="2400" b="1" dirty="0" smtClean="0">
                <a:solidFill>
                  <a:srgbClr val="FF0000"/>
                </a:solidFill>
              </a:rPr>
              <a:t>What is Collection in Java</a:t>
            </a:r>
          </a:p>
          <a:p>
            <a:r>
              <a:rPr lang="en-US" sz="2400" dirty="0" smtClean="0"/>
              <a:t>A collection is a group of objects. In Java, these objects are called elements of the collection. Let’s understand it with some real time examples.</a:t>
            </a:r>
            <a:endParaRPr lang="en-IN" sz="2400" b="1" dirty="0" smtClean="0"/>
          </a:p>
          <a:p>
            <a:endParaRPr lang="en-US" b="1" dirty="0" smtClean="0"/>
          </a:p>
          <a:p>
            <a:r>
              <a:rPr lang="en-US" dirty="0" smtClean="0"/>
              <a:t/>
            </a:r>
            <a:br>
              <a:rPr lang="en-US" dirty="0" smtClean="0"/>
            </a:br>
            <a:endParaRPr lang="en-US" dirty="0"/>
          </a:p>
        </p:txBody>
      </p:sp>
      <p:pic>
        <p:nvPicPr>
          <p:cNvPr id="22530" name="Picture 2" descr="Realtime example of collection framework in Java"/>
          <p:cNvPicPr>
            <a:picLocks noChangeAspect="1" noChangeArrowheads="1"/>
          </p:cNvPicPr>
          <p:nvPr/>
        </p:nvPicPr>
        <p:blipFill>
          <a:blip r:embed="rId2" cstate="print"/>
          <a:srcRect/>
          <a:stretch>
            <a:fillRect/>
          </a:stretch>
        </p:blipFill>
        <p:spPr bwMode="auto">
          <a:xfrm>
            <a:off x="1403648" y="1772815"/>
            <a:ext cx="7344816" cy="5216265"/>
          </a:xfrm>
          <a:prstGeom prst="rect">
            <a:avLst/>
          </a:prstGeom>
          <a:noFill/>
        </p:spPr>
      </p:pic>
    </p:spTree>
    <p:extLst>
      <p:ext uri="{BB962C8B-B14F-4D97-AF65-F5344CB8AC3E}">
        <p14:creationId xmlns:p14="http://schemas.microsoft.com/office/powerpoint/2010/main" val="2549238015"/>
      </p:ext>
    </p:extLst>
  </p:cSld>
  <p:clrMapOvr>
    <a:masterClrMapping/>
  </p:clrMapOvr>
  <p:timing>
    <p:tnLst>
      <p:par>
        <p:cTn id="1" dur="indefinite" restart="never" nodeType="tmRoot"/>
      </p:par>
    </p:tn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34793" y="188640"/>
            <a:ext cx="8784976" cy="6001643"/>
          </a:xfrm>
          <a:prstGeom prst="rect">
            <a:avLst/>
          </a:prstGeom>
        </p:spPr>
        <p:txBody>
          <a:bodyPr wrap="square">
            <a:spAutoFit/>
          </a:bodyPr>
          <a:lstStyle/>
          <a:p>
            <a:pPr marL="342900" indent="-342900">
              <a:buAutoNum type="arabicPeriod"/>
            </a:pPr>
            <a:r>
              <a:rPr lang="en-US" sz="2400" dirty="0" smtClean="0"/>
              <a:t>In childhood, you had a kiddy bank. In the kiddy bank, you had collected a lot of coins. This kiddy bank is called collection and the coins are nothing but objects.</a:t>
            </a:r>
          </a:p>
          <a:p>
            <a:pPr marL="342900" indent="-342900"/>
            <a:endParaRPr lang="en-US" sz="2400" dirty="0" smtClean="0"/>
          </a:p>
          <a:p>
            <a:r>
              <a:rPr lang="en-US" sz="2400" dirty="0" smtClean="0"/>
              <a:t>2. During school time, you put all the important books in the school bag before going to school. Here Schoolbag is a collection and books are objects.</a:t>
            </a:r>
          </a:p>
          <a:p>
            <a:endParaRPr lang="en-US" sz="2400" dirty="0" smtClean="0"/>
          </a:p>
          <a:p>
            <a:endParaRPr lang="en-US" sz="2400" dirty="0" smtClean="0"/>
          </a:p>
          <a:p>
            <a:r>
              <a:rPr lang="en-US" sz="2400" dirty="0" smtClean="0"/>
              <a:t>3. A classroom is a collection of students. So, the classroom is nothing but a collection and students are objects.</a:t>
            </a:r>
          </a:p>
          <a:p>
            <a:endParaRPr lang="en-US" sz="2400" dirty="0" smtClean="0"/>
          </a:p>
          <a:p>
            <a:endParaRPr lang="en-US" sz="2400" dirty="0" smtClean="0"/>
          </a:p>
          <a:p>
            <a:r>
              <a:rPr lang="en-US" sz="2400" dirty="0" smtClean="0"/>
              <a:t>4. We know that the entire world is the collection of humans, animals, and different things. The world is a collection and humans, animals and different things are different objects.</a:t>
            </a:r>
            <a:endParaRPr lang="en-US" sz="2400" dirty="0"/>
          </a:p>
        </p:txBody>
      </p:sp>
    </p:spTree>
    <p:extLst>
      <p:ext uri="{BB962C8B-B14F-4D97-AF65-F5344CB8AC3E}">
        <p14:creationId xmlns:p14="http://schemas.microsoft.com/office/powerpoint/2010/main" val="1862419223"/>
      </p:ext>
    </p:extLst>
  </p:cSld>
  <p:clrMapOvr>
    <a:masterClrMapping/>
  </p:clrMapOvr>
  <p:timing>
    <p:tnLst>
      <p:par>
        <p:cTn id="1" dur="indefinite" restart="never" nodeType="tmRoot"/>
      </p:par>
    </p:tn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0051" y="116632"/>
            <a:ext cx="8784976" cy="3046988"/>
          </a:xfrm>
          <a:prstGeom prst="rect">
            <a:avLst/>
          </a:prstGeom>
        </p:spPr>
        <p:txBody>
          <a:bodyPr wrap="square">
            <a:spAutoFit/>
          </a:bodyPr>
          <a:lstStyle/>
          <a:p>
            <a:r>
              <a:rPr lang="en-US" sz="2400" dirty="0" smtClean="0"/>
              <a:t>Technically, a collection is an object or container which stores a group of other objects as a single unit or single entity. Therefore, it is also known as container object or collection object in java.</a:t>
            </a:r>
          </a:p>
          <a:p>
            <a:endParaRPr lang="en-US" sz="2400" dirty="0" smtClean="0"/>
          </a:p>
          <a:p>
            <a:r>
              <a:rPr lang="en-US" sz="2400" dirty="0" smtClean="0"/>
              <a:t>A container object means it contains other objects. In simple words, a collection is a container that stores multiple elements together.</a:t>
            </a:r>
          </a:p>
          <a:p>
            <a:endParaRPr lang="en-IN" sz="2400" dirty="0" smtClean="0"/>
          </a:p>
          <a:p>
            <a:endParaRPr lang="en-US" sz="2400" dirty="0"/>
          </a:p>
        </p:txBody>
      </p:sp>
      <p:pic>
        <p:nvPicPr>
          <p:cNvPr id="20482" name="Picture 2" descr="Collection Object"/>
          <p:cNvPicPr>
            <a:picLocks noChangeAspect="1" noChangeArrowheads="1"/>
          </p:cNvPicPr>
          <p:nvPr/>
        </p:nvPicPr>
        <p:blipFill>
          <a:blip r:embed="rId2" cstate="print"/>
          <a:srcRect/>
          <a:stretch>
            <a:fillRect/>
          </a:stretch>
        </p:blipFill>
        <p:spPr bwMode="auto">
          <a:xfrm>
            <a:off x="3255566" y="2348881"/>
            <a:ext cx="5776813" cy="4509120"/>
          </a:xfrm>
          <a:prstGeom prst="rect">
            <a:avLst/>
          </a:prstGeom>
          <a:noFill/>
        </p:spPr>
      </p:pic>
    </p:spTree>
    <p:extLst>
      <p:ext uri="{BB962C8B-B14F-4D97-AF65-F5344CB8AC3E}">
        <p14:creationId xmlns:p14="http://schemas.microsoft.com/office/powerpoint/2010/main" val="2243711814"/>
      </p:ext>
    </p:extLst>
  </p:cSld>
  <p:clrMapOvr>
    <a:masterClrMapping/>
  </p:clrMapOvr>
  <p:timing>
    <p:tnLst>
      <p:par>
        <p:cTn id="1" dur="indefinite" restart="never" nodeType="tmRoot"/>
      </p:par>
    </p:tn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07504" y="116632"/>
            <a:ext cx="9036496" cy="5940088"/>
          </a:xfrm>
          <a:prstGeom prst="rect">
            <a:avLst/>
          </a:prstGeom>
        </p:spPr>
        <p:txBody>
          <a:bodyPr wrap="square">
            <a:spAutoFit/>
          </a:bodyPr>
          <a:lstStyle/>
          <a:p>
            <a:r>
              <a:rPr lang="en-US" sz="2000" b="1" dirty="0" smtClean="0"/>
              <a:t>Types of Objects Stored in Collection (Container) Object</a:t>
            </a:r>
          </a:p>
          <a:p>
            <a:endParaRPr lang="en-IN" sz="2000" b="1" dirty="0" smtClean="0"/>
          </a:p>
          <a:p>
            <a:r>
              <a:rPr lang="en-US" sz="2000" dirty="0" smtClean="0"/>
              <a:t>There are two types of objects that can be stored in a collection or container object. </a:t>
            </a:r>
          </a:p>
          <a:p>
            <a:r>
              <a:rPr lang="en-US" sz="2000" b="1" dirty="0" smtClean="0"/>
              <a:t>1. Homogeneous objects:</a:t>
            </a:r>
            <a:endParaRPr lang="en-US" sz="2000" dirty="0" smtClean="0"/>
          </a:p>
          <a:p>
            <a:r>
              <a:rPr lang="en-US" sz="2000" dirty="0" smtClean="0"/>
              <a:t>Homo means same. Homogeneous objects are a group of multiple objects that belong to the same class.</a:t>
            </a:r>
          </a:p>
          <a:p>
            <a:endParaRPr lang="en-US" sz="2000" dirty="0" smtClean="0"/>
          </a:p>
          <a:p>
            <a:r>
              <a:rPr lang="en-US" sz="2000" dirty="0" smtClean="0"/>
              <a:t>For example, suppose we have created three objects Student s1, Student s2, and Student s3 of the same class ‘Student’. Since these three objects belong to the same class that’s why they are called homogeneous objects.</a:t>
            </a:r>
            <a:br>
              <a:rPr lang="en-US" sz="2000" dirty="0" smtClean="0"/>
            </a:br>
            <a:endParaRPr lang="en-US" sz="2000" dirty="0" smtClean="0"/>
          </a:p>
          <a:p>
            <a:r>
              <a:rPr lang="en-US" sz="2000" dirty="0" smtClean="0"/>
              <a:t/>
            </a:r>
            <a:br>
              <a:rPr lang="en-US" sz="2000" dirty="0" smtClean="0"/>
            </a:br>
            <a:r>
              <a:rPr lang="en-US" sz="2000" b="1" dirty="0" smtClean="0"/>
              <a:t>2. Heterogeneous </a:t>
            </a:r>
            <a:r>
              <a:rPr lang="en-US" sz="2000" b="1" dirty="0" err="1" smtClean="0"/>
              <a:t>objects:</a:t>
            </a:r>
            <a:r>
              <a:rPr lang="en-US" sz="2000" dirty="0" err="1" smtClean="0"/>
              <a:t>Hetero</a:t>
            </a:r>
            <a:r>
              <a:rPr lang="en-US" sz="2000" dirty="0" smtClean="0"/>
              <a:t> means different. Heterogeneous objects are a group of different objects that belong to different classes.</a:t>
            </a:r>
          </a:p>
          <a:p>
            <a:endParaRPr lang="en-US" sz="2000" dirty="0" smtClean="0"/>
          </a:p>
          <a:p>
            <a:r>
              <a:rPr lang="en-US" sz="2000" dirty="0" smtClean="0"/>
              <a:t>For example, suppose we have created two different objects of different classes such as one object Student s1 and another one object Employee e1. Here, student and employee objects together are called a collection of heterogeneous objects.</a:t>
            </a:r>
          </a:p>
          <a:p>
            <a:endParaRPr lang="en-US" sz="2000" b="1" dirty="0"/>
          </a:p>
        </p:txBody>
      </p:sp>
    </p:spTree>
    <p:extLst>
      <p:ext uri="{BB962C8B-B14F-4D97-AF65-F5344CB8AC3E}">
        <p14:creationId xmlns:p14="http://schemas.microsoft.com/office/powerpoint/2010/main" val="1402517943"/>
      </p:ext>
    </p:extLst>
  </p:cSld>
  <p:clrMapOvr>
    <a:masterClrMapping/>
  </p:clrMapOvr>
  <p:timing>
    <p:tnLst>
      <p:par>
        <p:cTn id="1" dur="indefinite" restart="never" nodeType="tmRoot"/>
      </p:par>
    </p:tn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316" name="Picture 4" descr="Collection Hierarchy in Java"/>
          <p:cNvPicPr>
            <a:picLocks noChangeAspect="1" noChangeArrowheads="1"/>
          </p:cNvPicPr>
          <p:nvPr/>
        </p:nvPicPr>
        <p:blipFill>
          <a:blip r:embed="rId2" cstate="print"/>
          <a:srcRect/>
          <a:stretch>
            <a:fillRect/>
          </a:stretch>
        </p:blipFill>
        <p:spPr bwMode="auto">
          <a:xfrm>
            <a:off x="179512" y="393201"/>
            <a:ext cx="8568952" cy="6434912"/>
          </a:xfrm>
          <a:prstGeom prst="rect">
            <a:avLst/>
          </a:prstGeom>
          <a:noFill/>
        </p:spPr>
      </p:pic>
      <p:sp>
        <p:nvSpPr>
          <p:cNvPr id="3" name="Rectangle 2"/>
          <p:cNvSpPr/>
          <p:nvPr/>
        </p:nvSpPr>
        <p:spPr>
          <a:xfrm>
            <a:off x="395536" y="0"/>
            <a:ext cx="2520242" cy="369332"/>
          </a:xfrm>
          <a:prstGeom prst="rect">
            <a:avLst/>
          </a:prstGeom>
        </p:spPr>
        <p:txBody>
          <a:bodyPr wrap="none">
            <a:spAutoFit/>
          </a:bodyPr>
          <a:lstStyle/>
          <a:p>
            <a:r>
              <a:rPr lang="en-US" b="1" dirty="0" smtClean="0"/>
              <a:t>Collection Hierarchy </a:t>
            </a:r>
            <a:endParaRPr lang="en-US" b="1" dirty="0"/>
          </a:p>
        </p:txBody>
      </p:sp>
    </p:spTree>
    <p:extLst>
      <p:ext uri="{BB962C8B-B14F-4D97-AF65-F5344CB8AC3E}">
        <p14:creationId xmlns:p14="http://schemas.microsoft.com/office/powerpoint/2010/main" val="942631373"/>
      </p:ext>
    </p:extLst>
  </p:cSld>
  <p:clrMapOvr>
    <a:masterClrMapping/>
  </p:clrMapOvr>
  <p:timing>
    <p:tnLst>
      <p:par>
        <p:cTn id="1" dur="indefinite" restart="never" nodeType="tmRoot"/>
      </p:par>
    </p:tn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1196752"/>
            <a:ext cx="9144000" cy="4154984"/>
          </a:xfrm>
          <a:prstGeom prst="rect">
            <a:avLst/>
          </a:prstGeom>
        </p:spPr>
        <p:txBody>
          <a:bodyPr wrap="square">
            <a:spAutoFit/>
          </a:bodyPr>
          <a:lstStyle/>
          <a:p>
            <a:r>
              <a:rPr lang="en-US" sz="2400" b="1" dirty="0" smtClean="0"/>
              <a:t>Difference between Arrays &amp; Collections in Java</a:t>
            </a:r>
          </a:p>
          <a:p>
            <a:r>
              <a:rPr lang="en-US" sz="2400" dirty="0" smtClean="0"/>
              <a:t/>
            </a:r>
            <a:br>
              <a:rPr lang="en-US" sz="2400" dirty="0" smtClean="0"/>
            </a:br>
            <a:r>
              <a:rPr lang="en-US" sz="2400" dirty="0" smtClean="0"/>
              <a:t>1. Arrays are fixed in size but collections are </a:t>
            </a:r>
            <a:r>
              <a:rPr lang="en-US" sz="2400" dirty="0" err="1" smtClean="0"/>
              <a:t>growable</a:t>
            </a:r>
            <a:r>
              <a:rPr lang="en-US" sz="2400" dirty="0" smtClean="0"/>
              <a:t> in nature. We can increase or decrease size.</a:t>
            </a:r>
          </a:p>
          <a:p>
            <a:r>
              <a:rPr lang="en-US" sz="2400" dirty="0" smtClean="0"/>
              <a:t>2. Arrays can store only homogeneous data elements (similar type of data) but collections can hold both homogeneous and heterogeneous elements.</a:t>
            </a:r>
          </a:p>
          <a:p>
            <a:r>
              <a:rPr lang="en-US" sz="2400" dirty="0" smtClean="0"/>
              <a:t>3. Arrays do not support any method but collections support various kinds of methods.</a:t>
            </a:r>
          </a:p>
          <a:p>
            <a:r>
              <a:rPr lang="en-US" sz="2400" dirty="0" smtClean="0"/>
              <a:t>4. Arrays can have both hold primitives and object types but collections can hold only objects but not primitive.</a:t>
            </a:r>
            <a:endParaRPr lang="en-US" sz="2400" dirty="0"/>
          </a:p>
        </p:txBody>
      </p:sp>
    </p:spTree>
    <p:extLst>
      <p:ext uri="{BB962C8B-B14F-4D97-AF65-F5344CB8AC3E}">
        <p14:creationId xmlns:p14="http://schemas.microsoft.com/office/powerpoint/2010/main" val="412986157"/>
      </p:ext>
    </p:extLst>
  </p:cSld>
  <p:clrMapOvr>
    <a:masterClrMapping/>
  </p:clrMapOvr>
  <p:timing>
    <p:tnLst>
      <p:par>
        <p:cTn id="1" dur="indefinite" restart="never" nodeType="tmRoot"/>
      </p:par>
    </p:tn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07504" y="404664"/>
            <a:ext cx="8856984" cy="6370975"/>
          </a:xfrm>
          <a:prstGeom prst="rect">
            <a:avLst/>
          </a:prstGeom>
        </p:spPr>
        <p:txBody>
          <a:bodyPr wrap="square">
            <a:spAutoFit/>
          </a:bodyPr>
          <a:lstStyle/>
          <a:p>
            <a:r>
              <a:rPr lang="en-US" sz="2400" b="1" dirty="0" smtClean="0"/>
              <a:t>Collection Interface in Java</a:t>
            </a:r>
          </a:p>
          <a:p>
            <a:endParaRPr lang="en-IN" sz="2400" b="1" dirty="0" smtClean="0"/>
          </a:p>
          <a:p>
            <a:endParaRPr lang="en-IN" sz="2400" b="1" dirty="0" smtClean="0"/>
          </a:p>
          <a:p>
            <a:r>
              <a:rPr lang="en-US" sz="2400" dirty="0" smtClean="0"/>
              <a:t>The basic interface of the collections framework is the Collection interface which is the root interface of all collections in the API (Application programming interface).</a:t>
            </a:r>
          </a:p>
          <a:p>
            <a:endParaRPr lang="en-IN" sz="2400" b="1" dirty="0" smtClean="0"/>
          </a:p>
          <a:p>
            <a:r>
              <a:rPr lang="en-US" sz="2400" dirty="0" smtClean="0"/>
              <a:t> The Collection interface extends the </a:t>
            </a:r>
            <a:r>
              <a:rPr lang="en-US" sz="2400" dirty="0" err="1" smtClean="0"/>
              <a:t>Iterable</a:t>
            </a:r>
            <a:r>
              <a:rPr lang="en-US" sz="2400" dirty="0" smtClean="0"/>
              <a:t> interface. The </a:t>
            </a:r>
            <a:r>
              <a:rPr lang="en-US" sz="2400" dirty="0" err="1" smtClean="0"/>
              <a:t>iterable</a:t>
            </a:r>
            <a:r>
              <a:rPr lang="en-US" sz="2400" dirty="0" smtClean="0"/>
              <a:t> interface has only one method called </a:t>
            </a:r>
            <a:r>
              <a:rPr lang="en-US" sz="2400" dirty="0" err="1" smtClean="0"/>
              <a:t>iterator</a:t>
            </a:r>
            <a:r>
              <a:rPr lang="en-US" sz="2400" dirty="0" smtClean="0"/>
              <a:t>(). </a:t>
            </a:r>
          </a:p>
          <a:p>
            <a:endParaRPr lang="en-US" sz="2400" dirty="0" smtClean="0"/>
          </a:p>
          <a:p>
            <a:r>
              <a:rPr lang="en-US" sz="2400" dirty="0" smtClean="0"/>
              <a:t>The function of the </a:t>
            </a:r>
            <a:r>
              <a:rPr lang="en-US" sz="2400" dirty="0" err="1" smtClean="0"/>
              <a:t>iterator</a:t>
            </a:r>
            <a:r>
              <a:rPr lang="en-US" sz="2400" dirty="0" smtClean="0"/>
              <a:t> method is to return the </a:t>
            </a:r>
            <a:r>
              <a:rPr lang="en-US" sz="2400" dirty="0" err="1" smtClean="0"/>
              <a:t>iterator</a:t>
            </a:r>
            <a:r>
              <a:rPr lang="en-US" sz="2400" dirty="0" smtClean="0"/>
              <a:t> object. </a:t>
            </a:r>
          </a:p>
          <a:p>
            <a:r>
              <a:rPr lang="en-US" sz="2400" dirty="0" smtClean="0"/>
              <a:t>Using this </a:t>
            </a:r>
            <a:r>
              <a:rPr lang="en-US" sz="2400" dirty="0" err="1" smtClean="0"/>
              <a:t>iterator</a:t>
            </a:r>
            <a:r>
              <a:rPr lang="en-US" sz="2400" dirty="0" smtClean="0"/>
              <a:t> object, we can iterate over the elements of the collection.</a:t>
            </a:r>
          </a:p>
          <a:p>
            <a:endParaRPr lang="en-US" sz="2400" dirty="0" smtClean="0"/>
          </a:p>
          <a:p>
            <a:r>
              <a:rPr lang="en-US" sz="2400" dirty="0" smtClean="0"/>
              <a:t> </a:t>
            </a:r>
            <a:r>
              <a:rPr lang="en-US" sz="2400" dirty="0" smtClean="0">
                <a:solidFill>
                  <a:srgbClr val="0070C0"/>
                </a:solidFill>
              </a:rPr>
              <a:t>List, Queue, and Set,</a:t>
            </a:r>
            <a:r>
              <a:rPr lang="en-US" sz="2400" dirty="0" smtClean="0"/>
              <a:t> have three component which extends the Collection interface. A </a:t>
            </a:r>
            <a:r>
              <a:rPr lang="en-US" sz="2400" dirty="0" smtClean="0">
                <a:solidFill>
                  <a:srgbClr val="0070C0"/>
                </a:solidFill>
              </a:rPr>
              <a:t>map </a:t>
            </a:r>
            <a:r>
              <a:rPr lang="en-US" sz="2400" dirty="0" smtClean="0"/>
              <a:t>is not inherited by Collection interface.</a:t>
            </a:r>
          </a:p>
          <a:p>
            <a:endParaRPr lang="en-US" sz="2400" b="1" dirty="0"/>
          </a:p>
        </p:txBody>
      </p:sp>
    </p:spTree>
    <p:extLst>
      <p:ext uri="{BB962C8B-B14F-4D97-AF65-F5344CB8AC3E}">
        <p14:creationId xmlns:p14="http://schemas.microsoft.com/office/powerpoint/2010/main" val="2045442940"/>
      </p:ext>
    </p:extLst>
  </p:cSld>
  <p:clrMapOvr>
    <a:masterClrMapping/>
  </p:clrMapOvr>
  <p:timing>
    <p:tnLst>
      <p:par>
        <p:cTn id="1" dur="indefinite" restart="never" nodeType="tmRoot"/>
      </p:par>
    </p:tn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79512" y="260648"/>
            <a:ext cx="8856984" cy="5632311"/>
          </a:xfrm>
          <a:prstGeom prst="rect">
            <a:avLst/>
          </a:prstGeom>
        </p:spPr>
        <p:txBody>
          <a:bodyPr wrap="square">
            <a:spAutoFit/>
          </a:bodyPr>
          <a:lstStyle/>
          <a:p>
            <a:r>
              <a:rPr lang="en-US" sz="2400" b="1" dirty="0" smtClean="0"/>
              <a:t>List Interface</a:t>
            </a:r>
          </a:p>
          <a:p>
            <a:endParaRPr lang="en-IN" sz="2400" b="1" dirty="0" smtClean="0"/>
          </a:p>
          <a:p>
            <a:r>
              <a:rPr lang="en-US" sz="2400" dirty="0" smtClean="0"/>
              <a:t>This interface represents a collection of elements whose elements are arranged sequentially ordered.</a:t>
            </a:r>
          </a:p>
          <a:p>
            <a:endParaRPr lang="en-US" sz="2400" dirty="0" smtClean="0"/>
          </a:p>
          <a:p>
            <a:r>
              <a:rPr lang="en-US" sz="2400" dirty="0" smtClean="0"/>
              <a:t>List maintains an order of elements means the order is retained in which we add elements, and the same sequence we will get while retrieving elements.</a:t>
            </a:r>
          </a:p>
          <a:p>
            <a:endParaRPr lang="en-US" sz="2400" dirty="0" smtClean="0"/>
          </a:p>
          <a:p>
            <a:r>
              <a:rPr lang="en-US" sz="2400" dirty="0" smtClean="0"/>
              <a:t> We can insert elements into the list at any location. The list allows storing duplicate elements in Java.</a:t>
            </a:r>
          </a:p>
          <a:p>
            <a:endParaRPr lang="en-US" sz="2400" dirty="0" smtClean="0"/>
          </a:p>
          <a:p>
            <a:r>
              <a:rPr lang="en-US" sz="2400" dirty="0" smtClean="0"/>
              <a:t> </a:t>
            </a:r>
            <a:r>
              <a:rPr lang="en-US" sz="2400" dirty="0" err="1" smtClean="0">
                <a:solidFill>
                  <a:srgbClr val="0070C0"/>
                </a:solidFill>
              </a:rPr>
              <a:t>ArrayList</a:t>
            </a:r>
            <a:r>
              <a:rPr lang="en-US" sz="2400" dirty="0" smtClean="0">
                <a:solidFill>
                  <a:srgbClr val="0070C0"/>
                </a:solidFill>
              </a:rPr>
              <a:t>, vector, and </a:t>
            </a:r>
            <a:r>
              <a:rPr lang="en-US" sz="2400" dirty="0" err="1" smtClean="0">
                <a:solidFill>
                  <a:srgbClr val="0070C0"/>
                </a:solidFill>
              </a:rPr>
              <a:t>LinkedList</a:t>
            </a:r>
            <a:r>
              <a:rPr lang="en-US" sz="2400" dirty="0" smtClean="0">
                <a:solidFill>
                  <a:srgbClr val="0070C0"/>
                </a:solidFill>
              </a:rPr>
              <a:t> </a:t>
            </a:r>
            <a:r>
              <a:rPr lang="en-US" sz="2400" dirty="0" smtClean="0"/>
              <a:t>are three concrete subclasses that implement the list interface.</a:t>
            </a:r>
          </a:p>
          <a:p>
            <a:endParaRPr lang="en-US" sz="2400" dirty="0"/>
          </a:p>
        </p:txBody>
      </p:sp>
    </p:spTree>
    <p:extLst>
      <p:ext uri="{BB962C8B-B14F-4D97-AF65-F5344CB8AC3E}">
        <p14:creationId xmlns:p14="http://schemas.microsoft.com/office/powerpoint/2010/main" val="1308025766"/>
      </p:ext>
    </p:extLst>
  </p:cSld>
  <p:clrMapOvr>
    <a:masterClrMapping/>
  </p:clrMapOvr>
  <p:timing>
    <p:tnLst>
      <p:par>
        <p:cTn id="1" dur="indefinite" restart="never" nodeType="tmRoot"/>
      </p:par>
    </p:tn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07504" y="332656"/>
            <a:ext cx="8928992" cy="5262979"/>
          </a:xfrm>
          <a:prstGeom prst="rect">
            <a:avLst/>
          </a:prstGeom>
        </p:spPr>
        <p:txBody>
          <a:bodyPr wrap="square">
            <a:spAutoFit/>
          </a:bodyPr>
          <a:lstStyle/>
          <a:p>
            <a:r>
              <a:rPr lang="en-US" sz="2400" b="1" dirty="0" smtClean="0"/>
              <a:t>Set Interface</a:t>
            </a:r>
          </a:p>
          <a:p>
            <a:endParaRPr lang="en-US" sz="2400" dirty="0" smtClean="0"/>
          </a:p>
          <a:p>
            <a:r>
              <a:rPr lang="en-US" sz="2400" dirty="0" smtClean="0"/>
              <a:t> This interface represents a collection of elements that contains unique elements. </a:t>
            </a:r>
            <a:r>
              <a:rPr lang="en-US" sz="2400" dirty="0" err="1" smtClean="0"/>
              <a:t>i.e</a:t>
            </a:r>
            <a:r>
              <a:rPr lang="en-US" sz="2400" dirty="0" smtClean="0"/>
              <a:t>, It is used to store the collection of unique elements.</a:t>
            </a:r>
          </a:p>
          <a:p>
            <a:endParaRPr lang="en-US" sz="2400" dirty="0" smtClean="0"/>
          </a:p>
          <a:p>
            <a:r>
              <a:rPr lang="en-US" sz="2400" dirty="0" smtClean="0"/>
              <a:t> Set interface does not maintain any order while storing elements and while retrieving, we may not get the same order as we put elements.  All the elements in a set can be in any order.</a:t>
            </a:r>
          </a:p>
          <a:p>
            <a:r>
              <a:rPr lang="en-US" sz="2400" dirty="0" smtClean="0"/>
              <a:t> </a:t>
            </a:r>
          </a:p>
          <a:p>
            <a:r>
              <a:rPr lang="en-US" sz="2400" dirty="0" smtClean="0"/>
              <a:t>Set does not allow any duplicate elements.</a:t>
            </a:r>
          </a:p>
          <a:p>
            <a:endParaRPr lang="en-IN" sz="2400" dirty="0" smtClean="0"/>
          </a:p>
          <a:p>
            <a:r>
              <a:rPr lang="en-US" sz="2400" dirty="0" err="1" smtClean="0"/>
              <a:t>HashSet</a:t>
            </a:r>
            <a:r>
              <a:rPr lang="en-US" sz="2400" dirty="0" smtClean="0"/>
              <a:t>, </a:t>
            </a:r>
            <a:r>
              <a:rPr lang="en-US" sz="2400" dirty="0" err="1" smtClean="0"/>
              <a:t>LinkedHashSet</a:t>
            </a:r>
            <a:r>
              <a:rPr lang="en-US" sz="2400" dirty="0" smtClean="0"/>
              <a:t>, </a:t>
            </a:r>
            <a:r>
              <a:rPr lang="en-US" sz="2400" dirty="0" err="1" smtClean="0"/>
              <a:t>TreeSet</a:t>
            </a:r>
            <a:r>
              <a:rPr lang="en-US" sz="2400" dirty="0" smtClean="0"/>
              <a:t> classes implements the set interface and sorted interface extends a set interface.</a:t>
            </a:r>
            <a:endParaRPr lang="en-US" sz="2400" dirty="0"/>
          </a:p>
        </p:txBody>
      </p:sp>
    </p:spTree>
    <p:extLst>
      <p:ext uri="{BB962C8B-B14F-4D97-AF65-F5344CB8AC3E}">
        <p14:creationId xmlns:p14="http://schemas.microsoft.com/office/powerpoint/2010/main" val="1645622266"/>
      </p:ext>
    </p:extLst>
  </p:cSld>
  <p:clrMapOvr>
    <a:masterClrMapping/>
  </p:clrMapOvr>
  <p:timing>
    <p:tnLst>
      <p:par>
        <p:cTn id="1" dur="indefinite" restart="never" nodeType="tmRoot"/>
      </p:par>
    </p:tn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60386" y="148568"/>
            <a:ext cx="8976109" cy="1938992"/>
          </a:xfrm>
          <a:prstGeom prst="rect">
            <a:avLst/>
          </a:prstGeom>
        </p:spPr>
        <p:txBody>
          <a:bodyPr wrap="square">
            <a:spAutoFit/>
          </a:bodyPr>
          <a:lstStyle/>
          <a:p>
            <a:r>
              <a:rPr lang="en-US" sz="2400" b="1" dirty="0" smtClean="0"/>
              <a:t>Map Interface</a:t>
            </a:r>
            <a:endParaRPr lang="en-US" sz="2400" dirty="0" smtClean="0"/>
          </a:p>
          <a:p>
            <a:endParaRPr lang="en-US" sz="2400" dirty="0" smtClean="0"/>
          </a:p>
          <a:p>
            <a:r>
              <a:rPr lang="en-US" sz="2400" dirty="0" smtClean="0"/>
              <a:t> Map interface is not inherited by the collection interface. It represents an object that stores and retrieves elements in the form of a Key/Value pairs and their location within the Map are determined by a Key.</a:t>
            </a:r>
            <a:endParaRPr lang="en-US" sz="2400" dirty="0"/>
          </a:p>
        </p:txBody>
      </p:sp>
      <p:pic>
        <p:nvPicPr>
          <p:cNvPr id="5122" name="Picture 2" descr="Map hierarchy in Java"/>
          <p:cNvPicPr>
            <a:picLocks noChangeAspect="1" noChangeArrowheads="1"/>
          </p:cNvPicPr>
          <p:nvPr/>
        </p:nvPicPr>
        <p:blipFill>
          <a:blip r:embed="rId2" cstate="print"/>
          <a:srcRect/>
          <a:stretch>
            <a:fillRect/>
          </a:stretch>
        </p:blipFill>
        <p:spPr bwMode="auto">
          <a:xfrm>
            <a:off x="4572000" y="2636912"/>
            <a:ext cx="4619625" cy="4104456"/>
          </a:xfrm>
          <a:prstGeom prst="rect">
            <a:avLst/>
          </a:prstGeom>
          <a:noFill/>
        </p:spPr>
      </p:pic>
      <p:sp>
        <p:nvSpPr>
          <p:cNvPr id="4" name="Rectangle 3"/>
          <p:cNvSpPr/>
          <p:nvPr/>
        </p:nvSpPr>
        <p:spPr>
          <a:xfrm>
            <a:off x="35496" y="2636912"/>
            <a:ext cx="4572000" cy="3785652"/>
          </a:xfrm>
          <a:prstGeom prst="rect">
            <a:avLst/>
          </a:prstGeom>
        </p:spPr>
        <p:txBody>
          <a:bodyPr>
            <a:spAutoFit/>
          </a:bodyPr>
          <a:lstStyle/>
          <a:p>
            <a:r>
              <a:rPr lang="en-US" sz="2400" b="1" dirty="0" smtClean="0"/>
              <a:t>Map </a:t>
            </a:r>
            <a:r>
              <a:rPr lang="en-US" sz="2400" dirty="0" smtClean="0"/>
              <a:t>uses a hashing technique for storing </a:t>
            </a:r>
            <a:r>
              <a:rPr lang="en-US" sz="2400" b="1" dirty="0" smtClean="0"/>
              <a:t>key-value</a:t>
            </a:r>
            <a:r>
              <a:rPr lang="en-US" sz="2400" dirty="0" smtClean="0"/>
              <a:t> pairs.</a:t>
            </a:r>
          </a:p>
          <a:p>
            <a:endParaRPr lang="en-US" sz="2400" dirty="0" smtClean="0"/>
          </a:p>
          <a:p>
            <a:r>
              <a:rPr lang="en-US" sz="2400" dirty="0" smtClean="0"/>
              <a:t> It doesn’t allow to store the duplicate keys but duplicate values are allowed.</a:t>
            </a:r>
          </a:p>
          <a:p>
            <a:endParaRPr lang="en-US" sz="2400" dirty="0" smtClean="0"/>
          </a:p>
          <a:p>
            <a:r>
              <a:rPr lang="en-US" sz="2400" dirty="0" smtClean="0"/>
              <a:t> </a:t>
            </a:r>
            <a:r>
              <a:rPr lang="en-US" sz="2400" dirty="0" err="1" smtClean="0"/>
              <a:t>HashMap</a:t>
            </a:r>
            <a:r>
              <a:rPr lang="en-US" sz="2400" dirty="0" smtClean="0"/>
              <a:t>, </a:t>
            </a:r>
            <a:r>
              <a:rPr lang="en-US" sz="2400" dirty="0" err="1" smtClean="0"/>
              <a:t>HashTable</a:t>
            </a:r>
            <a:r>
              <a:rPr lang="en-US" sz="2400" dirty="0" smtClean="0"/>
              <a:t>, </a:t>
            </a:r>
            <a:r>
              <a:rPr lang="en-US" sz="2400" dirty="0" err="1" smtClean="0"/>
              <a:t>LinkedHashMap</a:t>
            </a:r>
            <a:r>
              <a:rPr lang="en-US" sz="2400" dirty="0" smtClean="0"/>
              <a:t>, </a:t>
            </a:r>
            <a:r>
              <a:rPr lang="en-US" sz="2400" dirty="0" err="1" smtClean="0"/>
              <a:t>TreeMap</a:t>
            </a:r>
            <a:r>
              <a:rPr lang="en-US" sz="2400" dirty="0" smtClean="0"/>
              <a:t> classes implements Map interface.</a:t>
            </a:r>
            <a:endParaRPr lang="en-US" sz="2400" dirty="0"/>
          </a:p>
        </p:txBody>
      </p:sp>
    </p:spTree>
    <p:extLst>
      <p:ext uri="{BB962C8B-B14F-4D97-AF65-F5344CB8AC3E}">
        <p14:creationId xmlns:p14="http://schemas.microsoft.com/office/powerpoint/2010/main" val="2748638032"/>
      </p:ext>
    </p:extLst>
  </p:cSld>
  <p:clrMapOvr>
    <a:masterClrMapping/>
  </p:clrMapOvr>
  <p:timing>
    <p:tnLst>
      <p:par>
        <p:cTn id="1" dur="indefinite" restart="never" nodeType="tmRoot"/>
      </p:par>
    </p:tn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476672"/>
            <a:ext cx="9036496" cy="5632311"/>
          </a:xfrm>
          <a:prstGeom prst="rect">
            <a:avLst/>
          </a:prstGeom>
        </p:spPr>
        <p:txBody>
          <a:bodyPr wrap="square">
            <a:spAutoFit/>
          </a:bodyPr>
          <a:lstStyle/>
          <a:p>
            <a:r>
              <a:rPr lang="en-US" sz="2000" b="1" dirty="0" smtClean="0"/>
              <a:t>Methods of Collection Interface </a:t>
            </a:r>
          </a:p>
          <a:p>
            <a:endParaRPr lang="en-IN" sz="2000" b="1" dirty="0" smtClean="0"/>
          </a:p>
          <a:p>
            <a:endParaRPr lang="en-IN" sz="2000" b="1" dirty="0" smtClean="0"/>
          </a:p>
          <a:p>
            <a:r>
              <a:rPr lang="en-US" sz="2000" dirty="0" smtClean="0"/>
              <a:t>1. </a:t>
            </a:r>
            <a:r>
              <a:rPr lang="en-US" sz="2000" b="1" dirty="0" smtClean="0"/>
              <a:t>add():</a:t>
            </a:r>
            <a:r>
              <a:rPr lang="en-US" sz="2000" dirty="0" smtClean="0"/>
              <a:t> This method is used to add or insert an element in the collection.</a:t>
            </a:r>
          </a:p>
          <a:p>
            <a:endParaRPr lang="en-US" sz="2000" dirty="0" smtClean="0"/>
          </a:p>
          <a:p>
            <a:r>
              <a:rPr lang="en-US" sz="2000" dirty="0" smtClean="0"/>
              <a:t>2. </a:t>
            </a:r>
            <a:r>
              <a:rPr lang="en-US" sz="2000" b="1" dirty="0" err="1" smtClean="0"/>
              <a:t>addAll</a:t>
            </a:r>
            <a:r>
              <a:rPr lang="en-US" sz="2000" b="1" dirty="0" smtClean="0"/>
              <a:t>():</a:t>
            </a:r>
            <a:r>
              <a:rPr lang="en-US" sz="2000" dirty="0" smtClean="0"/>
              <a:t> This method adds a collection of elements to the collection.</a:t>
            </a:r>
          </a:p>
          <a:p>
            <a:endParaRPr lang="en-US" sz="2000" dirty="0" smtClean="0"/>
          </a:p>
          <a:p>
            <a:r>
              <a:rPr lang="en-US" sz="2000" dirty="0" smtClean="0"/>
              <a:t>3. </a:t>
            </a:r>
            <a:r>
              <a:rPr lang="en-US" sz="2000" b="1" dirty="0" smtClean="0"/>
              <a:t>clear():</a:t>
            </a:r>
            <a:r>
              <a:rPr lang="en-US" sz="2000" dirty="0" smtClean="0"/>
              <a:t> This method clears or removes all the elements from the collection.</a:t>
            </a:r>
          </a:p>
          <a:p>
            <a:endParaRPr lang="en-US" sz="2000" dirty="0" smtClean="0"/>
          </a:p>
          <a:p>
            <a:r>
              <a:rPr lang="en-US" sz="2000" dirty="0" smtClean="0"/>
              <a:t>4. </a:t>
            </a:r>
            <a:r>
              <a:rPr lang="en-US" sz="2000" b="1" dirty="0" smtClean="0"/>
              <a:t>contains():</a:t>
            </a:r>
            <a:r>
              <a:rPr lang="en-US" sz="2000" dirty="0" smtClean="0"/>
              <a:t> It checks that element is present or not in a collection.</a:t>
            </a:r>
          </a:p>
          <a:p>
            <a:endParaRPr lang="en-US" sz="2000" dirty="0" smtClean="0"/>
          </a:p>
          <a:p>
            <a:r>
              <a:rPr lang="en-US" sz="2000" dirty="0" smtClean="0"/>
              <a:t>5. </a:t>
            </a:r>
            <a:r>
              <a:rPr lang="en-US" sz="2000" b="1" dirty="0" err="1" smtClean="0"/>
              <a:t>isEmpty</a:t>
            </a:r>
            <a:r>
              <a:rPr lang="en-US" sz="2000" b="1" dirty="0" smtClean="0"/>
              <a:t>():</a:t>
            </a:r>
            <a:r>
              <a:rPr lang="en-US" sz="2000" dirty="0" smtClean="0"/>
              <a:t> It returns true if a collection is empty. </a:t>
            </a:r>
          </a:p>
          <a:p>
            <a:endParaRPr lang="en-US" sz="2000" dirty="0" smtClean="0"/>
          </a:p>
          <a:p>
            <a:r>
              <a:rPr lang="en-US" sz="2000" dirty="0" smtClean="0"/>
              <a:t>6. </a:t>
            </a:r>
            <a:r>
              <a:rPr lang="en-US" sz="2000" b="1" dirty="0" smtClean="0"/>
              <a:t>remove():</a:t>
            </a:r>
            <a:r>
              <a:rPr lang="en-US" sz="2000" dirty="0" smtClean="0"/>
              <a:t> It removes a specified element from the collection.</a:t>
            </a:r>
          </a:p>
          <a:p>
            <a:endParaRPr lang="en-IN" sz="2000" b="1" dirty="0" smtClean="0"/>
          </a:p>
          <a:p>
            <a:r>
              <a:rPr lang="en-IN" sz="2000" b="1" dirty="0" smtClean="0"/>
              <a:t>7. </a:t>
            </a:r>
            <a:r>
              <a:rPr lang="en-US" sz="2000" b="1" dirty="0" smtClean="0"/>
              <a:t>size():</a:t>
            </a:r>
            <a:r>
              <a:rPr lang="en-US" sz="2000" dirty="0" smtClean="0"/>
              <a:t> The size() method returns the total number of elements in the collection</a:t>
            </a:r>
          </a:p>
          <a:p>
            <a:endParaRPr lang="en-IN" sz="2000" b="1" dirty="0" smtClean="0"/>
          </a:p>
          <a:p>
            <a:endParaRPr lang="en-US" sz="2000" b="1" dirty="0"/>
          </a:p>
        </p:txBody>
      </p:sp>
    </p:spTree>
    <p:extLst>
      <p:ext uri="{BB962C8B-B14F-4D97-AF65-F5344CB8AC3E}">
        <p14:creationId xmlns:p14="http://schemas.microsoft.com/office/powerpoint/2010/main" val="30546374"/>
      </p:ext>
    </p:extLst>
  </p:cSld>
  <p:clrMapOvr>
    <a:masterClrMapping/>
  </p:clrMapOvr>
  <p:timing>
    <p:tnLst>
      <p:par>
        <p:cTn id="1" dur="indefinite" restart="never" nodeType="tmRoot"/>
      </p:par>
    </p:tn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79512" y="188640"/>
            <a:ext cx="8712968" cy="1015663"/>
          </a:xfrm>
          <a:prstGeom prst="rect">
            <a:avLst/>
          </a:prstGeom>
        </p:spPr>
        <p:txBody>
          <a:bodyPr wrap="square">
            <a:spAutoFit/>
          </a:bodyPr>
          <a:lstStyle/>
          <a:p>
            <a:r>
              <a:rPr lang="en-US" sz="2000" b="1" dirty="0" smtClean="0"/>
              <a:t>Array list:</a:t>
            </a:r>
            <a:r>
              <a:rPr lang="en-US" sz="2000" dirty="0" smtClean="0"/>
              <a:t> </a:t>
            </a:r>
            <a:r>
              <a:rPr lang="en-US" sz="2000" dirty="0" err="1" smtClean="0"/>
              <a:t>ArrayList</a:t>
            </a:r>
            <a:r>
              <a:rPr lang="en-US" sz="2000" dirty="0" smtClean="0"/>
              <a:t> is the implementation of List Interface where the elements can be dynamically added or removed from the list. Also, the size of the list is increased dynamically if the elements are added more than the initial size. </a:t>
            </a:r>
            <a:endParaRPr lang="en-US" sz="2000" dirty="0"/>
          </a:p>
        </p:txBody>
      </p:sp>
      <p:pic>
        <p:nvPicPr>
          <p:cNvPr id="78850" name="Picture 2" descr="Arraylist - Java Collections - Edureka"/>
          <p:cNvPicPr>
            <a:picLocks noChangeAspect="1" noChangeArrowheads="1"/>
          </p:cNvPicPr>
          <p:nvPr/>
        </p:nvPicPr>
        <p:blipFill>
          <a:blip r:embed="rId2" cstate="print"/>
          <a:srcRect/>
          <a:stretch>
            <a:fillRect/>
          </a:stretch>
        </p:blipFill>
        <p:spPr bwMode="auto">
          <a:xfrm>
            <a:off x="539552" y="2132856"/>
            <a:ext cx="7010400" cy="4381501"/>
          </a:xfrm>
          <a:prstGeom prst="rect">
            <a:avLst/>
          </a:prstGeom>
          <a:noFill/>
        </p:spPr>
      </p:pic>
    </p:spTree>
    <p:extLst>
      <p:ext uri="{BB962C8B-B14F-4D97-AF65-F5344CB8AC3E}">
        <p14:creationId xmlns:p14="http://schemas.microsoft.com/office/powerpoint/2010/main" val="1386278504"/>
      </p:ext>
    </p:extLst>
  </p:cSld>
  <p:clrMapOvr>
    <a:masterClrMapping/>
  </p:clrMapOvr>
  <p:timing>
    <p:tnLst>
      <p:par>
        <p:cTn id="1" dur="indefinite" restart="never" nodeType="tmRoot"/>
      </p:par>
    </p:tn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2875" y="239157"/>
            <a:ext cx="9144000" cy="3477875"/>
          </a:xfrm>
          <a:prstGeom prst="rect">
            <a:avLst/>
          </a:prstGeom>
        </p:spPr>
        <p:txBody>
          <a:bodyPr wrap="square">
            <a:spAutoFit/>
          </a:bodyPr>
          <a:lstStyle/>
          <a:p>
            <a:r>
              <a:rPr lang="en-US" sz="2000" b="1" dirty="0" smtClean="0"/>
              <a:t>Linked List</a:t>
            </a:r>
            <a:r>
              <a:rPr lang="en-US" sz="2000" dirty="0" smtClean="0"/>
              <a:t>: Linked List is a sequence of links which contains items. Each link contains a connection to another link.</a:t>
            </a:r>
          </a:p>
          <a:p>
            <a:endParaRPr lang="en-US" sz="2000" dirty="0" smtClean="0"/>
          </a:p>
          <a:p>
            <a:r>
              <a:rPr lang="en-US" sz="2000" dirty="0" smtClean="0"/>
              <a:t>Java Linked List class uses two types of Linked list to store the elements:</a:t>
            </a:r>
          </a:p>
          <a:p>
            <a:pPr marL="342900" indent="-342900">
              <a:buFont typeface="Arial" panose="020B0604020202020204" pitchFamily="34" charset="0"/>
              <a:buChar char="•"/>
            </a:pPr>
            <a:r>
              <a:rPr lang="en-US" sz="2000" b="1" dirty="0" smtClean="0"/>
              <a:t>Singly Linked List</a:t>
            </a:r>
          </a:p>
          <a:p>
            <a:pPr marL="342900" indent="-342900">
              <a:buFont typeface="Arial" panose="020B0604020202020204" pitchFamily="34" charset="0"/>
              <a:buChar char="•"/>
            </a:pPr>
            <a:r>
              <a:rPr lang="en-US" sz="2000" b="1" dirty="0" smtClean="0"/>
              <a:t>Doubly Linked List </a:t>
            </a:r>
          </a:p>
          <a:p>
            <a:endParaRPr lang="en-US" sz="2000" dirty="0" smtClean="0"/>
          </a:p>
          <a:p>
            <a:r>
              <a:rPr lang="en-US" sz="2000" b="1" dirty="0" smtClean="0"/>
              <a:t>Singly Linked List</a:t>
            </a:r>
            <a:r>
              <a:rPr lang="en-US" sz="2000" dirty="0" smtClean="0"/>
              <a:t>: In a singly Linked list each node in this list stores the data of the node and a pointer or reference to the next node in the list. </a:t>
            </a:r>
          </a:p>
          <a:p>
            <a:endParaRPr lang="en-US" sz="2000" dirty="0" smtClean="0"/>
          </a:p>
          <a:p>
            <a:r>
              <a:rPr lang="en-US" sz="2000" dirty="0" smtClean="0"/>
              <a:t> </a:t>
            </a:r>
            <a:endParaRPr lang="en-US" sz="2000" dirty="0"/>
          </a:p>
        </p:txBody>
      </p:sp>
      <p:pic>
        <p:nvPicPr>
          <p:cNvPr id="77827" name="Picture 3"/>
          <p:cNvPicPr>
            <a:picLocks noChangeAspect="1" noChangeArrowheads="1"/>
          </p:cNvPicPr>
          <p:nvPr/>
        </p:nvPicPr>
        <p:blipFill>
          <a:blip r:embed="rId2" cstate="print"/>
          <a:srcRect/>
          <a:stretch>
            <a:fillRect/>
          </a:stretch>
        </p:blipFill>
        <p:spPr bwMode="auto">
          <a:xfrm>
            <a:off x="107504" y="4437112"/>
            <a:ext cx="8856984" cy="2016224"/>
          </a:xfrm>
          <a:prstGeom prst="rect">
            <a:avLst/>
          </a:prstGeom>
          <a:noFill/>
          <a:ln w="9525">
            <a:noFill/>
            <a:miter lim="800000"/>
            <a:headEnd/>
            <a:tailEnd/>
          </a:ln>
        </p:spPr>
      </p:pic>
    </p:spTree>
    <p:extLst>
      <p:ext uri="{BB962C8B-B14F-4D97-AF65-F5344CB8AC3E}">
        <p14:creationId xmlns:p14="http://schemas.microsoft.com/office/powerpoint/2010/main" val="1975002919"/>
      </p:ext>
    </p:extLst>
  </p:cSld>
  <p:clrMapOvr>
    <a:masterClrMapping/>
  </p:clrMapOvr>
  <p:timing>
    <p:tnLst>
      <p:par>
        <p:cTn id="1" dur="indefinite" restart="never" nodeType="tmRoot"/>
      </p:par>
    </p:tn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332656"/>
            <a:ext cx="8856984" cy="984885"/>
          </a:xfrm>
          <a:prstGeom prst="rect">
            <a:avLst/>
          </a:prstGeom>
        </p:spPr>
        <p:txBody>
          <a:bodyPr wrap="square">
            <a:spAutoFit/>
          </a:bodyPr>
          <a:lstStyle/>
          <a:p>
            <a:r>
              <a:rPr lang="en-US" sz="2000" b="1" dirty="0" smtClean="0"/>
              <a:t>Doubly Linked List</a:t>
            </a:r>
            <a:r>
              <a:rPr lang="en-US" sz="2000" dirty="0" smtClean="0"/>
              <a:t>: In a doubly Linked list, it has two references, one to the next node and another to previous node. </a:t>
            </a:r>
          </a:p>
          <a:p>
            <a:endParaRPr lang="en-US" dirty="0" smtClean="0"/>
          </a:p>
        </p:txBody>
      </p:sp>
      <p:pic>
        <p:nvPicPr>
          <p:cNvPr id="76801" name="Picture 1"/>
          <p:cNvPicPr>
            <a:picLocks noChangeAspect="1" noChangeArrowheads="1"/>
          </p:cNvPicPr>
          <p:nvPr/>
        </p:nvPicPr>
        <p:blipFill>
          <a:blip r:embed="rId2" cstate="print"/>
          <a:srcRect/>
          <a:stretch>
            <a:fillRect/>
          </a:stretch>
        </p:blipFill>
        <p:spPr bwMode="auto">
          <a:xfrm>
            <a:off x="0" y="1943100"/>
            <a:ext cx="9082415" cy="3286100"/>
          </a:xfrm>
          <a:prstGeom prst="rect">
            <a:avLst/>
          </a:prstGeom>
          <a:noFill/>
          <a:ln w="9525">
            <a:noFill/>
            <a:miter lim="800000"/>
            <a:headEnd/>
            <a:tailEnd/>
          </a:ln>
        </p:spPr>
      </p:pic>
    </p:spTree>
    <p:extLst>
      <p:ext uri="{BB962C8B-B14F-4D97-AF65-F5344CB8AC3E}">
        <p14:creationId xmlns:p14="http://schemas.microsoft.com/office/powerpoint/2010/main" val="1394020704"/>
      </p:ext>
    </p:extLst>
  </p:cSld>
  <p:clrMapOvr>
    <a:masterClrMapping/>
  </p:clrMapOvr>
  <p:timing>
    <p:tnLst>
      <p:par>
        <p:cTn id="1" dur="indefinite" restart="never" nodeType="tmRoot"/>
      </p:par>
    </p:tnLst>
  </p:timing>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79512" y="476672"/>
            <a:ext cx="8784976" cy="2554545"/>
          </a:xfrm>
          <a:prstGeom prst="rect">
            <a:avLst/>
          </a:prstGeom>
        </p:spPr>
        <p:txBody>
          <a:bodyPr wrap="square">
            <a:spAutoFit/>
          </a:bodyPr>
          <a:lstStyle/>
          <a:p>
            <a:r>
              <a:rPr lang="en-US" sz="2000" b="1" dirty="0" smtClean="0"/>
              <a:t>Java Collections: Sets</a:t>
            </a:r>
            <a:endParaRPr lang="en-US" sz="2000" dirty="0" smtClean="0"/>
          </a:p>
          <a:p>
            <a:endParaRPr lang="en-US" sz="2000" dirty="0" smtClean="0"/>
          </a:p>
          <a:p>
            <a:endParaRPr lang="en-US" sz="2000" dirty="0" smtClean="0"/>
          </a:p>
          <a:p>
            <a:r>
              <a:rPr lang="en-US" sz="2000" dirty="0" smtClean="0"/>
              <a:t>A Set refers to a collection that cannot contain duplicate elements. </a:t>
            </a:r>
          </a:p>
          <a:p>
            <a:r>
              <a:rPr lang="en-US" sz="2000" dirty="0" smtClean="0"/>
              <a:t>It is mainly used to model the mathematical set abstraction. </a:t>
            </a:r>
          </a:p>
          <a:p>
            <a:endParaRPr lang="en-US" sz="2000" dirty="0"/>
          </a:p>
          <a:p>
            <a:r>
              <a:rPr lang="en-US" sz="2000" dirty="0" smtClean="0"/>
              <a:t>Set has its implementation in various classes such as </a:t>
            </a:r>
            <a:r>
              <a:rPr lang="en-US" sz="2000" dirty="0" err="1" smtClean="0"/>
              <a:t>HashSet</a:t>
            </a:r>
            <a:r>
              <a:rPr lang="en-US" sz="2000" dirty="0" smtClean="0"/>
              <a:t>, </a:t>
            </a:r>
            <a:r>
              <a:rPr lang="en-US" sz="2000" dirty="0" err="1" smtClean="0"/>
              <a:t>TreeSetand</a:t>
            </a:r>
            <a:r>
              <a:rPr lang="en-US" sz="2000" dirty="0" smtClean="0"/>
              <a:t> </a:t>
            </a:r>
            <a:r>
              <a:rPr lang="en-US" sz="2000" dirty="0" err="1" smtClean="0"/>
              <a:t>LinkedHashSet</a:t>
            </a:r>
            <a:r>
              <a:rPr lang="en-US" sz="2000" dirty="0" smtClean="0"/>
              <a:t>.</a:t>
            </a:r>
            <a:endParaRPr lang="en-US" sz="2000" dirty="0"/>
          </a:p>
        </p:txBody>
      </p:sp>
      <p:pic>
        <p:nvPicPr>
          <p:cNvPr id="75778" name="Picture 2" descr="Sets - Java Collections - Edureka"/>
          <p:cNvPicPr>
            <a:picLocks noChangeAspect="1" noChangeArrowheads="1"/>
          </p:cNvPicPr>
          <p:nvPr/>
        </p:nvPicPr>
        <p:blipFill>
          <a:blip r:embed="rId2" cstate="print"/>
          <a:srcRect/>
          <a:stretch>
            <a:fillRect/>
          </a:stretch>
        </p:blipFill>
        <p:spPr bwMode="auto">
          <a:xfrm>
            <a:off x="1187624" y="3933056"/>
            <a:ext cx="7468140" cy="2088232"/>
          </a:xfrm>
          <a:prstGeom prst="rect">
            <a:avLst/>
          </a:prstGeom>
          <a:noFill/>
        </p:spPr>
      </p:pic>
    </p:spTree>
    <p:extLst>
      <p:ext uri="{BB962C8B-B14F-4D97-AF65-F5344CB8AC3E}">
        <p14:creationId xmlns:p14="http://schemas.microsoft.com/office/powerpoint/2010/main" val="1881120684"/>
      </p:ext>
    </p:extLst>
  </p:cSld>
  <p:clrMapOvr>
    <a:masterClrMapping/>
  </p:clrMapOvr>
  <p:timing>
    <p:tnLst>
      <p:par>
        <p:cTn id="1" dur="indefinite" restart="never" nodeType="tmRoot"/>
      </p:par>
    </p:tnLst>
  </p:timing>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95536" y="548680"/>
            <a:ext cx="8496944" cy="2554545"/>
          </a:xfrm>
          <a:prstGeom prst="rect">
            <a:avLst/>
          </a:prstGeom>
        </p:spPr>
        <p:txBody>
          <a:bodyPr wrap="square">
            <a:spAutoFit/>
          </a:bodyPr>
          <a:lstStyle/>
          <a:p>
            <a:r>
              <a:rPr lang="en-US" sz="2000" b="1" dirty="0" smtClean="0"/>
              <a:t>Map Interface</a:t>
            </a:r>
          </a:p>
          <a:p>
            <a:endParaRPr lang="en-IN" sz="2000" b="1" dirty="0" smtClean="0"/>
          </a:p>
          <a:p>
            <a:r>
              <a:rPr lang="en-US" sz="2000" dirty="0" smtClean="0"/>
              <a:t>In Java, elements of Map are stored in </a:t>
            </a:r>
            <a:r>
              <a:rPr lang="en-US" sz="2000" b="1" dirty="0" smtClean="0"/>
              <a:t>key/value</a:t>
            </a:r>
            <a:r>
              <a:rPr lang="en-US" sz="2000" dirty="0" smtClean="0"/>
              <a:t> pairs. </a:t>
            </a:r>
            <a:r>
              <a:rPr lang="en-US" sz="2000" b="1" dirty="0" smtClean="0"/>
              <a:t>Keys</a:t>
            </a:r>
            <a:r>
              <a:rPr lang="en-US" sz="2000" dirty="0" smtClean="0"/>
              <a:t> are unique values associated with individual </a:t>
            </a:r>
            <a:r>
              <a:rPr lang="en-US" sz="2000" b="1" dirty="0" smtClean="0"/>
              <a:t>Values</a:t>
            </a:r>
            <a:r>
              <a:rPr lang="en-US" sz="2000" dirty="0" smtClean="0"/>
              <a:t>.</a:t>
            </a:r>
          </a:p>
          <a:p>
            <a:endParaRPr lang="en-US" sz="2000" dirty="0" smtClean="0"/>
          </a:p>
          <a:p>
            <a:r>
              <a:rPr lang="en-US" sz="2000" dirty="0" smtClean="0"/>
              <a:t>A map cannot contain duplicate keys. And, each key is associated with a single value.</a:t>
            </a:r>
          </a:p>
          <a:p>
            <a:endParaRPr lang="en-US" sz="2000" b="1" dirty="0"/>
          </a:p>
        </p:txBody>
      </p:sp>
      <p:pic>
        <p:nvPicPr>
          <p:cNvPr id="73730" name="Picture 2" descr="Working of the map interface in Java"/>
          <p:cNvPicPr>
            <a:picLocks noChangeAspect="1" noChangeArrowheads="1"/>
          </p:cNvPicPr>
          <p:nvPr/>
        </p:nvPicPr>
        <p:blipFill>
          <a:blip r:embed="rId2" cstate="print"/>
          <a:srcRect/>
          <a:stretch>
            <a:fillRect/>
          </a:stretch>
        </p:blipFill>
        <p:spPr bwMode="auto">
          <a:xfrm>
            <a:off x="2699792" y="3318476"/>
            <a:ext cx="4423215" cy="3060248"/>
          </a:xfrm>
          <a:prstGeom prst="rect">
            <a:avLst/>
          </a:prstGeom>
          <a:noFill/>
        </p:spPr>
      </p:pic>
    </p:spTree>
    <p:extLst>
      <p:ext uri="{BB962C8B-B14F-4D97-AF65-F5344CB8AC3E}">
        <p14:creationId xmlns:p14="http://schemas.microsoft.com/office/powerpoint/2010/main" val="2794101068"/>
      </p:ext>
    </p:extLst>
  </p:cSld>
  <p:clrMapOvr>
    <a:masterClrMapping/>
  </p:clrMapOvr>
  <p:timing>
    <p:tnLst>
      <p:par>
        <p:cTn id="1" dur="indefinite" restart="never" nodeType="tmRoot"/>
      </p:par>
    </p:tnLst>
  </p:timing>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2431597772"/>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432810" y="2323946"/>
            <a:ext cx="8278380" cy="2210108"/>
          </a:xfrm>
          <a:prstGeom prst="rect">
            <a:avLst/>
          </a:prstGeom>
        </p:spPr>
      </p:pic>
    </p:spTree>
    <p:extLst>
      <p:ext uri="{BB962C8B-B14F-4D97-AF65-F5344CB8AC3E}">
        <p14:creationId xmlns:p14="http://schemas.microsoft.com/office/powerpoint/2010/main" val="333355813"/>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351836" y="1242707"/>
            <a:ext cx="8440328" cy="4372585"/>
          </a:xfrm>
          <a:prstGeom prst="rect">
            <a:avLst/>
          </a:prstGeom>
        </p:spPr>
      </p:pic>
    </p:spTree>
    <p:extLst>
      <p:ext uri="{BB962C8B-B14F-4D97-AF65-F5344CB8AC3E}">
        <p14:creationId xmlns:p14="http://schemas.microsoft.com/office/powerpoint/2010/main" val="3802621584"/>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613810" y="1595181"/>
            <a:ext cx="7916380" cy="3667637"/>
          </a:xfrm>
          <a:prstGeom prst="rect">
            <a:avLst/>
          </a:prstGeom>
        </p:spPr>
      </p:pic>
    </p:spTree>
    <p:extLst>
      <p:ext uri="{BB962C8B-B14F-4D97-AF65-F5344CB8AC3E}">
        <p14:creationId xmlns:p14="http://schemas.microsoft.com/office/powerpoint/2010/main" val="407482966"/>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286674" y="1052736"/>
            <a:ext cx="8821381" cy="4629796"/>
          </a:xfrm>
          <a:prstGeom prst="rect">
            <a:avLst/>
          </a:prstGeom>
        </p:spPr>
      </p:pic>
      <p:sp>
        <p:nvSpPr>
          <p:cNvPr id="3" name="Rectangle 2"/>
          <p:cNvSpPr/>
          <p:nvPr/>
        </p:nvSpPr>
        <p:spPr>
          <a:xfrm>
            <a:off x="4716016" y="3645024"/>
            <a:ext cx="4572000" cy="2308324"/>
          </a:xfrm>
          <a:prstGeom prst="rect">
            <a:avLst/>
          </a:prstGeom>
        </p:spPr>
        <p:txBody>
          <a:bodyPr>
            <a:spAutoFit/>
          </a:bodyPr>
          <a:lstStyle/>
          <a:p>
            <a:r>
              <a:rPr lang="en-IN" dirty="0">
                <a:solidFill>
                  <a:srgbClr val="FF0000"/>
                </a:solidFill>
                <a:latin typeface="Google Sans"/>
              </a:rPr>
              <a:t>NoSQL database examples </a:t>
            </a:r>
            <a:endParaRPr lang="en-IN" dirty="0" smtClean="0">
              <a:solidFill>
                <a:srgbClr val="FF0000"/>
              </a:solidFill>
              <a:latin typeface="Google Sans"/>
            </a:endParaRPr>
          </a:p>
          <a:p>
            <a:r>
              <a:rPr lang="en-IN" dirty="0" smtClean="0">
                <a:solidFill>
                  <a:srgbClr val="FF0000"/>
                </a:solidFill>
                <a:latin typeface="Google Sans"/>
              </a:rPr>
              <a:t>include</a:t>
            </a:r>
            <a:r>
              <a:rPr lang="en-IN" dirty="0">
                <a:solidFill>
                  <a:srgbClr val="FF0000"/>
                </a:solidFill>
                <a:latin typeface="Google Sans"/>
              </a:rPr>
              <a:t> </a:t>
            </a:r>
            <a:endParaRPr lang="en-IN" dirty="0" smtClean="0">
              <a:solidFill>
                <a:srgbClr val="FF0000"/>
              </a:solidFill>
              <a:latin typeface="Google Sans"/>
            </a:endParaRPr>
          </a:p>
          <a:p>
            <a:r>
              <a:rPr lang="en-IN" dirty="0" smtClean="0">
                <a:solidFill>
                  <a:srgbClr val="FF0000"/>
                </a:solidFill>
                <a:latin typeface="Google Sans"/>
              </a:rPr>
              <a:t>MongoDB</a:t>
            </a:r>
            <a:r>
              <a:rPr lang="en-IN" dirty="0">
                <a:solidFill>
                  <a:srgbClr val="FF0000"/>
                </a:solidFill>
                <a:latin typeface="Google Sans"/>
              </a:rPr>
              <a:t>, </a:t>
            </a:r>
            <a:endParaRPr lang="en-IN" dirty="0" smtClean="0">
              <a:solidFill>
                <a:srgbClr val="FF0000"/>
              </a:solidFill>
              <a:latin typeface="Google Sans"/>
            </a:endParaRPr>
          </a:p>
          <a:p>
            <a:r>
              <a:rPr lang="en-IN" dirty="0" err="1" smtClean="0">
                <a:solidFill>
                  <a:srgbClr val="FF0000"/>
                </a:solidFill>
                <a:latin typeface="Google Sans"/>
              </a:rPr>
              <a:t>BigTable</a:t>
            </a:r>
            <a:r>
              <a:rPr lang="en-IN" dirty="0">
                <a:solidFill>
                  <a:srgbClr val="FF0000"/>
                </a:solidFill>
                <a:latin typeface="Google Sans"/>
              </a:rPr>
              <a:t>, </a:t>
            </a:r>
            <a:endParaRPr lang="en-IN" dirty="0" smtClean="0">
              <a:solidFill>
                <a:srgbClr val="FF0000"/>
              </a:solidFill>
              <a:latin typeface="Google Sans"/>
            </a:endParaRPr>
          </a:p>
          <a:p>
            <a:r>
              <a:rPr lang="en-IN" dirty="0" err="1" smtClean="0">
                <a:solidFill>
                  <a:srgbClr val="FF0000"/>
                </a:solidFill>
                <a:latin typeface="Google Sans"/>
              </a:rPr>
              <a:t>Redis</a:t>
            </a:r>
            <a:r>
              <a:rPr lang="en-IN" dirty="0">
                <a:solidFill>
                  <a:srgbClr val="FF0000"/>
                </a:solidFill>
                <a:latin typeface="Google Sans"/>
              </a:rPr>
              <a:t>, </a:t>
            </a:r>
            <a:endParaRPr lang="en-IN" dirty="0" smtClean="0">
              <a:solidFill>
                <a:srgbClr val="FF0000"/>
              </a:solidFill>
              <a:latin typeface="Google Sans"/>
            </a:endParaRPr>
          </a:p>
          <a:p>
            <a:r>
              <a:rPr lang="en-IN" dirty="0" smtClean="0">
                <a:solidFill>
                  <a:srgbClr val="FF0000"/>
                </a:solidFill>
                <a:latin typeface="Google Sans"/>
              </a:rPr>
              <a:t>Cassandra</a:t>
            </a:r>
            <a:r>
              <a:rPr lang="en-IN" dirty="0">
                <a:solidFill>
                  <a:srgbClr val="FF0000"/>
                </a:solidFill>
                <a:latin typeface="Google Sans"/>
              </a:rPr>
              <a:t>, </a:t>
            </a:r>
            <a:endParaRPr lang="en-IN" dirty="0" smtClean="0">
              <a:solidFill>
                <a:srgbClr val="FF0000"/>
              </a:solidFill>
              <a:latin typeface="Google Sans"/>
            </a:endParaRPr>
          </a:p>
          <a:p>
            <a:r>
              <a:rPr lang="en-IN" dirty="0" err="1" smtClean="0">
                <a:solidFill>
                  <a:srgbClr val="FF0000"/>
                </a:solidFill>
                <a:latin typeface="Google Sans"/>
              </a:rPr>
              <a:t>HBase</a:t>
            </a:r>
            <a:r>
              <a:rPr lang="en-IN" dirty="0">
                <a:solidFill>
                  <a:srgbClr val="FF0000"/>
                </a:solidFill>
                <a:latin typeface="Google Sans"/>
              </a:rPr>
              <a:t>, </a:t>
            </a:r>
            <a:endParaRPr lang="en-IN" dirty="0" smtClean="0">
              <a:solidFill>
                <a:srgbClr val="FF0000"/>
              </a:solidFill>
              <a:latin typeface="Google Sans"/>
            </a:endParaRPr>
          </a:p>
          <a:p>
            <a:r>
              <a:rPr lang="en-IN" dirty="0" smtClean="0">
                <a:solidFill>
                  <a:srgbClr val="FF0000"/>
                </a:solidFill>
                <a:latin typeface="Google Sans"/>
              </a:rPr>
              <a:t>Neo4j</a:t>
            </a:r>
            <a:r>
              <a:rPr lang="en-IN" dirty="0">
                <a:solidFill>
                  <a:srgbClr val="FF0000"/>
                </a:solidFill>
                <a:latin typeface="Google Sans"/>
              </a:rPr>
              <a:t>, and </a:t>
            </a:r>
            <a:r>
              <a:rPr lang="en-IN" dirty="0" err="1">
                <a:solidFill>
                  <a:srgbClr val="FF0000"/>
                </a:solidFill>
                <a:latin typeface="Google Sans"/>
              </a:rPr>
              <a:t>CouchDB</a:t>
            </a:r>
            <a:endParaRPr lang="en-IN" dirty="0">
              <a:solidFill>
                <a:srgbClr val="FF0000"/>
              </a:solidFill>
            </a:endParaRPr>
          </a:p>
        </p:txBody>
      </p:sp>
    </p:spTree>
    <p:extLst>
      <p:ext uri="{BB962C8B-B14F-4D97-AF65-F5344CB8AC3E}">
        <p14:creationId xmlns:p14="http://schemas.microsoft.com/office/powerpoint/2010/main" val="1215547830"/>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153646" y="548680"/>
            <a:ext cx="9278544" cy="6048672"/>
          </a:xfrm>
          <a:prstGeom prst="rect">
            <a:avLst/>
          </a:prstGeom>
        </p:spPr>
      </p:pic>
    </p:spTree>
    <p:extLst>
      <p:ext uri="{BB962C8B-B14F-4D97-AF65-F5344CB8AC3E}">
        <p14:creationId xmlns:p14="http://schemas.microsoft.com/office/powerpoint/2010/main" val="4211158211"/>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213704" y="2257261"/>
            <a:ext cx="8716591" cy="2343477"/>
          </a:xfrm>
          <a:prstGeom prst="rect">
            <a:avLst/>
          </a:prstGeom>
        </p:spPr>
      </p:pic>
    </p:spTree>
    <p:extLst>
      <p:ext uri="{BB962C8B-B14F-4D97-AF65-F5344CB8AC3E}">
        <p14:creationId xmlns:p14="http://schemas.microsoft.com/office/powerpoint/2010/main" val="159880386"/>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29592" y="404664"/>
            <a:ext cx="9114408" cy="6019592"/>
          </a:xfrm>
          <a:prstGeom prst="rect">
            <a:avLst/>
          </a:prstGeom>
        </p:spPr>
      </p:pic>
    </p:spTree>
    <p:extLst>
      <p:ext uri="{BB962C8B-B14F-4D97-AF65-F5344CB8AC3E}">
        <p14:creationId xmlns:p14="http://schemas.microsoft.com/office/powerpoint/2010/main" val="2301640487"/>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1" y="1772816"/>
            <a:ext cx="8892480" cy="3342344"/>
          </a:xfrm>
          <a:prstGeom prst="rect">
            <a:avLst/>
          </a:prstGeom>
        </p:spPr>
      </p:pic>
    </p:spTree>
    <p:extLst>
      <p:ext uri="{BB962C8B-B14F-4D97-AF65-F5344CB8AC3E}">
        <p14:creationId xmlns:p14="http://schemas.microsoft.com/office/powerpoint/2010/main" val="1731930989"/>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252536" y="188640"/>
            <a:ext cx="9974067" cy="6763694"/>
          </a:xfrm>
          <a:prstGeom prst="rect">
            <a:avLst/>
          </a:prstGeom>
        </p:spPr>
      </p:pic>
    </p:spTree>
    <p:extLst>
      <p:ext uri="{BB962C8B-B14F-4D97-AF65-F5344CB8AC3E}">
        <p14:creationId xmlns:p14="http://schemas.microsoft.com/office/powerpoint/2010/main" val="3927222648"/>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683568" y="692696"/>
            <a:ext cx="5953956" cy="3105583"/>
          </a:xfrm>
          <a:prstGeom prst="rect">
            <a:avLst/>
          </a:prstGeom>
        </p:spPr>
      </p:pic>
    </p:spTree>
    <p:extLst>
      <p:ext uri="{BB962C8B-B14F-4D97-AF65-F5344CB8AC3E}">
        <p14:creationId xmlns:p14="http://schemas.microsoft.com/office/powerpoint/2010/main" val="3214109811"/>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47673" y="434634"/>
            <a:ext cx="9064114" cy="6408712"/>
          </a:xfrm>
          <a:prstGeom prst="rect">
            <a:avLst/>
          </a:prstGeom>
        </p:spPr>
      </p:pic>
    </p:spTree>
    <p:extLst>
      <p:ext uri="{BB962C8B-B14F-4D97-AF65-F5344CB8AC3E}">
        <p14:creationId xmlns:p14="http://schemas.microsoft.com/office/powerpoint/2010/main" val="969655145"/>
      </p:ext>
    </p:ext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285152" y="1418944"/>
            <a:ext cx="8573696" cy="4020111"/>
          </a:xfrm>
          <a:prstGeom prst="rect">
            <a:avLst/>
          </a:prstGeom>
        </p:spPr>
      </p:pic>
    </p:spTree>
    <p:extLst>
      <p:ext uri="{BB962C8B-B14F-4D97-AF65-F5344CB8AC3E}">
        <p14:creationId xmlns:p14="http://schemas.microsoft.com/office/powerpoint/2010/main" val="1236116258"/>
      </p:ext>
    </p:extLst>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1404495" y="1028365"/>
            <a:ext cx="6335009" cy="4801270"/>
          </a:xfrm>
          <a:prstGeom prst="rect">
            <a:avLst/>
          </a:prstGeom>
        </p:spPr>
      </p:pic>
    </p:spTree>
    <p:extLst>
      <p:ext uri="{BB962C8B-B14F-4D97-AF65-F5344CB8AC3E}">
        <p14:creationId xmlns:p14="http://schemas.microsoft.com/office/powerpoint/2010/main" val="2182019527"/>
      </p:ext>
    </p:extLst>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1999891" y="1995287"/>
            <a:ext cx="5144218" cy="2867425"/>
          </a:xfrm>
          <a:prstGeom prst="rect">
            <a:avLst/>
          </a:prstGeom>
        </p:spPr>
      </p:pic>
    </p:spTree>
    <p:extLst>
      <p:ext uri="{BB962C8B-B14F-4D97-AF65-F5344CB8AC3E}">
        <p14:creationId xmlns:p14="http://schemas.microsoft.com/office/powerpoint/2010/main" val="1095173149"/>
      </p:ext>
    </p:extLst>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575705" y="1695208"/>
            <a:ext cx="7992590" cy="3467584"/>
          </a:xfrm>
          <a:prstGeom prst="rect">
            <a:avLst/>
          </a:prstGeom>
        </p:spPr>
      </p:pic>
    </p:spTree>
    <p:extLst>
      <p:ext uri="{BB962C8B-B14F-4D97-AF65-F5344CB8AC3E}">
        <p14:creationId xmlns:p14="http://schemas.microsoft.com/office/powerpoint/2010/main" val="3558811035"/>
      </p:ext>
    </p:extLst>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2457155" y="1147444"/>
            <a:ext cx="4229690" cy="4563112"/>
          </a:xfrm>
          <a:prstGeom prst="rect">
            <a:avLst/>
          </a:prstGeom>
        </p:spPr>
      </p:pic>
    </p:spTree>
    <p:extLst>
      <p:ext uri="{BB962C8B-B14F-4D97-AF65-F5344CB8AC3E}">
        <p14:creationId xmlns:p14="http://schemas.microsoft.com/office/powerpoint/2010/main" val="2810967284"/>
      </p:ext>
    </p:extLst>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1975917257"/>
      </p:ext>
    </p:extLst>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1061284376"/>
      </p:ext>
    </p:extLst>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1797939629"/>
      </p:ext>
    </p:extLst>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2428927602"/>
      </p:ext>
    </p:extLst>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924692" y="599680"/>
            <a:ext cx="10993384" cy="5658640"/>
          </a:xfrm>
          <a:prstGeom prst="rect">
            <a:avLst/>
          </a:prstGeom>
        </p:spPr>
      </p:pic>
    </p:spTree>
    <p:extLst>
      <p:ext uri="{BB962C8B-B14F-4D97-AF65-F5344CB8AC3E}">
        <p14:creationId xmlns:p14="http://schemas.microsoft.com/office/powerpoint/2010/main" val="372620870"/>
      </p:ext>
    </p:extLst>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2577375170"/>
      </p:ext>
    </p:extLst>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61283" y="980733"/>
            <a:ext cx="9021434" cy="4896533"/>
          </a:xfrm>
          <a:prstGeom prst="rect">
            <a:avLst/>
          </a:prstGeom>
        </p:spPr>
      </p:pic>
    </p:spTree>
    <p:extLst>
      <p:ext uri="{BB962C8B-B14F-4D97-AF65-F5344CB8AC3E}">
        <p14:creationId xmlns:p14="http://schemas.microsoft.com/office/powerpoint/2010/main" val="2475383000"/>
      </p:ext>
    </p:extLst>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813863" y="1118865"/>
            <a:ext cx="7516274" cy="4620270"/>
          </a:xfrm>
          <a:prstGeom prst="rect">
            <a:avLst/>
          </a:prstGeom>
        </p:spPr>
      </p:pic>
    </p:spTree>
    <p:extLst>
      <p:ext uri="{BB962C8B-B14F-4D97-AF65-F5344CB8AC3E}">
        <p14:creationId xmlns:p14="http://schemas.microsoft.com/office/powerpoint/2010/main" val="2805110915"/>
      </p:ext>
    </p:extLst>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94625" y="1209365"/>
            <a:ext cx="8954750" cy="4439270"/>
          </a:xfrm>
          <a:prstGeom prst="rect">
            <a:avLst/>
          </a:prstGeom>
        </p:spPr>
      </p:pic>
    </p:spTree>
    <p:extLst>
      <p:ext uri="{BB962C8B-B14F-4D97-AF65-F5344CB8AC3E}">
        <p14:creationId xmlns:p14="http://schemas.microsoft.com/office/powerpoint/2010/main" val="4018326759"/>
      </p:ext>
    </p:extLst>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166072" y="1290339"/>
            <a:ext cx="8811855" cy="4277322"/>
          </a:xfrm>
          <a:prstGeom prst="rect">
            <a:avLst/>
          </a:prstGeom>
        </p:spPr>
      </p:pic>
    </p:spTree>
    <p:extLst>
      <p:ext uri="{BB962C8B-B14F-4D97-AF65-F5344CB8AC3E}">
        <p14:creationId xmlns:p14="http://schemas.microsoft.com/office/powerpoint/2010/main" val="2465082896"/>
      </p:ext>
    </p:extLst>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237520" y="1199839"/>
            <a:ext cx="8668960" cy="4458322"/>
          </a:xfrm>
          <a:prstGeom prst="rect">
            <a:avLst/>
          </a:prstGeom>
        </p:spPr>
      </p:pic>
    </p:spTree>
    <p:extLst>
      <p:ext uri="{BB962C8B-B14F-4D97-AF65-F5344CB8AC3E}">
        <p14:creationId xmlns:p14="http://schemas.microsoft.com/office/powerpoint/2010/main" val="4136335984"/>
      </p:ext>
    </p:extLst>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194651" y="1361786"/>
            <a:ext cx="8754697" cy="4134427"/>
          </a:xfrm>
          <a:prstGeom prst="rect">
            <a:avLst/>
          </a:prstGeom>
        </p:spPr>
      </p:pic>
    </p:spTree>
    <p:extLst>
      <p:ext uri="{BB962C8B-B14F-4D97-AF65-F5344CB8AC3E}">
        <p14:creationId xmlns:p14="http://schemas.microsoft.com/office/powerpoint/2010/main" val="2278009279"/>
      </p:ext>
    </p:extLst>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123204" y="952154"/>
            <a:ext cx="8897592" cy="4953691"/>
          </a:xfrm>
          <a:prstGeom prst="rect">
            <a:avLst/>
          </a:prstGeom>
        </p:spPr>
      </p:pic>
    </p:spTree>
    <p:extLst>
      <p:ext uri="{BB962C8B-B14F-4D97-AF65-F5344CB8AC3E}">
        <p14:creationId xmlns:p14="http://schemas.microsoft.com/office/powerpoint/2010/main" val="2500382224"/>
      </p:ext>
    </p:extLst>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404231" y="1671392"/>
            <a:ext cx="8335538" cy="3515216"/>
          </a:xfrm>
          <a:prstGeom prst="rect">
            <a:avLst/>
          </a:prstGeom>
        </p:spPr>
      </p:pic>
    </p:spTree>
    <p:extLst>
      <p:ext uri="{BB962C8B-B14F-4D97-AF65-F5344CB8AC3E}">
        <p14:creationId xmlns:p14="http://schemas.microsoft.com/office/powerpoint/2010/main" val="1544539442"/>
      </p:ext>
    </p:extLst>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323257" y="842601"/>
            <a:ext cx="8497486" cy="5172797"/>
          </a:xfrm>
          <a:prstGeom prst="rect">
            <a:avLst/>
          </a:prstGeom>
        </p:spPr>
      </p:pic>
    </p:spTree>
    <p:extLst>
      <p:ext uri="{BB962C8B-B14F-4D97-AF65-F5344CB8AC3E}">
        <p14:creationId xmlns:p14="http://schemas.microsoft.com/office/powerpoint/2010/main" val="2959539737"/>
      </p:ext>
    </p:extLst>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504257" y="1123628"/>
            <a:ext cx="8135485" cy="4610743"/>
          </a:xfrm>
          <a:prstGeom prst="rect">
            <a:avLst/>
          </a:prstGeom>
        </p:spPr>
      </p:pic>
    </p:spTree>
    <p:extLst>
      <p:ext uri="{BB962C8B-B14F-4D97-AF65-F5344CB8AC3E}">
        <p14:creationId xmlns:p14="http://schemas.microsoft.com/office/powerpoint/2010/main" val="17506297"/>
      </p:ext>
    </p:extLst>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547126" y="875943"/>
            <a:ext cx="8049748" cy="5106113"/>
          </a:xfrm>
          <a:prstGeom prst="rect">
            <a:avLst/>
          </a:prstGeom>
        </p:spPr>
      </p:pic>
    </p:spTree>
    <p:extLst>
      <p:ext uri="{BB962C8B-B14F-4D97-AF65-F5344CB8AC3E}">
        <p14:creationId xmlns:p14="http://schemas.microsoft.com/office/powerpoint/2010/main" val="2725926323"/>
      </p:ext>
    </p:extLst>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1547664" y="10663"/>
            <a:ext cx="5184576" cy="6261373"/>
          </a:xfrm>
          <a:prstGeom prst="rect">
            <a:avLst/>
          </a:prstGeom>
        </p:spPr>
      </p:pic>
    </p:spTree>
    <p:extLst>
      <p:ext uri="{BB962C8B-B14F-4D97-AF65-F5344CB8AC3E}">
        <p14:creationId xmlns:p14="http://schemas.microsoft.com/office/powerpoint/2010/main" val="4222172354"/>
      </p:ext>
    </p:extLst>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3718489131"/>
      </p:ext>
    </p:extLst>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107504" y="548680"/>
            <a:ext cx="8865581" cy="5976664"/>
          </a:xfrm>
          <a:prstGeom prst="rect">
            <a:avLst/>
          </a:prstGeom>
        </p:spPr>
      </p:pic>
    </p:spTree>
    <p:extLst>
      <p:ext uri="{BB962C8B-B14F-4D97-AF65-F5344CB8AC3E}">
        <p14:creationId xmlns:p14="http://schemas.microsoft.com/office/powerpoint/2010/main" val="1311809072"/>
      </p:ext>
    </p:extLst>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578192" y="1052736"/>
            <a:ext cx="8471716" cy="5040560"/>
          </a:xfrm>
          <a:prstGeom prst="rect">
            <a:avLst/>
          </a:prstGeom>
        </p:spPr>
      </p:pic>
    </p:spTree>
    <p:extLst>
      <p:ext uri="{BB962C8B-B14F-4D97-AF65-F5344CB8AC3E}">
        <p14:creationId xmlns:p14="http://schemas.microsoft.com/office/powerpoint/2010/main" val="1483762290"/>
      </p:ext>
    </p:extLst>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118192" y="1340768"/>
            <a:ext cx="8907616" cy="4176464"/>
          </a:xfrm>
          <a:prstGeom prst="rect">
            <a:avLst/>
          </a:prstGeom>
        </p:spPr>
      </p:pic>
    </p:spTree>
    <p:extLst>
      <p:ext uri="{BB962C8B-B14F-4D97-AF65-F5344CB8AC3E}">
        <p14:creationId xmlns:p14="http://schemas.microsoft.com/office/powerpoint/2010/main" val="2894770436"/>
      </p:ext>
    </p:extLst>
  </p:cSld>
  <p:clrMapOvr>
    <a:masterClrMapping/>
  </p:clrMapOvr>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28193" y="1340768"/>
            <a:ext cx="9080311" cy="4464496"/>
          </a:xfrm>
          <a:prstGeom prst="rect">
            <a:avLst/>
          </a:prstGeom>
        </p:spPr>
      </p:pic>
    </p:spTree>
    <p:extLst>
      <p:ext uri="{BB962C8B-B14F-4D97-AF65-F5344CB8AC3E}">
        <p14:creationId xmlns:p14="http://schemas.microsoft.com/office/powerpoint/2010/main" val="4126809784"/>
      </p:ext>
    </p:extLst>
  </p:cSld>
  <p:clrMapOvr>
    <a:masterClrMapping/>
  </p:clrMapOvr>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275106" y="956917"/>
            <a:ext cx="8518101" cy="5424411"/>
          </a:xfrm>
          <a:prstGeom prst="rect">
            <a:avLst/>
          </a:prstGeom>
        </p:spPr>
      </p:pic>
    </p:spTree>
    <p:extLst>
      <p:ext uri="{BB962C8B-B14F-4D97-AF65-F5344CB8AC3E}">
        <p14:creationId xmlns:p14="http://schemas.microsoft.com/office/powerpoint/2010/main" val="1104094121"/>
      </p:ext>
    </p:extLst>
  </p:cSld>
  <p:clrMapOvr>
    <a:masterClrMapping/>
  </p:clrMapOvr>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179512" y="1268761"/>
            <a:ext cx="6336704" cy="4656720"/>
          </a:xfrm>
          <a:prstGeom prst="rect">
            <a:avLst/>
          </a:prstGeom>
        </p:spPr>
      </p:pic>
    </p:spTree>
    <p:extLst>
      <p:ext uri="{BB962C8B-B14F-4D97-AF65-F5344CB8AC3E}">
        <p14:creationId xmlns:p14="http://schemas.microsoft.com/office/powerpoint/2010/main" val="2881621762"/>
      </p:ext>
    </p:extLst>
  </p:cSld>
  <p:clrMapOvr>
    <a:masterClrMapping/>
  </p:clrMapOvr>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395536" y="1988840"/>
            <a:ext cx="8661924" cy="2536246"/>
          </a:xfrm>
          <a:prstGeom prst="rect">
            <a:avLst/>
          </a:prstGeom>
        </p:spPr>
      </p:pic>
    </p:spTree>
    <p:extLst>
      <p:ext uri="{BB962C8B-B14F-4D97-AF65-F5344CB8AC3E}">
        <p14:creationId xmlns:p14="http://schemas.microsoft.com/office/powerpoint/2010/main" val="1818635616"/>
      </p:ext>
    </p:extLst>
  </p:cSld>
  <p:clrMapOvr>
    <a:masterClrMapping/>
  </p:clrMapOvr>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251520" y="260648"/>
            <a:ext cx="8640960" cy="6201353"/>
          </a:xfrm>
          <a:prstGeom prst="rect">
            <a:avLst/>
          </a:prstGeom>
        </p:spPr>
      </p:pic>
    </p:spTree>
    <p:extLst>
      <p:ext uri="{BB962C8B-B14F-4D97-AF65-F5344CB8AC3E}">
        <p14:creationId xmlns:p14="http://schemas.microsoft.com/office/powerpoint/2010/main" val="1120254995"/>
      </p:ext>
    </p:extLst>
  </p:cSld>
  <p:clrMapOvr>
    <a:masterClrMapping/>
  </p:clrMapOvr>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1361627" y="842601"/>
            <a:ext cx="6420746" cy="5172797"/>
          </a:xfrm>
          <a:prstGeom prst="rect">
            <a:avLst/>
          </a:prstGeom>
        </p:spPr>
      </p:pic>
    </p:spTree>
    <p:extLst>
      <p:ext uri="{BB962C8B-B14F-4D97-AF65-F5344CB8AC3E}">
        <p14:creationId xmlns:p14="http://schemas.microsoft.com/office/powerpoint/2010/main" val="1399508185"/>
      </p:ext>
    </p:extLst>
  </p:cSld>
  <p:clrMapOvr>
    <a:masterClrMapping/>
  </p:clrMapOvr>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19691" y="1009312"/>
            <a:ext cx="9183382" cy="4839375"/>
          </a:xfrm>
          <a:prstGeom prst="rect">
            <a:avLst/>
          </a:prstGeom>
        </p:spPr>
      </p:pic>
    </p:spTree>
    <p:extLst>
      <p:ext uri="{BB962C8B-B14F-4D97-AF65-F5344CB8AC3E}">
        <p14:creationId xmlns:p14="http://schemas.microsoft.com/office/powerpoint/2010/main" val="189635552"/>
      </p:ext>
    </p:extLst>
  </p:cSld>
  <p:clrMapOvr>
    <a:masterClrMapping/>
  </p:clrMapOvr>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1494995" y="1790471"/>
            <a:ext cx="6154009" cy="3277057"/>
          </a:xfrm>
          <a:prstGeom prst="rect">
            <a:avLst/>
          </a:prstGeom>
        </p:spPr>
      </p:pic>
    </p:spTree>
    <p:extLst>
      <p:ext uri="{BB962C8B-B14F-4D97-AF65-F5344CB8AC3E}">
        <p14:creationId xmlns:p14="http://schemas.microsoft.com/office/powerpoint/2010/main" val="4110825827"/>
      </p:ext>
    </p:extLst>
  </p:cSld>
  <p:clrMapOvr>
    <a:masterClrMapping/>
  </p:clrMapOvr>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204178" y="999786"/>
            <a:ext cx="8735644" cy="4858428"/>
          </a:xfrm>
          <a:prstGeom prst="rect">
            <a:avLst/>
          </a:prstGeom>
        </p:spPr>
      </p:pic>
    </p:spTree>
    <p:extLst>
      <p:ext uri="{BB962C8B-B14F-4D97-AF65-F5344CB8AC3E}">
        <p14:creationId xmlns:p14="http://schemas.microsoft.com/office/powerpoint/2010/main" val="1071014337"/>
      </p:ext>
    </p:extLst>
  </p:cSld>
  <p:clrMapOvr>
    <a:masterClrMapping/>
  </p:clrMapOvr>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837679" y="1876208"/>
            <a:ext cx="7468642" cy="3105583"/>
          </a:xfrm>
          <a:prstGeom prst="rect">
            <a:avLst/>
          </a:prstGeom>
        </p:spPr>
      </p:pic>
    </p:spTree>
    <p:extLst>
      <p:ext uri="{BB962C8B-B14F-4D97-AF65-F5344CB8AC3E}">
        <p14:creationId xmlns:p14="http://schemas.microsoft.com/office/powerpoint/2010/main" val="434253433"/>
      </p:ext>
    </p:extLst>
  </p:cSld>
  <p:clrMapOvr>
    <a:masterClrMapping/>
  </p:clrMapOvr>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599520" y="1080760"/>
            <a:ext cx="7944959" cy="4696480"/>
          </a:xfrm>
          <a:prstGeom prst="rect">
            <a:avLst/>
          </a:prstGeom>
        </p:spPr>
      </p:pic>
    </p:spTree>
    <p:extLst>
      <p:ext uri="{BB962C8B-B14F-4D97-AF65-F5344CB8AC3E}">
        <p14:creationId xmlns:p14="http://schemas.microsoft.com/office/powerpoint/2010/main" val="2615659082"/>
      </p:ext>
    </p:extLst>
  </p:cSld>
  <p:clrMapOvr>
    <a:masterClrMapping/>
  </p:clrMapOvr>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499494" y="1109339"/>
            <a:ext cx="8145012" cy="4639322"/>
          </a:xfrm>
          <a:prstGeom prst="rect">
            <a:avLst/>
          </a:prstGeom>
        </p:spPr>
      </p:pic>
    </p:spTree>
    <p:extLst>
      <p:ext uri="{BB962C8B-B14F-4D97-AF65-F5344CB8AC3E}">
        <p14:creationId xmlns:p14="http://schemas.microsoft.com/office/powerpoint/2010/main" val="166175123"/>
      </p:ext>
    </p:extLst>
  </p:cSld>
  <p:clrMapOvr>
    <a:masterClrMapping/>
  </p:clrMapOvr>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2983905606"/>
      </p:ext>
    </p:extLst>
  </p:cSld>
  <p:clrMapOvr>
    <a:masterClrMapping/>
  </p:clrMapOvr>
</p:sld>
</file>

<file path=ppt/slides/slide1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1461653" y="1171260"/>
            <a:ext cx="6220693" cy="4515480"/>
          </a:xfrm>
          <a:prstGeom prst="rect">
            <a:avLst/>
          </a:prstGeom>
        </p:spPr>
      </p:pic>
    </p:spTree>
    <p:extLst>
      <p:ext uri="{BB962C8B-B14F-4D97-AF65-F5344CB8AC3E}">
        <p14:creationId xmlns:p14="http://schemas.microsoft.com/office/powerpoint/2010/main" val="4140646156"/>
      </p:ext>
    </p:extLst>
  </p:cSld>
  <p:clrMapOvr>
    <a:masterClrMapping/>
  </p:clrMapOvr>
</p:sld>
</file>

<file path=ppt/slides/slide1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2384717480"/>
      </p:ext>
    </p:extLst>
  </p:cSld>
  <p:clrMapOvr>
    <a:masterClrMapping/>
  </p:clrMapOvr>
</p:sld>
</file>

<file path=ppt/slides/slide1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286000" y="2967335"/>
            <a:ext cx="4572000" cy="923330"/>
          </a:xfrm>
          <a:prstGeom prst="rect">
            <a:avLst/>
          </a:prstGeom>
        </p:spPr>
        <p:txBody>
          <a:bodyPr>
            <a:spAutoFit/>
          </a:bodyPr>
          <a:lstStyle/>
          <a:p>
            <a:r>
              <a:rPr lang="en-IN">
                <a:hlinkClick r:id="rId2"/>
              </a:rPr>
              <a:t>Connect MongoDB With Express.js App | MERN Stack CRUD Application Series - #2 (youtube.com)</a:t>
            </a:r>
            <a:endParaRPr lang="en-IN"/>
          </a:p>
        </p:txBody>
      </p:sp>
    </p:spTree>
    <p:extLst>
      <p:ext uri="{BB962C8B-B14F-4D97-AF65-F5344CB8AC3E}">
        <p14:creationId xmlns:p14="http://schemas.microsoft.com/office/powerpoint/2010/main" val="44288955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2289</TotalTime>
  <Words>1840</Words>
  <Application>Microsoft Office PowerPoint</Application>
  <PresentationFormat>On-screen Show (4:3)</PresentationFormat>
  <Paragraphs>388</Paragraphs>
  <Slides>151</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151</vt:i4>
      </vt:variant>
    </vt:vector>
  </HeadingPairs>
  <TitlesOfParts>
    <vt:vector size="156" baseType="lpstr">
      <vt:lpstr>Arial</vt:lpstr>
      <vt:lpstr>Calibri</vt:lpstr>
      <vt:lpstr>Google Sans</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91924</dc:creator>
  <cp:lastModifiedBy>charan teja</cp:lastModifiedBy>
  <cp:revision>251</cp:revision>
  <dcterms:created xsi:type="dcterms:W3CDTF">2020-12-24T15:18:44Z</dcterms:created>
  <dcterms:modified xsi:type="dcterms:W3CDTF">2024-09-03T08:26:10Z</dcterms:modified>
</cp:coreProperties>
</file>