
<file path=[Content_Types].xml><?xml version="1.0" encoding="utf-8"?>
<Types xmlns="http://schemas.openxmlformats.org/package/2006/content-types">
  <Override PartName="/ppt/slides/slide47.xml" ContentType="application/vnd.openxmlformats-officedocument.presentationml.slide+xml"/>
  <Override PartName="/ppt/slides/slide58.xml" ContentType="application/vnd.openxmlformats-officedocument.presentationml.slide+xml"/>
  <Override PartName="/ppt/slides/slide94.xml" ContentType="application/vnd.openxmlformats-officedocument.presentationml.slide+xml"/>
  <Override PartName="/ppt/slides/slide142.xml" ContentType="application/vnd.openxmlformats-officedocument.presentationml.slide+xml"/>
  <Override PartName="/ppt/slides/slide36.xml" ContentType="application/vnd.openxmlformats-officedocument.presentationml.slide+xml"/>
  <Override PartName="/ppt/slides/slide83.xml" ContentType="application/vnd.openxmlformats-officedocument.presentationml.slide+xml"/>
  <Override PartName="/ppt/slides/slide120.xml" ContentType="application/vnd.openxmlformats-officedocument.presentationml.slide+xml"/>
  <Override PartName="/ppt/slides/slide131.xml" ContentType="application/vnd.openxmlformats-officedocument.presentationml.slide+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10.xml" ContentType="application/vnd.openxmlformats-officedocument.presentationml.slide+xml"/>
  <Override PartName="/ppt/slides/slide21.xml" ContentType="application/vnd.openxmlformats-officedocument.presentationml.slide+xml"/>
  <Override PartName="/ppt/slides/slide169.xml" ContentType="application/vnd.openxmlformats-officedocument.presentationml.slide+xml"/>
  <Override PartName="/ppt/tableStyles.xml" ContentType="application/vnd.openxmlformats-officedocument.presentationml.tableStyles+xml"/>
  <Override PartName="/ppt/slides/slide129.xml" ContentType="application/vnd.openxmlformats-officedocument.presentationml.slide+xml"/>
  <Override PartName="/ppt/slides/slide147.xml" ContentType="application/vnd.openxmlformats-officedocument.presentationml.slide+xml"/>
  <Override PartName="/ppt/slides/slide158.xml" ContentType="application/vnd.openxmlformats-officedocument.presentationml.slide+xml"/>
  <Override PartName="/ppt/slides/slide176.xml" ContentType="application/vnd.openxmlformats-officedocument.presentationml.slide+xml"/>
  <Override PartName="/ppt/slides/slide99.xml" ContentType="application/vnd.openxmlformats-officedocument.presentationml.slide+xml"/>
  <Override PartName="/ppt/slides/slide118.xml" ContentType="application/vnd.openxmlformats-officedocument.presentationml.slide+xml"/>
  <Override PartName="/ppt/slides/slide136.xml" ContentType="application/vnd.openxmlformats-officedocument.presentationml.slide+xml"/>
  <Override PartName="/ppt/slides/slide165.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slides/slide125.xml" ContentType="application/vnd.openxmlformats-officedocument.presentationml.slide+xml"/>
  <Override PartName="/ppt/slides/slide143.xml" ContentType="application/vnd.openxmlformats-officedocument.presentationml.slide+xml"/>
  <Override PartName="/ppt/slides/slide154.xml" ContentType="application/vnd.openxmlformats-officedocument.presentationml.slide+xml"/>
  <Override PartName="/ppt/slides/slide172.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s/slide132.xml" ContentType="application/vnd.openxmlformats-officedocument.presentationml.slide+xml"/>
  <Override PartName="/ppt/slides/slide150.xml" ContentType="application/vnd.openxmlformats-officedocument.presentationml.slide+xml"/>
  <Override PartName="/ppt/slides/slide161.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slides/slide159.xml" ContentType="application/vnd.openxmlformats-officedocument.presentationml.slide+xml"/>
  <Override PartName="/ppt/slides/slide119.xml" ContentType="application/vnd.openxmlformats-officedocument.presentationml.slide+xml"/>
  <Override PartName="/ppt/slides/slide148.xml" ContentType="application/vnd.openxmlformats-officedocument.presentationml.slide+xml"/>
  <Override PartName="/ppt/slides/slide166.xml" ContentType="application/vnd.openxmlformats-officedocument.presentationml.slide+xml"/>
  <Override PartName="/ppt/slides/slide177.xml" ContentType="application/vnd.openxmlformats-officedocument.presentationml.slide+xml"/>
  <Override PartName="/ppt/slideLayouts/slideLayout10.xml" ContentType="application/vnd.openxmlformats-officedocument.presentationml.slideLayout+xml"/>
  <Override PartName="/ppt/slides/slide89.xml" ContentType="application/vnd.openxmlformats-officedocument.presentationml.slide+xml"/>
  <Override PartName="/ppt/slides/slide108.xml" ContentType="application/vnd.openxmlformats-officedocument.presentationml.slide+xml"/>
  <Override PartName="/ppt/slides/slide126.xml" ContentType="application/vnd.openxmlformats-officedocument.presentationml.slide+xml"/>
  <Override PartName="/ppt/slides/slide137.xml" ContentType="application/vnd.openxmlformats-officedocument.presentationml.slide+xml"/>
  <Override PartName="/ppt/slides/slide155.xml" ContentType="application/vnd.openxmlformats-officedocument.presentationml.slide+xml"/>
  <Override PartName="/ppt/slides/slide173.xml" ContentType="application/vnd.openxmlformats-officedocument.presentationml.slide+xml"/>
  <Override PartName="/ppt/slides/slide49.xml" ContentType="application/vnd.openxmlformats-officedocument.presentationml.slide+xml"/>
  <Override PartName="/ppt/slides/slide78.xml" ContentType="application/vnd.openxmlformats-officedocument.presentationml.slide+xml"/>
  <Override PartName="/ppt/slides/slide96.xml" ContentType="application/vnd.openxmlformats-officedocument.presentationml.slide+xml"/>
  <Override PartName="/ppt/slides/slide115.xml" ContentType="application/vnd.openxmlformats-officedocument.presentationml.slide+xml"/>
  <Override PartName="/ppt/slides/slide144.xml" ContentType="application/vnd.openxmlformats-officedocument.presentationml.slide+xml"/>
  <Override PartName="/ppt/slides/slide162.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slides/slide151.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s/slide140.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s/slide149.xml" ContentType="application/vnd.openxmlformats-officedocument.presentationml.slide+xml"/>
  <Override PartName="/ppt/slideLayouts/slideLayout11.xml" ContentType="application/vnd.openxmlformats-officedocument.presentationml.slideLayout+xml"/>
  <Override PartName="/ppt/slides/slide138.xml" ContentType="application/vnd.openxmlformats-officedocument.presentationml.slide+xml"/>
  <Override PartName="/ppt/slides/slide167.xml" ContentType="application/vnd.openxmlformats-officedocument.presentationml.slide+xml"/>
  <Override PartName="/ppt/slides/slide79.xml" ContentType="application/vnd.openxmlformats-officedocument.presentationml.slide+xml"/>
  <Override PartName="/ppt/slides/slide109.xml" ContentType="application/vnd.openxmlformats-officedocument.presentationml.slide+xml"/>
  <Override PartName="/ppt/slides/slide127.xml" ContentType="application/vnd.openxmlformats-officedocument.presentationml.slide+xml"/>
  <Override PartName="/ppt/slides/slide145.xml" ContentType="application/vnd.openxmlformats-officedocument.presentationml.slide+xml"/>
  <Override PartName="/ppt/slides/slide156.xml" ContentType="application/vnd.openxmlformats-officedocument.presentationml.slide+xml"/>
  <Override PartName="/ppt/slides/slide174.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s/slide134.xml" ContentType="application/vnd.openxmlformats-officedocument.presentationml.slide+xml"/>
  <Override PartName="/ppt/slides/slide163.xml" ContentType="application/vnd.openxmlformats-officedocument.presentationml.slide+xml"/>
  <Override PartName="/ppt/slideLayouts/slideLayout9.xml" ContentType="application/vnd.openxmlformats-officedocument.presentationml.slideLayout+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slides/slide141.xml" ContentType="application/vnd.openxmlformats-officedocument.presentationml.slide+xml"/>
  <Override PartName="/ppt/slides/slide152.xml" ContentType="application/vnd.openxmlformats-officedocument.presentationml.slide+xml"/>
  <Override PartName="/ppt/slides/slide170.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130.xml" ContentType="application/vnd.openxmlformats-officedocument.presentationml.slide+xml"/>
  <Override PartName="/ppt/slideLayouts/slideLayout5.xml" ContentType="application/vnd.openxmlformats-officedocument.presentationml.slideLayout+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s/slide20.xml" ContentType="application/vnd.openxmlformats-officedocument.presentationml.slide+xml"/>
  <Override PartName="/ppt/slides/slide168.xml" ContentType="application/vnd.openxmlformats-officedocument.presentationml.slide+xml"/>
  <Override PartName="/ppt/slides/slide139.xml" ContentType="application/vnd.openxmlformats-officedocument.presentationml.slide+xml"/>
  <Override PartName="/ppt/slides/slide157.xml" ContentType="application/vnd.openxmlformats-officedocument.presentationml.slide+xml"/>
  <Override PartName="/ppt/slides/slide98.xml" ContentType="application/vnd.openxmlformats-officedocument.presentationml.slide+xml"/>
  <Override PartName="/ppt/slides/slide117.xml" ContentType="application/vnd.openxmlformats-officedocument.presentationml.slide+xml"/>
  <Override PartName="/ppt/slides/slide128.xml" ContentType="application/vnd.openxmlformats-officedocument.presentationml.slide+xml"/>
  <Override PartName="/ppt/slides/slide146.xml" ContentType="application/vnd.openxmlformats-officedocument.presentationml.slide+xml"/>
  <Override PartName="/ppt/slides/slide164.xml" ContentType="application/vnd.openxmlformats-officedocument.presentationml.slide+xml"/>
  <Override PartName="/ppt/slides/slide175.xml" ContentType="application/vnd.openxmlformats-officedocument.presentationml.slide+xml"/>
  <Override PartName="/ppt/slides/slide8.xml" ContentType="application/vnd.openxmlformats-officedocument.presentationml.slide+xml"/>
  <Override PartName="/ppt/slides/slide69.xml" ContentType="application/vnd.openxmlformats-officedocument.presentationml.slide+xml"/>
  <Override PartName="/ppt/slides/slide87.xml" ContentType="application/vnd.openxmlformats-officedocument.presentationml.slide+xml"/>
  <Override PartName="/ppt/slides/slide106.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ppt/slides/slide153.xml" ContentType="application/vnd.openxmlformats-officedocument.presentationml.slide+xml"/>
  <Override PartName="/ppt/slides/slide171.xml" ContentType="application/vnd.openxmlformats-officedocument.presentationml.slide+xml"/>
  <Override PartName="/ppt/slides/slide29.xml" ContentType="application/vnd.openxmlformats-officedocument.presentationml.slide+xml"/>
  <Override PartName="/ppt/slides/slide76.xml" ContentType="application/vnd.openxmlformats-officedocument.presentationml.slide+xml"/>
  <Override PartName="/ppt/slides/slide113.xml" ContentType="application/vnd.openxmlformats-officedocument.presentationml.slide+xml"/>
  <Override PartName="/ppt/slides/slide160.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527" r:id="rId3"/>
    <p:sldId id="469" r:id="rId4"/>
    <p:sldId id="470" r:id="rId5"/>
    <p:sldId id="472" r:id="rId6"/>
    <p:sldId id="523" r:id="rId7"/>
    <p:sldId id="517" r:id="rId8"/>
    <p:sldId id="518" r:id="rId9"/>
    <p:sldId id="519" r:id="rId10"/>
    <p:sldId id="262" r:id="rId11"/>
    <p:sldId id="463" r:id="rId12"/>
    <p:sldId id="464" r:id="rId13"/>
    <p:sldId id="503" r:id="rId14"/>
    <p:sldId id="504" r:id="rId15"/>
    <p:sldId id="505" r:id="rId16"/>
    <p:sldId id="506" r:id="rId17"/>
    <p:sldId id="507" r:id="rId18"/>
    <p:sldId id="509" r:id="rId19"/>
    <p:sldId id="510" r:id="rId20"/>
    <p:sldId id="508" r:id="rId21"/>
    <p:sldId id="511" r:id="rId22"/>
    <p:sldId id="512" r:id="rId23"/>
    <p:sldId id="513" r:id="rId24"/>
    <p:sldId id="514" r:id="rId25"/>
    <p:sldId id="515" r:id="rId26"/>
    <p:sldId id="516" r:id="rId27"/>
    <p:sldId id="481" r:id="rId28"/>
    <p:sldId id="453" r:id="rId29"/>
    <p:sldId id="267" r:id="rId30"/>
    <p:sldId id="456" r:id="rId31"/>
    <p:sldId id="454" r:id="rId32"/>
    <p:sldId id="458" r:id="rId33"/>
    <p:sldId id="273" r:id="rId34"/>
    <p:sldId id="275" r:id="rId35"/>
    <p:sldId id="281" r:id="rId36"/>
    <p:sldId id="282" r:id="rId37"/>
    <p:sldId id="459" r:id="rId38"/>
    <p:sldId id="283" r:id="rId39"/>
    <p:sldId id="460" r:id="rId40"/>
    <p:sldId id="284" r:id="rId41"/>
    <p:sldId id="285" r:id="rId42"/>
    <p:sldId id="475" r:id="rId43"/>
    <p:sldId id="501" r:id="rId44"/>
    <p:sldId id="502" r:id="rId45"/>
    <p:sldId id="528" r:id="rId46"/>
    <p:sldId id="484" r:id="rId47"/>
    <p:sldId id="485" r:id="rId48"/>
    <p:sldId id="486" r:id="rId49"/>
    <p:sldId id="287" r:id="rId50"/>
    <p:sldId id="289" r:id="rId51"/>
    <p:sldId id="290" r:id="rId52"/>
    <p:sldId id="496" r:id="rId53"/>
    <p:sldId id="497" r:id="rId54"/>
    <p:sldId id="498" r:id="rId55"/>
    <p:sldId id="500" r:id="rId56"/>
    <p:sldId id="499" r:id="rId57"/>
    <p:sldId id="487" r:id="rId58"/>
    <p:sldId id="490" r:id="rId59"/>
    <p:sldId id="491" r:id="rId60"/>
    <p:sldId id="492" r:id="rId61"/>
    <p:sldId id="493" r:id="rId62"/>
    <p:sldId id="494" r:id="rId63"/>
    <p:sldId id="495" r:id="rId64"/>
    <p:sldId id="488" r:id="rId65"/>
    <p:sldId id="489" r:id="rId66"/>
    <p:sldId id="461" r:id="rId67"/>
    <p:sldId id="333" r:id="rId68"/>
    <p:sldId id="338" r:id="rId69"/>
    <p:sldId id="529" r:id="rId70"/>
    <p:sldId id="341" r:id="rId71"/>
    <p:sldId id="348" r:id="rId72"/>
    <p:sldId id="300" r:id="rId73"/>
    <p:sldId id="301" r:id="rId74"/>
    <p:sldId id="306" r:id="rId75"/>
    <p:sldId id="303" r:id="rId76"/>
    <p:sldId id="304" r:id="rId77"/>
    <p:sldId id="305" r:id="rId78"/>
    <p:sldId id="296" r:id="rId79"/>
    <p:sldId id="326" r:id="rId80"/>
    <p:sldId id="308" r:id="rId81"/>
    <p:sldId id="530" r:id="rId82"/>
    <p:sldId id="324" r:id="rId83"/>
    <p:sldId id="325" r:id="rId84"/>
    <p:sldId id="310" r:id="rId85"/>
    <p:sldId id="311" r:id="rId86"/>
    <p:sldId id="312" r:id="rId87"/>
    <p:sldId id="328" r:id="rId88"/>
    <p:sldId id="329" r:id="rId89"/>
    <p:sldId id="313" r:id="rId90"/>
    <p:sldId id="538" r:id="rId91"/>
    <p:sldId id="327" r:id="rId92"/>
    <p:sldId id="315" r:id="rId93"/>
    <p:sldId id="314" r:id="rId94"/>
    <p:sldId id="345" r:id="rId95"/>
    <p:sldId id="346" r:id="rId96"/>
    <p:sldId id="317" r:id="rId97"/>
    <p:sldId id="318" r:id="rId98"/>
    <p:sldId id="344" r:id="rId99"/>
    <p:sldId id="377" r:id="rId100"/>
    <p:sldId id="375" r:id="rId101"/>
    <p:sldId id="320" r:id="rId102"/>
    <p:sldId id="321" r:id="rId103"/>
    <p:sldId id="323" r:id="rId104"/>
    <p:sldId id="322" r:id="rId105"/>
    <p:sldId id="388" r:id="rId106"/>
    <p:sldId id="389" r:id="rId107"/>
    <p:sldId id="390" r:id="rId108"/>
    <p:sldId id="381" r:id="rId109"/>
    <p:sldId id="391" r:id="rId110"/>
    <p:sldId id="392" r:id="rId111"/>
    <p:sldId id="383" r:id="rId112"/>
    <p:sldId id="384" r:id="rId113"/>
    <p:sldId id="385" r:id="rId114"/>
    <p:sldId id="386" r:id="rId115"/>
    <p:sldId id="382" r:id="rId116"/>
    <p:sldId id="393" r:id="rId117"/>
    <p:sldId id="394" r:id="rId118"/>
    <p:sldId id="531" r:id="rId119"/>
    <p:sldId id="395" r:id="rId120"/>
    <p:sldId id="396" r:id="rId121"/>
    <p:sldId id="397" r:id="rId122"/>
    <p:sldId id="398" r:id="rId123"/>
    <p:sldId id="410" r:id="rId124"/>
    <p:sldId id="411" r:id="rId125"/>
    <p:sldId id="412" r:id="rId126"/>
    <p:sldId id="413" r:id="rId127"/>
    <p:sldId id="414" r:id="rId128"/>
    <p:sldId id="415" r:id="rId129"/>
    <p:sldId id="416" r:id="rId130"/>
    <p:sldId id="417" r:id="rId131"/>
    <p:sldId id="418" r:id="rId132"/>
    <p:sldId id="419" r:id="rId133"/>
    <p:sldId id="420" r:id="rId134"/>
    <p:sldId id="421" r:id="rId135"/>
    <p:sldId id="422" r:id="rId136"/>
    <p:sldId id="423" r:id="rId137"/>
    <p:sldId id="424" r:id="rId138"/>
    <p:sldId id="425" r:id="rId139"/>
    <p:sldId id="426" r:id="rId140"/>
    <p:sldId id="427" r:id="rId141"/>
    <p:sldId id="428" r:id="rId142"/>
    <p:sldId id="429" r:id="rId143"/>
    <p:sldId id="399" r:id="rId144"/>
    <p:sldId id="400" r:id="rId145"/>
    <p:sldId id="401" r:id="rId146"/>
    <p:sldId id="402" r:id="rId147"/>
    <p:sldId id="403" r:id="rId148"/>
    <p:sldId id="404" r:id="rId149"/>
    <p:sldId id="405" r:id="rId150"/>
    <p:sldId id="532" r:id="rId151"/>
    <p:sldId id="406" r:id="rId152"/>
    <p:sldId id="407" r:id="rId153"/>
    <p:sldId id="408" r:id="rId154"/>
    <p:sldId id="409" r:id="rId155"/>
    <p:sldId id="434" r:id="rId156"/>
    <p:sldId id="435" r:id="rId157"/>
    <p:sldId id="436" r:id="rId158"/>
    <p:sldId id="450" r:id="rId159"/>
    <p:sldId id="437" r:id="rId160"/>
    <p:sldId id="438" r:id="rId161"/>
    <p:sldId id="439" r:id="rId162"/>
    <p:sldId id="440" r:id="rId163"/>
    <p:sldId id="441" r:id="rId164"/>
    <p:sldId id="442" r:id="rId165"/>
    <p:sldId id="443" r:id="rId166"/>
    <p:sldId id="444" r:id="rId167"/>
    <p:sldId id="445" r:id="rId168"/>
    <p:sldId id="446" r:id="rId169"/>
    <p:sldId id="447" r:id="rId170"/>
    <p:sldId id="448" r:id="rId171"/>
    <p:sldId id="449" r:id="rId172"/>
    <p:sldId id="451" r:id="rId173"/>
    <p:sldId id="533" r:id="rId174"/>
    <p:sldId id="534" r:id="rId175"/>
    <p:sldId id="535" r:id="rId176"/>
    <p:sldId id="536" r:id="rId177"/>
    <p:sldId id="537" r:id="rId17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p:scale>
          <a:sx n="70" d="100"/>
          <a:sy n="70" d="100"/>
        </p:scale>
        <p:origin x="-1810" y="-365"/>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75" Type="http://schemas.openxmlformats.org/officeDocument/2006/relationships/slide" Target="slides/slide174.xml"/><Relationship Id="rId170" Type="http://schemas.openxmlformats.org/officeDocument/2006/relationships/slide" Target="slides/slide169.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181"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4" Type="http://schemas.openxmlformats.org/officeDocument/2006/relationships/slide" Target="slides/slide3.xml"/><Relationship Id="rId9" Type="http://schemas.openxmlformats.org/officeDocument/2006/relationships/slide" Target="slides/slide8.xml"/><Relationship Id="rId172" Type="http://schemas.openxmlformats.org/officeDocument/2006/relationships/slide" Target="slides/slide171.xml"/><Relationship Id="rId180" Type="http://schemas.openxmlformats.org/officeDocument/2006/relationships/viewProps" Target="view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presProps" Target="pres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37F8406-7A99-4FD6-96D7-95C3528A9C6E}" type="datetimeFigureOut">
              <a:rPr lang="en-US" smtClean="0"/>
              <a:pPr/>
              <a:t>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D3E528-D93D-41D1-83BA-50A29352533C}"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37F8406-7A99-4FD6-96D7-95C3528A9C6E}" type="datetimeFigureOut">
              <a:rPr lang="en-US" smtClean="0"/>
              <a:pPr/>
              <a:t>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D3E528-D93D-41D1-83BA-50A29352533C}"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37F8406-7A99-4FD6-96D7-95C3528A9C6E}" type="datetimeFigureOut">
              <a:rPr lang="en-US" smtClean="0"/>
              <a:pPr/>
              <a:t>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D3E528-D93D-41D1-83BA-50A29352533C}"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37F8406-7A99-4FD6-96D7-95C3528A9C6E}" type="datetimeFigureOut">
              <a:rPr lang="en-US" smtClean="0"/>
              <a:pPr/>
              <a:t>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D3E528-D93D-41D1-83BA-50A29352533C}"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37F8406-7A99-4FD6-96D7-95C3528A9C6E}" type="datetimeFigureOut">
              <a:rPr lang="en-US" smtClean="0"/>
              <a:pPr/>
              <a:t>1/6/2024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D3E528-D93D-41D1-83BA-50A29352533C}"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37F8406-7A99-4FD6-96D7-95C3528A9C6E}" type="datetimeFigureOut">
              <a:rPr lang="en-US" smtClean="0"/>
              <a:pPr/>
              <a:t>1/6/2024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D3E528-D93D-41D1-83BA-50A29352533C}"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37F8406-7A99-4FD6-96D7-95C3528A9C6E}" type="datetimeFigureOut">
              <a:rPr lang="en-US" smtClean="0"/>
              <a:pPr/>
              <a:t>1/6/2024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D3E528-D93D-41D1-83BA-50A29352533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37F8406-7A99-4FD6-96D7-95C3528A9C6E}" type="datetimeFigureOut">
              <a:rPr lang="en-US" smtClean="0"/>
              <a:pPr/>
              <a:t>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D3E528-D93D-41D1-83BA-50A29352533C}"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37F8406-7A99-4FD6-96D7-95C3528A9C6E}" type="datetimeFigureOut">
              <a:rPr lang="en-US" smtClean="0"/>
              <a:pPr/>
              <a:t>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D3E528-D93D-41D1-83BA-50A29352533C}"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37F8406-7A99-4FD6-96D7-95C3528A9C6E}" type="datetimeFigureOut">
              <a:rPr lang="en-US" smtClean="0"/>
              <a:pPr/>
              <a:t>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D3E528-D93D-41D1-83BA-50A29352533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37F8406-7A99-4FD6-96D7-95C3528A9C6E}" type="datetimeFigureOut">
              <a:rPr lang="en-US" smtClean="0"/>
              <a:pPr/>
              <a:t>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D3E528-D93D-41D1-83BA-50A29352533C}"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7F8406-7A99-4FD6-96D7-95C3528A9C6E}" type="datetimeFigureOut">
              <a:rPr lang="en-US" smtClean="0"/>
              <a:pPr/>
              <a:t>1/6/2024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D3E528-D93D-41D1-83BA-50A29352533C}"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hyperlink" Target="https://www.splessons.com/lesson/java-override/" TargetMode="External"/><Relationship Id="rId2" Type="http://schemas.openxmlformats.org/officeDocument/2006/relationships/hyperlink" Target="https://www.splessons.com/lesson/overloading-in-java/" TargetMode="External"/><Relationship Id="rId1" Type="http://schemas.openxmlformats.org/officeDocument/2006/relationships/slideLayout" Target="../slideLayouts/slideLayout7.xml"/><Relationship Id="rId4" Type="http://schemas.openxmlformats.org/officeDocument/2006/relationships/image" Target="../media/image78.jpeg"/></Relationships>
</file>

<file path=ppt/slides/_rels/slide8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image" Target="../media/image85.jpe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image" Target="../media/image90.jpe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image" Target="../media/image93.jpeg"/><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hyperlink" Target="https://www.scientecheasy.com/2020/09/java-try-catch-block.html/" TargetMode="Externa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3" Type="http://schemas.openxmlformats.org/officeDocument/2006/relationships/hyperlink" Target="https://www.scientecheasy.com/2020/09/java-set.html/" TargetMode="External"/><Relationship Id="rId2" Type="http://schemas.openxmlformats.org/officeDocument/2006/relationships/hyperlink" Target="https://www.scientecheasy.com/2020/09/java-list-interface.html/" TargetMode="Externa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3" Type="http://schemas.openxmlformats.org/officeDocument/2006/relationships/hyperlink" Target="https://www.scientecheasy.com/2020/09/vector-in-java.html/" TargetMode="External"/><Relationship Id="rId2" Type="http://schemas.openxmlformats.org/officeDocument/2006/relationships/hyperlink" Target="https://www.scientecheasy.com/2020/09/arraylist-in-java.html/" TargetMode="External"/><Relationship Id="rId1" Type="http://schemas.openxmlformats.org/officeDocument/2006/relationships/slideLayout" Target="../slideLayouts/slideLayout7.xml"/><Relationship Id="rId4" Type="http://schemas.openxmlformats.org/officeDocument/2006/relationships/hyperlink" Target="https://www.scientecheasy.com/2020/09/java-linkedlist.html/" TargetMode="Externa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176383" y="714356"/>
            <a:ext cx="8967617" cy="5643602"/>
          </a:xfrm>
          <a:prstGeom prst="rect">
            <a:avLst/>
          </a:prstGeom>
          <a:noFill/>
          <a:ln w="9525">
            <a:noFill/>
            <a:miter lim="800000"/>
            <a:headEnd/>
            <a:tailEnd/>
          </a:ln>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 y="857232"/>
            <a:ext cx="9144032" cy="4524315"/>
          </a:xfrm>
          <a:prstGeom prst="rect">
            <a:avLst/>
          </a:prstGeom>
        </p:spPr>
        <p:txBody>
          <a:bodyPr wrap="square">
            <a:spAutoFit/>
          </a:bodyPr>
          <a:lstStyle/>
          <a:p>
            <a:endParaRPr lang="en-US" sz="2400" b="1" dirty="0" smtClean="0">
              <a:solidFill>
                <a:srgbClr val="FF0000"/>
              </a:solidFill>
              <a:latin typeface="Arial" pitchFamily="34" charset="0"/>
              <a:cs typeface="Arial" pitchFamily="34" charset="0"/>
            </a:endParaRPr>
          </a:p>
          <a:p>
            <a:endParaRPr lang="en-US" sz="2400" b="1" dirty="0" smtClean="0">
              <a:solidFill>
                <a:srgbClr val="FF0000"/>
              </a:solidFill>
              <a:latin typeface="Arial" pitchFamily="34" charset="0"/>
              <a:cs typeface="Arial" pitchFamily="34" charset="0"/>
            </a:endParaRPr>
          </a:p>
          <a:p>
            <a:r>
              <a:rPr lang="en-US" sz="2400" b="1" dirty="0" smtClean="0">
                <a:solidFill>
                  <a:srgbClr val="FF0000"/>
                </a:solidFill>
                <a:latin typeface="Arial" pitchFamily="34" charset="0"/>
                <a:cs typeface="Arial" pitchFamily="34" charset="0"/>
              </a:rPr>
              <a:t>Java</a:t>
            </a:r>
            <a:r>
              <a:rPr lang="en-US" sz="2400" dirty="0" smtClean="0">
                <a:latin typeface="Arial" pitchFamily="34" charset="0"/>
                <a:cs typeface="Arial" pitchFamily="34" charset="0"/>
              </a:rPr>
              <a:t> is a class-based, high-level and object-oriented programming language </a:t>
            </a:r>
            <a:r>
              <a:rPr lang="en-US" sz="2400" dirty="0" smtClean="0"/>
              <a:t> </a:t>
            </a:r>
            <a:r>
              <a:rPr lang="en-US" sz="2400" dirty="0" smtClean="0">
                <a:latin typeface="Arial" pitchFamily="34" charset="0"/>
                <a:cs typeface="Arial" pitchFamily="34" charset="0"/>
              </a:rPr>
              <a:t>for building web and desktop applications.</a:t>
            </a:r>
          </a:p>
          <a:p>
            <a:endParaRPr lang="en-US" sz="2400" dirty="0" smtClean="0"/>
          </a:p>
          <a:p>
            <a:endParaRPr lang="en-US" sz="2400" dirty="0" smtClean="0"/>
          </a:p>
          <a:p>
            <a:r>
              <a:rPr lang="en-US" sz="2400" dirty="0" smtClean="0"/>
              <a:t>JAVA was developed by Sun Microsystems Inc in 1991, later acquired by Oracle Corporation. </a:t>
            </a:r>
          </a:p>
          <a:p>
            <a:endParaRPr lang="en-US" sz="2400" dirty="0" smtClean="0"/>
          </a:p>
          <a:p>
            <a:r>
              <a:rPr lang="en-US" sz="2400" dirty="0" smtClean="0"/>
              <a:t>It was developed by James Gosling ,  </a:t>
            </a:r>
            <a:r>
              <a:rPr lang="en-US" sz="2400" b="1" dirty="0" smtClean="0"/>
              <a:t>Mike Sheridan </a:t>
            </a:r>
            <a:r>
              <a:rPr lang="en-US" sz="2400" dirty="0" smtClean="0"/>
              <a:t>and Patrick </a:t>
            </a:r>
            <a:r>
              <a:rPr lang="en-US" sz="2400" dirty="0" err="1" smtClean="0"/>
              <a:t>Naughton</a:t>
            </a:r>
            <a:r>
              <a:rPr lang="en-US" sz="2400" dirty="0" smtClean="0"/>
              <a:t>.</a:t>
            </a:r>
            <a:endParaRPr lang="en-US" sz="2400" dirty="0" smtClean="0">
              <a:latin typeface="Arial" pitchFamily="34" charset="0"/>
              <a:cs typeface="Arial" pitchFamily="34" charset="0"/>
            </a:endParaRPr>
          </a:p>
          <a:p>
            <a:endParaRPr lang="en-US" sz="2400" dirty="0" smtClean="0">
              <a:latin typeface="Arial" pitchFamily="34" charset="0"/>
              <a:cs typeface="Arial" pitchFamily="34" charset="0"/>
            </a:endParaRPr>
          </a:p>
        </p:txBody>
      </p:sp>
      <p:sp>
        <p:nvSpPr>
          <p:cNvPr id="3" name="Rectangle 2"/>
          <p:cNvSpPr/>
          <p:nvPr/>
        </p:nvSpPr>
        <p:spPr>
          <a:xfrm>
            <a:off x="285720" y="214290"/>
            <a:ext cx="3643338" cy="584775"/>
          </a:xfrm>
          <a:prstGeom prst="rect">
            <a:avLst/>
          </a:prstGeom>
        </p:spPr>
        <p:txBody>
          <a:bodyPr wrap="square">
            <a:spAutoFit/>
          </a:bodyPr>
          <a:lstStyle/>
          <a:p>
            <a:pPr fontAlgn="base"/>
            <a:r>
              <a:rPr lang="en-US" sz="3200" b="1" dirty="0" smtClean="0">
                <a:solidFill>
                  <a:srgbClr val="FF0000"/>
                </a:solidFill>
              </a:rPr>
              <a:t>What is Java?</a:t>
            </a:r>
            <a:endParaRPr lang="en-US" sz="3200" b="1" dirty="0">
              <a:solidFill>
                <a:srgbClr val="FF0000"/>
              </a:solidFill>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8596" y="857232"/>
            <a:ext cx="8501122" cy="4154984"/>
          </a:xfrm>
          <a:prstGeom prst="rect">
            <a:avLst/>
          </a:prstGeom>
        </p:spPr>
        <p:txBody>
          <a:bodyPr wrap="square">
            <a:spAutoFit/>
          </a:bodyPr>
          <a:lstStyle/>
          <a:p>
            <a:r>
              <a:rPr lang="en-US" sz="2400" dirty="0" smtClean="0">
                <a:latin typeface="Arial" pitchFamily="34" charset="0"/>
                <a:cs typeface="Arial" pitchFamily="34" charset="0"/>
              </a:rPr>
              <a:t>It follows the principle </a:t>
            </a:r>
            <a:r>
              <a:rPr lang="en-US" sz="2400" dirty="0" smtClean="0">
                <a:solidFill>
                  <a:srgbClr val="FF0000"/>
                </a:solidFill>
                <a:latin typeface="Arial" pitchFamily="34" charset="0"/>
                <a:cs typeface="Arial" pitchFamily="34" charset="0"/>
              </a:rPr>
              <a:t>of </a:t>
            </a:r>
            <a:r>
              <a:rPr lang="en-US" sz="2400" b="1" dirty="0" smtClean="0">
                <a:solidFill>
                  <a:srgbClr val="FF0000"/>
                </a:solidFill>
                <a:latin typeface="Arial" pitchFamily="34" charset="0"/>
                <a:cs typeface="Arial" pitchFamily="34" charset="0"/>
              </a:rPr>
              <a:t>WORA (Write Once Run Anywhere)</a:t>
            </a:r>
            <a:r>
              <a:rPr lang="en-US" sz="2400" dirty="0" smtClean="0">
                <a:solidFill>
                  <a:srgbClr val="FF0000"/>
                </a:solidFill>
                <a:latin typeface="Arial" pitchFamily="34" charset="0"/>
                <a:cs typeface="Arial" pitchFamily="34" charset="0"/>
              </a:rPr>
              <a:t> </a:t>
            </a:r>
            <a:r>
              <a:rPr lang="en-US" sz="2400" dirty="0" smtClean="0">
                <a:latin typeface="Arial" pitchFamily="34" charset="0"/>
                <a:cs typeface="Arial" pitchFamily="34" charset="0"/>
              </a:rPr>
              <a:t>– you can run a java program as many times as you want on a Java supported platform after it is compiled.</a:t>
            </a:r>
          </a:p>
          <a:p>
            <a:r>
              <a:rPr lang="en-US" sz="2400" dirty="0" smtClean="0">
                <a:latin typeface="Arial" pitchFamily="34" charset="0"/>
                <a:cs typeface="Arial" pitchFamily="34" charset="0"/>
              </a:rPr>
              <a:t> There is no need for recompilation.</a:t>
            </a:r>
          </a:p>
          <a:p>
            <a:endParaRPr lang="en-US" sz="2400" dirty="0" smtClean="0">
              <a:latin typeface="Arial" pitchFamily="34" charset="0"/>
              <a:cs typeface="Arial" pitchFamily="34" charset="0"/>
            </a:endParaRPr>
          </a:p>
          <a:p>
            <a:endParaRPr lang="en-US" sz="2400" dirty="0" smtClean="0">
              <a:latin typeface="Arial" pitchFamily="34" charset="0"/>
              <a:cs typeface="Arial" pitchFamily="34" charset="0"/>
            </a:endParaRPr>
          </a:p>
          <a:p>
            <a:r>
              <a:rPr lang="en-US" sz="2400" dirty="0" smtClean="0">
                <a:latin typeface="Arial" pitchFamily="34" charset="0"/>
                <a:cs typeface="Arial" pitchFamily="34" charset="0"/>
              </a:rPr>
              <a:t>A </a:t>
            </a:r>
            <a:r>
              <a:rPr lang="en-US" sz="2400" dirty="0" smtClean="0">
                <a:solidFill>
                  <a:srgbClr val="FF0000"/>
                </a:solidFill>
                <a:latin typeface="Arial" pitchFamily="34" charset="0"/>
                <a:cs typeface="Arial" pitchFamily="34" charset="0"/>
              </a:rPr>
              <a:t>platform</a:t>
            </a:r>
            <a:r>
              <a:rPr lang="en-US" sz="2400" dirty="0" smtClean="0">
                <a:latin typeface="Arial" pitchFamily="34" charset="0"/>
                <a:cs typeface="Arial" pitchFamily="34" charset="0"/>
              </a:rPr>
              <a:t> is any hardware or software environment where you can run your programs. </a:t>
            </a:r>
            <a:endParaRPr lang="en-US" sz="2400" dirty="0" smtClean="0">
              <a:latin typeface="Arial" pitchFamily="34" charset="0"/>
              <a:cs typeface="Arial" pitchFamily="34" charset="0"/>
            </a:endParaRPr>
          </a:p>
          <a:p>
            <a:endParaRPr lang="en-US" sz="2400" dirty="0" smtClean="0">
              <a:latin typeface="Arial" pitchFamily="34" charset="0"/>
              <a:cs typeface="Arial" pitchFamily="34" charset="0"/>
            </a:endParaRPr>
          </a:p>
          <a:p>
            <a:r>
              <a:rPr lang="en-US" sz="2400" dirty="0" smtClean="0">
                <a:latin typeface="Arial" pitchFamily="34" charset="0"/>
                <a:cs typeface="Arial" pitchFamily="34" charset="0"/>
              </a:rPr>
              <a:t>Java </a:t>
            </a:r>
            <a:r>
              <a:rPr lang="en-US" sz="2400" dirty="0" smtClean="0">
                <a:latin typeface="Arial" pitchFamily="34" charset="0"/>
                <a:cs typeface="Arial" pitchFamily="34" charset="0"/>
              </a:rPr>
              <a:t>is known as a platform because it has a </a:t>
            </a:r>
            <a:r>
              <a:rPr lang="en-US" sz="2400" dirty="0" smtClean="0">
                <a:solidFill>
                  <a:srgbClr val="FF0000"/>
                </a:solidFill>
                <a:latin typeface="Arial" pitchFamily="34" charset="0"/>
                <a:cs typeface="Arial" pitchFamily="34" charset="0"/>
              </a:rPr>
              <a:t>runtime environment (JRE) and API. </a:t>
            </a:r>
            <a:endParaRPr lang="en-US" sz="2400" dirty="0">
              <a:solidFill>
                <a:srgbClr val="FF0000"/>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2817" name="Picture 1"/>
          <p:cNvPicPr>
            <a:picLocks noChangeAspect="1" noChangeArrowheads="1"/>
          </p:cNvPicPr>
          <p:nvPr/>
        </p:nvPicPr>
        <p:blipFill>
          <a:blip r:embed="rId2"/>
          <a:srcRect/>
          <a:stretch>
            <a:fillRect/>
          </a:stretch>
        </p:blipFill>
        <p:spPr bwMode="auto">
          <a:xfrm>
            <a:off x="5103" y="500042"/>
            <a:ext cx="9067491" cy="557690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64" name="Picture 4"/>
          <p:cNvPicPr>
            <a:picLocks noChangeAspect="1" noChangeArrowheads="1"/>
          </p:cNvPicPr>
          <p:nvPr/>
        </p:nvPicPr>
        <p:blipFill>
          <a:blip r:embed="rId2"/>
          <a:srcRect/>
          <a:stretch>
            <a:fillRect/>
          </a:stretch>
        </p:blipFill>
        <p:spPr bwMode="auto">
          <a:xfrm>
            <a:off x="571472" y="35165"/>
            <a:ext cx="8072494" cy="6848273"/>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1490" name="Picture 2"/>
          <p:cNvPicPr>
            <a:picLocks noChangeAspect="1" noChangeArrowheads="1"/>
          </p:cNvPicPr>
          <p:nvPr/>
        </p:nvPicPr>
        <p:blipFill>
          <a:blip r:embed="rId2"/>
          <a:srcRect/>
          <a:stretch>
            <a:fillRect/>
          </a:stretch>
        </p:blipFill>
        <p:spPr bwMode="auto">
          <a:xfrm>
            <a:off x="190531" y="142852"/>
            <a:ext cx="8810625" cy="6533722"/>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2514" name="Picture 2"/>
          <p:cNvPicPr>
            <a:picLocks noChangeAspect="1" noChangeArrowheads="1"/>
          </p:cNvPicPr>
          <p:nvPr/>
        </p:nvPicPr>
        <p:blipFill>
          <a:blip r:embed="rId2"/>
          <a:srcRect/>
          <a:stretch>
            <a:fillRect/>
          </a:stretch>
        </p:blipFill>
        <p:spPr bwMode="auto">
          <a:xfrm>
            <a:off x="214282" y="71438"/>
            <a:ext cx="8682068" cy="6715125"/>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3538" name="Picture 2"/>
          <p:cNvPicPr>
            <a:picLocks noChangeAspect="1" noChangeArrowheads="1"/>
          </p:cNvPicPr>
          <p:nvPr/>
        </p:nvPicPr>
        <p:blipFill>
          <a:blip r:embed="rId2"/>
          <a:srcRect/>
          <a:stretch>
            <a:fillRect/>
          </a:stretch>
        </p:blipFill>
        <p:spPr bwMode="auto">
          <a:xfrm>
            <a:off x="409573" y="633437"/>
            <a:ext cx="8305831" cy="6296025"/>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192438" y="1357298"/>
            <a:ext cx="8880156" cy="400051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AutoShape 2" descr="Features-Java 1"/>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60772" name="AutoShape 4" descr="Features-Java 1"/>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60774" name="AutoShape 6" descr="Features-Java 1"/>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60775" name="Picture 7"/>
          <p:cNvPicPr>
            <a:picLocks noChangeAspect="1" noChangeArrowheads="1"/>
          </p:cNvPicPr>
          <p:nvPr/>
        </p:nvPicPr>
        <p:blipFill>
          <a:blip r:embed="rId2"/>
          <a:srcRect/>
          <a:stretch>
            <a:fillRect/>
          </a:stretch>
        </p:blipFill>
        <p:spPr bwMode="auto">
          <a:xfrm>
            <a:off x="255823" y="857232"/>
            <a:ext cx="8602457" cy="500066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9745" name="Picture 1"/>
          <p:cNvPicPr>
            <a:picLocks noChangeAspect="1" noChangeArrowheads="1"/>
          </p:cNvPicPr>
          <p:nvPr/>
        </p:nvPicPr>
        <p:blipFill>
          <a:blip r:embed="rId2"/>
          <a:srcRect/>
          <a:stretch>
            <a:fillRect/>
          </a:stretch>
        </p:blipFill>
        <p:spPr bwMode="auto">
          <a:xfrm>
            <a:off x="146513" y="142852"/>
            <a:ext cx="8850972" cy="657229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9202" name="Picture 2"/>
          <p:cNvPicPr>
            <a:picLocks noChangeAspect="1" noChangeArrowheads="1"/>
          </p:cNvPicPr>
          <p:nvPr/>
        </p:nvPicPr>
        <p:blipFill>
          <a:blip r:embed="rId2"/>
          <a:srcRect/>
          <a:stretch>
            <a:fillRect/>
          </a:stretch>
        </p:blipFill>
        <p:spPr bwMode="auto">
          <a:xfrm>
            <a:off x="285720" y="171057"/>
            <a:ext cx="8643997" cy="654409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0226" name="Picture 2"/>
          <p:cNvPicPr>
            <a:picLocks noChangeAspect="1" noChangeArrowheads="1"/>
          </p:cNvPicPr>
          <p:nvPr/>
        </p:nvPicPr>
        <p:blipFill>
          <a:blip r:embed="rId2"/>
          <a:srcRect/>
          <a:stretch>
            <a:fillRect/>
          </a:stretch>
        </p:blipFill>
        <p:spPr bwMode="auto">
          <a:xfrm>
            <a:off x="0" y="285752"/>
            <a:ext cx="9144000" cy="592933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1250" name="Picture 2"/>
          <p:cNvPicPr>
            <a:picLocks noChangeAspect="1" noChangeArrowheads="1"/>
          </p:cNvPicPr>
          <p:nvPr/>
        </p:nvPicPr>
        <p:blipFill>
          <a:blip r:embed="rId2"/>
          <a:srcRect/>
          <a:stretch>
            <a:fillRect/>
          </a:stretch>
        </p:blipFill>
        <p:spPr bwMode="auto">
          <a:xfrm>
            <a:off x="71465" y="109387"/>
            <a:ext cx="8786815" cy="667719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2274" name="Picture 2"/>
          <p:cNvPicPr>
            <a:picLocks noChangeAspect="1" noChangeArrowheads="1"/>
          </p:cNvPicPr>
          <p:nvPr/>
        </p:nvPicPr>
        <p:blipFill>
          <a:blip r:embed="rId2"/>
          <a:srcRect/>
          <a:stretch>
            <a:fillRect/>
          </a:stretch>
        </p:blipFill>
        <p:spPr bwMode="auto">
          <a:xfrm>
            <a:off x="132521" y="1285860"/>
            <a:ext cx="8654321" cy="450059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3298" name="Picture 2"/>
          <p:cNvPicPr>
            <a:picLocks noChangeAspect="1" noChangeArrowheads="1"/>
          </p:cNvPicPr>
          <p:nvPr/>
        </p:nvPicPr>
        <p:blipFill>
          <a:blip r:embed="rId2"/>
          <a:srcRect/>
          <a:stretch>
            <a:fillRect/>
          </a:stretch>
        </p:blipFill>
        <p:spPr bwMode="auto">
          <a:xfrm>
            <a:off x="142845" y="71414"/>
            <a:ext cx="8786874" cy="66675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22" name="Picture 2"/>
          <p:cNvPicPr>
            <a:picLocks noChangeAspect="1" noChangeArrowheads="1"/>
          </p:cNvPicPr>
          <p:nvPr/>
        </p:nvPicPr>
        <p:blipFill>
          <a:blip r:embed="rId2"/>
          <a:srcRect/>
          <a:stretch>
            <a:fillRect/>
          </a:stretch>
        </p:blipFill>
        <p:spPr bwMode="auto">
          <a:xfrm>
            <a:off x="17746" y="280998"/>
            <a:ext cx="9054848" cy="536258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5346" name="Picture 2"/>
          <p:cNvPicPr>
            <a:picLocks noChangeAspect="1" noChangeArrowheads="1"/>
          </p:cNvPicPr>
          <p:nvPr/>
        </p:nvPicPr>
        <p:blipFill>
          <a:blip r:embed="rId2"/>
          <a:srcRect/>
          <a:stretch>
            <a:fillRect/>
          </a:stretch>
        </p:blipFill>
        <p:spPr bwMode="auto">
          <a:xfrm>
            <a:off x="67044" y="1000108"/>
            <a:ext cx="9142408" cy="492922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6370" name="Picture 2"/>
          <p:cNvPicPr>
            <a:picLocks noChangeAspect="1" noChangeArrowheads="1"/>
          </p:cNvPicPr>
          <p:nvPr/>
        </p:nvPicPr>
        <p:blipFill>
          <a:blip r:embed="rId2"/>
          <a:srcRect/>
          <a:stretch>
            <a:fillRect/>
          </a:stretch>
        </p:blipFill>
        <p:spPr bwMode="auto">
          <a:xfrm>
            <a:off x="71406" y="714356"/>
            <a:ext cx="9009764" cy="500066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7394" name="Picture 2"/>
          <p:cNvPicPr>
            <a:picLocks noChangeAspect="1" noChangeArrowheads="1"/>
          </p:cNvPicPr>
          <p:nvPr/>
        </p:nvPicPr>
        <p:blipFill>
          <a:blip r:embed="rId2"/>
          <a:srcRect/>
          <a:stretch>
            <a:fillRect/>
          </a:stretch>
        </p:blipFill>
        <p:spPr bwMode="auto">
          <a:xfrm>
            <a:off x="214314" y="106797"/>
            <a:ext cx="8786842" cy="660835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8418" name="Picture 2"/>
          <p:cNvPicPr>
            <a:picLocks noChangeAspect="1" noChangeArrowheads="1"/>
          </p:cNvPicPr>
          <p:nvPr/>
        </p:nvPicPr>
        <p:blipFill>
          <a:blip r:embed="rId2"/>
          <a:srcRect/>
          <a:stretch>
            <a:fillRect/>
          </a:stretch>
        </p:blipFill>
        <p:spPr bwMode="auto">
          <a:xfrm>
            <a:off x="528638" y="52388"/>
            <a:ext cx="8086725" cy="67532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9442" name="Picture 2"/>
          <p:cNvPicPr>
            <a:picLocks noChangeAspect="1" noChangeArrowheads="1"/>
          </p:cNvPicPr>
          <p:nvPr/>
        </p:nvPicPr>
        <p:blipFill>
          <a:blip r:embed="rId2"/>
          <a:srcRect/>
          <a:stretch>
            <a:fillRect/>
          </a:stretch>
        </p:blipFill>
        <p:spPr bwMode="auto">
          <a:xfrm>
            <a:off x="142844" y="429173"/>
            <a:ext cx="8331772" cy="564303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0466" name="Picture 2"/>
          <p:cNvPicPr>
            <a:picLocks noChangeAspect="1" noChangeArrowheads="1"/>
          </p:cNvPicPr>
          <p:nvPr/>
        </p:nvPicPr>
        <p:blipFill>
          <a:blip r:embed="rId2"/>
          <a:srcRect/>
          <a:stretch>
            <a:fillRect/>
          </a:stretch>
        </p:blipFill>
        <p:spPr bwMode="auto">
          <a:xfrm>
            <a:off x="604838" y="571480"/>
            <a:ext cx="7934325" cy="56578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1714480" y="214290"/>
            <a:ext cx="5357850" cy="650085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1857356" y="71414"/>
            <a:ext cx="5857916" cy="672900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p:cNvPicPr>
            <a:picLocks noChangeAspect="1" noChangeArrowheads="1"/>
          </p:cNvPicPr>
          <p:nvPr/>
        </p:nvPicPr>
        <p:blipFill>
          <a:blip r:embed="rId2" cstate="print"/>
          <a:srcRect/>
          <a:stretch>
            <a:fillRect/>
          </a:stretch>
        </p:blipFill>
        <p:spPr bwMode="auto">
          <a:xfrm>
            <a:off x="0" y="357166"/>
            <a:ext cx="9144000" cy="585791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0" y="857232"/>
            <a:ext cx="9144000" cy="5143536"/>
            <a:chOff x="0" y="1028674"/>
            <a:chExt cx="8774807" cy="4200526"/>
          </a:xfrm>
        </p:grpSpPr>
        <p:pic>
          <p:nvPicPr>
            <p:cNvPr id="14338" name="Picture 2" descr="Differences between JDK, JRE and JVM - GeeksforGeeks"/>
            <p:cNvPicPr>
              <a:picLocks noChangeAspect="1" noChangeArrowheads="1"/>
            </p:cNvPicPr>
            <p:nvPr/>
          </p:nvPicPr>
          <p:blipFill>
            <a:blip r:embed="rId2" cstate="print"/>
            <a:srcRect/>
            <a:stretch>
              <a:fillRect/>
            </a:stretch>
          </p:blipFill>
          <p:spPr bwMode="auto">
            <a:xfrm>
              <a:off x="0" y="1028674"/>
              <a:ext cx="4314825" cy="4200526"/>
            </a:xfrm>
            <a:prstGeom prst="rect">
              <a:avLst/>
            </a:prstGeom>
            <a:noFill/>
          </p:spPr>
        </p:pic>
        <p:pic>
          <p:nvPicPr>
            <p:cNvPr id="14340" name="Picture 4" descr="JDK JRE JVM JIT - Java Compiler"/>
            <p:cNvPicPr>
              <a:picLocks noChangeAspect="1" noChangeArrowheads="1"/>
            </p:cNvPicPr>
            <p:nvPr/>
          </p:nvPicPr>
          <p:blipFill>
            <a:blip r:embed="rId3" cstate="print"/>
            <a:srcRect/>
            <a:stretch>
              <a:fillRect/>
            </a:stretch>
          </p:blipFill>
          <p:spPr bwMode="auto">
            <a:xfrm>
              <a:off x="4860032" y="1052736"/>
              <a:ext cx="3914775" cy="3295651"/>
            </a:xfrm>
            <a:prstGeom prst="rect">
              <a:avLst/>
            </a:prstGeom>
            <a:noFill/>
          </p:spPr>
        </p:pic>
      </p:gr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p:cNvPicPr>
            <a:picLocks noChangeAspect="1" noChangeArrowheads="1"/>
          </p:cNvPicPr>
          <p:nvPr/>
        </p:nvPicPr>
        <p:blipFill>
          <a:blip r:embed="rId2" cstate="print"/>
          <a:srcRect/>
          <a:stretch>
            <a:fillRect/>
          </a:stretch>
        </p:blipFill>
        <p:spPr bwMode="auto">
          <a:xfrm>
            <a:off x="428596" y="714356"/>
            <a:ext cx="8424936" cy="480030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5" name="Picture 1"/>
          <p:cNvPicPr>
            <a:picLocks noChangeAspect="1" noChangeArrowheads="1"/>
          </p:cNvPicPr>
          <p:nvPr/>
        </p:nvPicPr>
        <p:blipFill>
          <a:blip r:embed="rId2" cstate="print"/>
          <a:srcRect/>
          <a:stretch>
            <a:fillRect/>
          </a:stretch>
        </p:blipFill>
        <p:spPr bwMode="auto">
          <a:xfrm>
            <a:off x="107504" y="428604"/>
            <a:ext cx="9036496" cy="47285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p:cNvPicPr>
            <a:picLocks noChangeAspect="1" noChangeArrowheads="1"/>
          </p:cNvPicPr>
          <p:nvPr/>
        </p:nvPicPr>
        <p:blipFill>
          <a:blip r:embed="rId2" cstate="print"/>
          <a:srcRect/>
          <a:stretch>
            <a:fillRect/>
          </a:stretch>
        </p:blipFill>
        <p:spPr bwMode="auto">
          <a:xfrm>
            <a:off x="357158" y="493989"/>
            <a:ext cx="8429684" cy="572109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p:cNvPicPr>
            <a:picLocks noChangeAspect="1" noChangeArrowheads="1"/>
          </p:cNvPicPr>
          <p:nvPr/>
        </p:nvPicPr>
        <p:blipFill>
          <a:blip r:embed="rId2" cstate="print"/>
          <a:srcRect/>
          <a:stretch>
            <a:fillRect/>
          </a:stretch>
        </p:blipFill>
        <p:spPr bwMode="auto">
          <a:xfrm>
            <a:off x="75881" y="857232"/>
            <a:ext cx="8959020" cy="492922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p:cNvPicPr>
            <a:picLocks noChangeAspect="1" noChangeArrowheads="1"/>
          </p:cNvPicPr>
          <p:nvPr/>
        </p:nvPicPr>
        <p:blipFill>
          <a:blip r:embed="rId2" cstate="print"/>
          <a:srcRect/>
          <a:stretch>
            <a:fillRect/>
          </a:stretch>
        </p:blipFill>
        <p:spPr bwMode="auto">
          <a:xfrm>
            <a:off x="198022" y="1142984"/>
            <a:ext cx="8731696" cy="437541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cstate="print"/>
          <a:srcRect/>
          <a:stretch>
            <a:fillRect/>
          </a:stretch>
        </p:blipFill>
        <p:spPr bwMode="auto">
          <a:xfrm>
            <a:off x="214282" y="404664"/>
            <a:ext cx="8929718" cy="590465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p:cNvPicPr>
            <a:picLocks noChangeAspect="1" noChangeArrowheads="1"/>
          </p:cNvPicPr>
          <p:nvPr/>
        </p:nvPicPr>
        <p:blipFill>
          <a:blip r:embed="rId2" cstate="print"/>
          <a:srcRect/>
          <a:stretch>
            <a:fillRect/>
          </a:stretch>
        </p:blipFill>
        <p:spPr bwMode="auto">
          <a:xfrm>
            <a:off x="183880" y="692696"/>
            <a:ext cx="8960120" cy="530807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AutoShape 2" descr="Reintroduction to Java Data Types | getK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28" name="AutoShape 4" descr="Reintroduction to Java Data Types | getK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29" name="Picture 5"/>
          <p:cNvPicPr>
            <a:picLocks noChangeAspect="1" noChangeArrowheads="1"/>
          </p:cNvPicPr>
          <p:nvPr/>
        </p:nvPicPr>
        <p:blipFill>
          <a:blip r:embed="rId2" cstate="print"/>
          <a:srcRect/>
          <a:stretch>
            <a:fillRect/>
          </a:stretch>
        </p:blipFill>
        <p:spPr bwMode="auto">
          <a:xfrm>
            <a:off x="196016" y="428604"/>
            <a:ext cx="8662264" cy="592935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9986" name="Picture 2" descr="Java Primitive Data Types Size and Range"/>
          <p:cNvPicPr>
            <a:picLocks noChangeAspect="1" noChangeArrowheads="1"/>
          </p:cNvPicPr>
          <p:nvPr/>
        </p:nvPicPr>
        <p:blipFill>
          <a:blip r:embed="rId2"/>
          <a:srcRect/>
          <a:stretch>
            <a:fillRect/>
          </a:stretch>
        </p:blipFill>
        <p:spPr bwMode="auto">
          <a:xfrm>
            <a:off x="7905" y="1000108"/>
            <a:ext cx="9017064" cy="5072098"/>
          </a:xfrm>
          <a:prstGeom prst="rect">
            <a:avLst/>
          </a:prstGeom>
          <a:noFill/>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srcRect/>
          <a:stretch>
            <a:fillRect/>
          </a:stretch>
        </p:blipFill>
        <p:spPr bwMode="auto">
          <a:xfrm>
            <a:off x="9525" y="919163"/>
            <a:ext cx="9124950" cy="50196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7" name="Picture 3"/>
          <p:cNvPicPr>
            <a:picLocks noChangeAspect="1" noChangeArrowheads="1"/>
          </p:cNvPicPr>
          <p:nvPr/>
        </p:nvPicPr>
        <p:blipFill>
          <a:blip r:embed="rId2" cstate="print"/>
          <a:srcRect/>
          <a:stretch>
            <a:fillRect/>
          </a:stretch>
        </p:blipFill>
        <p:spPr bwMode="auto">
          <a:xfrm>
            <a:off x="71406" y="428604"/>
            <a:ext cx="9001156" cy="578647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AutoShape 2" descr="Operators in Java with Example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47460" name="AutoShape 4" descr="Operators in Java with Example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47461" name="Picture 5"/>
          <p:cNvPicPr>
            <a:picLocks noChangeAspect="1" noChangeArrowheads="1"/>
          </p:cNvPicPr>
          <p:nvPr/>
        </p:nvPicPr>
        <p:blipFill>
          <a:blip r:embed="rId2"/>
          <a:srcRect/>
          <a:stretch>
            <a:fillRect/>
          </a:stretch>
        </p:blipFill>
        <p:spPr bwMode="auto">
          <a:xfrm>
            <a:off x="857224" y="1357298"/>
            <a:ext cx="7761634" cy="421484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1414"/>
            <a:ext cx="9144000" cy="6740307"/>
          </a:xfrm>
          <a:prstGeom prst="rect">
            <a:avLst/>
          </a:prstGeom>
        </p:spPr>
        <p:txBody>
          <a:bodyPr wrap="square">
            <a:spAutoFit/>
          </a:bodyPr>
          <a:lstStyle/>
          <a:p>
            <a:pPr fontAlgn="base"/>
            <a:r>
              <a:rPr lang="en-US" sz="2400" b="1" dirty="0" smtClean="0"/>
              <a:t>There as many types of Operators in Java as follows:</a:t>
            </a:r>
          </a:p>
          <a:p>
            <a:pPr fontAlgn="base"/>
            <a:endParaRPr lang="en-US" sz="2400" dirty="0" smtClean="0"/>
          </a:p>
          <a:p>
            <a:pPr fontAlgn="base">
              <a:buFont typeface="Arial" pitchFamily="34" charset="0"/>
              <a:buChar char="•"/>
            </a:pPr>
            <a:r>
              <a:rPr lang="en-US" sz="2400" dirty="0" smtClean="0"/>
              <a:t>   Arithmetic </a:t>
            </a:r>
            <a:r>
              <a:rPr lang="en-US" sz="2400" dirty="0" smtClean="0"/>
              <a:t>Operator     </a:t>
            </a:r>
            <a:r>
              <a:rPr lang="en-US" sz="2400" b="1" dirty="0" smtClean="0"/>
              <a:t>(+     --     *     /    </a:t>
            </a:r>
            <a:r>
              <a:rPr lang="en-US" sz="2400" b="1" dirty="0" smtClean="0"/>
              <a:t>%)</a:t>
            </a:r>
          </a:p>
          <a:p>
            <a:pPr fontAlgn="base">
              <a:buFont typeface="Arial" pitchFamily="34" charset="0"/>
              <a:buChar char="•"/>
            </a:pPr>
            <a:endParaRPr lang="en-US" sz="2400" b="1" dirty="0" smtClean="0"/>
          </a:p>
          <a:p>
            <a:pPr fontAlgn="base">
              <a:buFont typeface="Arial" pitchFamily="34" charset="0"/>
              <a:buChar char="•"/>
            </a:pPr>
            <a:r>
              <a:rPr lang="en-US" sz="2400" dirty="0" smtClean="0"/>
              <a:t>   Assignment </a:t>
            </a:r>
            <a:r>
              <a:rPr lang="en-US" sz="2400" dirty="0" smtClean="0"/>
              <a:t>Operator   </a:t>
            </a:r>
            <a:r>
              <a:rPr lang="en-US" sz="2400" b="1" dirty="0" smtClean="0"/>
              <a:t>( =  )</a:t>
            </a:r>
          </a:p>
          <a:p>
            <a:pPr fontAlgn="base">
              <a:buFont typeface="Arial" pitchFamily="34" charset="0"/>
              <a:buChar char="•"/>
            </a:pPr>
            <a:endParaRPr lang="en-US" sz="2400" dirty="0" smtClean="0"/>
          </a:p>
          <a:p>
            <a:pPr fontAlgn="base">
              <a:buFont typeface="Arial" pitchFamily="34" charset="0"/>
              <a:buChar char="•"/>
            </a:pPr>
            <a:r>
              <a:rPr lang="en-US" sz="2400" dirty="0" smtClean="0"/>
              <a:t>   Relational </a:t>
            </a:r>
            <a:r>
              <a:rPr lang="en-US" sz="2400" dirty="0" smtClean="0"/>
              <a:t>Operator      </a:t>
            </a:r>
            <a:r>
              <a:rPr lang="en-US" sz="2400" b="1" dirty="0" smtClean="0"/>
              <a:t>( &gt;    &lt;     &gt;=      &lt;=  ==  !=   )</a:t>
            </a:r>
          </a:p>
          <a:p>
            <a:pPr fontAlgn="base">
              <a:buFont typeface="Arial" pitchFamily="34" charset="0"/>
              <a:buChar char="•"/>
            </a:pPr>
            <a:endParaRPr lang="en-US" sz="2400" dirty="0" smtClean="0"/>
          </a:p>
          <a:p>
            <a:pPr fontAlgn="base">
              <a:buFont typeface="Arial" pitchFamily="34" charset="0"/>
              <a:buChar char="•"/>
            </a:pPr>
            <a:r>
              <a:rPr lang="en-US" sz="2400" dirty="0" smtClean="0"/>
              <a:t>   Logical </a:t>
            </a:r>
            <a:r>
              <a:rPr lang="en-US" sz="2400" dirty="0" smtClean="0"/>
              <a:t>Operator           </a:t>
            </a:r>
            <a:r>
              <a:rPr lang="en-US" sz="2400" b="1" dirty="0" smtClean="0"/>
              <a:t>(&amp;&amp;    ||     !  )</a:t>
            </a:r>
          </a:p>
          <a:p>
            <a:pPr fontAlgn="base">
              <a:buFont typeface="Arial" pitchFamily="34" charset="0"/>
              <a:buChar char="•"/>
            </a:pPr>
            <a:endParaRPr lang="en-US" sz="2400" dirty="0" smtClean="0"/>
          </a:p>
          <a:p>
            <a:pPr fontAlgn="base">
              <a:buFont typeface="Arial" pitchFamily="34" charset="0"/>
              <a:buChar char="•"/>
            </a:pPr>
            <a:r>
              <a:rPr lang="en-US" sz="2400" dirty="0" smtClean="0"/>
              <a:t>   Bitwise </a:t>
            </a:r>
            <a:r>
              <a:rPr lang="en-US" sz="2400" dirty="0" smtClean="0"/>
              <a:t>Operator          </a:t>
            </a:r>
            <a:r>
              <a:rPr lang="en-US" sz="2400" b="1" dirty="0" smtClean="0"/>
              <a:t>( &amp;   |   ^     ~  )</a:t>
            </a:r>
          </a:p>
          <a:p>
            <a:pPr fontAlgn="base">
              <a:buFont typeface="Arial" pitchFamily="34" charset="0"/>
              <a:buChar char="•"/>
            </a:pPr>
            <a:endParaRPr lang="en-US" sz="2400" dirty="0" smtClean="0"/>
          </a:p>
          <a:p>
            <a:pPr fontAlgn="base">
              <a:buFont typeface="Arial" pitchFamily="34" charset="0"/>
              <a:buChar char="•"/>
            </a:pPr>
            <a:r>
              <a:rPr lang="en-US" sz="2400" dirty="0" smtClean="0"/>
              <a:t>   Unary </a:t>
            </a:r>
            <a:r>
              <a:rPr lang="en-US" sz="2400" dirty="0" smtClean="0"/>
              <a:t>Operator            </a:t>
            </a:r>
            <a:r>
              <a:rPr lang="en-US" sz="2400" b="1" dirty="0" smtClean="0"/>
              <a:t>(++     - - )</a:t>
            </a:r>
          </a:p>
          <a:p>
            <a:pPr fontAlgn="base">
              <a:buFont typeface="Arial" pitchFamily="34" charset="0"/>
              <a:buChar char="•"/>
            </a:pPr>
            <a:endParaRPr lang="en-US" sz="2400" dirty="0" smtClean="0"/>
          </a:p>
          <a:p>
            <a:pPr fontAlgn="base">
              <a:buFont typeface="Arial" pitchFamily="34" charset="0"/>
              <a:buChar char="•"/>
            </a:pPr>
            <a:r>
              <a:rPr lang="en-US" sz="2400" dirty="0" smtClean="0"/>
              <a:t>   Shift </a:t>
            </a:r>
            <a:r>
              <a:rPr lang="en-US" sz="2400" dirty="0" smtClean="0"/>
              <a:t>Operator               </a:t>
            </a:r>
            <a:r>
              <a:rPr lang="en-US" sz="2400" b="1" dirty="0" smtClean="0"/>
              <a:t>(&lt;&lt;           &gt;&gt;  )</a:t>
            </a:r>
          </a:p>
          <a:p>
            <a:pPr fontAlgn="base">
              <a:buFont typeface="Arial" pitchFamily="34" charset="0"/>
              <a:buChar char="•"/>
            </a:pPr>
            <a:endParaRPr lang="en-US" sz="2400" dirty="0" smtClean="0"/>
          </a:p>
          <a:p>
            <a:pPr fontAlgn="base">
              <a:buFont typeface="Arial" pitchFamily="34" charset="0"/>
              <a:buChar char="•"/>
            </a:pPr>
            <a:r>
              <a:rPr lang="en-US" sz="2400" dirty="0" smtClean="0"/>
              <a:t>   Ternary </a:t>
            </a:r>
            <a:r>
              <a:rPr lang="en-US" sz="2400" dirty="0" smtClean="0"/>
              <a:t>Operator         </a:t>
            </a:r>
            <a:r>
              <a:rPr lang="en-US" sz="2400" b="1" dirty="0" smtClean="0"/>
              <a:t> (condition) ?   True-statements : false-statements</a:t>
            </a:r>
            <a:endParaRPr lang="en-US" sz="2400" b="1"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ChangeAspect="1" noChangeArrowheads="1"/>
          </p:cNvPicPr>
          <p:nvPr/>
        </p:nvPicPr>
        <p:blipFill>
          <a:blip r:embed="rId2"/>
          <a:srcRect/>
          <a:stretch>
            <a:fillRect/>
          </a:stretch>
        </p:blipFill>
        <p:spPr bwMode="auto">
          <a:xfrm>
            <a:off x="293953" y="1000108"/>
            <a:ext cx="8707203" cy="478634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p:cNvPicPr>
            <a:picLocks noChangeAspect="1" noChangeArrowheads="1"/>
          </p:cNvPicPr>
          <p:nvPr/>
        </p:nvPicPr>
        <p:blipFill>
          <a:blip r:embed="rId2"/>
          <a:srcRect/>
          <a:stretch>
            <a:fillRect/>
          </a:stretch>
        </p:blipFill>
        <p:spPr bwMode="auto">
          <a:xfrm>
            <a:off x="214282" y="642918"/>
            <a:ext cx="8715436" cy="562555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srcRect/>
          <a:stretch>
            <a:fillRect/>
          </a:stretch>
        </p:blipFill>
        <p:spPr bwMode="auto">
          <a:xfrm>
            <a:off x="71406" y="522326"/>
            <a:ext cx="8929718" cy="6049946"/>
          </a:xfrm>
          <a:prstGeom prst="rect">
            <a:avLst/>
          </a:prstGeom>
          <a:noFill/>
          <a:ln w="9525">
            <a:noFill/>
            <a:miter lim="800000"/>
            <a:headEnd/>
            <a:tailEnd/>
          </a:ln>
          <a:effec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srcRect/>
          <a:stretch>
            <a:fillRect/>
          </a:stretch>
        </p:blipFill>
        <p:spPr bwMode="auto">
          <a:xfrm>
            <a:off x="82849" y="1071546"/>
            <a:ext cx="9132621" cy="442915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srcRect/>
          <a:stretch>
            <a:fillRect/>
          </a:stretch>
        </p:blipFill>
        <p:spPr bwMode="auto">
          <a:xfrm>
            <a:off x="1324423" y="1428736"/>
            <a:ext cx="6263182" cy="385765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srcRect/>
          <a:stretch>
            <a:fillRect/>
          </a:stretch>
        </p:blipFill>
        <p:spPr bwMode="auto">
          <a:xfrm>
            <a:off x="1214414" y="714356"/>
            <a:ext cx="5429288" cy="428927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2"/>
          <p:cNvPicPr>
            <a:picLocks noChangeAspect="1" noChangeArrowheads="1"/>
          </p:cNvPicPr>
          <p:nvPr/>
        </p:nvPicPr>
        <p:blipFill>
          <a:blip r:embed="rId2" cstate="print"/>
          <a:srcRect/>
          <a:stretch>
            <a:fillRect/>
          </a:stretch>
        </p:blipFill>
        <p:spPr bwMode="auto">
          <a:xfrm>
            <a:off x="179866" y="785794"/>
            <a:ext cx="8606976" cy="485778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2"/>
          <p:cNvPicPr>
            <a:picLocks noChangeAspect="1" noChangeArrowheads="1"/>
          </p:cNvPicPr>
          <p:nvPr/>
        </p:nvPicPr>
        <p:blipFill>
          <a:blip r:embed="rId2" cstate="print"/>
          <a:srcRect/>
          <a:stretch>
            <a:fillRect/>
          </a:stretch>
        </p:blipFill>
        <p:spPr bwMode="auto">
          <a:xfrm>
            <a:off x="216953" y="928670"/>
            <a:ext cx="8784203" cy="473267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2"/>
          <p:cNvPicPr>
            <a:picLocks noChangeAspect="1" noChangeArrowheads="1"/>
          </p:cNvPicPr>
          <p:nvPr/>
        </p:nvPicPr>
        <p:blipFill>
          <a:blip r:embed="rId2" cstate="print"/>
          <a:srcRect/>
          <a:stretch>
            <a:fillRect/>
          </a:stretch>
        </p:blipFill>
        <p:spPr bwMode="auto">
          <a:xfrm>
            <a:off x="258363" y="1000108"/>
            <a:ext cx="8671355" cy="500066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2"/>
          <a:srcRect/>
          <a:stretch>
            <a:fillRect/>
          </a:stretch>
        </p:blipFill>
        <p:spPr bwMode="auto">
          <a:xfrm>
            <a:off x="142876" y="500042"/>
            <a:ext cx="8858280" cy="591526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2"/>
          <a:srcRect/>
          <a:stretch>
            <a:fillRect/>
          </a:stretch>
        </p:blipFill>
        <p:spPr bwMode="auto">
          <a:xfrm>
            <a:off x="0" y="280988"/>
            <a:ext cx="9191625" cy="62960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2"/>
          <a:srcRect/>
          <a:stretch>
            <a:fillRect/>
          </a:stretch>
        </p:blipFill>
        <p:spPr bwMode="auto">
          <a:xfrm>
            <a:off x="214282" y="242888"/>
            <a:ext cx="8643998" cy="63722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spect="1" noChangeArrowheads="1"/>
          </p:cNvPicPr>
          <p:nvPr/>
        </p:nvPicPr>
        <p:blipFill>
          <a:blip r:embed="rId2"/>
          <a:srcRect/>
          <a:stretch>
            <a:fillRect/>
          </a:stretch>
        </p:blipFill>
        <p:spPr bwMode="auto">
          <a:xfrm>
            <a:off x="62584" y="1285860"/>
            <a:ext cx="8938572" cy="464347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srcRect/>
          <a:stretch>
            <a:fillRect/>
          </a:stretch>
        </p:blipFill>
        <p:spPr bwMode="auto">
          <a:xfrm>
            <a:off x="836269" y="1142984"/>
            <a:ext cx="6950441" cy="452306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srcRect/>
          <a:stretch>
            <a:fillRect/>
          </a:stretch>
        </p:blipFill>
        <p:spPr bwMode="auto">
          <a:xfrm>
            <a:off x="124357" y="714356"/>
            <a:ext cx="8805361" cy="522547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srcRect/>
          <a:stretch>
            <a:fillRect/>
          </a:stretch>
        </p:blipFill>
        <p:spPr bwMode="auto">
          <a:xfrm>
            <a:off x="285720" y="698996"/>
            <a:ext cx="7786742" cy="495950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srcRect/>
          <a:stretch>
            <a:fillRect/>
          </a:stretch>
        </p:blipFill>
        <p:spPr bwMode="auto">
          <a:xfrm>
            <a:off x="327744" y="1142984"/>
            <a:ext cx="8090614" cy="435771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a:srcRect/>
          <a:stretch>
            <a:fillRect/>
          </a:stretch>
        </p:blipFill>
        <p:spPr bwMode="auto">
          <a:xfrm>
            <a:off x="428596" y="738693"/>
            <a:ext cx="8215370" cy="533422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a:srcRect/>
          <a:stretch>
            <a:fillRect/>
          </a:stretch>
        </p:blipFill>
        <p:spPr bwMode="auto">
          <a:xfrm>
            <a:off x="-32" y="1500174"/>
            <a:ext cx="9227634" cy="400052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a:srcRect/>
          <a:stretch>
            <a:fillRect/>
          </a:stretch>
        </p:blipFill>
        <p:spPr bwMode="auto">
          <a:xfrm>
            <a:off x="214282" y="428604"/>
            <a:ext cx="8786874" cy="578647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85728"/>
            <a:ext cx="9144000" cy="6740307"/>
          </a:xfrm>
          <a:prstGeom prst="rect">
            <a:avLst/>
          </a:prstGeom>
        </p:spPr>
        <p:txBody>
          <a:bodyPr wrap="square">
            <a:spAutoFit/>
          </a:bodyPr>
          <a:lstStyle/>
          <a:p>
            <a:pPr fontAlgn="auto"/>
            <a:r>
              <a:rPr lang="en-US" sz="2400" dirty="0" smtClean="0"/>
              <a:t>1. Classes and Objects</a:t>
            </a:r>
          </a:p>
          <a:p>
            <a:pPr fontAlgn="auto"/>
            <a:endParaRPr lang="en-US" sz="2400" dirty="0" smtClean="0"/>
          </a:p>
          <a:p>
            <a:pPr fontAlgn="auto"/>
            <a:r>
              <a:rPr lang="en-US" sz="2400" dirty="0" smtClean="0"/>
              <a:t>In Java, everything is an object</a:t>
            </a:r>
            <a:r>
              <a:rPr lang="en-US" sz="2400" dirty="0" smtClean="0">
                <a:solidFill>
                  <a:schemeClr val="accent2">
                    <a:lumMod val="75000"/>
                  </a:schemeClr>
                </a:solidFill>
              </a:rPr>
              <a:t>. A class is a blueprint or a template for creating objects</a:t>
            </a:r>
            <a:r>
              <a:rPr lang="en-US" sz="2400" dirty="0" smtClean="0"/>
              <a:t>. </a:t>
            </a:r>
            <a:r>
              <a:rPr lang="en-US" sz="2400" dirty="0" smtClean="0">
                <a:solidFill>
                  <a:schemeClr val="accent1">
                    <a:lumMod val="75000"/>
                  </a:schemeClr>
                </a:solidFill>
              </a:rPr>
              <a:t>An object is an instance of a class. It contains variables and methods that define its behavior</a:t>
            </a:r>
            <a:r>
              <a:rPr lang="en-US" sz="2400" dirty="0" smtClean="0"/>
              <a:t>.</a:t>
            </a:r>
          </a:p>
          <a:p>
            <a:pPr fontAlgn="auto"/>
            <a:endParaRPr lang="en-US" sz="2400" dirty="0" smtClean="0"/>
          </a:p>
          <a:p>
            <a:pPr fontAlgn="auto"/>
            <a:r>
              <a:rPr lang="en-US" sz="2400" dirty="0" smtClean="0"/>
              <a:t>2. Encapsulation</a:t>
            </a:r>
          </a:p>
          <a:p>
            <a:pPr fontAlgn="auto"/>
            <a:endParaRPr lang="en-US" sz="2400" dirty="0" smtClean="0"/>
          </a:p>
          <a:p>
            <a:pPr fontAlgn="auto"/>
            <a:r>
              <a:rPr lang="en-US" sz="2400" dirty="0" smtClean="0"/>
              <a:t>Encapsulation is the process of binding data and methods together into a single unit called a class. This provides a level of abstraction and makes it easy to manage and maintain code.</a:t>
            </a:r>
          </a:p>
          <a:p>
            <a:pPr fontAlgn="auto"/>
            <a:endParaRPr lang="en-IN" sz="2400" dirty="0" smtClean="0"/>
          </a:p>
          <a:p>
            <a:pPr fontAlgn="auto"/>
            <a:r>
              <a:rPr lang="en-US" sz="2400" dirty="0" smtClean="0"/>
              <a:t>3.Abstraction</a:t>
            </a:r>
          </a:p>
          <a:p>
            <a:pPr fontAlgn="auto"/>
            <a:endParaRPr lang="en-US" sz="2400" dirty="0" smtClean="0"/>
          </a:p>
          <a:p>
            <a:pPr fontAlgn="auto"/>
            <a:r>
              <a:rPr lang="en-US" sz="2400" dirty="0" smtClean="0"/>
              <a:t>Abstraction is the process of hiding complex implementation details and showing only the essential features to the user. This can be achieved in Java through abstract classes and interfaces.</a:t>
            </a:r>
          </a:p>
          <a:p>
            <a:pPr fontAlgn="auto"/>
            <a:endParaRPr lang="en-US" sz="2400" dirty="0" smtClean="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14290"/>
            <a:ext cx="8929718" cy="7478970"/>
          </a:xfrm>
          <a:prstGeom prst="rect">
            <a:avLst/>
          </a:prstGeom>
        </p:spPr>
        <p:txBody>
          <a:bodyPr wrap="square">
            <a:spAutoFit/>
          </a:bodyPr>
          <a:lstStyle/>
          <a:p>
            <a:pPr fontAlgn="auto"/>
            <a:r>
              <a:rPr lang="en-US" sz="2400" dirty="0" smtClean="0"/>
              <a:t>4.Inheritance</a:t>
            </a:r>
          </a:p>
          <a:p>
            <a:pPr fontAlgn="auto"/>
            <a:endParaRPr lang="en-US" sz="2400" dirty="0" smtClean="0"/>
          </a:p>
          <a:p>
            <a:pPr fontAlgn="auto"/>
            <a:r>
              <a:rPr lang="en-US" sz="2400" dirty="0" smtClean="0"/>
              <a:t>Inheritance is the ability of a class to inherit properties and methods from another class. The class that inherits from another class is called a subclass or a derived class. The class that is being inherited from is called the </a:t>
            </a:r>
            <a:r>
              <a:rPr lang="en-US" sz="2400" dirty="0" err="1" smtClean="0"/>
              <a:t>superclass</a:t>
            </a:r>
            <a:r>
              <a:rPr lang="en-US" sz="2400" dirty="0" smtClean="0"/>
              <a:t> or the base class.</a:t>
            </a:r>
          </a:p>
          <a:p>
            <a:pPr fontAlgn="auto"/>
            <a:endParaRPr lang="en-IN" sz="2400" dirty="0" smtClean="0"/>
          </a:p>
          <a:p>
            <a:pPr fontAlgn="auto"/>
            <a:r>
              <a:rPr lang="en-US" sz="2400" smtClean="0"/>
              <a:t>5.Polymorphism</a:t>
            </a:r>
            <a:endParaRPr lang="en-US" sz="2400" dirty="0" smtClean="0"/>
          </a:p>
          <a:p>
            <a:pPr fontAlgn="auto"/>
            <a:endParaRPr lang="en-US" sz="2400" dirty="0" smtClean="0"/>
          </a:p>
          <a:p>
            <a:pPr fontAlgn="auto"/>
            <a:r>
              <a:rPr lang="en-US" sz="2400" dirty="0" smtClean="0"/>
              <a:t>Polymorphism is the ability of an object to take on many forms. In Java, this can be achieved through method overloading and method overriding. Method overloading is when a class has multiple methods with the same name but different parameters. Method overriding is when a subclass provides its own implementation of a method that is already defined in the </a:t>
            </a:r>
            <a:r>
              <a:rPr lang="en-US" sz="2400" dirty="0" err="1" smtClean="0"/>
              <a:t>superclass</a:t>
            </a:r>
            <a:r>
              <a:rPr lang="en-US" sz="2400" dirty="0" smtClean="0"/>
              <a:t>.</a:t>
            </a:r>
          </a:p>
          <a:p>
            <a:pPr fontAlgn="auto"/>
            <a:endParaRPr lang="en-IN" sz="2400" dirty="0" smtClean="0"/>
          </a:p>
          <a:p>
            <a:pPr fontAlgn="auto"/>
            <a:endParaRPr lang="en-US" sz="2400" dirty="0" smtClean="0"/>
          </a:p>
          <a:p>
            <a:pPr fontAlgn="auto"/>
            <a:endParaRPr lang="en-US" sz="2400" dirty="0" smtClean="0"/>
          </a:p>
          <a:p>
            <a:pPr fontAlgn="auto"/>
            <a:endParaRPr lang="en-US" sz="2400" dirty="0" smtClean="0"/>
          </a:p>
          <a:p>
            <a:pPr fontAlgn="auto"/>
            <a:endParaRPr lang="en-IN" sz="2400" dirty="0" smtClean="0"/>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8898" name="Picture 2"/>
          <p:cNvPicPr>
            <a:picLocks noChangeAspect="1" noChangeArrowheads="1"/>
          </p:cNvPicPr>
          <p:nvPr/>
        </p:nvPicPr>
        <p:blipFill>
          <a:blip r:embed="rId2"/>
          <a:srcRect/>
          <a:stretch>
            <a:fillRect/>
          </a:stretch>
        </p:blipFill>
        <p:spPr bwMode="auto">
          <a:xfrm>
            <a:off x="0" y="571480"/>
            <a:ext cx="9144000" cy="5786454"/>
          </a:xfrm>
          <a:prstGeom prst="rect">
            <a:avLst/>
          </a:prstGeom>
          <a:noFill/>
          <a:ln w="9525">
            <a:noFill/>
            <a:miter lim="800000"/>
            <a:headEnd/>
            <a:tailEnd/>
          </a:ln>
          <a:effectLst/>
        </p:spPr>
      </p:pic>
      <p:sp>
        <p:nvSpPr>
          <p:cNvPr id="3" name="Rectangle 2"/>
          <p:cNvSpPr/>
          <p:nvPr/>
        </p:nvSpPr>
        <p:spPr>
          <a:xfrm>
            <a:off x="-71470" y="-71462"/>
            <a:ext cx="9215470" cy="369332"/>
          </a:xfrm>
          <a:prstGeom prst="rect">
            <a:avLst/>
          </a:prstGeom>
        </p:spPr>
        <p:txBody>
          <a:bodyPr wrap="square">
            <a:spAutoFit/>
          </a:bodyPr>
          <a:lstStyle/>
          <a:p>
            <a:r>
              <a:rPr lang="en-US" dirty="0" smtClean="0"/>
              <a:t>Following image illustrates, as if car is a object what are it’s fields and methods</a:t>
            </a:r>
            <a:endParaRPr lang="en-US" dirty="0"/>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504" y="260648"/>
            <a:ext cx="8640960" cy="923330"/>
          </a:xfrm>
          <a:prstGeom prst="rect">
            <a:avLst/>
          </a:prstGeom>
        </p:spPr>
        <p:txBody>
          <a:bodyPr wrap="square">
            <a:spAutoFit/>
          </a:bodyPr>
          <a:lstStyle/>
          <a:p>
            <a:r>
              <a:rPr lang="en-US" b="1" dirty="0" err="1" smtClean="0"/>
              <a:t>Realtime</a:t>
            </a:r>
            <a:r>
              <a:rPr lang="en-US" b="1" dirty="0" smtClean="0"/>
              <a:t> Example 1:</a:t>
            </a:r>
            <a:endParaRPr lang="en-US" dirty="0" smtClean="0"/>
          </a:p>
          <a:p>
            <a:r>
              <a:rPr lang="en-US" dirty="0" smtClean="0"/>
              <a:t>We are taking the example “person”. A person has three characteristics: Identity (name), State (properties), and behavior (actions or functionality). Look at the below figure.</a:t>
            </a:r>
            <a:endParaRPr lang="en-US" dirty="0"/>
          </a:p>
        </p:txBody>
      </p:sp>
      <p:pic>
        <p:nvPicPr>
          <p:cNvPr id="89090" name="Picture 2"/>
          <p:cNvPicPr>
            <a:picLocks noChangeAspect="1" noChangeArrowheads="1"/>
          </p:cNvPicPr>
          <p:nvPr/>
        </p:nvPicPr>
        <p:blipFill>
          <a:blip r:embed="rId2" cstate="print"/>
          <a:srcRect/>
          <a:stretch>
            <a:fillRect/>
          </a:stretch>
        </p:blipFill>
        <p:spPr bwMode="auto">
          <a:xfrm>
            <a:off x="971600" y="1340768"/>
            <a:ext cx="6038279" cy="511256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55576" y="548680"/>
            <a:ext cx="4572000" cy="923330"/>
          </a:xfrm>
          <a:prstGeom prst="rect">
            <a:avLst/>
          </a:prstGeom>
        </p:spPr>
        <p:txBody>
          <a:bodyPr>
            <a:spAutoFit/>
          </a:bodyPr>
          <a:lstStyle/>
          <a:p>
            <a:r>
              <a:rPr lang="en-US" b="1" dirty="0" smtClean="0"/>
              <a:t>Components of Class in Java</a:t>
            </a:r>
          </a:p>
          <a:p>
            <a:r>
              <a:rPr lang="en-US" dirty="0" smtClean="0"/>
              <a:t/>
            </a:r>
            <a:br>
              <a:rPr lang="en-US" dirty="0" smtClean="0"/>
            </a:br>
            <a:endParaRPr lang="en-US" dirty="0"/>
          </a:p>
        </p:txBody>
      </p:sp>
      <p:pic>
        <p:nvPicPr>
          <p:cNvPr id="90114" name="Picture 2" descr="Components of class in java"/>
          <p:cNvPicPr>
            <a:picLocks noChangeAspect="1" noChangeArrowheads="1"/>
          </p:cNvPicPr>
          <p:nvPr/>
        </p:nvPicPr>
        <p:blipFill>
          <a:blip r:embed="rId2" cstate="print"/>
          <a:srcRect/>
          <a:stretch>
            <a:fillRect/>
          </a:stretch>
        </p:blipFill>
        <p:spPr bwMode="auto">
          <a:xfrm>
            <a:off x="899592" y="1196752"/>
            <a:ext cx="6691847" cy="4752528"/>
          </a:xfrm>
          <a:prstGeom prst="rect">
            <a:avLst/>
          </a:prstGeom>
          <a:noFill/>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srcRect/>
          <a:stretch>
            <a:fillRect/>
          </a:stretch>
        </p:blipFill>
        <p:spPr bwMode="auto">
          <a:xfrm>
            <a:off x="67676" y="714356"/>
            <a:ext cx="8933480" cy="4524394"/>
          </a:xfrm>
          <a:prstGeom prst="rect">
            <a:avLst/>
          </a:prstGeom>
          <a:noFill/>
          <a:ln w="9525">
            <a:noFill/>
            <a:miter lim="800000"/>
            <a:headEnd/>
            <a:tailEnd/>
          </a:ln>
          <a:effec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1"/>
          <p:cNvSpPr>
            <a:spLocks noChangeArrowheads="1"/>
          </p:cNvSpPr>
          <p:nvPr/>
        </p:nvSpPr>
        <p:spPr bwMode="auto">
          <a:xfrm>
            <a:off x="0" y="0"/>
            <a:ext cx="9144000" cy="4496082"/>
          </a:xfrm>
          <a:prstGeom prst="rect">
            <a:avLst/>
          </a:prstGeom>
          <a:noFill/>
          <a:ln w="9525">
            <a:noFill/>
            <a:miter lim="800000"/>
            <a:headEnd/>
            <a:tailEnd/>
          </a:ln>
          <a:effectLst/>
        </p:spPr>
        <p:txBody>
          <a:bodyPr vert="horz" wrap="square" lIns="0" tIns="0" rIns="0" bIns="6348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dirty="0" smtClean="0">
                <a:ln>
                  <a:noFill/>
                </a:ln>
                <a:solidFill>
                  <a:srgbClr val="333333"/>
                </a:solidFill>
                <a:effectLst/>
                <a:latin typeface="+mj-lt"/>
                <a:cs typeface="Arial" pitchFamily="34" charset="0"/>
              </a:rPr>
              <a:t>Access Modifiers in Java</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b="0" i="0" u="none" strike="noStrike" cap="none" normalizeH="0" baseline="0" dirty="0" smtClean="0">
              <a:ln>
                <a:noFill/>
              </a:ln>
              <a:solidFill>
                <a:srgbClr val="333333"/>
              </a:solidFill>
              <a:effectLst/>
              <a:latin typeface="+mj-l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rgbClr val="333333"/>
                </a:solidFill>
                <a:effectLst/>
                <a:latin typeface="+mj-lt"/>
                <a:cs typeface="Arial" pitchFamily="34" charset="0"/>
              </a:rPr>
              <a:t>Access modifiers are keywords in Java that are used to set accessibility. An access modifier restricts the access of a class, constructor, data member and method in another class.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smtClean="0">
              <a:ln>
                <a:noFill/>
              </a:ln>
              <a:solidFill>
                <a:schemeClr val="tx1"/>
              </a:solidFill>
              <a:effectLst/>
              <a:latin typeface="+mj-l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rgbClr val="333333"/>
                </a:solidFill>
                <a:effectLst/>
                <a:latin typeface="+mj-lt"/>
                <a:cs typeface="Arial" pitchFamily="34" charset="0"/>
              </a:rPr>
              <a:t>Java language has four access modifier to control access level for classes and its members.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smtClean="0">
              <a:ln>
                <a:noFill/>
              </a:ln>
              <a:solidFill>
                <a:schemeClr val="tx1"/>
              </a:solidFill>
              <a:effectLst/>
              <a:latin typeface="+mj-l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smtClean="0">
                <a:ln>
                  <a:noFill/>
                </a:ln>
                <a:solidFill>
                  <a:srgbClr val="333333"/>
                </a:solidFill>
                <a:effectLst/>
                <a:latin typeface="+mj-lt"/>
                <a:cs typeface="Arial" pitchFamily="34" charset="0"/>
              </a:rPr>
              <a:t>Default:</a:t>
            </a:r>
            <a:r>
              <a:rPr kumimoji="0" lang="en-US" b="0" i="0" u="none" strike="noStrike" cap="none" normalizeH="0" baseline="0" dirty="0" smtClean="0">
                <a:ln>
                  <a:noFill/>
                </a:ln>
                <a:solidFill>
                  <a:srgbClr val="333333"/>
                </a:solidFill>
                <a:effectLst/>
                <a:latin typeface="+mj-lt"/>
                <a:cs typeface="Arial" pitchFamily="34" charset="0"/>
              </a:rPr>
              <a:t> Default has scope only inside the same package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smtClean="0">
                <a:ln>
                  <a:noFill/>
                </a:ln>
                <a:solidFill>
                  <a:srgbClr val="333333"/>
                </a:solidFill>
                <a:effectLst/>
                <a:latin typeface="+mj-lt"/>
                <a:cs typeface="Arial" pitchFamily="34" charset="0"/>
              </a:rPr>
              <a:t>Public:</a:t>
            </a:r>
            <a:r>
              <a:rPr kumimoji="0" lang="en-US" b="0" i="0" u="none" strike="noStrike" cap="none" normalizeH="0" baseline="0" dirty="0" smtClean="0">
                <a:ln>
                  <a:noFill/>
                </a:ln>
                <a:solidFill>
                  <a:srgbClr val="333333"/>
                </a:solidFill>
                <a:effectLst/>
                <a:latin typeface="+mj-lt"/>
                <a:cs typeface="Arial" pitchFamily="34" charset="0"/>
              </a:rPr>
              <a:t> Public has scope that is visible everywhere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smtClean="0">
                <a:ln>
                  <a:noFill/>
                </a:ln>
                <a:solidFill>
                  <a:srgbClr val="333333"/>
                </a:solidFill>
                <a:effectLst/>
                <a:latin typeface="+mj-lt"/>
                <a:cs typeface="Arial" pitchFamily="34" charset="0"/>
              </a:rPr>
              <a:t>Protected:</a:t>
            </a:r>
            <a:r>
              <a:rPr kumimoji="0" lang="en-US" b="0" i="0" u="none" strike="noStrike" cap="none" normalizeH="0" baseline="0" dirty="0" smtClean="0">
                <a:ln>
                  <a:noFill/>
                </a:ln>
                <a:solidFill>
                  <a:srgbClr val="333333"/>
                </a:solidFill>
                <a:effectLst/>
                <a:latin typeface="+mj-lt"/>
                <a:cs typeface="Arial" pitchFamily="34" charset="0"/>
              </a:rPr>
              <a:t> Protected has scope within the package and all sub classes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smtClean="0">
                <a:ln>
                  <a:noFill/>
                </a:ln>
                <a:solidFill>
                  <a:srgbClr val="333333"/>
                </a:solidFill>
                <a:effectLst/>
                <a:latin typeface="+mj-lt"/>
                <a:cs typeface="Arial" pitchFamily="34" charset="0"/>
              </a:rPr>
              <a:t>Private:</a:t>
            </a:r>
            <a:r>
              <a:rPr kumimoji="0" lang="en-US" b="0" i="0" u="none" strike="noStrike" cap="none" normalizeH="0" baseline="0" dirty="0" smtClean="0">
                <a:ln>
                  <a:noFill/>
                </a:ln>
                <a:solidFill>
                  <a:srgbClr val="333333"/>
                </a:solidFill>
                <a:effectLst/>
                <a:latin typeface="+mj-lt"/>
                <a:cs typeface="Arial" pitchFamily="34" charset="0"/>
              </a:rPr>
              <a:t> Private has scope only within the classes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b="0" i="0" u="none" strike="noStrike" cap="none" normalizeH="0" baseline="0" dirty="0" smtClean="0">
              <a:ln>
                <a:noFill/>
              </a:ln>
              <a:solidFill>
                <a:srgbClr val="333333"/>
              </a:solidFill>
              <a:effectLst/>
              <a:latin typeface="+mj-l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rgbClr val="333333"/>
                </a:solidFill>
                <a:effectLst/>
                <a:latin typeface="+mj-lt"/>
                <a:cs typeface="Arial" pitchFamily="34" charset="0"/>
              </a:rPr>
              <a:t>Java also supports many non-access modifiers,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rgbClr val="333333"/>
                </a:solidFill>
                <a:effectLst/>
                <a:latin typeface="+mj-lt"/>
                <a:cs typeface="Arial" pitchFamily="34" charset="0"/>
              </a:rPr>
              <a:t>such as </a:t>
            </a:r>
            <a:r>
              <a:rPr kumimoji="0" lang="en-US" b="1" i="0" u="none" strike="noStrike" cap="none" normalizeH="0" baseline="0" dirty="0" smtClean="0">
                <a:ln>
                  <a:noFill/>
                </a:ln>
                <a:solidFill>
                  <a:srgbClr val="333333"/>
                </a:solidFill>
                <a:effectLst/>
                <a:latin typeface="+mj-lt"/>
                <a:cs typeface="Arial" pitchFamily="34" charset="0"/>
              </a:rPr>
              <a:t>static, abstract,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dirty="0" smtClean="0">
                <a:ln>
                  <a:noFill/>
                </a:ln>
                <a:solidFill>
                  <a:srgbClr val="333333"/>
                </a:solidFill>
                <a:effectLst/>
                <a:latin typeface="+mj-lt"/>
                <a:cs typeface="Arial" pitchFamily="34" charset="0"/>
              </a:rPr>
              <a:t>synchronized, native,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dirty="0" smtClean="0">
                <a:ln>
                  <a:noFill/>
                </a:ln>
                <a:solidFill>
                  <a:srgbClr val="333333"/>
                </a:solidFill>
                <a:effectLst/>
                <a:latin typeface="+mj-lt"/>
                <a:cs typeface="Arial" pitchFamily="34" charset="0"/>
              </a:rPr>
              <a:t>volatile, transient</a:t>
            </a:r>
            <a:r>
              <a:rPr kumimoji="0" lang="en-US" b="0" i="0" u="none" strike="noStrike" cap="none" normalizeH="0" baseline="0" dirty="0" smtClean="0">
                <a:ln>
                  <a:noFill/>
                </a:ln>
                <a:solidFill>
                  <a:srgbClr val="333333"/>
                </a:solidFill>
                <a:effectLst/>
                <a:latin typeface="+mj-lt"/>
                <a:cs typeface="Arial" pitchFamily="34" charset="0"/>
              </a:rPr>
              <a:t> etc.</a:t>
            </a:r>
            <a:endParaRPr kumimoji="0" lang="en-US" b="0" i="0" u="none" strike="noStrike" cap="none" normalizeH="0" baseline="0" dirty="0" smtClean="0">
              <a:ln>
                <a:noFill/>
              </a:ln>
              <a:solidFill>
                <a:schemeClr val="tx1"/>
              </a:solidFill>
              <a:effectLst/>
              <a:latin typeface="+mj-lt"/>
              <a:cs typeface="Arial" pitchFamily="34" charset="0"/>
            </a:endParaRPr>
          </a:p>
        </p:txBody>
      </p:sp>
      <p:pic>
        <p:nvPicPr>
          <p:cNvPr id="100355" name="Picture 3" descr="Access modifier in java"/>
          <p:cNvPicPr>
            <a:picLocks noChangeAspect="1" noChangeArrowheads="1"/>
          </p:cNvPicPr>
          <p:nvPr/>
        </p:nvPicPr>
        <p:blipFill>
          <a:blip r:embed="rId2" cstate="print"/>
          <a:srcRect/>
          <a:stretch>
            <a:fillRect/>
          </a:stretch>
        </p:blipFill>
        <p:spPr bwMode="auto">
          <a:xfrm>
            <a:off x="4499280" y="2780928"/>
            <a:ext cx="4644720" cy="4077072"/>
          </a:xfrm>
          <a:prstGeom prst="rect">
            <a:avLst/>
          </a:prstGeom>
          <a:noFill/>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noChangeArrowheads="1"/>
          </p:cNvPicPr>
          <p:nvPr/>
        </p:nvPicPr>
        <p:blipFill>
          <a:blip r:embed="rId2" cstate="print"/>
          <a:srcRect/>
          <a:stretch>
            <a:fillRect/>
          </a:stretch>
        </p:blipFill>
        <p:spPr bwMode="auto">
          <a:xfrm>
            <a:off x="70812" y="404665"/>
            <a:ext cx="8965684" cy="612068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85663" y="928670"/>
            <a:ext cx="8915493" cy="507209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256483" y="1142984"/>
            <a:ext cx="8458921" cy="449737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cstate="print"/>
          <a:srcRect/>
          <a:stretch>
            <a:fillRect/>
          </a:stretch>
        </p:blipFill>
        <p:spPr bwMode="auto">
          <a:xfrm>
            <a:off x="683568" y="476672"/>
            <a:ext cx="7920880" cy="595848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cstate="print"/>
          <a:srcRect/>
          <a:stretch>
            <a:fillRect/>
          </a:stretch>
        </p:blipFill>
        <p:spPr bwMode="auto">
          <a:xfrm>
            <a:off x="142844" y="571480"/>
            <a:ext cx="8858311" cy="571504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cstate="print"/>
          <a:srcRect/>
          <a:stretch>
            <a:fillRect/>
          </a:stretch>
        </p:blipFill>
        <p:spPr bwMode="auto">
          <a:xfrm>
            <a:off x="142844" y="500042"/>
            <a:ext cx="8763456" cy="578647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cstate="print"/>
          <a:srcRect/>
          <a:stretch>
            <a:fillRect/>
          </a:stretch>
        </p:blipFill>
        <p:spPr bwMode="auto">
          <a:xfrm>
            <a:off x="248082" y="285729"/>
            <a:ext cx="8792238" cy="585791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cstate="print"/>
          <a:srcRect/>
          <a:stretch>
            <a:fillRect/>
          </a:stretch>
        </p:blipFill>
        <p:spPr bwMode="auto">
          <a:xfrm>
            <a:off x="173523" y="1124744"/>
            <a:ext cx="8934981" cy="448510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noChangeArrowheads="1"/>
          </p:cNvPicPr>
          <p:nvPr/>
        </p:nvPicPr>
        <p:blipFill>
          <a:blip r:embed="rId2" cstate="print"/>
          <a:srcRect/>
          <a:stretch>
            <a:fillRect/>
          </a:stretch>
        </p:blipFill>
        <p:spPr bwMode="auto">
          <a:xfrm>
            <a:off x="142876" y="785794"/>
            <a:ext cx="8786842" cy="54292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cstate="print"/>
          <a:srcRect/>
          <a:stretch>
            <a:fillRect/>
          </a:stretch>
        </p:blipFill>
        <p:spPr bwMode="auto">
          <a:xfrm>
            <a:off x="142845" y="857232"/>
            <a:ext cx="8858312" cy="52864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srcRect/>
          <a:stretch>
            <a:fillRect/>
          </a:stretch>
        </p:blipFill>
        <p:spPr bwMode="auto">
          <a:xfrm>
            <a:off x="315028" y="1142984"/>
            <a:ext cx="8257500" cy="4434320"/>
          </a:xfrm>
          <a:prstGeom prst="rect">
            <a:avLst/>
          </a:prstGeom>
          <a:noFill/>
          <a:ln w="9525">
            <a:noFill/>
            <a:miter lim="800000"/>
            <a:headEnd/>
            <a:tailEnd/>
          </a:ln>
          <a:effectLst/>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Picture 2"/>
          <p:cNvPicPr>
            <a:picLocks noChangeAspect="1" noChangeArrowheads="1"/>
          </p:cNvPicPr>
          <p:nvPr/>
        </p:nvPicPr>
        <p:blipFill>
          <a:blip r:embed="rId2" cstate="print"/>
          <a:srcRect/>
          <a:stretch>
            <a:fillRect/>
          </a:stretch>
        </p:blipFill>
        <p:spPr bwMode="auto">
          <a:xfrm>
            <a:off x="1476375" y="2765425"/>
            <a:ext cx="6191250" cy="1327150"/>
          </a:xfrm>
          <a:prstGeom prst="rect">
            <a:avLst/>
          </a:prstGeom>
          <a:noFill/>
          <a:ln w="9525">
            <a:noFill/>
            <a:miter lim="800000"/>
            <a:headEnd/>
            <a:tailEnd/>
          </a:ln>
        </p:spPr>
      </p:pic>
      <p:pic>
        <p:nvPicPr>
          <p:cNvPr id="53251" name="Picture 3"/>
          <p:cNvPicPr>
            <a:picLocks noChangeAspect="1" noChangeArrowheads="1"/>
          </p:cNvPicPr>
          <p:nvPr/>
        </p:nvPicPr>
        <p:blipFill>
          <a:blip r:embed="rId3" cstate="print"/>
          <a:srcRect/>
          <a:stretch>
            <a:fillRect/>
          </a:stretch>
        </p:blipFill>
        <p:spPr bwMode="auto">
          <a:xfrm>
            <a:off x="187204" y="1142984"/>
            <a:ext cx="8813952" cy="450059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396572" y="1285860"/>
            <a:ext cx="8490037" cy="435771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07504" y="214290"/>
            <a:ext cx="8893652" cy="3046988"/>
          </a:xfrm>
          <a:prstGeom prst="rect">
            <a:avLst/>
          </a:prstGeom>
        </p:spPr>
        <p:txBody>
          <a:bodyPr wrap="square">
            <a:spAutoFit/>
          </a:bodyPr>
          <a:lstStyle/>
          <a:p>
            <a:r>
              <a:rPr lang="en-US" sz="2400" dirty="0" smtClean="0"/>
              <a:t>Polymorphism in Java, polymorphism is the OOPS concept that means one can perform a single action by various ways, actually poly means many and morph means forms, these both words are Greek words. </a:t>
            </a:r>
          </a:p>
          <a:p>
            <a:r>
              <a:rPr lang="en-US" sz="2400" dirty="0" smtClean="0"/>
              <a:t>There are two types in polymorphism, one is compile time polymorphism and the second one is runtime polymorphism. </a:t>
            </a:r>
          </a:p>
          <a:p>
            <a:r>
              <a:rPr lang="en-US" sz="2400" dirty="0" smtClean="0"/>
              <a:t>By using method </a:t>
            </a:r>
            <a:r>
              <a:rPr lang="en-US" sz="2400" dirty="0" smtClean="0">
                <a:hlinkClick r:id="rId2" tooltip="Overloading  In Java"/>
              </a:rPr>
              <a:t>overloading </a:t>
            </a:r>
            <a:r>
              <a:rPr lang="en-US" sz="2400" dirty="0" smtClean="0"/>
              <a:t>and method </a:t>
            </a:r>
            <a:r>
              <a:rPr lang="en-US" sz="2400" dirty="0" smtClean="0">
                <a:hlinkClick r:id="rId3" tooltip="Overriding In Java"/>
              </a:rPr>
              <a:t>overriding </a:t>
            </a:r>
            <a:r>
              <a:rPr lang="en-US" sz="2400" dirty="0" smtClean="0"/>
              <a:t>developer can perform polymorphism.</a:t>
            </a:r>
          </a:p>
          <a:p>
            <a:endParaRPr lang="en-IN" sz="2400" dirty="0" smtClean="0"/>
          </a:p>
        </p:txBody>
      </p:sp>
      <p:pic>
        <p:nvPicPr>
          <p:cNvPr id="24579" name="Picture 3" descr="Java Tutorial : Polymorphism in Java | Java Polymorphism | learntek.org"/>
          <p:cNvPicPr>
            <a:picLocks noChangeAspect="1" noChangeArrowheads="1"/>
          </p:cNvPicPr>
          <p:nvPr/>
        </p:nvPicPr>
        <p:blipFill>
          <a:blip r:embed="rId4" cstate="print"/>
          <a:srcRect/>
          <a:stretch>
            <a:fillRect/>
          </a:stretch>
        </p:blipFill>
        <p:spPr bwMode="auto">
          <a:xfrm>
            <a:off x="1357290" y="3499222"/>
            <a:ext cx="6500858" cy="3215926"/>
          </a:xfrm>
          <a:prstGeom prst="rect">
            <a:avLst/>
          </a:prstGeom>
          <a:noFill/>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3" name="Picture 1"/>
          <p:cNvPicPr>
            <a:picLocks noChangeAspect="1" noChangeArrowheads="1"/>
          </p:cNvPicPr>
          <p:nvPr/>
        </p:nvPicPr>
        <p:blipFill>
          <a:blip r:embed="rId2" cstate="print"/>
          <a:srcRect/>
          <a:stretch>
            <a:fillRect/>
          </a:stretch>
        </p:blipFill>
        <p:spPr bwMode="auto">
          <a:xfrm>
            <a:off x="285721" y="142853"/>
            <a:ext cx="8572560" cy="626146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p:cNvPicPr>
            <a:picLocks noChangeAspect="1" noChangeArrowheads="1"/>
          </p:cNvPicPr>
          <p:nvPr/>
        </p:nvPicPr>
        <p:blipFill>
          <a:blip r:embed="rId2" cstate="print"/>
          <a:srcRect/>
          <a:stretch>
            <a:fillRect/>
          </a:stretch>
        </p:blipFill>
        <p:spPr bwMode="auto">
          <a:xfrm>
            <a:off x="71406" y="1714488"/>
            <a:ext cx="8882118" cy="423479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357158" y="404664"/>
            <a:ext cx="8429684" cy="5904656"/>
            <a:chOff x="1259632" y="404664"/>
            <a:chExt cx="6480720" cy="5904656"/>
          </a:xfrm>
        </p:grpSpPr>
        <p:pic>
          <p:nvPicPr>
            <p:cNvPr id="87042" name="Picture 2"/>
            <p:cNvPicPr>
              <a:picLocks noChangeAspect="1" noChangeArrowheads="1"/>
            </p:cNvPicPr>
            <p:nvPr/>
          </p:nvPicPr>
          <p:blipFill>
            <a:blip r:embed="rId2" cstate="print"/>
            <a:srcRect/>
            <a:stretch>
              <a:fillRect/>
            </a:stretch>
          </p:blipFill>
          <p:spPr bwMode="auto">
            <a:xfrm>
              <a:off x="1259632" y="404664"/>
              <a:ext cx="6336704" cy="2965450"/>
            </a:xfrm>
            <a:prstGeom prst="rect">
              <a:avLst/>
            </a:prstGeom>
            <a:noFill/>
            <a:ln w="9525">
              <a:noFill/>
              <a:miter lim="800000"/>
              <a:headEnd/>
              <a:tailEnd/>
            </a:ln>
          </p:spPr>
        </p:pic>
        <p:pic>
          <p:nvPicPr>
            <p:cNvPr id="3" name="Picture 13"/>
            <p:cNvPicPr>
              <a:picLocks noChangeAspect="1" noChangeArrowheads="1"/>
            </p:cNvPicPr>
            <p:nvPr/>
          </p:nvPicPr>
          <p:blipFill>
            <a:blip r:embed="rId3" cstate="print"/>
            <a:srcRect/>
            <a:stretch>
              <a:fillRect/>
            </a:stretch>
          </p:blipFill>
          <p:spPr bwMode="auto">
            <a:xfrm>
              <a:off x="1619672" y="3429000"/>
              <a:ext cx="6120680" cy="2880320"/>
            </a:xfrm>
            <a:prstGeom prst="rect">
              <a:avLst/>
            </a:prstGeom>
            <a:noFill/>
            <a:ln w="9525">
              <a:noFill/>
              <a:miter lim="800000"/>
              <a:headEnd/>
              <a:tailEnd/>
            </a:ln>
          </p:spPr>
        </p:pic>
      </p:gr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AutoShape 2" descr="Javarevisited: Top 21 Java Final Modifier (Keyword) Interview Questions and  Answer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8068" name="AutoShape 4" descr="Javarevisited: Top 21 Java Final Modifier (Keyword) Interview Questions and  Answer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8070" name="AutoShape 6" descr="Javarevisited: Top 21 Java Final Modifier (Keyword) Interview Questions and  Answer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8072" name="AutoShape 8" descr="Javarevisited: Top 21 Java Final Modifier (Keyword) Interview Questions and  Answer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8074" name="AutoShape 10" descr="Java Final Keyword, Variable, Method and Class - TechVidva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8076" name="AutoShape 12" descr="Java Final Keyword, Variable, Method and Class - TechVidva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88078" name="Picture 14"/>
          <p:cNvPicPr>
            <a:picLocks noChangeAspect="1" noChangeArrowheads="1"/>
          </p:cNvPicPr>
          <p:nvPr/>
        </p:nvPicPr>
        <p:blipFill>
          <a:blip r:embed="rId2" cstate="print"/>
          <a:srcRect/>
          <a:stretch>
            <a:fillRect/>
          </a:stretch>
        </p:blipFill>
        <p:spPr bwMode="auto">
          <a:xfrm>
            <a:off x="1187624" y="332656"/>
            <a:ext cx="5956144" cy="6120680"/>
          </a:xfrm>
          <a:prstGeom prst="rect">
            <a:avLst/>
          </a:prstGeom>
          <a:noFill/>
          <a:ln w="9525">
            <a:noFill/>
            <a:miter lim="800000"/>
            <a:headEnd/>
            <a:tailEnd/>
          </a:ln>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1"/>
          <p:cNvSpPr>
            <a:spLocks noChangeArrowheads="1"/>
          </p:cNvSpPr>
          <p:nvPr/>
        </p:nvSpPr>
        <p:spPr bwMode="auto">
          <a:xfrm>
            <a:off x="179512" y="-49358"/>
            <a:ext cx="8424936" cy="836037"/>
          </a:xfrm>
          <a:prstGeom prst="rect">
            <a:avLst/>
          </a:prstGeom>
          <a:solidFill>
            <a:srgbClr val="FFFFFF"/>
          </a:solidFill>
          <a:ln w="9525">
            <a:noFill/>
            <a:miter lim="800000"/>
            <a:headEnd/>
            <a:tailEnd/>
          </a:ln>
          <a:effectLst/>
        </p:spPr>
        <p:txBody>
          <a:bodyPr vert="horz" wrap="square" lIns="0" tIns="139656" rIns="0" bIns="139656"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smtClean="0">
                <a:ln>
                  <a:noFill/>
                </a:ln>
                <a:solidFill>
                  <a:srgbClr val="000000"/>
                </a:solidFill>
                <a:effectLst/>
                <a:latin typeface="Arial" pitchFamily="34" charset="0"/>
                <a:cs typeface="Arial" pitchFamily="34" charset="0"/>
              </a:rPr>
              <a:t>Package in Java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21506" name="Rectangle 2"/>
          <p:cNvSpPr>
            <a:spLocks noChangeArrowheads="1"/>
          </p:cNvSpPr>
          <p:nvPr/>
        </p:nvSpPr>
        <p:spPr bwMode="auto">
          <a:xfrm>
            <a:off x="0" y="457200"/>
            <a:ext cx="9144000" cy="15875"/>
          </a:xfrm>
          <a:prstGeom prst="rect">
            <a:avLst/>
          </a:prstGeom>
          <a:solidFill>
            <a:srgbClr val="000000"/>
          </a:solidFill>
          <a:ln w="9525">
            <a:solidFill>
              <a:schemeClr val="tx1"/>
            </a:solidFill>
            <a:prstDash val="solid"/>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1507" name="Rectangle 3"/>
          <p:cNvSpPr>
            <a:spLocks noChangeArrowheads="1"/>
          </p:cNvSpPr>
          <p:nvPr/>
        </p:nvSpPr>
        <p:spPr bwMode="auto">
          <a:xfrm>
            <a:off x="0" y="358322"/>
            <a:ext cx="9001156" cy="612475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smtClean="0">
                <a:ln>
                  <a:noFill/>
                </a:ln>
                <a:solidFill>
                  <a:srgbClr val="000000"/>
                </a:solidFill>
                <a:effectLst/>
                <a:latin typeface="+mj-lt"/>
                <a:cs typeface="Arial" pitchFamily="34" charset="0"/>
              </a:rPr>
              <a:t>A package is nothing but a physical folder structure (directories) that contains a group of related classes, interfaces, and sub-packages according to their functionality. It provides a convenient way to organize your work.</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2800" b="0" i="0" u="none" strike="noStrike" cap="none" normalizeH="0" baseline="0" dirty="0" smtClean="0">
              <a:ln>
                <a:noFill/>
              </a:ln>
              <a:solidFill>
                <a:srgbClr val="000000"/>
              </a:solidFill>
              <a:effectLst/>
              <a:latin typeface="+mj-lt"/>
              <a:cs typeface="Arial" pitchFamily="34" charset="0"/>
            </a:endParaRPr>
          </a:p>
          <a:p>
            <a:r>
              <a:rPr lang="en-US" sz="2800" dirty="0" smtClean="0">
                <a:latin typeface="+mj-lt"/>
              </a:rPr>
              <a:t>A real-life example is when you download a movie, song, or game, you make a different folder for each category like movie, song, etc. In the same way, a group of packages in java is just like a library</a:t>
            </a:r>
            <a:r>
              <a:rPr lang="en-US" sz="2800" dirty="0" smtClean="0">
                <a:latin typeface="+mj-lt"/>
              </a:rPr>
              <a:t>.</a:t>
            </a:r>
          </a:p>
          <a:p>
            <a:endParaRPr lang="en-US" sz="2800" dirty="0" smtClean="0">
              <a:latin typeface="+mj-lt"/>
            </a:endParaRPr>
          </a:p>
          <a:p>
            <a:r>
              <a:rPr lang="en-US" sz="2800" dirty="0" smtClean="0">
                <a:latin typeface="+mj-lt"/>
              </a:rPr>
              <a:t>The classes and interfaces of a package are like books in the library that can reuse several times when we need. This reusability nature of packages makes programming easy.</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2800" b="0" i="0" u="none" strike="noStrike" cap="none" normalizeH="0" baseline="0" dirty="0" smtClean="0">
              <a:ln>
                <a:noFill/>
              </a:ln>
              <a:solidFill>
                <a:schemeClr val="tx1"/>
              </a:solidFill>
              <a:effectLst/>
              <a:latin typeface="+mj-lt"/>
              <a:cs typeface="Arial" pitchFamily="34" charset="0"/>
            </a:endParaRPr>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p:cNvPicPr>
            <a:picLocks noChangeAspect="1" noChangeArrowheads="1"/>
          </p:cNvPicPr>
          <p:nvPr/>
        </p:nvPicPr>
        <p:blipFill>
          <a:blip r:embed="rId2" cstate="print"/>
          <a:srcRect/>
          <a:stretch>
            <a:fillRect/>
          </a:stretch>
        </p:blipFill>
        <p:spPr bwMode="auto">
          <a:xfrm>
            <a:off x="1357289" y="857232"/>
            <a:ext cx="6489229" cy="4500594"/>
          </a:xfrm>
          <a:prstGeom prst="rect">
            <a:avLst/>
          </a:prstGeom>
          <a:noFill/>
          <a:ln w="9525">
            <a:noFill/>
            <a:miter lim="800000"/>
            <a:headEnd/>
            <a:tailEnd/>
          </a:ln>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214282" y="285728"/>
            <a:ext cx="8786874" cy="6346352"/>
            <a:chOff x="214282" y="285728"/>
            <a:chExt cx="8786874" cy="6346352"/>
          </a:xfrm>
        </p:grpSpPr>
        <p:sp>
          <p:nvSpPr>
            <p:cNvPr id="2" name="Rectangle 1"/>
            <p:cNvSpPr/>
            <p:nvPr/>
          </p:nvSpPr>
          <p:spPr>
            <a:xfrm>
              <a:off x="214282" y="285728"/>
              <a:ext cx="8786874" cy="1938992"/>
            </a:xfrm>
            <a:prstGeom prst="rect">
              <a:avLst/>
            </a:prstGeom>
          </p:spPr>
          <p:txBody>
            <a:bodyPr wrap="square">
              <a:spAutoFit/>
            </a:bodyPr>
            <a:lstStyle/>
            <a:p>
              <a:r>
                <a:rPr lang="en-US" sz="2400" b="1" dirty="0" smtClean="0"/>
                <a:t>Predefined Packages in Java (Built-in Packages)</a:t>
              </a:r>
            </a:p>
            <a:p>
              <a:r>
                <a:rPr lang="en-US" sz="2400" dirty="0" smtClean="0"/>
                <a:t>Predefined packages in java are those which are developed by Sun </a:t>
              </a:r>
              <a:r>
                <a:rPr lang="en-US" sz="2400" dirty="0" err="1" smtClean="0"/>
                <a:t>Microsystem</a:t>
              </a:r>
              <a:r>
                <a:rPr lang="en-US" sz="2400" dirty="0" smtClean="0"/>
                <a:t>. </a:t>
              </a:r>
              <a:endParaRPr lang="en-US" sz="2400" dirty="0" smtClean="0"/>
            </a:p>
            <a:p>
              <a:endParaRPr lang="en-US" sz="2400" dirty="0" smtClean="0"/>
            </a:p>
            <a:p>
              <a:r>
                <a:rPr lang="en-US" sz="2400" dirty="0" smtClean="0"/>
                <a:t>They </a:t>
              </a:r>
              <a:r>
                <a:rPr lang="en-US" sz="2400" dirty="0" smtClean="0"/>
                <a:t>are also called built-in packages in java. </a:t>
              </a:r>
              <a:endParaRPr lang="en-US" sz="2400" dirty="0"/>
            </a:p>
          </p:txBody>
        </p:sp>
        <p:pic>
          <p:nvPicPr>
            <p:cNvPr id="3" name="Picture 2" descr="Packages in java and how to use them"/>
            <p:cNvPicPr>
              <a:picLocks noChangeAspect="1" noChangeArrowheads="1"/>
            </p:cNvPicPr>
            <p:nvPr/>
          </p:nvPicPr>
          <p:blipFill>
            <a:blip r:embed="rId2" cstate="print"/>
            <a:srcRect/>
            <a:stretch>
              <a:fillRect/>
            </a:stretch>
          </p:blipFill>
          <p:spPr bwMode="auto">
            <a:xfrm>
              <a:off x="1115616" y="2564904"/>
              <a:ext cx="6743700" cy="4067176"/>
            </a:xfrm>
            <a:prstGeom prst="rect">
              <a:avLst/>
            </a:prstGeom>
            <a:noFill/>
          </p:spPr>
        </p:pic>
      </p:gr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938992"/>
          </a:xfrm>
          <a:prstGeom prst="rect">
            <a:avLst/>
          </a:prstGeom>
        </p:spPr>
        <p:txBody>
          <a:bodyPr wrap="square">
            <a:spAutoFit/>
          </a:bodyPr>
          <a:lstStyle/>
          <a:p>
            <a:r>
              <a:rPr lang="en-US" sz="2400" b="1" dirty="0" smtClean="0"/>
              <a:t>Naming Convention to declare User-defined Package in Real-time Project</a:t>
            </a:r>
          </a:p>
          <a:p>
            <a:endParaRPr lang="en-US" sz="2400" b="1" dirty="0" smtClean="0"/>
          </a:p>
          <a:p>
            <a:r>
              <a:rPr lang="en-US" sz="2400" dirty="0" smtClean="0"/>
              <a:t>While developing your project, you must follow some naming convention regarding packages declaration. </a:t>
            </a:r>
            <a:endParaRPr lang="en-US" sz="2400" dirty="0"/>
          </a:p>
        </p:txBody>
      </p:sp>
      <p:pic>
        <p:nvPicPr>
          <p:cNvPr id="19457" name="Picture 1"/>
          <p:cNvPicPr>
            <a:picLocks noChangeAspect="1" noChangeArrowheads="1"/>
          </p:cNvPicPr>
          <p:nvPr/>
        </p:nvPicPr>
        <p:blipFill>
          <a:blip r:embed="rId2" cstate="print"/>
          <a:srcRect/>
          <a:stretch>
            <a:fillRect/>
          </a:stretch>
        </p:blipFill>
        <p:spPr bwMode="auto">
          <a:xfrm>
            <a:off x="428596" y="2071678"/>
            <a:ext cx="8572560" cy="4786322"/>
          </a:xfrm>
          <a:prstGeom prst="rect">
            <a:avLst/>
          </a:prstGeom>
          <a:noFill/>
          <a:ln w="9525">
            <a:noFill/>
            <a:miter lim="800000"/>
            <a:headEnd/>
            <a:tailEnd/>
          </a:ln>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4" name="Picture 4" descr="Predefined packages in Java"/>
          <p:cNvPicPr>
            <a:picLocks noChangeAspect="1" noChangeArrowheads="1"/>
          </p:cNvPicPr>
          <p:nvPr/>
        </p:nvPicPr>
        <p:blipFill>
          <a:blip r:embed="rId2" cstate="print"/>
          <a:srcRect/>
          <a:stretch>
            <a:fillRect/>
          </a:stretch>
        </p:blipFill>
        <p:spPr bwMode="auto">
          <a:xfrm>
            <a:off x="395536" y="548680"/>
            <a:ext cx="8352928" cy="5544616"/>
          </a:xfrm>
          <a:prstGeom prst="rect">
            <a:avLst/>
          </a:prstGeom>
          <a:noFill/>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262979"/>
          </a:xfrm>
          <a:prstGeom prst="rect">
            <a:avLst/>
          </a:prstGeom>
        </p:spPr>
        <p:txBody>
          <a:bodyPr wrap="square">
            <a:spAutoFit/>
          </a:bodyPr>
          <a:lstStyle/>
          <a:p>
            <a:r>
              <a:rPr lang="en-US" sz="2400" b="1" dirty="0" smtClean="0"/>
              <a:t>Abstract Class</a:t>
            </a:r>
          </a:p>
          <a:p>
            <a:endParaRPr lang="en-US" sz="2400" dirty="0" smtClean="0"/>
          </a:p>
          <a:p>
            <a:r>
              <a:rPr lang="en-US" sz="2400" dirty="0" smtClean="0"/>
              <a:t>A class which is declared using </a:t>
            </a:r>
            <a:r>
              <a:rPr lang="en-US" sz="2400" b="1" dirty="0" smtClean="0"/>
              <a:t>abstract keyword</a:t>
            </a:r>
            <a:r>
              <a:rPr lang="en-US" sz="2400" dirty="0" smtClean="0"/>
              <a:t> known as </a:t>
            </a:r>
            <a:r>
              <a:rPr lang="en-US" sz="2400" b="1" dirty="0" smtClean="0"/>
              <a:t>abstract class</a:t>
            </a:r>
            <a:r>
              <a:rPr lang="en-US" sz="2400" dirty="0" smtClean="0"/>
              <a:t>. An abstract class may or may not have abstract methods. </a:t>
            </a:r>
            <a:endParaRPr lang="en-US" sz="2400" dirty="0" smtClean="0"/>
          </a:p>
          <a:p>
            <a:r>
              <a:rPr lang="en-US" sz="2400" dirty="0" smtClean="0"/>
              <a:t>We </a:t>
            </a:r>
            <a:r>
              <a:rPr lang="en-US" sz="2400" dirty="0" smtClean="0"/>
              <a:t>cannot create object of abstract class</a:t>
            </a:r>
            <a:r>
              <a:rPr lang="en-US" sz="2400" dirty="0" smtClean="0"/>
              <a:t>.</a:t>
            </a:r>
          </a:p>
          <a:p>
            <a:endParaRPr lang="en-IN" sz="2400" dirty="0" smtClean="0"/>
          </a:p>
          <a:p>
            <a:endParaRPr lang="en-US" sz="2400" dirty="0" smtClean="0"/>
          </a:p>
          <a:p>
            <a:r>
              <a:rPr lang="en-US" sz="2400" dirty="0" smtClean="0"/>
              <a:t>It is used to achieve abstraction but it does not provide 100% abstraction because it can have concrete methods.</a:t>
            </a:r>
          </a:p>
          <a:p>
            <a:endParaRPr lang="en-US" sz="2400" dirty="0" smtClean="0"/>
          </a:p>
          <a:p>
            <a:pPr>
              <a:buFont typeface="Arial" pitchFamily="34" charset="0"/>
              <a:buChar char="•"/>
            </a:pPr>
            <a:r>
              <a:rPr lang="en-US" sz="2400" dirty="0" smtClean="0"/>
              <a:t>An abstract class must be declared with an abstract keyword.</a:t>
            </a:r>
          </a:p>
          <a:p>
            <a:pPr>
              <a:buFont typeface="Arial" pitchFamily="34" charset="0"/>
              <a:buChar char="•"/>
            </a:pPr>
            <a:r>
              <a:rPr lang="en-US" sz="2400" dirty="0" smtClean="0"/>
              <a:t>It can have abstract and non-abstract methods.</a:t>
            </a:r>
          </a:p>
          <a:p>
            <a:pPr>
              <a:buFont typeface="Arial" pitchFamily="34" charset="0"/>
              <a:buChar char="•"/>
            </a:pPr>
            <a:r>
              <a:rPr lang="en-US" sz="2400" dirty="0" smtClean="0"/>
              <a:t>It cannot be instantiated.</a:t>
            </a:r>
          </a:p>
          <a:p>
            <a:pPr>
              <a:buFont typeface="Arial" pitchFamily="34" charset="0"/>
              <a:buChar char="•"/>
            </a:pPr>
            <a:r>
              <a:rPr lang="en-US" sz="2400" dirty="0" smtClean="0"/>
              <a:t>It is used for abstraction.</a:t>
            </a:r>
            <a:endParaRPr lang="en-US" sz="24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5000636"/>
            <a:ext cx="9144000" cy="1569660"/>
          </a:xfrm>
          <a:prstGeom prst="rect">
            <a:avLst/>
          </a:prstGeom>
        </p:spPr>
        <p:txBody>
          <a:bodyPr wrap="square">
            <a:spAutoFit/>
          </a:bodyPr>
          <a:lstStyle/>
          <a:p>
            <a:r>
              <a:rPr lang="en-US" sz="2400" b="1" dirty="0" smtClean="0"/>
              <a:t>Non Access Modifiers in Java</a:t>
            </a:r>
          </a:p>
          <a:p>
            <a:endParaRPr lang="en-US" sz="2400" dirty="0" smtClean="0"/>
          </a:p>
          <a:p>
            <a:r>
              <a:rPr lang="en-US" sz="2400" dirty="0" smtClean="0"/>
              <a:t>They </a:t>
            </a:r>
            <a:r>
              <a:rPr lang="en-US" sz="2400" dirty="0" smtClean="0"/>
              <a:t>are abstract, final, static, </a:t>
            </a:r>
            <a:r>
              <a:rPr lang="en-US" sz="2400" dirty="0" err="1" smtClean="0"/>
              <a:t>strictfp</a:t>
            </a:r>
            <a:r>
              <a:rPr lang="en-US" sz="2400" dirty="0" smtClean="0"/>
              <a:t>, synchronized, transient, and volatile.</a:t>
            </a:r>
            <a:endParaRPr lang="en-US" sz="2400" dirty="0"/>
          </a:p>
        </p:txBody>
      </p:sp>
      <p:pic>
        <p:nvPicPr>
          <p:cNvPr id="4" name="Picture 1"/>
          <p:cNvPicPr>
            <a:picLocks noChangeAspect="1" noChangeArrowheads="1"/>
          </p:cNvPicPr>
          <p:nvPr/>
        </p:nvPicPr>
        <p:blipFill>
          <a:blip r:embed="rId2" cstate="print"/>
          <a:srcRect/>
          <a:stretch>
            <a:fillRect/>
          </a:stretch>
        </p:blipFill>
        <p:spPr bwMode="auto">
          <a:xfrm>
            <a:off x="285720" y="214290"/>
            <a:ext cx="8715436" cy="457203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09" name="Picture 1"/>
          <p:cNvPicPr>
            <a:picLocks noChangeAspect="1" noChangeArrowheads="1"/>
          </p:cNvPicPr>
          <p:nvPr/>
        </p:nvPicPr>
        <p:blipFill>
          <a:blip r:embed="rId2" cstate="print"/>
          <a:srcRect/>
          <a:stretch>
            <a:fillRect/>
          </a:stretch>
        </p:blipFill>
        <p:spPr bwMode="auto">
          <a:xfrm>
            <a:off x="71406" y="214314"/>
            <a:ext cx="8929750" cy="4929198"/>
          </a:xfrm>
          <a:prstGeom prst="rect">
            <a:avLst/>
          </a:prstGeom>
          <a:noFill/>
          <a:ln w="9525">
            <a:noFill/>
            <a:miter lim="800000"/>
            <a:headEnd/>
            <a:tailEnd/>
          </a:ln>
        </p:spPr>
      </p:pic>
      <p:sp>
        <p:nvSpPr>
          <p:cNvPr id="3" name="Rectangle 2"/>
          <p:cNvSpPr/>
          <p:nvPr/>
        </p:nvSpPr>
        <p:spPr>
          <a:xfrm>
            <a:off x="179512" y="5598399"/>
            <a:ext cx="8964488" cy="830997"/>
          </a:xfrm>
          <a:prstGeom prst="rect">
            <a:avLst/>
          </a:prstGeom>
        </p:spPr>
        <p:txBody>
          <a:bodyPr wrap="square">
            <a:spAutoFit/>
          </a:bodyPr>
          <a:lstStyle/>
          <a:p>
            <a:r>
              <a:rPr lang="en-US" sz="2400" dirty="0" smtClean="0"/>
              <a:t>It </a:t>
            </a:r>
            <a:r>
              <a:rPr lang="en-US" sz="2400" dirty="0" smtClean="0"/>
              <a:t>can have only abstract methods and static fields. However, from </a:t>
            </a:r>
            <a:r>
              <a:rPr lang="en-US" sz="2400" b="1" dirty="0" smtClean="0"/>
              <a:t>Java 8</a:t>
            </a:r>
            <a:r>
              <a:rPr lang="en-US" sz="2400" dirty="0" smtClean="0"/>
              <a:t>, interface can have </a:t>
            </a:r>
            <a:r>
              <a:rPr lang="en-US" sz="2400" b="1" dirty="0" smtClean="0"/>
              <a:t>default</a:t>
            </a:r>
            <a:r>
              <a:rPr lang="en-US" sz="2400" dirty="0" smtClean="0"/>
              <a:t> and </a:t>
            </a:r>
            <a:r>
              <a:rPr lang="en-US" sz="2400" b="1" dirty="0" smtClean="0"/>
              <a:t>static methods</a:t>
            </a:r>
            <a:endParaRPr lang="en-US" sz="24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285720" y="142852"/>
            <a:ext cx="8358246" cy="6560994"/>
            <a:chOff x="428596" y="285728"/>
            <a:chExt cx="8358246" cy="6560994"/>
          </a:xfrm>
        </p:grpSpPr>
        <p:sp>
          <p:nvSpPr>
            <p:cNvPr id="2" name="Rectangle 1"/>
            <p:cNvSpPr/>
            <p:nvPr/>
          </p:nvSpPr>
          <p:spPr>
            <a:xfrm>
              <a:off x="428596" y="285728"/>
              <a:ext cx="8358246" cy="1569660"/>
            </a:xfrm>
            <a:prstGeom prst="rect">
              <a:avLst/>
            </a:prstGeom>
          </p:spPr>
          <p:txBody>
            <a:bodyPr wrap="square">
              <a:spAutoFit/>
            </a:bodyPr>
            <a:lstStyle/>
            <a:p>
              <a:r>
                <a:rPr lang="en-US" sz="2400" b="1" dirty="0" smtClean="0"/>
                <a:t>Advantages of Interface</a:t>
              </a:r>
            </a:p>
            <a:p>
              <a:r>
                <a:rPr lang="en-US" sz="2400" dirty="0" smtClean="0"/>
                <a:t>It Support multiple inheritance</a:t>
              </a:r>
            </a:p>
            <a:p>
              <a:r>
                <a:rPr lang="en-US" sz="2400" dirty="0" smtClean="0"/>
                <a:t>It helps to achieve abstraction</a:t>
              </a:r>
            </a:p>
            <a:p>
              <a:r>
                <a:rPr lang="en-US" sz="2400" dirty="0" smtClean="0"/>
                <a:t>It can be used to achieve loose coupling.</a:t>
              </a:r>
              <a:endParaRPr lang="en-US" sz="2400" dirty="0"/>
            </a:p>
          </p:txBody>
        </p:sp>
        <p:pic>
          <p:nvPicPr>
            <p:cNvPr id="3" name="Picture 2" descr="Interface in Java"/>
            <p:cNvPicPr>
              <a:picLocks noChangeAspect="1" noChangeArrowheads="1"/>
            </p:cNvPicPr>
            <p:nvPr/>
          </p:nvPicPr>
          <p:blipFill>
            <a:blip r:embed="rId2" cstate="print"/>
            <a:srcRect/>
            <a:stretch>
              <a:fillRect/>
            </a:stretch>
          </p:blipFill>
          <p:spPr bwMode="auto">
            <a:xfrm>
              <a:off x="720080" y="2075103"/>
              <a:ext cx="7923886" cy="4771619"/>
            </a:xfrm>
            <a:prstGeom prst="rect">
              <a:avLst/>
            </a:prstGeom>
            <a:noFill/>
          </p:spPr>
        </p:pic>
      </p:gr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26" name="Picture 2"/>
          <p:cNvPicPr>
            <a:picLocks noChangeAspect="1" noChangeArrowheads="1"/>
          </p:cNvPicPr>
          <p:nvPr/>
        </p:nvPicPr>
        <p:blipFill>
          <a:blip r:embed="rId2" cstate="print"/>
          <a:srcRect/>
          <a:stretch>
            <a:fillRect/>
          </a:stretch>
        </p:blipFill>
        <p:spPr bwMode="auto">
          <a:xfrm>
            <a:off x="467544" y="1412776"/>
            <a:ext cx="7992888" cy="4608512"/>
          </a:xfrm>
          <a:prstGeom prst="rect">
            <a:avLst/>
          </a:prstGeom>
          <a:noFill/>
          <a:ln w="9525">
            <a:noFill/>
            <a:miter lim="800000"/>
            <a:headEnd/>
            <a:tailEnd/>
          </a:ln>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14282" y="0"/>
            <a:ext cx="3532570" cy="461665"/>
          </a:xfrm>
          <a:prstGeom prst="rect">
            <a:avLst/>
          </a:prstGeom>
        </p:spPr>
        <p:txBody>
          <a:bodyPr wrap="none">
            <a:spAutoFit/>
          </a:bodyPr>
          <a:lstStyle/>
          <a:p>
            <a:r>
              <a:rPr lang="en-US" sz="2400" b="1" dirty="0" smtClean="0"/>
              <a:t>What is Exception in Java?</a:t>
            </a:r>
            <a:endParaRPr lang="en-US" sz="2400" b="1" dirty="0"/>
          </a:p>
        </p:txBody>
      </p:sp>
      <p:sp>
        <p:nvSpPr>
          <p:cNvPr id="6" name="Rectangle 5"/>
          <p:cNvSpPr/>
          <p:nvPr/>
        </p:nvSpPr>
        <p:spPr>
          <a:xfrm>
            <a:off x="0" y="889844"/>
            <a:ext cx="9001156" cy="4893647"/>
          </a:xfrm>
          <a:prstGeom prst="rect">
            <a:avLst/>
          </a:prstGeom>
        </p:spPr>
        <p:txBody>
          <a:bodyPr wrap="square">
            <a:spAutoFit/>
          </a:bodyPr>
          <a:lstStyle/>
          <a:p>
            <a:r>
              <a:rPr lang="en-US" sz="2400" dirty="0" smtClean="0"/>
              <a:t> </a:t>
            </a:r>
            <a:r>
              <a:rPr lang="en-US" sz="2400" dirty="0" smtClean="0"/>
              <a:t>A</a:t>
            </a:r>
            <a:r>
              <a:rPr lang="en-US" sz="2400" dirty="0" smtClean="0"/>
              <a:t>n </a:t>
            </a:r>
            <a:r>
              <a:rPr lang="en-US" sz="2400" dirty="0" smtClean="0"/>
              <a:t>exception means a problem or an abnormal condition that stops a computer program from processing information in a normal way.</a:t>
            </a:r>
          </a:p>
          <a:p>
            <a:endParaRPr lang="en-US" sz="2400" dirty="0" smtClean="0"/>
          </a:p>
          <a:p>
            <a:r>
              <a:rPr lang="en-US" sz="2400" dirty="0" smtClean="0"/>
              <a:t>An </a:t>
            </a:r>
            <a:r>
              <a:rPr lang="en-US" sz="2400" b="1" dirty="0" smtClean="0"/>
              <a:t>exception in java</a:t>
            </a:r>
            <a:r>
              <a:rPr lang="en-US" sz="2400" dirty="0" smtClean="0"/>
              <a:t> is an object representing an error or an abnormal condition that occurs at runtime execution and interrupts (disrupts) the normal execution flow of the program.</a:t>
            </a:r>
          </a:p>
          <a:p>
            <a:endParaRPr lang="en-US" sz="2400" dirty="0" smtClean="0"/>
          </a:p>
          <a:p>
            <a:endParaRPr lang="en-US" sz="2400" dirty="0" smtClean="0"/>
          </a:p>
          <a:p>
            <a:r>
              <a:rPr lang="en-US" sz="2400" dirty="0" smtClean="0"/>
              <a:t>An exception can be </a:t>
            </a:r>
            <a:r>
              <a:rPr lang="en-US" sz="2400" b="1" dirty="0" smtClean="0"/>
              <a:t>identified only at runtime</a:t>
            </a:r>
            <a:r>
              <a:rPr lang="en-US" sz="2400" dirty="0" smtClean="0"/>
              <a:t>, not at compile time. Therefore, it is also called runtime errors that are thrown as exceptions in Java. </a:t>
            </a:r>
            <a:endParaRPr lang="en-US" sz="2400" dirty="0" smtClean="0"/>
          </a:p>
          <a:p>
            <a:endParaRPr lang="en-US" sz="2400" dirty="0" smtClean="0"/>
          </a:p>
          <a:p>
            <a:r>
              <a:rPr lang="en-US" sz="2400" dirty="0" smtClean="0"/>
              <a:t>They </a:t>
            </a:r>
            <a:r>
              <a:rPr lang="en-US" sz="2400" dirty="0" smtClean="0"/>
              <a:t>occur while a program is running.</a:t>
            </a:r>
            <a:endParaRPr lang="en-US" sz="2400" dirty="0"/>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7" name="Picture 1"/>
          <p:cNvPicPr>
            <a:picLocks noChangeAspect="1" noChangeArrowheads="1"/>
          </p:cNvPicPr>
          <p:nvPr/>
        </p:nvPicPr>
        <p:blipFill>
          <a:blip r:embed="rId2" cstate="print"/>
          <a:srcRect/>
          <a:stretch>
            <a:fillRect/>
          </a:stretch>
        </p:blipFill>
        <p:spPr bwMode="auto">
          <a:xfrm>
            <a:off x="1115616" y="1668227"/>
            <a:ext cx="6192688" cy="3761037"/>
          </a:xfrm>
          <a:prstGeom prst="rect">
            <a:avLst/>
          </a:prstGeom>
          <a:noFill/>
          <a:ln w="9525">
            <a:noFill/>
            <a:miter lim="800000"/>
            <a:headEnd/>
            <a:tailEnd/>
          </a:ln>
        </p:spPr>
      </p:pic>
      <p:sp>
        <p:nvSpPr>
          <p:cNvPr id="3" name="Rectangle 2"/>
          <p:cNvSpPr/>
          <p:nvPr/>
        </p:nvSpPr>
        <p:spPr>
          <a:xfrm>
            <a:off x="179512" y="188640"/>
            <a:ext cx="8784976" cy="1569660"/>
          </a:xfrm>
          <a:prstGeom prst="rect">
            <a:avLst/>
          </a:prstGeom>
        </p:spPr>
        <p:txBody>
          <a:bodyPr wrap="square">
            <a:spAutoFit/>
          </a:bodyPr>
          <a:lstStyle/>
          <a:p>
            <a:r>
              <a:rPr lang="en-US" sz="2400" b="1" dirty="0" smtClean="0"/>
              <a:t>1. </a:t>
            </a:r>
            <a:r>
              <a:rPr lang="en-US" sz="2400" dirty="0" smtClean="0"/>
              <a:t>Suppose </a:t>
            </a:r>
            <a:r>
              <a:rPr lang="en-US" sz="2400" dirty="0" smtClean="0"/>
              <a:t>you are watching a video on </a:t>
            </a:r>
            <a:r>
              <a:rPr lang="en-US" sz="2400" dirty="0" err="1" smtClean="0"/>
              <a:t>Youtube</a:t>
            </a:r>
            <a:r>
              <a:rPr lang="en-US" sz="2400" dirty="0" smtClean="0"/>
              <a:t>, suddenly, internet connectivity is disconnected or not working. In this case, you are not able to continue watching the video on </a:t>
            </a:r>
            <a:r>
              <a:rPr lang="en-US" sz="2400" dirty="0" err="1" smtClean="0"/>
              <a:t>Youtube</a:t>
            </a:r>
            <a:r>
              <a:rPr lang="en-US" sz="2400" dirty="0" smtClean="0"/>
              <a:t>. </a:t>
            </a:r>
            <a:endParaRPr lang="en-US" sz="2400" dirty="0" smtClean="0"/>
          </a:p>
          <a:p>
            <a:r>
              <a:rPr lang="en-US" sz="2400" dirty="0" smtClean="0"/>
              <a:t>This </a:t>
            </a:r>
            <a:r>
              <a:rPr lang="en-US" sz="2400" dirty="0" smtClean="0"/>
              <a:t>interruption is nothing but an exception.</a:t>
            </a:r>
            <a:endParaRPr lang="en-US" sz="2400" dirty="0"/>
          </a:p>
        </p:txBody>
      </p:sp>
      <p:sp>
        <p:nvSpPr>
          <p:cNvPr id="4" name="Rectangle 3"/>
          <p:cNvSpPr/>
          <p:nvPr/>
        </p:nvSpPr>
        <p:spPr>
          <a:xfrm>
            <a:off x="107504" y="5443381"/>
            <a:ext cx="9036496" cy="1200329"/>
          </a:xfrm>
          <a:prstGeom prst="rect">
            <a:avLst/>
          </a:prstGeom>
        </p:spPr>
        <p:txBody>
          <a:bodyPr wrap="square">
            <a:spAutoFit/>
          </a:bodyPr>
          <a:lstStyle/>
          <a:p>
            <a:r>
              <a:rPr lang="en-US" sz="2400" b="1" dirty="0" smtClean="0"/>
              <a:t>2.</a:t>
            </a:r>
            <a:r>
              <a:rPr lang="en-US" sz="2400" dirty="0" smtClean="0"/>
              <a:t> Suppose a person is traveling by car from Mumbai to </a:t>
            </a:r>
            <a:r>
              <a:rPr lang="en-US" sz="2400" dirty="0" err="1" smtClean="0"/>
              <a:t>Pune</a:t>
            </a:r>
            <a:r>
              <a:rPr lang="en-US" sz="2400" dirty="0" smtClean="0"/>
              <a:t>. After traveling mid-distance, the tire of his car is punctured. This unexpected or unwanted event is nothing but an exception</a:t>
            </a:r>
            <a:r>
              <a:rPr lang="en-US" sz="2400" dirty="0" smtClean="0"/>
              <a:t>.</a:t>
            </a:r>
            <a:endParaRPr lang="en-US" sz="2400" dirty="0" smtClean="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60648"/>
            <a:ext cx="8964488" cy="3785652"/>
          </a:xfrm>
          <a:prstGeom prst="rect">
            <a:avLst/>
          </a:prstGeom>
        </p:spPr>
        <p:txBody>
          <a:bodyPr wrap="square">
            <a:spAutoFit/>
          </a:bodyPr>
          <a:lstStyle/>
          <a:p>
            <a:r>
              <a:rPr lang="en-US" sz="2400" b="1" dirty="0" smtClean="0"/>
              <a:t>Types of Java Exceptions</a:t>
            </a:r>
          </a:p>
          <a:p>
            <a:endParaRPr lang="en-US" sz="2400" dirty="0" smtClean="0"/>
          </a:p>
          <a:p>
            <a:r>
              <a:rPr lang="en-US" sz="2400" dirty="0" smtClean="0"/>
              <a:t>There are mainly two types of exceptions</a:t>
            </a:r>
            <a:r>
              <a:rPr lang="en-US" sz="2400" b="1" dirty="0" smtClean="0"/>
              <a:t>: </a:t>
            </a:r>
            <a:r>
              <a:rPr lang="en-US" sz="2400" b="1" dirty="0" smtClean="0">
                <a:solidFill>
                  <a:srgbClr val="FF0000"/>
                </a:solidFill>
              </a:rPr>
              <a:t>checked and unchecked</a:t>
            </a:r>
            <a:r>
              <a:rPr lang="en-US" sz="2400" dirty="0" smtClean="0">
                <a:solidFill>
                  <a:srgbClr val="FF0000"/>
                </a:solidFill>
              </a:rPr>
              <a:t>. </a:t>
            </a:r>
            <a:r>
              <a:rPr lang="en-US" sz="2400" dirty="0" smtClean="0"/>
              <a:t>Here, an error is considered as the unchecked exception. </a:t>
            </a:r>
          </a:p>
          <a:p>
            <a:endParaRPr lang="en-US" sz="2400" dirty="0" smtClean="0"/>
          </a:p>
          <a:p>
            <a:r>
              <a:rPr lang="en-US" sz="2400" dirty="0" smtClean="0"/>
              <a:t>According to Oracle, there are </a:t>
            </a:r>
            <a:r>
              <a:rPr lang="en-US" sz="2400" dirty="0" smtClean="0">
                <a:solidFill>
                  <a:srgbClr val="FF0000"/>
                </a:solidFill>
              </a:rPr>
              <a:t>three types of exceptions</a:t>
            </a:r>
            <a:r>
              <a:rPr lang="en-US" sz="2400" dirty="0" smtClean="0"/>
              <a:t>:</a:t>
            </a:r>
          </a:p>
          <a:p>
            <a:endParaRPr lang="en-US" sz="2400" dirty="0" smtClean="0"/>
          </a:p>
          <a:p>
            <a:pPr>
              <a:buFont typeface="Arial" pitchFamily="34" charset="0"/>
              <a:buChar char="•"/>
            </a:pPr>
            <a:r>
              <a:rPr lang="en-US" sz="2400" dirty="0" smtClean="0"/>
              <a:t>Checked Exception</a:t>
            </a:r>
          </a:p>
          <a:p>
            <a:pPr>
              <a:buFont typeface="Arial" pitchFamily="34" charset="0"/>
              <a:buChar char="•"/>
            </a:pPr>
            <a:r>
              <a:rPr lang="en-US" sz="2400" dirty="0" smtClean="0"/>
              <a:t>Unchecked Exception</a:t>
            </a:r>
          </a:p>
          <a:p>
            <a:pPr>
              <a:buFont typeface="Arial" pitchFamily="34" charset="0"/>
              <a:buChar char="•"/>
            </a:pPr>
            <a:r>
              <a:rPr lang="en-US" sz="2400" dirty="0" smtClean="0"/>
              <a:t>Error</a:t>
            </a:r>
            <a:endParaRPr lang="en-US" sz="2400" dirty="0"/>
          </a:p>
        </p:txBody>
      </p:sp>
      <p:pic>
        <p:nvPicPr>
          <p:cNvPr id="13315" name="Picture 3" descr="Types of Java Exceptions"/>
          <p:cNvPicPr>
            <a:picLocks noChangeAspect="1" noChangeArrowheads="1"/>
          </p:cNvPicPr>
          <p:nvPr/>
        </p:nvPicPr>
        <p:blipFill>
          <a:blip r:embed="rId2" cstate="print"/>
          <a:srcRect/>
          <a:stretch>
            <a:fillRect/>
          </a:stretch>
        </p:blipFill>
        <p:spPr bwMode="auto">
          <a:xfrm>
            <a:off x="3500430" y="2626239"/>
            <a:ext cx="3823265" cy="3517405"/>
          </a:xfrm>
          <a:prstGeom prst="rect">
            <a:avLst/>
          </a:prstGeom>
          <a:noFill/>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4"/>
            <a:ext cx="9144000" cy="6370975"/>
          </a:xfrm>
          <a:prstGeom prst="rect">
            <a:avLst/>
          </a:prstGeom>
        </p:spPr>
        <p:txBody>
          <a:bodyPr wrap="square">
            <a:spAutoFit/>
          </a:bodyPr>
          <a:lstStyle/>
          <a:p>
            <a:r>
              <a:rPr lang="en-US" sz="2400" b="1" dirty="0" smtClean="0"/>
              <a:t>1) Checked Exception</a:t>
            </a:r>
          </a:p>
          <a:p>
            <a:endParaRPr lang="en-US" sz="2400" dirty="0" smtClean="0"/>
          </a:p>
          <a:p>
            <a:r>
              <a:rPr lang="en-US" sz="2400" dirty="0" smtClean="0"/>
              <a:t>The classes which directly inherit </a:t>
            </a:r>
            <a:r>
              <a:rPr lang="en-US" sz="2400" dirty="0" err="1" smtClean="0"/>
              <a:t>Throwable</a:t>
            </a:r>
            <a:r>
              <a:rPr lang="en-US" sz="2400" dirty="0" smtClean="0"/>
              <a:t> class except </a:t>
            </a:r>
            <a:r>
              <a:rPr lang="en-US" sz="2400" dirty="0" err="1" smtClean="0"/>
              <a:t>RuntimeException</a:t>
            </a:r>
            <a:r>
              <a:rPr lang="en-US" sz="2400" dirty="0" smtClean="0"/>
              <a:t> and Error are known as checked exceptions </a:t>
            </a:r>
            <a:r>
              <a:rPr lang="en-US" sz="2400" dirty="0" smtClean="0">
                <a:solidFill>
                  <a:srgbClr val="FF0000"/>
                </a:solidFill>
              </a:rPr>
              <a:t>e.g. </a:t>
            </a:r>
            <a:r>
              <a:rPr lang="en-US" sz="2400" dirty="0" err="1" smtClean="0">
                <a:solidFill>
                  <a:srgbClr val="FF0000"/>
                </a:solidFill>
              </a:rPr>
              <a:t>IOException</a:t>
            </a:r>
            <a:r>
              <a:rPr lang="en-US" sz="2400" dirty="0" smtClean="0">
                <a:solidFill>
                  <a:srgbClr val="FF0000"/>
                </a:solidFill>
              </a:rPr>
              <a:t>, </a:t>
            </a:r>
            <a:r>
              <a:rPr lang="en-US" sz="2400" dirty="0" err="1" smtClean="0">
                <a:solidFill>
                  <a:srgbClr val="FF0000"/>
                </a:solidFill>
              </a:rPr>
              <a:t>SQLException</a:t>
            </a:r>
            <a:r>
              <a:rPr lang="en-US" sz="2400" dirty="0" smtClean="0">
                <a:solidFill>
                  <a:srgbClr val="FF0000"/>
                </a:solidFill>
              </a:rPr>
              <a:t> etc. </a:t>
            </a:r>
            <a:endParaRPr lang="en-US" sz="2400" dirty="0" smtClean="0">
              <a:solidFill>
                <a:srgbClr val="FF0000"/>
              </a:solidFill>
            </a:endParaRPr>
          </a:p>
          <a:p>
            <a:r>
              <a:rPr lang="en-US" sz="2400" dirty="0" smtClean="0"/>
              <a:t>Checked </a:t>
            </a:r>
            <a:r>
              <a:rPr lang="en-US" sz="2400" dirty="0" smtClean="0"/>
              <a:t>exceptions are checked at compile-time.</a:t>
            </a:r>
          </a:p>
          <a:p>
            <a:endParaRPr lang="en-IN" sz="2400" dirty="0" smtClean="0"/>
          </a:p>
          <a:p>
            <a:r>
              <a:rPr lang="en-US" sz="2400" b="1" dirty="0" smtClean="0"/>
              <a:t>2</a:t>
            </a:r>
            <a:r>
              <a:rPr lang="en-US" sz="2400" b="1" dirty="0" smtClean="0"/>
              <a:t>) Unchecked Exception</a:t>
            </a:r>
          </a:p>
          <a:p>
            <a:endParaRPr lang="en-US" sz="2400" dirty="0" smtClean="0"/>
          </a:p>
          <a:p>
            <a:r>
              <a:rPr lang="en-US" sz="2400" dirty="0" smtClean="0"/>
              <a:t>The classes which inherit </a:t>
            </a:r>
            <a:r>
              <a:rPr lang="en-US" sz="2400" dirty="0" err="1" smtClean="0"/>
              <a:t>RuntimeException</a:t>
            </a:r>
            <a:r>
              <a:rPr lang="en-US" sz="2400" dirty="0" smtClean="0"/>
              <a:t> are known as unchecked exceptions </a:t>
            </a:r>
            <a:r>
              <a:rPr lang="en-US" sz="2400" dirty="0" smtClean="0">
                <a:solidFill>
                  <a:srgbClr val="FF0000"/>
                </a:solidFill>
              </a:rPr>
              <a:t>e.g. </a:t>
            </a:r>
            <a:r>
              <a:rPr lang="en-US" sz="2400" dirty="0" err="1" smtClean="0">
                <a:solidFill>
                  <a:srgbClr val="FF0000"/>
                </a:solidFill>
              </a:rPr>
              <a:t>ArithmeticException</a:t>
            </a:r>
            <a:r>
              <a:rPr lang="en-US" sz="2400" dirty="0" smtClean="0">
                <a:solidFill>
                  <a:srgbClr val="FF0000"/>
                </a:solidFill>
              </a:rPr>
              <a:t>, </a:t>
            </a:r>
            <a:r>
              <a:rPr lang="en-US" sz="2400" dirty="0" err="1" smtClean="0">
                <a:solidFill>
                  <a:srgbClr val="FF0000"/>
                </a:solidFill>
              </a:rPr>
              <a:t>NullPointerException</a:t>
            </a:r>
            <a:r>
              <a:rPr lang="en-US" sz="2400" dirty="0" smtClean="0">
                <a:solidFill>
                  <a:srgbClr val="FF0000"/>
                </a:solidFill>
              </a:rPr>
              <a:t>, </a:t>
            </a:r>
            <a:r>
              <a:rPr lang="en-US" sz="2400" dirty="0" err="1" smtClean="0">
                <a:solidFill>
                  <a:srgbClr val="FF0000"/>
                </a:solidFill>
              </a:rPr>
              <a:t>ArrayIndexOutOfBoundsException</a:t>
            </a:r>
            <a:r>
              <a:rPr lang="en-US" sz="2400" dirty="0" smtClean="0">
                <a:solidFill>
                  <a:srgbClr val="FF0000"/>
                </a:solidFill>
              </a:rPr>
              <a:t> etc</a:t>
            </a:r>
            <a:r>
              <a:rPr lang="en-US" sz="2400" dirty="0" smtClean="0"/>
              <a:t>. Unchecked exceptions are not checked at compile-time, but they are checked at runtime.</a:t>
            </a:r>
          </a:p>
          <a:p>
            <a:endParaRPr lang="en-US" sz="2400" dirty="0" smtClean="0"/>
          </a:p>
          <a:p>
            <a:r>
              <a:rPr lang="en-US" sz="2400" b="1" dirty="0" smtClean="0"/>
              <a:t>3</a:t>
            </a:r>
            <a:r>
              <a:rPr lang="en-US" sz="2400" b="1" dirty="0" smtClean="0"/>
              <a:t>) Error</a:t>
            </a:r>
          </a:p>
          <a:p>
            <a:r>
              <a:rPr lang="en-US" sz="2400" dirty="0" smtClean="0"/>
              <a:t>Error is irrecoverable e.g. </a:t>
            </a:r>
            <a:r>
              <a:rPr lang="en-US" sz="2400" dirty="0" err="1" smtClean="0">
                <a:solidFill>
                  <a:srgbClr val="FF0000"/>
                </a:solidFill>
              </a:rPr>
              <a:t>OutOfMemoryError</a:t>
            </a:r>
            <a:r>
              <a:rPr lang="en-US" sz="2400" dirty="0" smtClean="0">
                <a:solidFill>
                  <a:srgbClr val="FF0000"/>
                </a:solidFill>
              </a:rPr>
              <a:t>, </a:t>
            </a:r>
            <a:r>
              <a:rPr lang="en-US" sz="2400" dirty="0" err="1" smtClean="0">
                <a:solidFill>
                  <a:srgbClr val="FF0000"/>
                </a:solidFill>
              </a:rPr>
              <a:t>VirtualMachineError</a:t>
            </a:r>
            <a:r>
              <a:rPr lang="en-US" sz="2400" dirty="0" smtClean="0">
                <a:solidFill>
                  <a:srgbClr val="FF0000"/>
                </a:solidFill>
              </a:rPr>
              <a:t>, </a:t>
            </a:r>
            <a:r>
              <a:rPr lang="en-US" sz="2400" dirty="0" err="1" smtClean="0">
                <a:solidFill>
                  <a:srgbClr val="FF0000"/>
                </a:solidFill>
              </a:rPr>
              <a:t>AssertionError</a:t>
            </a:r>
            <a:r>
              <a:rPr lang="en-US" sz="2400" dirty="0" smtClean="0">
                <a:solidFill>
                  <a:srgbClr val="FF0000"/>
                </a:solidFill>
              </a:rPr>
              <a:t> etc.</a:t>
            </a:r>
            <a:endParaRPr lang="en-US" sz="2400" dirty="0">
              <a:solidFill>
                <a:srgbClr val="FF0000"/>
              </a:solidFill>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noChangeArrowheads="1"/>
          </p:cNvPicPr>
          <p:nvPr/>
        </p:nvPicPr>
        <p:blipFill>
          <a:blip r:embed="rId2" cstate="print"/>
          <a:srcRect/>
          <a:stretch>
            <a:fillRect/>
          </a:stretch>
        </p:blipFill>
        <p:spPr bwMode="auto">
          <a:xfrm>
            <a:off x="142844" y="404664"/>
            <a:ext cx="8759645" cy="5810418"/>
          </a:xfrm>
          <a:prstGeom prst="rect">
            <a:avLst/>
          </a:prstGeom>
          <a:noFill/>
          <a:ln w="9525">
            <a:noFill/>
            <a:miter lim="800000"/>
            <a:headEnd/>
            <a:tailEnd/>
          </a:ln>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260648"/>
            <a:ext cx="8784976" cy="4832092"/>
          </a:xfrm>
          <a:prstGeom prst="rect">
            <a:avLst/>
          </a:prstGeom>
        </p:spPr>
        <p:txBody>
          <a:bodyPr wrap="square">
            <a:spAutoFit/>
          </a:bodyPr>
          <a:lstStyle/>
          <a:p>
            <a:endParaRPr lang="en-US" sz="2800" dirty="0" smtClean="0"/>
          </a:p>
          <a:p>
            <a:r>
              <a:rPr lang="en-US" sz="2800" dirty="0" smtClean="0"/>
              <a:t>Java </a:t>
            </a:r>
            <a:r>
              <a:rPr lang="en-US" sz="2800" dirty="0" smtClean="0"/>
              <a:t>provides five essential keywords to handle an exception. They are:</a:t>
            </a:r>
          </a:p>
          <a:p>
            <a:pPr>
              <a:buFont typeface="Arial" pitchFamily="34" charset="0"/>
              <a:buChar char="•"/>
            </a:pPr>
            <a:r>
              <a:rPr lang="en-US" sz="2800" dirty="0" smtClean="0"/>
              <a:t>try</a:t>
            </a:r>
          </a:p>
          <a:p>
            <a:pPr>
              <a:buFont typeface="Arial" pitchFamily="34" charset="0"/>
              <a:buChar char="•"/>
            </a:pPr>
            <a:r>
              <a:rPr lang="en-US" sz="2800" dirty="0" smtClean="0"/>
              <a:t>catch</a:t>
            </a:r>
          </a:p>
          <a:p>
            <a:pPr>
              <a:buFont typeface="Arial" pitchFamily="34" charset="0"/>
              <a:buChar char="•"/>
            </a:pPr>
            <a:r>
              <a:rPr lang="en-US" sz="2800" dirty="0" smtClean="0"/>
              <a:t>finally</a:t>
            </a:r>
          </a:p>
          <a:p>
            <a:pPr>
              <a:buFont typeface="Arial" pitchFamily="34" charset="0"/>
              <a:buChar char="•"/>
            </a:pPr>
            <a:r>
              <a:rPr lang="en-US" sz="2800" dirty="0" smtClean="0"/>
              <a:t>throw</a:t>
            </a:r>
          </a:p>
          <a:p>
            <a:pPr>
              <a:buFont typeface="Arial" pitchFamily="34" charset="0"/>
              <a:buChar char="•"/>
            </a:pPr>
            <a:r>
              <a:rPr lang="en-US" sz="2800" dirty="0" smtClean="0"/>
              <a:t>Throws</a:t>
            </a:r>
          </a:p>
          <a:p>
            <a:endParaRPr lang="en-IN" sz="2800" dirty="0" smtClean="0"/>
          </a:p>
          <a:p>
            <a:endParaRPr lang="en-IN" sz="2800" dirty="0" smtClean="0"/>
          </a:p>
          <a:p>
            <a:r>
              <a:rPr lang="en-US" sz="2800" dirty="0" smtClean="0"/>
              <a:t>These keywords can be used to handle exceptions properly.</a:t>
            </a:r>
            <a:endParaRPr lang="en-US" sz="28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504" y="404664"/>
            <a:ext cx="9036496" cy="5262979"/>
          </a:xfrm>
          <a:prstGeom prst="rect">
            <a:avLst/>
          </a:prstGeom>
        </p:spPr>
        <p:txBody>
          <a:bodyPr wrap="square">
            <a:spAutoFit/>
          </a:bodyPr>
          <a:lstStyle/>
          <a:p>
            <a:endParaRPr lang="en-US" sz="2400" dirty="0" smtClean="0"/>
          </a:p>
          <a:p>
            <a:r>
              <a:rPr lang="en-US" sz="2400" b="1" dirty="0" smtClean="0"/>
              <a:t>Try Block in Java</a:t>
            </a:r>
          </a:p>
          <a:p>
            <a:endParaRPr lang="en-US" sz="2400" b="1" dirty="0" smtClean="0"/>
          </a:p>
          <a:p>
            <a:r>
              <a:rPr lang="en-US" sz="2400" dirty="0" smtClean="0"/>
              <a:t>A keyword “try” is a block of code or statements that might throw an exception. That’s why a try block is also known as exception generated block. </a:t>
            </a:r>
            <a:endParaRPr lang="en-US" sz="2400" dirty="0" smtClean="0"/>
          </a:p>
          <a:p>
            <a:endParaRPr lang="en-IN" sz="2400" dirty="0" smtClean="0"/>
          </a:p>
          <a:p>
            <a:endParaRPr lang="en-US" sz="2400" dirty="0" smtClean="0"/>
          </a:p>
          <a:p>
            <a:r>
              <a:rPr lang="en-US" sz="2400" dirty="0" smtClean="0"/>
              <a:t>The three possible forms of try block are as follows:</a:t>
            </a:r>
          </a:p>
          <a:p>
            <a:endParaRPr lang="en-US" sz="2400" dirty="0" smtClean="0"/>
          </a:p>
          <a:p>
            <a:r>
              <a:rPr lang="en-US" sz="2400" dirty="0" smtClean="0">
                <a:solidFill>
                  <a:srgbClr val="FF0000"/>
                </a:solidFill>
              </a:rPr>
              <a:t>try-catch:</a:t>
            </a:r>
            <a:r>
              <a:rPr lang="en-US" sz="2400" dirty="0" smtClean="0"/>
              <a:t> A try block is always followed by one or more catch blocks.</a:t>
            </a:r>
          </a:p>
          <a:p>
            <a:r>
              <a:rPr lang="en-US" sz="2400" dirty="0" smtClean="0">
                <a:solidFill>
                  <a:srgbClr val="FF0000"/>
                </a:solidFill>
              </a:rPr>
              <a:t>try-finally: </a:t>
            </a:r>
            <a:r>
              <a:rPr lang="en-US" sz="2400" dirty="0" smtClean="0"/>
              <a:t>A try block followed by a finally block.</a:t>
            </a:r>
          </a:p>
          <a:p>
            <a:r>
              <a:rPr lang="en-US" sz="2400" dirty="0" smtClean="0">
                <a:solidFill>
                  <a:srgbClr val="FF0000"/>
                </a:solidFill>
              </a:rPr>
              <a:t>try-catch-finally: </a:t>
            </a:r>
            <a:r>
              <a:rPr lang="en-US" sz="2400" dirty="0" smtClean="0"/>
              <a:t>A try block followed by one or more catch blocks followed by a finally block.</a:t>
            </a:r>
            <a:endParaRPr lang="en-US" sz="24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260648"/>
            <a:ext cx="9036496" cy="5632311"/>
          </a:xfrm>
          <a:prstGeom prst="rect">
            <a:avLst/>
          </a:prstGeom>
        </p:spPr>
        <p:txBody>
          <a:bodyPr wrap="square">
            <a:spAutoFit/>
          </a:bodyPr>
          <a:lstStyle/>
          <a:p>
            <a:r>
              <a:rPr lang="en-US" sz="2000" b="1" dirty="0" smtClean="0"/>
              <a:t>Catch Block in Java</a:t>
            </a:r>
          </a:p>
          <a:p>
            <a:endParaRPr lang="en-US" sz="2000" dirty="0" smtClean="0"/>
          </a:p>
          <a:p>
            <a:endParaRPr lang="en-US" sz="2000" dirty="0" smtClean="0"/>
          </a:p>
          <a:p>
            <a:r>
              <a:rPr lang="en-US" sz="2000" dirty="0" smtClean="0"/>
              <a:t>A keyword “catch” is a block of code that handles the exception thrown by the try block. That’s why it is also known as exception handler block. A catch block that catches an exception, must be followed by try block that generates an exception.</a:t>
            </a:r>
          </a:p>
          <a:p>
            <a:endParaRPr lang="en-IN" sz="2000" dirty="0" smtClean="0"/>
          </a:p>
          <a:p>
            <a:r>
              <a:rPr lang="en-US" sz="2000" dirty="0" smtClean="0"/>
              <a:t>The general syntax of try-catch block (exception handling block) is as follows:</a:t>
            </a:r>
          </a:p>
          <a:p>
            <a:r>
              <a:rPr lang="en-US" sz="2000" dirty="0" smtClean="0"/>
              <a:t/>
            </a:r>
            <a:br>
              <a:rPr lang="en-US" sz="2000" dirty="0" smtClean="0"/>
            </a:br>
            <a:r>
              <a:rPr lang="en-US" sz="2000" b="1" dirty="0" smtClean="0"/>
              <a:t>Syntax:</a:t>
            </a:r>
          </a:p>
          <a:p>
            <a:r>
              <a:rPr lang="en-US" sz="2000" dirty="0" smtClean="0"/>
              <a:t>try </a:t>
            </a:r>
          </a:p>
          <a:p>
            <a:r>
              <a:rPr lang="en-US" sz="2000" dirty="0" smtClean="0"/>
              <a:t>{ </a:t>
            </a:r>
          </a:p>
          <a:p>
            <a:r>
              <a:rPr lang="en-US" sz="2000" dirty="0" smtClean="0"/>
              <a:t>  // A block of code; // generates an exception </a:t>
            </a:r>
          </a:p>
          <a:p>
            <a:r>
              <a:rPr lang="en-US" sz="2000" dirty="0" smtClean="0"/>
              <a:t>} </a:t>
            </a:r>
          </a:p>
          <a:p>
            <a:r>
              <a:rPr lang="en-US" sz="2000" dirty="0" smtClean="0"/>
              <a:t>catch(</a:t>
            </a:r>
            <a:r>
              <a:rPr lang="en-US" sz="2000" dirty="0" err="1" smtClean="0"/>
              <a:t>exception_class</a:t>
            </a:r>
            <a:r>
              <a:rPr lang="en-US" sz="2000" dirty="0" smtClean="0"/>
              <a:t> </a:t>
            </a:r>
            <a:r>
              <a:rPr lang="en-US" sz="2000" dirty="0" err="1" smtClean="0"/>
              <a:t>var</a:t>
            </a:r>
            <a:r>
              <a:rPr lang="en-US" sz="2000" dirty="0" smtClean="0"/>
              <a:t>) </a:t>
            </a:r>
          </a:p>
          <a:p>
            <a:r>
              <a:rPr lang="en-US" sz="2000" dirty="0" smtClean="0"/>
              <a:t>{ </a:t>
            </a:r>
          </a:p>
          <a:p>
            <a:r>
              <a:rPr lang="en-US" sz="2000" dirty="0" smtClean="0"/>
              <a:t>  // Code to be executed when an exception is thrown. </a:t>
            </a:r>
          </a:p>
          <a:p>
            <a:r>
              <a:rPr lang="en-US" sz="2000" dirty="0" smtClean="0"/>
              <a:t>}</a:t>
            </a:r>
            <a:endParaRPr lang="en-US" sz="2000" dirty="0"/>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9266" name="Picture 2" descr="Java Try Catch Block with Example - Scientech Easy"/>
          <p:cNvPicPr>
            <a:picLocks noChangeAspect="1" noChangeArrowheads="1"/>
          </p:cNvPicPr>
          <p:nvPr/>
        </p:nvPicPr>
        <p:blipFill>
          <a:blip r:embed="rId2" cstate="print"/>
          <a:srcRect/>
          <a:stretch>
            <a:fillRect/>
          </a:stretch>
        </p:blipFill>
        <p:spPr bwMode="auto">
          <a:xfrm>
            <a:off x="1187624" y="44624"/>
            <a:ext cx="5508612" cy="3672408"/>
          </a:xfrm>
          <a:prstGeom prst="rect">
            <a:avLst/>
          </a:prstGeom>
          <a:noFill/>
        </p:spPr>
      </p:pic>
      <p:sp>
        <p:nvSpPr>
          <p:cNvPr id="3" name="Rectangle 2"/>
          <p:cNvSpPr/>
          <p:nvPr/>
        </p:nvSpPr>
        <p:spPr>
          <a:xfrm>
            <a:off x="35496" y="4005064"/>
            <a:ext cx="9001000" cy="2561223"/>
          </a:xfrm>
          <a:prstGeom prst="rect">
            <a:avLst/>
          </a:prstGeom>
        </p:spPr>
        <p:txBody>
          <a:bodyPr wrap="square">
            <a:spAutoFit/>
          </a:bodyPr>
          <a:lstStyle/>
          <a:p>
            <a:r>
              <a:rPr lang="en-US" dirty="0" smtClean="0"/>
              <a:t>The try-catch block is a technique used to catch and handle the exception. If an exception occurs in the try block, the rest of code in try block is not executed and the control of execution is transferred from the try block to catch block that handles exception thrown by try block.</a:t>
            </a:r>
          </a:p>
          <a:p>
            <a:r>
              <a:rPr lang="en-US" dirty="0" smtClean="0"/>
              <a:t>A catch block acts as an exception handler that takes a single argument. This argument is a reference of an exception object that can be either the same class exception or </a:t>
            </a:r>
            <a:r>
              <a:rPr lang="en-US" dirty="0" err="1" smtClean="0"/>
              <a:t>superclass</a:t>
            </a:r>
            <a:r>
              <a:rPr lang="en-US" dirty="0" smtClean="0"/>
              <a:t> exception.</a:t>
            </a:r>
          </a:p>
          <a:p>
            <a:r>
              <a:rPr lang="en-US" dirty="0" smtClean="0"/>
              <a:t/>
            </a:r>
            <a:br>
              <a:rPr lang="en-US" dirty="0" smtClean="0"/>
            </a:br>
            <a:endParaRPr lang="en-US"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16632"/>
            <a:ext cx="4105419" cy="369332"/>
          </a:xfrm>
          <a:prstGeom prst="rect">
            <a:avLst/>
          </a:prstGeom>
        </p:spPr>
        <p:txBody>
          <a:bodyPr wrap="none">
            <a:spAutoFit/>
          </a:bodyPr>
          <a:lstStyle/>
          <a:p>
            <a:r>
              <a:rPr lang="en-US" b="1" dirty="0" smtClean="0"/>
              <a:t>Rules of using Try and Catch block in Java</a:t>
            </a:r>
            <a:endParaRPr lang="en-US" b="1" dirty="0"/>
          </a:p>
        </p:txBody>
      </p:sp>
      <p:sp>
        <p:nvSpPr>
          <p:cNvPr id="3" name="Rectangle 2"/>
          <p:cNvSpPr/>
          <p:nvPr/>
        </p:nvSpPr>
        <p:spPr>
          <a:xfrm>
            <a:off x="323528" y="548680"/>
            <a:ext cx="8568952" cy="2585323"/>
          </a:xfrm>
          <a:prstGeom prst="rect">
            <a:avLst/>
          </a:prstGeom>
        </p:spPr>
        <p:txBody>
          <a:bodyPr wrap="square">
            <a:spAutoFit/>
          </a:bodyPr>
          <a:lstStyle/>
          <a:p>
            <a:r>
              <a:rPr lang="en-US" dirty="0" smtClean="0"/>
              <a:t>There are some rules for using try-catch block in java program. </a:t>
            </a:r>
          </a:p>
          <a:p>
            <a:r>
              <a:rPr lang="en-US" dirty="0" smtClean="0"/>
              <a:t>They are as follows:</a:t>
            </a:r>
            <a:br>
              <a:rPr lang="en-US" dirty="0" smtClean="0"/>
            </a:br>
            <a:endParaRPr lang="en-US" dirty="0" smtClean="0"/>
          </a:p>
          <a:p>
            <a:r>
              <a:rPr lang="en-US" dirty="0" smtClean="0"/>
              <a:t>1. Java try-catch block must be within a method.</a:t>
            </a:r>
            <a:br>
              <a:rPr lang="en-US" dirty="0" smtClean="0"/>
            </a:br>
            <a:r>
              <a:rPr lang="en-US" dirty="0" smtClean="0"/>
              <a:t>2. A try block can not be used without a catch or finally block. It must be followed by at least one catch block otherwise, the compilation error will occur.</a:t>
            </a:r>
            <a:br>
              <a:rPr lang="en-US" dirty="0" smtClean="0"/>
            </a:br>
            <a:r>
              <a:rPr lang="en-US" dirty="0" smtClean="0"/>
              <a:t>3. A catch block must be followed by try block. There should not be any statement between the end of try block and the beginning of catch block.</a:t>
            </a:r>
            <a:br>
              <a:rPr lang="en-US" dirty="0" smtClean="0"/>
            </a:br>
            <a:r>
              <a:rPr lang="en-US" dirty="0" smtClean="0"/>
              <a:t>4. A finally block cannot come before catch block.</a:t>
            </a:r>
            <a:endParaRPr lang="en-US" dirty="0"/>
          </a:p>
        </p:txBody>
      </p:sp>
      <p:pic>
        <p:nvPicPr>
          <p:cNvPr id="151554" name="Picture 2"/>
          <p:cNvPicPr>
            <a:picLocks noChangeAspect="1" noChangeArrowheads="1"/>
          </p:cNvPicPr>
          <p:nvPr/>
        </p:nvPicPr>
        <p:blipFill>
          <a:blip r:embed="rId2" cstate="print"/>
          <a:srcRect/>
          <a:stretch>
            <a:fillRect/>
          </a:stretch>
        </p:blipFill>
        <p:spPr bwMode="auto">
          <a:xfrm>
            <a:off x="1430238" y="3068960"/>
            <a:ext cx="5734050" cy="3867150"/>
          </a:xfrm>
          <a:prstGeom prst="rect">
            <a:avLst/>
          </a:prstGeom>
          <a:noFill/>
          <a:ln w="9525">
            <a:noFill/>
            <a:miter lim="800000"/>
            <a:headEnd/>
            <a:tailEnd/>
          </a:ln>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7384"/>
            <a:ext cx="1896225" cy="369332"/>
          </a:xfrm>
          <a:prstGeom prst="rect">
            <a:avLst/>
          </a:prstGeom>
        </p:spPr>
        <p:txBody>
          <a:bodyPr wrap="none">
            <a:spAutoFit/>
          </a:bodyPr>
          <a:lstStyle/>
          <a:p>
            <a:r>
              <a:rPr lang="en-US" b="1" dirty="0" smtClean="0"/>
              <a:t>Nested Try in Java</a:t>
            </a:r>
            <a:endParaRPr lang="en-US" b="1" dirty="0"/>
          </a:p>
        </p:txBody>
      </p:sp>
      <p:sp>
        <p:nvSpPr>
          <p:cNvPr id="3" name="Rectangle 2"/>
          <p:cNvSpPr/>
          <p:nvPr/>
        </p:nvSpPr>
        <p:spPr>
          <a:xfrm>
            <a:off x="179512" y="332656"/>
            <a:ext cx="8784976" cy="6955750"/>
          </a:xfrm>
          <a:prstGeom prst="rect">
            <a:avLst/>
          </a:prstGeom>
        </p:spPr>
        <p:txBody>
          <a:bodyPr wrap="square">
            <a:spAutoFit/>
          </a:bodyPr>
          <a:lstStyle/>
          <a:p>
            <a:r>
              <a:rPr lang="en-US" sz="1600" dirty="0" smtClean="0"/>
              <a:t>When a try block is defined within another try, it is called </a:t>
            </a:r>
            <a:r>
              <a:rPr lang="en-US" sz="1600" b="1" dirty="0" smtClean="0"/>
              <a:t>nested try block in java</a:t>
            </a:r>
            <a:r>
              <a:rPr lang="en-US" sz="1600" dirty="0" smtClean="0"/>
              <a:t>.</a:t>
            </a:r>
          </a:p>
          <a:p>
            <a:endParaRPr lang="en-US" sz="1600" dirty="0" smtClean="0"/>
          </a:p>
          <a:p>
            <a:r>
              <a:rPr lang="en-US" sz="1600" dirty="0" smtClean="0"/>
              <a:t>The try block which encloses another try block is called outer try block and the enclosed try block is called inner try block.</a:t>
            </a:r>
          </a:p>
          <a:p>
            <a:endParaRPr lang="en-IN" sz="1600" dirty="0" smtClean="0"/>
          </a:p>
          <a:p>
            <a:r>
              <a:rPr lang="en-US" sz="1600" dirty="0" smtClean="0"/>
              <a:t>The syntax of nested try block is as follows:</a:t>
            </a:r>
            <a:br>
              <a:rPr lang="en-US" sz="1600" dirty="0" smtClean="0"/>
            </a:br>
            <a:r>
              <a:rPr lang="en-US" sz="1600" b="1" dirty="0" smtClean="0"/>
              <a:t>Syntax:</a:t>
            </a:r>
          </a:p>
          <a:p>
            <a:r>
              <a:rPr lang="en-US" sz="1600" dirty="0" smtClean="0"/>
              <a:t>try // Outer try block</a:t>
            </a:r>
          </a:p>
          <a:p>
            <a:r>
              <a:rPr lang="en-US" sz="1600" dirty="0" smtClean="0"/>
              <a:t>{</a:t>
            </a:r>
          </a:p>
          <a:p>
            <a:r>
              <a:rPr lang="en-US" sz="1600" dirty="0" smtClean="0"/>
              <a:t> statements;</a:t>
            </a:r>
          </a:p>
          <a:p>
            <a:r>
              <a:rPr lang="en-US" sz="1600" dirty="0" smtClean="0"/>
              <a:t> statements;</a:t>
            </a:r>
          </a:p>
          <a:p>
            <a:r>
              <a:rPr lang="en-US" sz="1600" dirty="0" smtClean="0"/>
              <a:t>try // Inner try block</a:t>
            </a:r>
          </a:p>
          <a:p>
            <a:r>
              <a:rPr lang="en-US" sz="1600" dirty="0" smtClean="0"/>
              <a:t>{</a:t>
            </a:r>
          </a:p>
          <a:p>
            <a:r>
              <a:rPr lang="en-US" sz="1600" dirty="0" smtClean="0"/>
              <a:t> statements;</a:t>
            </a:r>
          </a:p>
          <a:p>
            <a:r>
              <a:rPr lang="en-US" sz="1600" dirty="0" smtClean="0"/>
              <a:t> statements;</a:t>
            </a:r>
          </a:p>
          <a:p>
            <a:r>
              <a:rPr lang="en-US" sz="1600" dirty="0" smtClean="0"/>
              <a:t>}</a:t>
            </a:r>
          </a:p>
          <a:p>
            <a:r>
              <a:rPr lang="en-US" sz="1600" dirty="0" smtClean="0"/>
              <a:t>catch(Exception1 e1) // Inner catch block</a:t>
            </a:r>
          </a:p>
          <a:p>
            <a:r>
              <a:rPr lang="en-US" sz="1600" dirty="0" smtClean="0"/>
              <a:t>{</a:t>
            </a:r>
          </a:p>
          <a:p>
            <a:r>
              <a:rPr lang="en-US" sz="1600" dirty="0" smtClean="0"/>
              <a:t> statements;</a:t>
            </a:r>
          </a:p>
          <a:p>
            <a:r>
              <a:rPr lang="en-US" sz="1600" dirty="0" smtClean="0"/>
              <a:t> statements;</a:t>
            </a:r>
          </a:p>
          <a:p>
            <a:r>
              <a:rPr lang="en-US" sz="1600" dirty="0" smtClean="0"/>
              <a:t> }</a:t>
            </a:r>
          </a:p>
          <a:p>
            <a:r>
              <a:rPr lang="en-US" sz="1600" dirty="0" smtClean="0"/>
              <a:t>}</a:t>
            </a:r>
          </a:p>
          <a:p>
            <a:r>
              <a:rPr lang="en-US" sz="1600" dirty="0" smtClean="0"/>
              <a:t>catch(Exception2 e2) // Outer catch block</a:t>
            </a:r>
          </a:p>
          <a:p>
            <a:r>
              <a:rPr lang="en-US" sz="1600" dirty="0" smtClean="0"/>
              <a:t>{</a:t>
            </a:r>
          </a:p>
          <a:p>
            <a:r>
              <a:rPr lang="en-US" sz="1600" dirty="0" smtClean="0"/>
              <a:t> statements;</a:t>
            </a:r>
          </a:p>
          <a:p>
            <a:r>
              <a:rPr lang="en-US" sz="1600" dirty="0" smtClean="0"/>
              <a:t> statements;</a:t>
            </a:r>
          </a:p>
          <a:p>
            <a:r>
              <a:rPr lang="en-US" sz="1600" dirty="0" smtClean="0"/>
              <a:t>}</a:t>
            </a:r>
            <a:endParaRPr lang="en-US" sz="16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528" y="476672"/>
            <a:ext cx="8568952" cy="3693319"/>
          </a:xfrm>
          <a:prstGeom prst="rect">
            <a:avLst/>
          </a:prstGeom>
        </p:spPr>
        <p:txBody>
          <a:bodyPr wrap="square">
            <a:spAutoFit/>
          </a:bodyPr>
          <a:lstStyle/>
          <a:p>
            <a:endParaRPr lang="en-US" b="1" dirty="0" smtClean="0"/>
          </a:p>
          <a:p>
            <a:r>
              <a:rPr lang="en-US" b="1" dirty="0" smtClean="0"/>
              <a:t>Finally Block in Java |</a:t>
            </a:r>
            <a:r>
              <a:rPr lang="en-US" dirty="0" smtClean="0"/>
              <a:t> A “finally” is a keyword used to create a block of code that follows a try or catch block.</a:t>
            </a:r>
          </a:p>
          <a:p>
            <a:endParaRPr lang="en-US" dirty="0" smtClean="0"/>
          </a:p>
          <a:p>
            <a:r>
              <a:rPr lang="en-US" dirty="0" smtClean="0"/>
              <a:t>A finally block contains all the crucial codes such as closing connections, stream, etc that is always executed whether an exception occurs within a try block or not.</a:t>
            </a:r>
          </a:p>
          <a:p>
            <a:endParaRPr lang="en-US" dirty="0" smtClean="0"/>
          </a:p>
          <a:p>
            <a:r>
              <a:rPr lang="en-US" dirty="0" smtClean="0"/>
              <a:t>When finally block is attached with a </a:t>
            </a:r>
            <a:r>
              <a:rPr lang="en-US" dirty="0" smtClean="0">
                <a:hlinkClick r:id="rId2"/>
              </a:rPr>
              <a:t>try-catch block</a:t>
            </a:r>
            <a:r>
              <a:rPr lang="en-US" dirty="0" smtClean="0"/>
              <a:t>, it is always executed whether the catch block has handled the exception thrown by try block or not.</a:t>
            </a:r>
          </a:p>
          <a:p>
            <a:endParaRPr lang="en-IN" b="1" dirty="0" smtClean="0"/>
          </a:p>
          <a:p>
            <a:endParaRPr lang="en-IN" b="1" dirty="0" smtClean="0"/>
          </a:p>
          <a:p>
            <a:endParaRPr lang="en-US" b="1" dirty="0" smtClean="0"/>
          </a:p>
          <a:p>
            <a:endParaRPr lang="en-US"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p:cNvSpPr/>
          <p:nvPr/>
        </p:nvSpPr>
        <p:spPr>
          <a:xfrm>
            <a:off x="179512" y="44624"/>
            <a:ext cx="8352928" cy="6494085"/>
          </a:xfrm>
          <a:prstGeom prst="rect">
            <a:avLst/>
          </a:prstGeom>
        </p:spPr>
        <p:txBody>
          <a:bodyPr wrap="square">
            <a:spAutoFit/>
          </a:bodyPr>
          <a:lstStyle/>
          <a:p>
            <a:r>
              <a:rPr lang="en-US" sz="1600" b="1" dirty="0" smtClean="0"/>
              <a:t>Syntax for try-finally block:</a:t>
            </a:r>
          </a:p>
          <a:p>
            <a:r>
              <a:rPr lang="en-US" sz="1600" dirty="0" smtClean="0"/>
              <a:t>try</a:t>
            </a:r>
          </a:p>
          <a:p>
            <a:r>
              <a:rPr lang="en-US" sz="1600" dirty="0" smtClean="0"/>
              <a:t>{</a:t>
            </a:r>
          </a:p>
          <a:p>
            <a:r>
              <a:rPr lang="en-US" sz="1600" dirty="0" smtClean="0"/>
              <a:t>  statement1;</a:t>
            </a:r>
          </a:p>
          <a:p>
            <a:r>
              <a:rPr lang="en-US" sz="1600" dirty="0" smtClean="0"/>
              <a:t>  statement2;</a:t>
            </a:r>
          </a:p>
          <a:p>
            <a:r>
              <a:rPr lang="en-US" sz="1600" dirty="0" smtClean="0"/>
              <a:t>}</a:t>
            </a:r>
          </a:p>
          <a:p>
            <a:r>
              <a:rPr lang="en-US" sz="1600" dirty="0" smtClean="0"/>
              <a:t>finally // finally block</a:t>
            </a:r>
          </a:p>
          <a:p>
            <a:r>
              <a:rPr lang="en-US" sz="1600" dirty="0" smtClean="0"/>
              <a:t>{</a:t>
            </a:r>
          </a:p>
          <a:p>
            <a:r>
              <a:rPr lang="en-US" sz="1600" dirty="0" smtClean="0"/>
              <a:t>  statement3;</a:t>
            </a:r>
          </a:p>
          <a:p>
            <a:r>
              <a:rPr lang="en-US" sz="1600" dirty="0" smtClean="0"/>
              <a:t>}</a:t>
            </a:r>
          </a:p>
          <a:p>
            <a:endParaRPr lang="en-IN" sz="1600" dirty="0" smtClean="0"/>
          </a:p>
          <a:p>
            <a:r>
              <a:rPr lang="en-US" sz="1600" b="1" dirty="0" smtClean="0"/>
              <a:t>Syntax for try-catch-finally block:</a:t>
            </a:r>
          </a:p>
          <a:p>
            <a:r>
              <a:rPr lang="en-US" sz="1600" dirty="0" smtClean="0"/>
              <a:t>try </a:t>
            </a:r>
          </a:p>
          <a:p>
            <a:r>
              <a:rPr lang="en-US" sz="1600" dirty="0" smtClean="0"/>
              <a:t>{ </a:t>
            </a:r>
          </a:p>
          <a:p>
            <a:r>
              <a:rPr lang="en-US" sz="1600" dirty="0" smtClean="0"/>
              <a:t> statement1; </a:t>
            </a:r>
          </a:p>
          <a:p>
            <a:r>
              <a:rPr lang="en-US" sz="1600" dirty="0" smtClean="0"/>
              <a:t> statement2; </a:t>
            </a:r>
          </a:p>
          <a:p>
            <a:r>
              <a:rPr lang="en-US" sz="1600" dirty="0" smtClean="0"/>
              <a:t>} </a:t>
            </a:r>
          </a:p>
          <a:p>
            <a:r>
              <a:rPr lang="en-US" sz="1600" dirty="0" smtClean="0"/>
              <a:t>catch(</a:t>
            </a:r>
            <a:r>
              <a:rPr lang="en-US" sz="1600" dirty="0" err="1" smtClean="0"/>
              <a:t>Exceptiontype</a:t>
            </a:r>
            <a:r>
              <a:rPr lang="en-US" sz="1600" dirty="0" smtClean="0"/>
              <a:t> e1) </a:t>
            </a:r>
          </a:p>
          <a:p>
            <a:r>
              <a:rPr lang="en-US" sz="1600" dirty="0" smtClean="0"/>
              <a:t>{ </a:t>
            </a:r>
          </a:p>
          <a:p>
            <a:r>
              <a:rPr lang="en-US" sz="1600" dirty="0" smtClean="0"/>
              <a:t>  statement3; </a:t>
            </a:r>
          </a:p>
          <a:p>
            <a:r>
              <a:rPr lang="en-US" sz="1600" dirty="0" smtClean="0"/>
              <a:t> } </a:t>
            </a:r>
          </a:p>
          <a:p>
            <a:r>
              <a:rPr lang="en-US" sz="1600" dirty="0" smtClean="0"/>
              <a:t> statement4; </a:t>
            </a:r>
          </a:p>
          <a:p>
            <a:r>
              <a:rPr lang="en-US" sz="1600" dirty="0" smtClean="0"/>
              <a:t>finally </a:t>
            </a:r>
          </a:p>
          <a:p>
            <a:r>
              <a:rPr lang="en-US" sz="1600" dirty="0" smtClean="0"/>
              <a:t>{ </a:t>
            </a:r>
          </a:p>
          <a:p>
            <a:r>
              <a:rPr lang="en-US" sz="1600" dirty="0" smtClean="0"/>
              <a:t>  statement5; </a:t>
            </a:r>
          </a:p>
          <a:p>
            <a:r>
              <a:rPr lang="en-US" sz="1600" dirty="0" smtClean="0"/>
              <a:t>}</a:t>
            </a:r>
            <a:endParaRPr lang="en-US" sz="1600" dirty="0"/>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496" y="116632"/>
            <a:ext cx="8928992" cy="6463308"/>
          </a:xfrm>
          <a:prstGeom prst="rect">
            <a:avLst/>
          </a:prstGeom>
        </p:spPr>
        <p:txBody>
          <a:bodyPr wrap="square">
            <a:spAutoFit/>
          </a:bodyPr>
          <a:lstStyle/>
          <a:p>
            <a:r>
              <a:rPr lang="en-US" b="1" dirty="0" smtClean="0"/>
              <a:t>Custom Exceptions:</a:t>
            </a:r>
          </a:p>
          <a:p>
            <a:endParaRPr lang="en-US" b="1" dirty="0" smtClean="0"/>
          </a:p>
          <a:p>
            <a:r>
              <a:rPr lang="en-US" dirty="0" smtClean="0"/>
              <a:t>Java allows us to create our own exception class to provide own exception implementation. These type of exceptions are called user-defined exceptions or </a:t>
            </a:r>
            <a:r>
              <a:rPr lang="en-US" b="1" dirty="0" smtClean="0"/>
              <a:t>custom</a:t>
            </a:r>
            <a:r>
              <a:rPr lang="en-US" dirty="0" smtClean="0"/>
              <a:t> exceptions.</a:t>
            </a:r>
          </a:p>
          <a:p>
            <a:endParaRPr lang="en-IN" dirty="0" smtClean="0"/>
          </a:p>
          <a:p>
            <a:r>
              <a:rPr lang="en-US" dirty="0" smtClean="0"/>
              <a:t>You can create your own exception simply by extending java </a:t>
            </a:r>
            <a:r>
              <a:rPr lang="en-US" b="1" dirty="0" smtClean="0"/>
              <a:t>Exception</a:t>
            </a:r>
            <a:r>
              <a:rPr lang="en-US" dirty="0" smtClean="0"/>
              <a:t> class.</a:t>
            </a:r>
          </a:p>
          <a:p>
            <a:endParaRPr lang="en-IN" dirty="0" smtClean="0"/>
          </a:p>
          <a:p>
            <a:r>
              <a:rPr lang="en-US" dirty="0" smtClean="0"/>
              <a:t>class </a:t>
            </a:r>
            <a:r>
              <a:rPr lang="en-US" dirty="0" err="1" smtClean="0"/>
              <a:t>MyException</a:t>
            </a:r>
            <a:r>
              <a:rPr lang="en-US" dirty="0" smtClean="0"/>
              <a:t> extends Exception</a:t>
            </a:r>
          </a:p>
          <a:p>
            <a:r>
              <a:rPr lang="en-US" dirty="0" smtClean="0"/>
              <a:t> { </a:t>
            </a:r>
          </a:p>
          <a:p>
            <a:r>
              <a:rPr lang="en-US" dirty="0" smtClean="0"/>
              <a:t>private </a:t>
            </a:r>
            <a:r>
              <a:rPr lang="en-US" dirty="0" err="1" smtClean="0"/>
              <a:t>int</a:t>
            </a:r>
            <a:r>
              <a:rPr lang="en-US" dirty="0" smtClean="0"/>
              <a:t> ex; </a:t>
            </a:r>
          </a:p>
          <a:p>
            <a:r>
              <a:rPr lang="en-US" dirty="0" err="1" smtClean="0"/>
              <a:t>MyException</a:t>
            </a:r>
            <a:r>
              <a:rPr lang="en-US" dirty="0" smtClean="0"/>
              <a:t>(</a:t>
            </a:r>
            <a:r>
              <a:rPr lang="en-US" dirty="0" err="1" smtClean="0"/>
              <a:t>int</a:t>
            </a:r>
            <a:r>
              <a:rPr lang="en-US" dirty="0" smtClean="0"/>
              <a:t> a) </a:t>
            </a:r>
          </a:p>
          <a:p>
            <a:r>
              <a:rPr lang="en-US" dirty="0" smtClean="0"/>
              <a:t>{ ex = a; } </a:t>
            </a:r>
          </a:p>
          <a:p>
            <a:r>
              <a:rPr lang="en-US" dirty="0" smtClean="0"/>
              <a:t>public String </a:t>
            </a:r>
            <a:r>
              <a:rPr lang="en-US" dirty="0" err="1" smtClean="0"/>
              <a:t>toString</a:t>
            </a:r>
            <a:r>
              <a:rPr lang="en-US" dirty="0" smtClean="0"/>
              <a:t>()</a:t>
            </a:r>
          </a:p>
          <a:p>
            <a:r>
              <a:rPr lang="en-US" dirty="0" smtClean="0"/>
              <a:t> { return "</a:t>
            </a:r>
            <a:r>
              <a:rPr lang="en-US" dirty="0" err="1" smtClean="0"/>
              <a:t>MyException</a:t>
            </a:r>
            <a:r>
              <a:rPr lang="en-US" dirty="0" smtClean="0"/>
              <a:t>[" + ex +"] is less than zero"; }</a:t>
            </a:r>
          </a:p>
          <a:p>
            <a:r>
              <a:rPr lang="en-US" dirty="0" smtClean="0"/>
              <a:t> } </a:t>
            </a:r>
          </a:p>
          <a:p>
            <a:r>
              <a:rPr lang="en-US" dirty="0" smtClean="0"/>
              <a:t>class Demo { </a:t>
            </a:r>
          </a:p>
          <a:p>
            <a:r>
              <a:rPr lang="en-US" dirty="0" smtClean="0"/>
              <a:t>static void sum(</a:t>
            </a:r>
            <a:r>
              <a:rPr lang="en-US" dirty="0" err="1" smtClean="0"/>
              <a:t>int</a:t>
            </a:r>
            <a:r>
              <a:rPr lang="en-US" dirty="0" smtClean="0"/>
              <a:t> </a:t>
            </a:r>
            <a:r>
              <a:rPr lang="en-US" dirty="0" err="1" smtClean="0"/>
              <a:t>a,int</a:t>
            </a:r>
            <a:r>
              <a:rPr lang="en-US" dirty="0" smtClean="0"/>
              <a:t> b) throws </a:t>
            </a:r>
            <a:r>
              <a:rPr lang="en-US" dirty="0" err="1" smtClean="0"/>
              <a:t>MyException</a:t>
            </a:r>
            <a:r>
              <a:rPr lang="en-US" dirty="0" smtClean="0"/>
              <a:t> {</a:t>
            </a:r>
          </a:p>
          <a:p>
            <a:r>
              <a:rPr lang="en-US" dirty="0" smtClean="0"/>
              <a:t> if(a&lt;0) { throw new </a:t>
            </a:r>
            <a:r>
              <a:rPr lang="en-US" dirty="0" err="1" smtClean="0"/>
              <a:t>MyException</a:t>
            </a:r>
            <a:r>
              <a:rPr lang="en-US" dirty="0" smtClean="0"/>
              <a:t>(a); //calling constructor of user-defined exception class } else { </a:t>
            </a:r>
            <a:r>
              <a:rPr lang="en-US" dirty="0" err="1" smtClean="0"/>
              <a:t>System.out.println</a:t>
            </a:r>
            <a:r>
              <a:rPr lang="en-US" dirty="0" smtClean="0"/>
              <a:t>(</a:t>
            </a:r>
            <a:r>
              <a:rPr lang="en-US" dirty="0" err="1" smtClean="0"/>
              <a:t>a+b</a:t>
            </a:r>
            <a:r>
              <a:rPr lang="en-US" dirty="0" smtClean="0"/>
              <a:t>); } } </a:t>
            </a:r>
          </a:p>
          <a:p>
            <a:r>
              <a:rPr lang="en-US" dirty="0" smtClean="0"/>
              <a:t>public static void main(String[] </a:t>
            </a:r>
            <a:r>
              <a:rPr lang="en-US" dirty="0" err="1" smtClean="0"/>
              <a:t>args</a:t>
            </a:r>
            <a:r>
              <a:rPr lang="en-US" dirty="0" smtClean="0"/>
              <a:t>) </a:t>
            </a:r>
          </a:p>
          <a:p>
            <a:r>
              <a:rPr lang="en-US" dirty="0" smtClean="0"/>
              <a:t>{ try { sum(-10, 10); } </a:t>
            </a:r>
          </a:p>
          <a:p>
            <a:r>
              <a:rPr lang="en-US" dirty="0" smtClean="0"/>
              <a:t>catch(</a:t>
            </a:r>
            <a:r>
              <a:rPr lang="en-US" dirty="0" err="1" smtClean="0"/>
              <a:t>MyException</a:t>
            </a:r>
            <a:r>
              <a:rPr lang="en-US" dirty="0" smtClean="0"/>
              <a:t> me) </a:t>
            </a:r>
          </a:p>
          <a:p>
            <a:r>
              <a:rPr lang="en-US" dirty="0" smtClean="0"/>
              <a:t>{ </a:t>
            </a:r>
            <a:r>
              <a:rPr lang="en-US" dirty="0" err="1" smtClean="0"/>
              <a:t>System.out.println</a:t>
            </a:r>
            <a:r>
              <a:rPr lang="en-US" dirty="0" smtClean="0"/>
              <a:t>(me); //it calls the </a:t>
            </a:r>
            <a:r>
              <a:rPr lang="en-US" dirty="0" err="1" smtClean="0"/>
              <a:t>toString</a:t>
            </a:r>
            <a:r>
              <a:rPr lang="en-US" dirty="0" smtClean="0"/>
              <a:t>() method of user-defined Exception } } }</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528" y="620688"/>
            <a:ext cx="8424936" cy="1754326"/>
          </a:xfrm>
          <a:prstGeom prst="rect">
            <a:avLst/>
          </a:prstGeom>
        </p:spPr>
        <p:txBody>
          <a:bodyPr wrap="square">
            <a:spAutoFit/>
          </a:bodyPr>
          <a:lstStyle/>
          <a:p>
            <a:r>
              <a:rPr lang="en-US" b="1" dirty="0" smtClean="0"/>
              <a:t>Points to Remember</a:t>
            </a:r>
          </a:p>
          <a:p>
            <a:pPr>
              <a:buFont typeface="Arial" pitchFamily="34" charset="0"/>
              <a:buChar char="•"/>
            </a:pPr>
            <a:endParaRPr lang="en-US" dirty="0" smtClean="0"/>
          </a:p>
          <a:p>
            <a:pPr>
              <a:buFont typeface="Arial" pitchFamily="34" charset="0"/>
              <a:buChar char="•"/>
            </a:pPr>
            <a:r>
              <a:rPr lang="en-US" dirty="0" smtClean="0"/>
              <a:t>Extend the Exception class to create your own exception class.</a:t>
            </a:r>
          </a:p>
          <a:p>
            <a:pPr>
              <a:buFont typeface="Arial" pitchFamily="34" charset="0"/>
              <a:buChar char="•"/>
            </a:pPr>
            <a:r>
              <a:rPr lang="en-US" dirty="0" smtClean="0"/>
              <a:t>You don't have to implement anything inside it, no methods are required.</a:t>
            </a:r>
          </a:p>
          <a:p>
            <a:pPr>
              <a:buFont typeface="Arial" pitchFamily="34" charset="0"/>
              <a:buChar char="•"/>
            </a:pPr>
            <a:r>
              <a:rPr lang="en-US" dirty="0" smtClean="0"/>
              <a:t>You can have a Constructor if you want.</a:t>
            </a:r>
          </a:p>
          <a:p>
            <a:pPr>
              <a:buFont typeface="Arial" pitchFamily="34" charset="0"/>
              <a:buChar char="•"/>
            </a:pPr>
            <a:r>
              <a:rPr lang="en-US" dirty="0" smtClean="0"/>
              <a:t>You can override the </a:t>
            </a:r>
            <a:r>
              <a:rPr lang="en-US" dirty="0" err="1" smtClean="0"/>
              <a:t>toString</a:t>
            </a:r>
            <a:r>
              <a:rPr lang="en-US" dirty="0" smtClean="0"/>
              <a:t>() function, to display customized message.</a:t>
            </a:r>
            <a:endParaRPr lang="en-US"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60648"/>
            <a:ext cx="8928992" cy="6463308"/>
          </a:xfrm>
          <a:prstGeom prst="rect">
            <a:avLst/>
          </a:prstGeom>
        </p:spPr>
        <p:txBody>
          <a:bodyPr wrap="square">
            <a:spAutoFit/>
          </a:bodyPr>
          <a:lstStyle/>
          <a:p>
            <a:r>
              <a:rPr lang="en-US" b="1" dirty="0" smtClean="0"/>
              <a:t>Java Throw</a:t>
            </a:r>
          </a:p>
          <a:p>
            <a:endParaRPr lang="en-US" dirty="0" smtClean="0"/>
          </a:p>
          <a:p>
            <a:r>
              <a:rPr lang="en-US" dirty="0" smtClean="0"/>
              <a:t>The throw keyword is used to throw an exception explicitly. Only object of </a:t>
            </a:r>
            <a:r>
              <a:rPr lang="en-US" dirty="0" err="1" smtClean="0"/>
              <a:t>Throwable</a:t>
            </a:r>
            <a:r>
              <a:rPr lang="en-US" dirty="0" smtClean="0"/>
              <a:t> class or its sub classes can be thrown. Program execution stops on encountering </a:t>
            </a:r>
            <a:r>
              <a:rPr lang="en-US" b="1" dirty="0" smtClean="0"/>
              <a:t>throw</a:t>
            </a:r>
            <a:r>
              <a:rPr lang="en-US" dirty="0" smtClean="0"/>
              <a:t> statement, and the closest catch statement is checked for matching type of exception.</a:t>
            </a:r>
          </a:p>
          <a:p>
            <a:r>
              <a:rPr lang="en-US" b="1" dirty="0" smtClean="0"/>
              <a:t>Syntax :</a:t>
            </a:r>
          </a:p>
          <a:p>
            <a:endParaRPr lang="en-IN" b="1" dirty="0" smtClean="0"/>
          </a:p>
          <a:p>
            <a:r>
              <a:rPr lang="en-US" dirty="0" smtClean="0"/>
              <a:t>class Test { static void </a:t>
            </a:r>
            <a:r>
              <a:rPr lang="en-US" dirty="0" err="1" smtClean="0"/>
              <a:t>avg</a:t>
            </a:r>
            <a:r>
              <a:rPr lang="en-US" dirty="0" smtClean="0"/>
              <a:t>() </a:t>
            </a:r>
          </a:p>
          <a:p>
            <a:r>
              <a:rPr lang="en-US" dirty="0" smtClean="0"/>
              <a:t>{ try { throw new </a:t>
            </a:r>
            <a:r>
              <a:rPr lang="en-US" dirty="0" err="1" smtClean="0"/>
              <a:t>ArithmeticException</a:t>
            </a:r>
            <a:r>
              <a:rPr lang="en-US" dirty="0" smtClean="0"/>
              <a:t>("demo"); } </a:t>
            </a:r>
          </a:p>
          <a:p>
            <a:r>
              <a:rPr lang="en-US" dirty="0" smtClean="0"/>
              <a:t>catch(</a:t>
            </a:r>
            <a:r>
              <a:rPr lang="en-US" dirty="0" err="1" smtClean="0"/>
              <a:t>ArithmeticException</a:t>
            </a:r>
            <a:r>
              <a:rPr lang="en-US" dirty="0" smtClean="0"/>
              <a:t> e) { </a:t>
            </a:r>
            <a:r>
              <a:rPr lang="en-US" dirty="0" err="1" smtClean="0"/>
              <a:t>System.out.println</a:t>
            </a:r>
            <a:r>
              <a:rPr lang="en-US" dirty="0" smtClean="0"/>
              <a:t>("Exception caught"); } } </a:t>
            </a:r>
          </a:p>
          <a:p>
            <a:r>
              <a:rPr lang="en-US" dirty="0" smtClean="0"/>
              <a:t>public static void main(String </a:t>
            </a:r>
            <a:r>
              <a:rPr lang="en-US" dirty="0" err="1" smtClean="0"/>
              <a:t>args</a:t>
            </a:r>
            <a:r>
              <a:rPr lang="en-US" dirty="0" smtClean="0"/>
              <a:t>[]) </a:t>
            </a:r>
          </a:p>
          <a:p>
            <a:r>
              <a:rPr lang="en-US" dirty="0" smtClean="0"/>
              <a:t>{ </a:t>
            </a:r>
            <a:r>
              <a:rPr lang="en-US" dirty="0" err="1" smtClean="0"/>
              <a:t>avg</a:t>
            </a:r>
            <a:r>
              <a:rPr lang="en-US" dirty="0" smtClean="0"/>
              <a:t>();</a:t>
            </a:r>
          </a:p>
          <a:p>
            <a:r>
              <a:rPr lang="en-US" dirty="0" smtClean="0"/>
              <a:t> }</a:t>
            </a:r>
          </a:p>
          <a:p>
            <a:r>
              <a:rPr lang="en-US" dirty="0" smtClean="0"/>
              <a:t> }</a:t>
            </a:r>
          </a:p>
          <a:p>
            <a:endParaRPr lang="en-IN" dirty="0" smtClean="0"/>
          </a:p>
          <a:p>
            <a:r>
              <a:rPr lang="en-US" b="1" dirty="0" smtClean="0"/>
              <a:t>Java throws Keyword</a:t>
            </a:r>
          </a:p>
          <a:p>
            <a:endParaRPr lang="en-US" dirty="0" smtClean="0"/>
          </a:p>
          <a:p>
            <a:r>
              <a:rPr lang="en-US" dirty="0" smtClean="0"/>
              <a:t>The throws keyword is used to declare the list of exception that a method may throw during execution of program. Any method that is capable of causing exceptions must list all the exceptions possible during its execution, so that anyone calling that method gets a prior knowledge about which exceptions are to be handled. A method can do so by using the </a:t>
            </a:r>
            <a:r>
              <a:rPr lang="en-US" b="1" dirty="0" smtClean="0"/>
              <a:t>throws</a:t>
            </a:r>
            <a:r>
              <a:rPr lang="en-US" dirty="0" smtClean="0"/>
              <a:t> keyword.</a:t>
            </a:r>
          </a:p>
          <a:p>
            <a:endParaRPr lang="en-US"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9512" y="188640"/>
            <a:ext cx="8856984" cy="3139321"/>
          </a:xfrm>
          <a:prstGeom prst="rect">
            <a:avLst/>
          </a:prstGeom>
        </p:spPr>
        <p:txBody>
          <a:bodyPr wrap="square">
            <a:spAutoFit/>
          </a:bodyPr>
          <a:lstStyle/>
          <a:p>
            <a:endParaRPr lang="en-US" dirty="0" smtClean="0"/>
          </a:p>
          <a:p>
            <a:r>
              <a:rPr lang="en-US" dirty="0" smtClean="0"/>
              <a:t>Here, we have a method that can throw Arithmetic exception so we mentioned that with the method declaration and catch that using the catch handler in the main method.</a:t>
            </a:r>
          </a:p>
          <a:p>
            <a:endParaRPr lang="en-IN" dirty="0" smtClean="0"/>
          </a:p>
          <a:p>
            <a:r>
              <a:rPr lang="en-US" dirty="0" smtClean="0"/>
              <a:t>class Test </a:t>
            </a:r>
          </a:p>
          <a:p>
            <a:r>
              <a:rPr lang="en-US" dirty="0" smtClean="0"/>
              <a:t>{ static void check() throws </a:t>
            </a:r>
            <a:r>
              <a:rPr lang="en-US" dirty="0" err="1" smtClean="0"/>
              <a:t>ArithmeticException</a:t>
            </a:r>
            <a:r>
              <a:rPr lang="en-US" dirty="0" smtClean="0"/>
              <a:t> </a:t>
            </a:r>
          </a:p>
          <a:p>
            <a:r>
              <a:rPr lang="en-US" dirty="0" smtClean="0"/>
              <a:t>{ </a:t>
            </a:r>
          </a:p>
          <a:p>
            <a:r>
              <a:rPr lang="en-US" dirty="0" err="1" smtClean="0"/>
              <a:t>System.out.println</a:t>
            </a:r>
            <a:r>
              <a:rPr lang="en-US" dirty="0" smtClean="0"/>
              <a:t>("Inside check function"); throw new </a:t>
            </a:r>
            <a:r>
              <a:rPr lang="en-US" dirty="0" err="1" smtClean="0"/>
              <a:t>ArithmeticException</a:t>
            </a:r>
            <a:r>
              <a:rPr lang="en-US" dirty="0" smtClean="0"/>
              <a:t>("demo"); } public static void main(String </a:t>
            </a:r>
            <a:r>
              <a:rPr lang="en-US" dirty="0" err="1" smtClean="0"/>
              <a:t>args</a:t>
            </a:r>
            <a:r>
              <a:rPr lang="en-US" dirty="0" smtClean="0"/>
              <a:t>[]) </a:t>
            </a:r>
          </a:p>
          <a:p>
            <a:r>
              <a:rPr lang="en-US" dirty="0" smtClean="0"/>
              <a:t>{ try { check(); } catch(</a:t>
            </a:r>
            <a:r>
              <a:rPr lang="en-US" dirty="0" err="1" smtClean="0"/>
              <a:t>ArithmeticException</a:t>
            </a:r>
            <a:r>
              <a:rPr lang="en-US" dirty="0" smtClean="0"/>
              <a:t> e) </a:t>
            </a:r>
          </a:p>
          <a:p>
            <a:r>
              <a:rPr lang="en-US" dirty="0" smtClean="0"/>
              <a:t>{ </a:t>
            </a:r>
            <a:r>
              <a:rPr lang="en-US" dirty="0" err="1" smtClean="0"/>
              <a:t>System.out.println</a:t>
            </a:r>
            <a:r>
              <a:rPr lang="en-US" dirty="0" smtClean="0"/>
              <a:t>("caught" + e); } } }</a:t>
            </a:r>
            <a:endParaRPr lang="en-US"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251520" y="1268760"/>
          <a:ext cx="8712968" cy="4192240"/>
        </p:xfrm>
        <a:graphic>
          <a:graphicData uri="http://schemas.openxmlformats.org/drawingml/2006/table">
            <a:tbl>
              <a:tblPr/>
              <a:tblGrid>
                <a:gridCol w="4356484"/>
                <a:gridCol w="4356484"/>
              </a:tblGrid>
              <a:tr h="356786">
                <a:tc>
                  <a:txBody>
                    <a:bodyPr/>
                    <a:lstStyle/>
                    <a:p>
                      <a:pPr algn="l"/>
                      <a:r>
                        <a:rPr lang="en-US" sz="1700" b="1" dirty="0"/>
                        <a:t>throw</a:t>
                      </a:r>
                    </a:p>
                  </a:txBody>
                  <a:tcPr marL="86468" marR="86468" marT="43234" marB="43234" anchor="ctr">
                    <a:lnL>
                      <a:noFill/>
                    </a:lnL>
                    <a:lnR>
                      <a:noFill/>
                    </a:lnR>
                    <a:lnT>
                      <a:noFill/>
                    </a:lnT>
                    <a:lnB>
                      <a:noFill/>
                    </a:lnB>
                  </a:tcPr>
                </a:tc>
                <a:tc>
                  <a:txBody>
                    <a:bodyPr/>
                    <a:lstStyle/>
                    <a:p>
                      <a:pPr algn="l"/>
                      <a:r>
                        <a:rPr lang="en-US" sz="1700" b="1" dirty="0"/>
                        <a:t>throws</a:t>
                      </a:r>
                    </a:p>
                  </a:txBody>
                  <a:tcPr marL="86468" marR="86468" marT="43234" marB="43234" anchor="ctr">
                    <a:lnL>
                      <a:noFill/>
                    </a:lnL>
                    <a:lnR>
                      <a:noFill/>
                    </a:lnR>
                    <a:lnT>
                      <a:noFill/>
                    </a:lnT>
                    <a:lnB>
                      <a:noFill/>
                    </a:lnB>
                  </a:tcPr>
                </a:tc>
              </a:tr>
              <a:tr h="891966">
                <a:tc>
                  <a:txBody>
                    <a:bodyPr/>
                    <a:lstStyle/>
                    <a:p>
                      <a:r>
                        <a:rPr lang="en-US" sz="1700" dirty="0"/>
                        <a:t>throw keyword is used to throw an exception explicitly.</a:t>
                      </a:r>
                    </a:p>
                  </a:txBody>
                  <a:tcPr marL="86468" marR="86468" marT="43234" marB="43234" anchor="ctr">
                    <a:lnL>
                      <a:noFill/>
                    </a:lnL>
                    <a:lnR>
                      <a:noFill/>
                    </a:lnR>
                    <a:lnT>
                      <a:noFill/>
                    </a:lnT>
                    <a:lnB>
                      <a:noFill/>
                    </a:lnB>
                  </a:tcPr>
                </a:tc>
                <a:tc>
                  <a:txBody>
                    <a:bodyPr/>
                    <a:lstStyle/>
                    <a:p>
                      <a:r>
                        <a:rPr lang="en-US" sz="1700"/>
                        <a:t>throws keyword is used to declare an exception possible during its execution.</a:t>
                      </a:r>
                    </a:p>
                  </a:txBody>
                  <a:tcPr marL="86468" marR="86468" marT="43234" marB="43234" anchor="ctr">
                    <a:lnL>
                      <a:noFill/>
                    </a:lnL>
                    <a:lnR>
                      <a:noFill/>
                    </a:lnR>
                    <a:lnT>
                      <a:noFill/>
                    </a:lnT>
                    <a:lnB>
                      <a:noFill/>
                    </a:lnB>
                  </a:tcPr>
                </a:tc>
              </a:tr>
              <a:tr h="891966">
                <a:tc>
                  <a:txBody>
                    <a:bodyPr/>
                    <a:lstStyle/>
                    <a:p>
                      <a:r>
                        <a:rPr lang="en-US" sz="1700"/>
                        <a:t>throw keyword is followed by an instance of Throwable class or one of its sub-classes.</a:t>
                      </a:r>
                    </a:p>
                  </a:txBody>
                  <a:tcPr marL="86468" marR="86468" marT="43234" marB="43234" anchor="ctr">
                    <a:lnL>
                      <a:noFill/>
                    </a:lnL>
                    <a:lnR>
                      <a:noFill/>
                    </a:lnR>
                    <a:lnT>
                      <a:noFill/>
                    </a:lnT>
                    <a:lnB>
                      <a:noFill/>
                    </a:lnB>
                  </a:tcPr>
                </a:tc>
                <a:tc>
                  <a:txBody>
                    <a:bodyPr/>
                    <a:lstStyle/>
                    <a:p>
                      <a:r>
                        <a:rPr lang="en-US" sz="1700"/>
                        <a:t>throws keyword is followed by one or more Exception class names separated by commas.</a:t>
                      </a:r>
                    </a:p>
                  </a:txBody>
                  <a:tcPr marL="86468" marR="86468" marT="43234" marB="43234" anchor="ctr">
                    <a:lnL>
                      <a:noFill/>
                    </a:lnL>
                    <a:lnR>
                      <a:noFill/>
                    </a:lnR>
                    <a:lnT>
                      <a:noFill/>
                    </a:lnT>
                    <a:lnB>
                      <a:noFill/>
                    </a:lnB>
                  </a:tcPr>
                </a:tc>
              </a:tr>
              <a:tr h="891966">
                <a:tc>
                  <a:txBody>
                    <a:bodyPr/>
                    <a:lstStyle/>
                    <a:p>
                      <a:r>
                        <a:rPr lang="en-US" sz="1700"/>
                        <a:t>throw keyword is declared inside a method body.</a:t>
                      </a:r>
                    </a:p>
                  </a:txBody>
                  <a:tcPr marL="86468" marR="86468" marT="43234" marB="43234" anchor="ctr">
                    <a:lnL>
                      <a:noFill/>
                    </a:lnL>
                    <a:lnR>
                      <a:noFill/>
                    </a:lnR>
                    <a:lnT>
                      <a:noFill/>
                    </a:lnT>
                    <a:lnB>
                      <a:noFill/>
                    </a:lnB>
                  </a:tcPr>
                </a:tc>
                <a:tc>
                  <a:txBody>
                    <a:bodyPr/>
                    <a:lstStyle/>
                    <a:p>
                      <a:r>
                        <a:rPr lang="en-US" sz="1700"/>
                        <a:t>throws keyword is used with method signature (method declaration).</a:t>
                      </a:r>
                    </a:p>
                  </a:txBody>
                  <a:tcPr marL="86468" marR="86468" marT="43234" marB="43234" anchor="ctr">
                    <a:lnL>
                      <a:noFill/>
                    </a:lnL>
                    <a:lnR>
                      <a:noFill/>
                    </a:lnR>
                    <a:lnT>
                      <a:noFill/>
                    </a:lnT>
                    <a:lnB>
                      <a:noFill/>
                    </a:lnB>
                  </a:tcPr>
                </a:tc>
              </a:tr>
              <a:tr h="1159556">
                <a:tc>
                  <a:txBody>
                    <a:bodyPr/>
                    <a:lstStyle/>
                    <a:p>
                      <a:r>
                        <a:rPr lang="en-US" sz="1700"/>
                        <a:t>We cannot throw multiple exceptions using throw keyword.</a:t>
                      </a:r>
                    </a:p>
                  </a:txBody>
                  <a:tcPr marL="86468" marR="86468" marT="43234" marB="43234" anchor="ctr">
                    <a:lnL>
                      <a:noFill/>
                    </a:lnL>
                    <a:lnR>
                      <a:noFill/>
                    </a:lnR>
                    <a:lnT>
                      <a:noFill/>
                    </a:lnT>
                    <a:lnB>
                      <a:noFill/>
                    </a:lnB>
                  </a:tcPr>
                </a:tc>
                <a:tc>
                  <a:txBody>
                    <a:bodyPr/>
                    <a:lstStyle/>
                    <a:p>
                      <a:r>
                        <a:rPr lang="en-US" sz="1700" dirty="0"/>
                        <a:t>We can declare multiple exceptions (separated by commas) using throws keyword.</a:t>
                      </a:r>
                    </a:p>
                  </a:txBody>
                  <a:tcPr marL="86468" marR="86468" marT="43234" marB="43234" anchor="ctr">
                    <a:lnL>
                      <a:noFill/>
                    </a:lnL>
                    <a:lnR>
                      <a:noFill/>
                    </a:lnR>
                    <a:lnT>
                      <a:noFill/>
                    </a:lnT>
                    <a:lnB>
                      <a:noFill/>
                    </a:lnB>
                  </a:tcPr>
                </a:tc>
              </a:tr>
            </a:tbl>
          </a:graphicData>
        </a:graphic>
      </p:graphicFrame>
      <p:sp>
        <p:nvSpPr>
          <p:cNvPr id="154625" name="Rectangle 1"/>
          <p:cNvSpPr>
            <a:spLocks noChangeArrowheads="1"/>
          </p:cNvSpPr>
          <p:nvPr/>
        </p:nvSpPr>
        <p:spPr bwMode="auto">
          <a:xfrm>
            <a:off x="0" y="332656"/>
            <a:ext cx="9144000" cy="457200"/>
          </a:xfrm>
          <a:prstGeom prst="rect">
            <a:avLst/>
          </a:prstGeom>
          <a:noFill/>
          <a:ln w="9525">
            <a:noFill/>
            <a:miter lim="800000"/>
            <a:headEnd/>
            <a:tailEnd/>
          </a:ln>
          <a:effectLst/>
        </p:spPr>
        <p:txBody>
          <a:bodyPr vert="horz" wrap="none" lIns="91440" tIns="158700" rIns="91440" bIns="952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rgbClr val="333333"/>
                </a:solidFill>
                <a:effectLst/>
                <a:latin typeface="helvetica neue"/>
                <a:cs typeface="Arial" pitchFamily="34" charset="0"/>
              </a:rPr>
              <a:t>Difference between throw and throws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600" b="0" i="0" u="none" strike="noStrike" cap="none" normalizeH="0" baseline="0" dirty="0" smtClean="0">
                <a:ln>
                  <a:noFill/>
                </a:ln>
                <a:solidFill>
                  <a:schemeClr val="tx1"/>
                </a:solidFill>
                <a:effectLst/>
                <a:latin typeface="Arial" pitchFamily="34" charset="0"/>
                <a:cs typeface="Arial" pitchFamily="34" charset="0"/>
              </a:rPr>
              <a:t/>
            </a:r>
            <a:br>
              <a:rPr kumimoji="0" lang="en-US" sz="600" b="0" i="0" u="none" strike="noStrike" cap="none" normalizeH="0" baseline="0" dirty="0" smtClean="0">
                <a:ln>
                  <a:noFill/>
                </a:ln>
                <a:solidFill>
                  <a:schemeClr val="tx1"/>
                </a:solidFill>
                <a:effectLst/>
                <a:latin typeface="Arial" pitchFamily="34" charset="0"/>
                <a:cs typeface="Arial" pitchFamily="34" charset="0"/>
              </a:rPr>
            </a:b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srcRect/>
          <a:stretch>
            <a:fillRect/>
          </a:stretch>
        </p:blipFill>
        <p:spPr bwMode="auto">
          <a:xfrm>
            <a:off x="461963" y="2100263"/>
            <a:ext cx="8220075" cy="2657475"/>
          </a:xfrm>
          <a:prstGeom prst="rect">
            <a:avLst/>
          </a:prstGeom>
          <a:noFill/>
          <a:ln w="9525">
            <a:noFill/>
            <a:miter lim="800000"/>
            <a:headEnd/>
            <a:tailEnd/>
          </a:ln>
          <a:effectLst/>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79512" y="260648"/>
            <a:ext cx="2607637" cy="369332"/>
          </a:xfrm>
          <a:prstGeom prst="rect">
            <a:avLst/>
          </a:prstGeom>
        </p:spPr>
        <p:txBody>
          <a:bodyPr wrap="none">
            <a:spAutoFit/>
          </a:bodyPr>
          <a:lstStyle/>
          <a:p>
            <a:r>
              <a:rPr lang="en-US" b="1" dirty="0" smtClean="0"/>
              <a:t>What is Collection in Java</a:t>
            </a:r>
            <a:endParaRPr lang="en-US" b="1" dirty="0"/>
          </a:p>
        </p:txBody>
      </p:sp>
      <p:sp>
        <p:nvSpPr>
          <p:cNvPr id="4" name="Rectangle 3"/>
          <p:cNvSpPr/>
          <p:nvPr/>
        </p:nvSpPr>
        <p:spPr>
          <a:xfrm>
            <a:off x="107504" y="1052736"/>
            <a:ext cx="9036496" cy="4247317"/>
          </a:xfrm>
          <a:prstGeom prst="rect">
            <a:avLst/>
          </a:prstGeom>
        </p:spPr>
        <p:txBody>
          <a:bodyPr wrap="square">
            <a:spAutoFit/>
          </a:bodyPr>
          <a:lstStyle/>
          <a:p>
            <a:r>
              <a:rPr lang="en-US" dirty="0" smtClean="0"/>
              <a:t>A collection is a group of objects. In Java, these objects are called elements of the collection.</a:t>
            </a:r>
          </a:p>
          <a:p>
            <a:r>
              <a:rPr lang="en-US" dirty="0" smtClean="0"/>
              <a:t>The Java Collections Framework is a collection of interfaces and classes which helps in storing and processing the data efficiently.</a:t>
            </a:r>
          </a:p>
          <a:p>
            <a:endParaRPr lang="en-US" dirty="0" smtClean="0"/>
          </a:p>
          <a:p>
            <a:r>
              <a:rPr lang="en-US" dirty="0" smtClean="0"/>
              <a:t>You can perform all operations such as searching, sorting, insertion, manipulation, deletion, etc., on Java collections just like you do it on data.</a:t>
            </a:r>
          </a:p>
          <a:p>
            <a:endParaRPr lang="en-IN" dirty="0" smtClean="0"/>
          </a:p>
          <a:p>
            <a:r>
              <a:rPr lang="en-US" dirty="0" smtClean="0"/>
              <a:t>A Java collection framework includes the following:</a:t>
            </a:r>
          </a:p>
          <a:p>
            <a:endParaRPr lang="en-US" dirty="0" smtClean="0"/>
          </a:p>
          <a:p>
            <a:pPr>
              <a:buFont typeface="Arial" pitchFamily="34" charset="0"/>
              <a:buChar char="•"/>
            </a:pPr>
            <a:r>
              <a:rPr lang="en-US" dirty="0" smtClean="0"/>
              <a:t>Interfaces</a:t>
            </a:r>
          </a:p>
          <a:p>
            <a:pPr>
              <a:buFont typeface="Arial" pitchFamily="34" charset="0"/>
              <a:buChar char="•"/>
            </a:pPr>
            <a:r>
              <a:rPr lang="en-US" dirty="0" smtClean="0"/>
              <a:t>Classes</a:t>
            </a:r>
          </a:p>
          <a:p>
            <a:pPr>
              <a:buFont typeface="Arial" pitchFamily="34" charset="0"/>
              <a:buChar char="•"/>
            </a:pPr>
            <a:r>
              <a:rPr lang="en-US" dirty="0" smtClean="0"/>
              <a:t>Algorithm</a:t>
            </a:r>
          </a:p>
          <a:p>
            <a:endParaRPr lang="en-US" dirty="0" smtClean="0"/>
          </a:p>
          <a:p>
            <a:endParaRPr lang="en-US" dirty="0" smtClean="0"/>
          </a:p>
          <a:p>
            <a:r>
              <a:rPr lang="en-US" dirty="0" smtClean="0"/>
              <a:t> </a:t>
            </a:r>
            <a:endParaRPr lang="en-US"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889844"/>
            <a:ext cx="8640960" cy="3416320"/>
          </a:xfrm>
          <a:prstGeom prst="rect">
            <a:avLst/>
          </a:prstGeom>
        </p:spPr>
        <p:txBody>
          <a:bodyPr wrap="square">
            <a:spAutoFit/>
          </a:bodyPr>
          <a:lstStyle/>
          <a:p>
            <a:r>
              <a:rPr lang="en-US" b="1" dirty="0" smtClean="0"/>
              <a:t>Interfaces</a:t>
            </a:r>
            <a:r>
              <a:rPr lang="en-US" dirty="0" smtClean="0"/>
              <a:t>: Interface in Java refers to the abstract data types. They allow Java collections to be manipulated independently from the details of their representation. Also, they form a hierarchy in object-oriented programming languages.</a:t>
            </a:r>
          </a:p>
          <a:p>
            <a:endParaRPr lang="en-US" dirty="0" smtClean="0"/>
          </a:p>
          <a:p>
            <a:r>
              <a:rPr lang="en-US" b="1" dirty="0" smtClean="0"/>
              <a:t>Classes: </a:t>
            </a:r>
            <a:r>
              <a:rPr lang="en-US" dirty="0" smtClean="0"/>
              <a:t>Classes in Java are the implementation of the collection interface. It basically refers to the data structures that are used again and again.</a:t>
            </a:r>
          </a:p>
          <a:p>
            <a:endParaRPr lang="en-US" b="1" dirty="0" smtClean="0"/>
          </a:p>
          <a:p>
            <a:endParaRPr lang="en-US" b="1" dirty="0" smtClean="0"/>
          </a:p>
          <a:p>
            <a:r>
              <a:rPr lang="en-US" b="1" dirty="0" smtClean="0"/>
              <a:t>Algorithm:</a:t>
            </a:r>
            <a:r>
              <a:rPr lang="en-US" dirty="0" smtClean="0"/>
              <a:t> Algorithm refers to the methods which are used to perform operations such as searching and sorting, on objects that implement collection interfaces. Algorithms are polymorphic in nature as the same method can be used to take many forms or you can say perform different implementations of the Java collection interface.</a:t>
            </a:r>
            <a:endParaRPr lang="en-US"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528" y="980728"/>
            <a:ext cx="8712968" cy="4247317"/>
          </a:xfrm>
          <a:prstGeom prst="rect">
            <a:avLst/>
          </a:prstGeom>
        </p:spPr>
        <p:txBody>
          <a:bodyPr wrap="square">
            <a:spAutoFit/>
          </a:bodyPr>
          <a:lstStyle/>
          <a:p>
            <a:r>
              <a:rPr lang="en-US" b="1" dirty="0" smtClean="0"/>
              <a:t>Why use Java collection?</a:t>
            </a:r>
          </a:p>
          <a:p>
            <a:endParaRPr lang="en-US" dirty="0" smtClean="0"/>
          </a:p>
          <a:p>
            <a:r>
              <a:rPr lang="en-US" dirty="0" smtClean="0"/>
              <a:t>There are several benefits of using Java collections such as:</a:t>
            </a:r>
          </a:p>
          <a:p>
            <a:endParaRPr lang="en-US" dirty="0" smtClean="0"/>
          </a:p>
          <a:p>
            <a:pPr>
              <a:buFont typeface="Arial" pitchFamily="34" charset="0"/>
              <a:buChar char="•"/>
            </a:pPr>
            <a:r>
              <a:rPr lang="en-US" dirty="0" smtClean="0"/>
              <a:t>Reducing the effort required to write the code by providing useful data structures and algorithms</a:t>
            </a:r>
          </a:p>
          <a:p>
            <a:endParaRPr lang="en-US" dirty="0" smtClean="0"/>
          </a:p>
          <a:p>
            <a:pPr>
              <a:buFont typeface="Arial" pitchFamily="34" charset="0"/>
              <a:buChar char="•"/>
            </a:pPr>
            <a:r>
              <a:rPr lang="en-US" dirty="0" smtClean="0"/>
              <a:t>Java collections provide high-performance and high-quality data structures and algorithms thereby increasing the speed and quality</a:t>
            </a:r>
          </a:p>
          <a:p>
            <a:endParaRPr lang="en-US" dirty="0" smtClean="0"/>
          </a:p>
          <a:p>
            <a:pPr>
              <a:buFont typeface="Arial" pitchFamily="34" charset="0"/>
              <a:buChar char="•"/>
            </a:pPr>
            <a:r>
              <a:rPr lang="en-US" dirty="0" smtClean="0"/>
              <a:t>Unrelated APIs can pass collection interfaces back and forth</a:t>
            </a:r>
          </a:p>
          <a:p>
            <a:pPr>
              <a:buFont typeface="Arial" pitchFamily="34" charset="0"/>
              <a:buChar char="•"/>
            </a:pPr>
            <a:endParaRPr lang="en-US" dirty="0" smtClean="0"/>
          </a:p>
          <a:p>
            <a:pPr>
              <a:buFont typeface="Arial" pitchFamily="34" charset="0"/>
              <a:buChar char="•"/>
            </a:pPr>
            <a:r>
              <a:rPr lang="en-US" dirty="0" smtClean="0"/>
              <a:t>Decreases extra effort required to learn, use, and design new API’s</a:t>
            </a:r>
          </a:p>
          <a:p>
            <a:pPr>
              <a:buFont typeface="Arial" pitchFamily="34" charset="0"/>
              <a:buChar char="•"/>
            </a:pPr>
            <a:endParaRPr lang="en-US" dirty="0" smtClean="0"/>
          </a:p>
          <a:p>
            <a:pPr>
              <a:buFont typeface="Arial" pitchFamily="34" charset="0"/>
              <a:buChar char="•"/>
            </a:pPr>
            <a:r>
              <a:rPr lang="en-US" dirty="0" smtClean="0"/>
              <a:t>Supports reusability of standard data structures and algorithms</a:t>
            </a:r>
            <a:endParaRPr lang="en-US"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504" y="188640"/>
            <a:ext cx="3696781" cy="369332"/>
          </a:xfrm>
          <a:prstGeom prst="rect">
            <a:avLst/>
          </a:prstGeom>
        </p:spPr>
        <p:txBody>
          <a:bodyPr wrap="none">
            <a:spAutoFit/>
          </a:bodyPr>
          <a:lstStyle/>
          <a:p>
            <a:r>
              <a:rPr lang="en-US" b="1" dirty="0" smtClean="0"/>
              <a:t>Java Collection Framework Hierarchy</a:t>
            </a:r>
            <a:endParaRPr lang="en-US" dirty="0"/>
          </a:p>
        </p:txBody>
      </p:sp>
      <p:pic>
        <p:nvPicPr>
          <p:cNvPr id="155651" name="Picture 3"/>
          <p:cNvPicPr>
            <a:picLocks noChangeAspect="1" noChangeArrowheads="1"/>
          </p:cNvPicPr>
          <p:nvPr/>
        </p:nvPicPr>
        <p:blipFill>
          <a:blip r:embed="rId2" cstate="print"/>
          <a:srcRect/>
          <a:stretch>
            <a:fillRect/>
          </a:stretch>
        </p:blipFill>
        <p:spPr bwMode="auto">
          <a:xfrm>
            <a:off x="1115616" y="836712"/>
            <a:ext cx="6624736" cy="5832648"/>
          </a:xfrm>
          <a:prstGeom prst="rect">
            <a:avLst/>
          </a:prstGeom>
          <a:noFill/>
          <a:ln w="9525">
            <a:noFill/>
            <a:miter lim="800000"/>
            <a:headEnd/>
            <a:tailEnd/>
          </a:ln>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528" y="474345"/>
            <a:ext cx="8496944" cy="3970318"/>
          </a:xfrm>
          <a:prstGeom prst="rect">
            <a:avLst/>
          </a:prstGeom>
        </p:spPr>
        <p:txBody>
          <a:bodyPr wrap="square">
            <a:spAutoFit/>
          </a:bodyPr>
          <a:lstStyle/>
          <a:p>
            <a:r>
              <a:rPr lang="en-US" b="1" dirty="0" smtClean="0"/>
              <a:t>Collection Interface in Java</a:t>
            </a:r>
          </a:p>
          <a:p>
            <a:endParaRPr lang="en-US" b="1" dirty="0" smtClean="0"/>
          </a:p>
          <a:p>
            <a:r>
              <a:rPr lang="en-US" dirty="0" smtClean="0"/>
              <a:t> The basic interface of the collections framework is the Collection interface which is the root interface of all collections in the API (Application programming interface). It is placed at the top of the collection hierarchy in java. It provides the basic operations for adding and removing elements in the collection.</a:t>
            </a:r>
            <a:br>
              <a:rPr lang="en-US" dirty="0" smtClean="0"/>
            </a:br>
            <a:endParaRPr lang="en-US" dirty="0" smtClean="0"/>
          </a:p>
          <a:p>
            <a:r>
              <a:rPr lang="en-US" dirty="0" smtClean="0"/>
              <a:t/>
            </a:r>
            <a:br>
              <a:rPr lang="en-US" dirty="0" smtClean="0"/>
            </a:br>
            <a:r>
              <a:rPr lang="en-US" dirty="0" smtClean="0"/>
              <a:t>The Collection interface extends the </a:t>
            </a:r>
            <a:r>
              <a:rPr lang="en-US" dirty="0" err="1" smtClean="0"/>
              <a:t>Iterable</a:t>
            </a:r>
            <a:r>
              <a:rPr lang="en-US" dirty="0" smtClean="0"/>
              <a:t> interface. The </a:t>
            </a:r>
            <a:r>
              <a:rPr lang="en-US" dirty="0" err="1" smtClean="0"/>
              <a:t>iterable</a:t>
            </a:r>
            <a:r>
              <a:rPr lang="en-US" dirty="0" smtClean="0"/>
              <a:t> interface has only one method called </a:t>
            </a:r>
            <a:r>
              <a:rPr lang="en-US" dirty="0" err="1" smtClean="0"/>
              <a:t>iterator</a:t>
            </a:r>
            <a:r>
              <a:rPr lang="en-US" dirty="0" smtClean="0"/>
              <a:t>(). The function of the </a:t>
            </a:r>
            <a:r>
              <a:rPr lang="en-US" dirty="0" err="1" smtClean="0"/>
              <a:t>iterator</a:t>
            </a:r>
            <a:r>
              <a:rPr lang="en-US" dirty="0" smtClean="0"/>
              <a:t> method is to return the </a:t>
            </a:r>
            <a:r>
              <a:rPr lang="en-US" dirty="0" err="1" smtClean="0"/>
              <a:t>iterator</a:t>
            </a:r>
            <a:r>
              <a:rPr lang="en-US" dirty="0" smtClean="0"/>
              <a:t> object. Using this </a:t>
            </a:r>
            <a:r>
              <a:rPr lang="en-US" dirty="0" err="1" smtClean="0"/>
              <a:t>iterator</a:t>
            </a:r>
            <a:r>
              <a:rPr lang="en-US" dirty="0" smtClean="0"/>
              <a:t> object, we can iterate over the elements of the collection.</a:t>
            </a:r>
          </a:p>
          <a:p>
            <a:endParaRPr lang="en-US" dirty="0" smtClean="0"/>
          </a:p>
          <a:p>
            <a:r>
              <a:rPr lang="en-US" dirty="0" smtClean="0"/>
              <a:t> </a:t>
            </a:r>
            <a:r>
              <a:rPr lang="en-US" dirty="0" smtClean="0">
                <a:hlinkClick r:id="rId2"/>
              </a:rPr>
              <a:t>List</a:t>
            </a:r>
            <a:r>
              <a:rPr lang="en-US" dirty="0" smtClean="0"/>
              <a:t>, Queue, and </a:t>
            </a:r>
            <a:r>
              <a:rPr lang="en-US" dirty="0" smtClean="0">
                <a:hlinkClick r:id="rId3"/>
              </a:rPr>
              <a:t>Set</a:t>
            </a:r>
            <a:r>
              <a:rPr lang="en-US" dirty="0" smtClean="0"/>
              <a:t> have three component which extends the Collection interface. A map is not inherited by Collection interface.</a:t>
            </a:r>
            <a:endParaRPr lang="en-US"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528" y="1443841"/>
            <a:ext cx="8496944" cy="3693319"/>
          </a:xfrm>
          <a:prstGeom prst="rect">
            <a:avLst/>
          </a:prstGeom>
        </p:spPr>
        <p:txBody>
          <a:bodyPr wrap="square">
            <a:spAutoFit/>
          </a:bodyPr>
          <a:lstStyle/>
          <a:p>
            <a:r>
              <a:rPr lang="en-US" b="1" dirty="0" smtClean="0"/>
              <a:t>List Interface</a:t>
            </a:r>
          </a:p>
          <a:p>
            <a:endParaRPr lang="en-US" dirty="0" smtClean="0"/>
          </a:p>
          <a:p>
            <a:r>
              <a:rPr lang="en-US" dirty="0" smtClean="0"/>
              <a:t>➲ This interface represents a collection of elements whose elements are arranged sequentially ordered.</a:t>
            </a:r>
          </a:p>
          <a:p>
            <a:endParaRPr lang="en-US" dirty="0" smtClean="0"/>
          </a:p>
          <a:p>
            <a:r>
              <a:rPr lang="en-US" dirty="0" smtClean="0"/>
              <a:t>➲ List maintains an order of elements means the order is retained in which we add elements, and the same sequence we will get while retrieving elements.</a:t>
            </a:r>
          </a:p>
          <a:p>
            <a:endParaRPr lang="en-US" dirty="0" smtClean="0"/>
          </a:p>
          <a:p>
            <a:r>
              <a:rPr lang="en-US" dirty="0" smtClean="0"/>
              <a:t>➲ We can insert elements into the list at any location. The list allows storing duplicate elements in Java.</a:t>
            </a:r>
          </a:p>
          <a:p>
            <a:endParaRPr lang="en-US" dirty="0" smtClean="0"/>
          </a:p>
          <a:p>
            <a:r>
              <a:rPr lang="en-US" dirty="0" smtClean="0"/>
              <a:t>➲ </a:t>
            </a:r>
            <a:r>
              <a:rPr lang="en-US" dirty="0" err="1" smtClean="0">
                <a:hlinkClick r:id="rId2"/>
              </a:rPr>
              <a:t>ArrayList</a:t>
            </a:r>
            <a:r>
              <a:rPr lang="en-US" dirty="0" smtClean="0"/>
              <a:t>, </a:t>
            </a:r>
            <a:r>
              <a:rPr lang="en-US" dirty="0" smtClean="0">
                <a:hlinkClick r:id="rId3"/>
              </a:rPr>
              <a:t>vector</a:t>
            </a:r>
            <a:r>
              <a:rPr lang="en-US" dirty="0" smtClean="0"/>
              <a:t>, and </a:t>
            </a:r>
            <a:r>
              <a:rPr lang="en-US" dirty="0" err="1" smtClean="0">
                <a:hlinkClick r:id="rId4"/>
              </a:rPr>
              <a:t>LinkedList</a:t>
            </a:r>
            <a:r>
              <a:rPr lang="en-US" dirty="0" smtClean="0"/>
              <a:t> are three concrete subclasses that implement the list interface.</a:t>
            </a:r>
            <a:endParaRPr lang="en-US"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889844"/>
            <a:ext cx="8496944" cy="4524315"/>
          </a:xfrm>
          <a:prstGeom prst="rect">
            <a:avLst/>
          </a:prstGeom>
        </p:spPr>
        <p:txBody>
          <a:bodyPr wrap="square">
            <a:spAutoFit/>
          </a:bodyPr>
          <a:lstStyle/>
          <a:p>
            <a:r>
              <a:rPr lang="en-US" b="1" dirty="0" smtClean="0"/>
              <a:t>Set Interface</a:t>
            </a:r>
          </a:p>
          <a:p>
            <a:endParaRPr lang="en-US" dirty="0" smtClean="0"/>
          </a:p>
          <a:p>
            <a:r>
              <a:rPr lang="en-US" dirty="0" smtClean="0"/>
              <a:t>➲ This interface represents a collection of elements that contains unique elements. </a:t>
            </a:r>
            <a:r>
              <a:rPr lang="en-US" dirty="0" err="1" smtClean="0"/>
              <a:t>i.e</a:t>
            </a:r>
            <a:r>
              <a:rPr lang="en-US" dirty="0" smtClean="0"/>
              <a:t>, It is used to store the collection of unique elements.</a:t>
            </a:r>
          </a:p>
          <a:p>
            <a:endParaRPr lang="en-US" dirty="0" smtClean="0"/>
          </a:p>
          <a:p>
            <a:r>
              <a:rPr lang="en-US" dirty="0" smtClean="0"/>
              <a:t>➲ Set interface does not maintain any order while storing elements and while retrieving, we may not get the same order as we put elements.  All the elements in a set can be in any order.</a:t>
            </a:r>
          </a:p>
          <a:p>
            <a:endParaRPr lang="en-US" dirty="0" smtClean="0"/>
          </a:p>
          <a:p>
            <a:r>
              <a:rPr lang="en-US" dirty="0" smtClean="0"/>
              <a:t>➲ Set does not allow any duplicate elements.</a:t>
            </a:r>
            <a:br>
              <a:rPr lang="en-US" dirty="0" smtClean="0"/>
            </a:br>
            <a:endParaRPr lang="en-US" dirty="0" smtClean="0"/>
          </a:p>
          <a:p>
            <a:r>
              <a:rPr lang="en-US" dirty="0" smtClean="0"/>
              <a:t/>
            </a:r>
            <a:br>
              <a:rPr lang="en-US" dirty="0" smtClean="0"/>
            </a:br>
            <a:r>
              <a:rPr lang="en-US" dirty="0" smtClean="0"/>
              <a:t>➲ </a:t>
            </a:r>
            <a:r>
              <a:rPr lang="en-US" dirty="0" err="1" smtClean="0"/>
              <a:t>HashSet</a:t>
            </a:r>
            <a:r>
              <a:rPr lang="en-US" dirty="0" smtClean="0"/>
              <a:t>, </a:t>
            </a:r>
            <a:r>
              <a:rPr lang="en-US" dirty="0" err="1" smtClean="0"/>
              <a:t>LinkedHashSet</a:t>
            </a:r>
            <a:r>
              <a:rPr lang="en-US" dirty="0" smtClean="0"/>
              <a:t>, </a:t>
            </a:r>
            <a:r>
              <a:rPr lang="en-US" dirty="0" err="1" smtClean="0"/>
              <a:t>TreeSet</a:t>
            </a:r>
            <a:r>
              <a:rPr lang="en-US" dirty="0" smtClean="0"/>
              <a:t> classes implements the set interface and sorted interface extends a set interface.</a:t>
            </a:r>
          </a:p>
          <a:p>
            <a:endParaRPr lang="en-US" dirty="0" smtClean="0"/>
          </a:p>
          <a:p>
            <a:r>
              <a:rPr lang="en-US" dirty="0" smtClean="0"/>
              <a:t>➲ It can be iterated by using </a:t>
            </a:r>
            <a:r>
              <a:rPr lang="en-US" dirty="0" err="1" smtClean="0"/>
              <a:t>Iterator</a:t>
            </a:r>
            <a:r>
              <a:rPr lang="en-US" dirty="0" smtClean="0"/>
              <a:t> but cannot be iterated using </a:t>
            </a:r>
            <a:r>
              <a:rPr lang="en-US" dirty="0" err="1" smtClean="0"/>
              <a:t>ListIterator</a:t>
            </a:r>
            <a:r>
              <a:rPr lang="en-US" dirty="0" smtClean="0"/>
              <a:t>.</a:t>
            </a:r>
            <a:endParaRPr lang="en-US"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5536" y="889844"/>
            <a:ext cx="8064896" cy="4801314"/>
          </a:xfrm>
          <a:prstGeom prst="rect">
            <a:avLst/>
          </a:prstGeom>
        </p:spPr>
        <p:txBody>
          <a:bodyPr wrap="square">
            <a:spAutoFit/>
          </a:bodyPr>
          <a:lstStyle/>
          <a:p>
            <a:r>
              <a:rPr lang="en-US" b="1" dirty="0" err="1" smtClean="0"/>
              <a:t>SortedSet</a:t>
            </a:r>
            <a:r>
              <a:rPr lang="en-US" b="1" dirty="0" smtClean="0"/>
              <a:t> Interface</a:t>
            </a:r>
          </a:p>
          <a:p>
            <a:endParaRPr lang="en-US" dirty="0" smtClean="0"/>
          </a:p>
          <a:p>
            <a:r>
              <a:rPr lang="en-US" dirty="0" smtClean="0"/>
              <a:t>➲ This interface extends a set whose </a:t>
            </a:r>
            <a:r>
              <a:rPr lang="en-US" dirty="0" err="1" smtClean="0"/>
              <a:t>iterator</a:t>
            </a:r>
            <a:r>
              <a:rPr lang="en-US" dirty="0" smtClean="0"/>
              <a:t> transverse its elements according to their natural ordering.</a:t>
            </a:r>
          </a:p>
          <a:p>
            <a:endParaRPr lang="en-US" dirty="0" smtClean="0"/>
          </a:p>
          <a:p>
            <a:r>
              <a:rPr lang="en-US" dirty="0" smtClean="0"/>
              <a:t>➲ </a:t>
            </a:r>
            <a:r>
              <a:rPr lang="en-US" dirty="0" err="1" smtClean="0"/>
              <a:t>TreeSet</a:t>
            </a:r>
            <a:r>
              <a:rPr lang="en-US" dirty="0" smtClean="0"/>
              <a:t> implements the sorted interface.</a:t>
            </a:r>
          </a:p>
          <a:p>
            <a:r>
              <a:rPr lang="en-US" b="1" dirty="0" smtClean="0"/>
              <a:t>Queue Interface</a:t>
            </a:r>
            <a:endParaRPr lang="en-US" dirty="0" smtClean="0"/>
          </a:p>
          <a:p>
            <a:endParaRPr lang="en-US" dirty="0" smtClean="0"/>
          </a:p>
          <a:p>
            <a:r>
              <a:rPr lang="en-US" dirty="0" smtClean="0"/>
              <a:t>➲ A queue is an ordered of the homogeneous group of elements in which new elements are added at one end(rear) and elements are removed from the other end(front). Just like a queue in a supermarket or any shop.</a:t>
            </a:r>
          </a:p>
          <a:p>
            <a:endParaRPr lang="en-US" dirty="0" smtClean="0"/>
          </a:p>
          <a:p>
            <a:r>
              <a:rPr lang="en-US" dirty="0" smtClean="0"/>
              <a:t>➲This interface represents a special type of list whose elements are removed only from the head.</a:t>
            </a:r>
          </a:p>
          <a:p>
            <a:endParaRPr lang="en-US" dirty="0" smtClean="0"/>
          </a:p>
          <a:p>
            <a:r>
              <a:rPr lang="en-US" dirty="0" smtClean="0"/>
              <a:t>➲ </a:t>
            </a:r>
            <a:r>
              <a:rPr lang="en-US" dirty="0" err="1" smtClean="0"/>
              <a:t>LinkedList</a:t>
            </a:r>
            <a:r>
              <a:rPr lang="en-US" dirty="0" smtClean="0"/>
              <a:t>, Priority queue, </a:t>
            </a:r>
            <a:r>
              <a:rPr lang="en-US" dirty="0" err="1" smtClean="0"/>
              <a:t>ArrayQueue</a:t>
            </a:r>
            <a:r>
              <a:rPr lang="en-US" dirty="0" smtClean="0"/>
              <a:t>, Priority Blocking Queue, and Linked Blocking Queue are the concrete subclasses that implements the queue interface.</a:t>
            </a:r>
            <a:endParaRPr lang="en-US"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188640"/>
            <a:ext cx="8424936" cy="3139321"/>
          </a:xfrm>
          <a:prstGeom prst="rect">
            <a:avLst/>
          </a:prstGeom>
        </p:spPr>
        <p:txBody>
          <a:bodyPr wrap="square">
            <a:spAutoFit/>
          </a:bodyPr>
          <a:lstStyle/>
          <a:p>
            <a:r>
              <a:rPr lang="en-US" b="1" dirty="0" err="1" smtClean="0"/>
              <a:t>Deque</a:t>
            </a:r>
            <a:r>
              <a:rPr lang="en-US" b="1" dirty="0" smtClean="0"/>
              <a:t> Interface</a:t>
            </a:r>
          </a:p>
          <a:p>
            <a:endParaRPr lang="en-US" dirty="0" smtClean="0"/>
          </a:p>
          <a:p>
            <a:r>
              <a:rPr lang="en-US" dirty="0" smtClean="0"/>
              <a:t>➲ A </a:t>
            </a:r>
            <a:r>
              <a:rPr lang="en-US" dirty="0" err="1" smtClean="0"/>
              <a:t>deque</a:t>
            </a:r>
            <a:r>
              <a:rPr lang="en-US" dirty="0" smtClean="0"/>
              <a:t> (double-ended queue) is a sub-interface of queue interface. It is usually pronounced “deck”.</a:t>
            </a:r>
          </a:p>
          <a:p>
            <a:endParaRPr lang="en-US" dirty="0" smtClean="0"/>
          </a:p>
          <a:p>
            <a:r>
              <a:rPr lang="en-US" dirty="0" smtClean="0"/>
              <a:t>➲ This interface was added to the collection framework in Java SE 6.</a:t>
            </a:r>
          </a:p>
          <a:p>
            <a:endParaRPr lang="en-US" dirty="0" smtClean="0"/>
          </a:p>
          <a:p>
            <a:r>
              <a:rPr lang="en-US" dirty="0" smtClean="0"/>
              <a:t>➲ </a:t>
            </a:r>
            <a:r>
              <a:rPr lang="en-US" dirty="0" err="1" smtClean="0"/>
              <a:t>Deque</a:t>
            </a:r>
            <a:r>
              <a:rPr lang="en-US" dirty="0" smtClean="0"/>
              <a:t> interface extends the queue interface and uses its method to implement </a:t>
            </a:r>
            <a:r>
              <a:rPr lang="en-US" dirty="0" err="1" smtClean="0"/>
              <a:t>deque</a:t>
            </a:r>
            <a:r>
              <a:rPr lang="en-US" dirty="0" smtClean="0"/>
              <a:t>. </a:t>
            </a:r>
          </a:p>
          <a:p>
            <a:endParaRPr lang="en-US" dirty="0" smtClean="0"/>
          </a:p>
          <a:p>
            <a:r>
              <a:rPr lang="en-US" dirty="0" smtClean="0"/>
              <a:t>The hierarchy of the </a:t>
            </a:r>
            <a:r>
              <a:rPr lang="en-US" dirty="0" err="1" smtClean="0"/>
              <a:t>deque</a:t>
            </a:r>
            <a:r>
              <a:rPr lang="en-US" dirty="0" smtClean="0"/>
              <a:t> interface is shown in the below figure.</a:t>
            </a:r>
            <a:endParaRPr lang="en-US" dirty="0"/>
          </a:p>
        </p:txBody>
      </p:sp>
      <p:pic>
        <p:nvPicPr>
          <p:cNvPr id="181250" name="Picture 2" descr="Deque hierarchy in Java"/>
          <p:cNvPicPr>
            <a:picLocks noChangeAspect="1" noChangeArrowheads="1"/>
          </p:cNvPicPr>
          <p:nvPr/>
        </p:nvPicPr>
        <p:blipFill>
          <a:blip r:embed="rId2" cstate="print"/>
          <a:srcRect/>
          <a:stretch>
            <a:fillRect/>
          </a:stretch>
        </p:blipFill>
        <p:spPr bwMode="auto">
          <a:xfrm>
            <a:off x="1547665" y="3539870"/>
            <a:ext cx="4104456" cy="3318129"/>
          </a:xfrm>
          <a:prstGeom prst="rect">
            <a:avLst/>
          </a:prstGeom>
          <a:noFill/>
        </p:spPr>
      </p:pic>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260648"/>
            <a:ext cx="8640960" cy="1200329"/>
          </a:xfrm>
          <a:prstGeom prst="rect">
            <a:avLst/>
          </a:prstGeom>
        </p:spPr>
        <p:txBody>
          <a:bodyPr wrap="square">
            <a:spAutoFit/>
          </a:bodyPr>
          <a:lstStyle/>
          <a:p>
            <a:r>
              <a:rPr lang="en-US" dirty="0" smtClean="0"/>
              <a:t>➲ It is a linear collection of elements in which elements can be inserted and removed from either end. </a:t>
            </a:r>
            <a:r>
              <a:rPr lang="en-US" dirty="0" err="1" smtClean="0"/>
              <a:t>i.e</a:t>
            </a:r>
            <a:r>
              <a:rPr lang="en-US" dirty="0" smtClean="0"/>
              <a:t>, it supports insertion and removal at both ends of an object of a class that implements it.</a:t>
            </a:r>
          </a:p>
          <a:p>
            <a:r>
              <a:rPr lang="en-US" dirty="0" smtClean="0"/>
              <a:t>➲ </a:t>
            </a:r>
            <a:r>
              <a:rPr lang="en-US" dirty="0" err="1" smtClean="0"/>
              <a:t>LinkedList</a:t>
            </a:r>
            <a:r>
              <a:rPr lang="en-US" dirty="0" smtClean="0"/>
              <a:t> and </a:t>
            </a:r>
            <a:r>
              <a:rPr lang="en-US" dirty="0" err="1" smtClean="0"/>
              <a:t>ArrayDeque</a:t>
            </a:r>
            <a:r>
              <a:rPr lang="en-US" dirty="0" smtClean="0"/>
              <a:t> classes implement the </a:t>
            </a:r>
            <a:r>
              <a:rPr lang="en-US" dirty="0" err="1" smtClean="0"/>
              <a:t>Deque</a:t>
            </a:r>
            <a:r>
              <a:rPr lang="en-US" dirty="0" smtClean="0"/>
              <a:t> interface.</a:t>
            </a:r>
            <a:endParaRPr lang="en-US"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784976" cy="1477328"/>
          </a:xfrm>
          <a:prstGeom prst="rect">
            <a:avLst/>
          </a:prstGeom>
        </p:spPr>
        <p:txBody>
          <a:bodyPr wrap="square">
            <a:spAutoFit/>
          </a:bodyPr>
          <a:lstStyle/>
          <a:p>
            <a:r>
              <a:rPr lang="en-US" b="1" dirty="0" smtClean="0"/>
              <a:t>Map Interface</a:t>
            </a:r>
            <a:endParaRPr lang="en-US" dirty="0" smtClean="0"/>
          </a:p>
          <a:p>
            <a:r>
              <a:rPr lang="en-US" dirty="0" smtClean="0"/>
              <a:t>➲ Map interface is not inherited by the collection interface. It represents an object that stores and retrieves elements in the form of a Key/Value pairs and their location within the Map are determined by a Key.</a:t>
            </a:r>
          </a:p>
          <a:p>
            <a:r>
              <a:rPr lang="en-US" dirty="0" smtClean="0"/>
              <a:t>The hierarchy of the map interface is shown in the below figure.</a:t>
            </a:r>
            <a:endParaRPr lang="en-US" dirty="0"/>
          </a:p>
        </p:txBody>
      </p:sp>
      <p:pic>
        <p:nvPicPr>
          <p:cNvPr id="179202" name="Picture 2" descr="Map hierarchy in Java"/>
          <p:cNvPicPr>
            <a:picLocks noChangeAspect="1" noChangeArrowheads="1"/>
          </p:cNvPicPr>
          <p:nvPr/>
        </p:nvPicPr>
        <p:blipFill>
          <a:blip r:embed="rId2" cstate="print"/>
          <a:srcRect/>
          <a:stretch>
            <a:fillRect/>
          </a:stretch>
        </p:blipFill>
        <p:spPr bwMode="auto">
          <a:xfrm>
            <a:off x="1619673" y="1556792"/>
            <a:ext cx="4320480" cy="3144598"/>
          </a:xfrm>
          <a:prstGeom prst="rect">
            <a:avLst/>
          </a:prstGeom>
          <a:noFill/>
        </p:spPr>
      </p:pic>
      <p:sp>
        <p:nvSpPr>
          <p:cNvPr id="4" name="Rectangle 3"/>
          <p:cNvSpPr/>
          <p:nvPr/>
        </p:nvSpPr>
        <p:spPr>
          <a:xfrm>
            <a:off x="179512" y="4725144"/>
            <a:ext cx="8568952" cy="2031325"/>
          </a:xfrm>
          <a:prstGeom prst="rect">
            <a:avLst/>
          </a:prstGeom>
        </p:spPr>
        <p:txBody>
          <a:bodyPr wrap="square">
            <a:spAutoFit/>
          </a:bodyPr>
          <a:lstStyle/>
          <a:p>
            <a:r>
              <a:rPr lang="en-US" dirty="0" smtClean="0"/>
              <a:t>➲ Map uses a hashing technique for storing key-value pairs.</a:t>
            </a:r>
          </a:p>
          <a:p>
            <a:r>
              <a:rPr lang="en-US" dirty="0" smtClean="0"/>
              <a:t>➲ It doesn’t allow to store the duplicate keys but duplicate values are allowed.</a:t>
            </a:r>
          </a:p>
          <a:p>
            <a:r>
              <a:rPr lang="en-US" dirty="0" smtClean="0"/>
              <a:t>➲ </a:t>
            </a:r>
            <a:r>
              <a:rPr lang="en-US" dirty="0" err="1" smtClean="0"/>
              <a:t>HashMap</a:t>
            </a:r>
            <a:r>
              <a:rPr lang="en-US" dirty="0" smtClean="0"/>
              <a:t>, </a:t>
            </a:r>
            <a:r>
              <a:rPr lang="en-US" dirty="0" err="1" smtClean="0"/>
              <a:t>HashTable</a:t>
            </a:r>
            <a:r>
              <a:rPr lang="en-US" dirty="0" smtClean="0"/>
              <a:t>, </a:t>
            </a:r>
            <a:r>
              <a:rPr lang="en-US" dirty="0" err="1" smtClean="0"/>
              <a:t>LinkedHashMap</a:t>
            </a:r>
            <a:r>
              <a:rPr lang="en-US" dirty="0" smtClean="0"/>
              <a:t>, </a:t>
            </a:r>
            <a:r>
              <a:rPr lang="en-US" dirty="0" err="1" smtClean="0"/>
              <a:t>TreeMap</a:t>
            </a:r>
            <a:r>
              <a:rPr lang="en-US" dirty="0" smtClean="0"/>
              <a:t> classes implements Map interface.</a:t>
            </a:r>
          </a:p>
          <a:p>
            <a:endParaRPr lang="en-US" dirty="0" smtClean="0"/>
          </a:p>
          <a:p>
            <a:r>
              <a:rPr lang="en-US" b="1" dirty="0" err="1" smtClean="0"/>
              <a:t>SortedMap</a:t>
            </a:r>
            <a:r>
              <a:rPr lang="en-US" b="1" dirty="0" smtClean="0"/>
              <a:t> Interface</a:t>
            </a:r>
            <a:endParaRPr lang="en-US" dirty="0" smtClean="0"/>
          </a:p>
          <a:p>
            <a:r>
              <a:rPr lang="en-US" dirty="0" smtClean="0"/>
              <a:t>➲ This interface represents a Map whose elements are stored in their natural ordering. It extends the Map interface which in turn is implemented by </a:t>
            </a:r>
            <a:r>
              <a:rPr lang="en-US" dirty="0" err="1" smtClean="0"/>
              <a:t>TreeMap</a:t>
            </a:r>
            <a:r>
              <a:rPr lang="en-US" dirty="0" smtClean="0"/>
              <a:t> classes.</a:t>
            </a:r>
            <a:endParaRPr lang="en-US"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67544" y="332656"/>
            <a:ext cx="1199752" cy="369332"/>
          </a:xfrm>
          <a:prstGeom prst="rect">
            <a:avLst/>
          </a:prstGeom>
        </p:spPr>
        <p:txBody>
          <a:bodyPr wrap="none">
            <a:spAutoFit/>
          </a:bodyPr>
          <a:lstStyle/>
          <a:p>
            <a:r>
              <a:rPr lang="en-US" b="1" dirty="0" smtClean="0"/>
              <a:t>List in Java</a:t>
            </a:r>
            <a:endParaRPr lang="en-US" b="1" dirty="0"/>
          </a:p>
        </p:txBody>
      </p:sp>
      <p:sp>
        <p:nvSpPr>
          <p:cNvPr id="6" name="Rectangle 5"/>
          <p:cNvSpPr/>
          <p:nvPr/>
        </p:nvSpPr>
        <p:spPr>
          <a:xfrm>
            <a:off x="179512" y="1305342"/>
            <a:ext cx="8784976" cy="2862322"/>
          </a:xfrm>
          <a:prstGeom prst="rect">
            <a:avLst/>
          </a:prstGeom>
        </p:spPr>
        <p:txBody>
          <a:bodyPr wrap="square">
            <a:spAutoFit/>
          </a:bodyPr>
          <a:lstStyle/>
          <a:p>
            <a:r>
              <a:rPr lang="en-US" dirty="0" smtClean="0"/>
              <a:t>➲ A </a:t>
            </a:r>
            <a:r>
              <a:rPr lang="en-US" b="1" dirty="0" smtClean="0"/>
              <a:t>list in Java</a:t>
            </a:r>
            <a:r>
              <a:rPr lang="en-US" dirty="0" smtClean="0"/>
              <a:t> is a collection for storing elements in sequential order. Sequential order means the first element, followed by the second element, followed by the third element, and so on.</a:t>
            </a:r>
          </a:p>
          <a:p>
            <a:endParaRPr lang="en-US" dirty="0" smtClean="0"/>
          </a:p>
          <a:p>
            <a:r>
              <a:rPr lang="en-US" dirty="0" smtClean="0"/>
              <a:t>A good </a:t>
            </a:r>
            <a:r>
              <a:rPr lang="en-US" dirty="0" err="1" smtClean="0"/>
              <a:t>realtime</a:t>
            </a:r>
            <a:r>
              <a:rPr lang="en-US" dirty="0" smtClean="0"/>
              <a:t> example of list is a line of train bogies on a track: To get to the fourth bogie from the first bogie, we have to go through the second and third bogies in that order.</a:t>
            </a:r>
          </a:p>
          <a:p>
            <a:endParaRPr lang="en-US" dirty="0" smtClean="0"/>
          </a:p>
          <a:p>
            <a:r>
              <a:rPr lang="en-US" dirty="0" smtClean="0"/>
              <a:t>➲ Java list is a sub-interface of the collection interface that is available in </a:t>
            </a:r>
            <a:r>
              <a:rPr lang="en-US" dirty="0" err="1" smtClean="0"/>
              <a:t>java.util</a:t>
            </a:r>
            <a:r>
              <a:rPr lang="en-US" dirty="0" smtClean="0"/>
              <a:t> package. Sub interface means an interface that extends another interface is called sub interface. Here, the list interface extends the collection interface.</a:t>
            </a:r>
            <a:endParaRPr lang="en-US" dirty="0"/>
          </a:p>
        </p:txBody>
      </p:sp>
      <p:sp>
        <p:nvSpPr>
          <p:cNvPr id="12" name="Rectangle 11"/>
          <p:cNvSpPr/>
          <p:nvPr/>
        </p:nvSpPr>
        <p:spPr>
          <a:xfrm>
            <a:off x="323528" y="4509120"/>
            <a:ext cx="6912768" cy="369332"/>
          </a:xfrm>
          <a:prstGeom prst="rect">
            <a:avLst/>
          </a:prstGeom>
        </p:spPr>
        <p:txBody>
          <a:bodyPr wrap="square">
            <a:spAutoFit/>
          </a:bodyPr>
          <a:lstStyle/>
          <a:p>
            <a:r>
              <a:rPr lang="en-US" dirty="0" smtClean="0"/>
              <a:t>The general declaration of list interface in java is as follows:</a:t>
            </a:r>
            <a:endParaRPr lang="en-US" dirty="0"/>
          </a:p>
        </p:txBody>
      </p:sp>
      <p:sp>
        <p:nvSpPr>
          <p:cNvPr id="13" name="Rectangle 12"/>
          <p:cNvSpPr/>
          <p:nvPr/>
        </p:nvSpPr>
        <p:spPr>
          <a:xfrm>
            <a:off x="827584" y="5013176"/>
            <a:ext cx="4471802" cy="369332"/>
          </a:xfrm>
          <a:prstGeom prst="rect">
            <a:avLst/>
          </a:prstGeom>
        </p:spPr>
        <p:txBody>
          <a:bodyPr wrap="none">
            <a:spAutoFit/>
          </a:bodyPr>
          <a:lstStyle/>
          <a:p>
            <a:r>
              <a:rPr lang="en-US" dirty="0" smtClean="0"/>
              <a:t>public interface List&lt;E&gt; extends Collection&lt;E&gt;</a:t>
            </a:r>
            <a:endParaRPr lang="en-US" dirty="0"/>
          </a:p>
        </p:txBody>
      </p:sp>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528" y="1443841"/>
            <a:ext cx="8568952" cy="2585323"/>
          </a:xfrm>
          <a:prstGeom prst="rect">
            <a:avLst/>
          </a:prstGeom>
        </p:spPr>
        <p:txBody>
          <a:bodyPr wrap="square">
            <a:spAutoFit/>
          </a:bodyPr>
          <a:lstStyle/>
          <a:p>
            <a:r>
              <a:rPr lang="en-US" dirty="0" smtClean="0"/>
              <a:t>➲ It is an ordered collection where elements are maintained by index positions because it uses an index-based structure. In the list interface, the order is retained in which we add elements. We will also get the same sequence while retrieving elements.</a:t>
            </a:r>
          </a:p>
          <a:p>
            <a:endParaRPr lang="en-US" dirty="0" smtClean="0"/>
          </a:p>
          <a:p>
            <a:r>
              <a:rPr lang="en-US" dirty="0" smtClean="0"/>
              <a:t>➲ It is used to store a collection of elements where duplicate elements are allowed.</a:t>
            </a:r>
          </a:p>
          <a:p>
            <a:endParaRPr lang="en-US" dirty="0" smtClean="0"/>
          </a:p>
          <a:p>
            <a:r>
              <a:rPr lang="en-US" dirty="0" smtClean="0"/>
              <a:t>➲ List interface in java has four concrete subclasses. They are </a:t>
            </a:r>
            <a:r>
              <a:rPr lang="en-US" dirty="0" err="1" smtClean="0"/>
              <a:t>ArrayList</a:t>
            </a:r>
            <a:r>
              <a:rPr lang="en-US" dirty="0" smtClean="0"/>
              <a:t>, </a:t>
            </a:r>
            <a:r>
              <a:rPr lang="en-US" dirty="0" err="1" smtClean="0"/>
              <a:t>LinkedList</a:t>
            </a:r>
            <a:r>
              <a:rPr lang="en-US" dirty="0" smtClean="0"/>
              <a:t>, Vector, and Stack. These four subclasses implements the list interface. </a:t>
            </a:r>
            <a:r>
              <a:rPr lang="en-US" dirty="0" err="1" smtClean="0"/>
              <a:t>ArrayList</a:t>
            </a:r>
            <a:r>
              <a:rPr lang="en-US" dirty="0" smtClean="0"/>
              <a:t> and </a:t>
            </a:r>
            <a:r>
              <a:rPr lang="en-US" dirty="0" err="1" smtClean="0"/>
              <a:t>LinkedList</a:t>
            </a:r>
            <a:r>
              <a:rPr lang="en-US" dirty="0" smtClean="0"/>
              <a:t> are widely used in Java program to create a list.</a:t>
            </a:r>
            <a:endParaRPr lang="en-US"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260648"/>
            <a:ext cx="3226845" cy="369332"/>
          </a:xfrm>
          <a:prstGeom prst="rect">
            <a:avLst/>
          </a:prstGeom>
        </p:spPr>
        <p:txBody>
          <a:bodyPr wrap="none">
            <a:spAutoFit/>
          </a:bodyPr>
          <a:lstStyle/>
          <a:p>
            <a:r>
              <a:rPr lang="en-US" b="1" dirty="0" smtClean="0"/>
              <a:t>Features of List Interface in Java</a:t>
            </a:r>
            <a:endParaRPr lang="en-US" b="1" dirty="0"/>
          </a:p>
        </p:txBody>
      </p:sp>
      <p:sp>
        <p:nvSpPr>
          <p:cNvPr id="3" name="Rectangle 2"/>
          <p:cNvSpPr/>
          <p:nvPr/>
        </p:nvSpPr>
        <p:spPr>
          <a:xfrm>
            <a:off x="107504" y="836712"/>
            <a:ext cx="8496944" cy="5909310"/>
          </a:xfrm>
          <a:prstGeom prst="rect">
            <a:avLst/>
          </a:prstGeom>
        </p:spPr>
        <p:txBody>
          <a:bodyPr wrap="square">
            <a:spAutoFit/>
          </a:bodyPr>
          <a:lstStyle/>
          <a:p>
            <a:r>
              <a:rPr lang="en-US" dirty="0" smtClean="0"/>
              <a:t>There are the following features of list in java. They are as follows:</a:t>
            </a:r>
          </a:p>
          <a:p>
            <a:endParaRPr lang="en-US" dirty="0" smtClean="0"/>
          </a:p>
          <a:p>
            <a:r>
              <a:rPr lang="en-US" dirty="0" smtClean="0"/>
              <a:t>1. The list allows storing duplicate elements in Java. JVM differentiate duplicate elements by using ‘index’. Index refers to the position of a certain object in an array. It always starts at zero.</a:t>
            </a:r>
          </a:p>
          <a:p>
            <a:endParaRPr lang="en-US" dirty="0" smtClean="0"/>
          </a:p>
          <a:p>
            <a:r>
              <a:rPr lang="en-US" dirty="0" smtClean="0"/>
              <a:t>For example, assume that there is a list with size 10. Suppose the first element is ‘a’ at zero index position and the second element is also ‘a’ which is at 9th position. Thus, there are two ‘a’ elements in the list at position 0 and 9 respectively.</a:t>
            </a:r>
          </a:p>
          <a:p>
            <a:endParaRPr lang="en-US" dirty="0" smtClean="0"/>
          </a:p>
          <a:p>
            <a:r>
              <a:rPr lang="en-US" dirty="0" smtClean="0"/>
              <a:t>So, JVM will differentiate between both elements in the list based on their numeral position of the index. Therefore, the index is very useful and plays an important role to differentiate objects.</a:t>
            </a:r>
            <a:br>
              <a:rPr lang="en-US" dirty="0" smtClean="0"/>
            </a:br>
            <a:endParaRPr lang="en-US" dirty="0" smtClean="0"/>
          </a:p>
          <a:p>
            <a:r>
              <a:rPr lang="en-US" dirty="0" smtClean="0"/>
              <a:t/>
            </a:r>
            <a:br>
              <a:rPr lang="en-US" dirty="0" smtClean="0"/>
            </a:br>
            <a:r>
              <a:rPr lang="en-US" dirty="0" smtClean="0"/>
              <a:t>2. In the list, we can add an element at any position.</a:t>
            </a:r>
          </a:p>
          <a:p>
            <a:endParaRPr lang="en-US" dirty="0" smtClean="0"/>
          </a:p>
          <a:p>
            <a:r>
              <a:rPr lang="en-US" dirty="0" smtClean="0"/>
              <a:t>3. It maintains insertion order. i.e. List can preserve the insertion order by using the index.</a:t>
            </a:r>
          </a:p>
          <a:p>
            <a:endParaRPr lang="en-US" dirty="0" smtClean="0"/>
          </a:p>
          <a:p>
            <a:r>
              <a:rPr lang="en-US" dirty="0" smtClean="0"/>
              <a:t>4. It allows for storing many null elements.</a:t>
            </a:r>
            <a:endParaRPr lang="en-US"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5536" y="1305342"/>
            <a:ext cx="8496944" cy="3139321"/>
          </a:xfrm>
          <a:prstGeom prst="rect">
            <a:avLst/>
          </a:prstGeom>
        </p:spPr>
        <p:txBody>
          <a:bodyPr wrap="square">
            <a:spAutoFit/>
          </a:bodyPr>
          <a:lstStyle/>
          <a:p>
            <a:r>
              <a:rPr lang="en-US" dirty="0" smtClean="0"/>
              <a:t>5. Java list uses a resizable array for its implementation. Resizable means we can increase or decrease the size of the array.</a:t>
            </a:r>
          </a:p>
          <a:p>
            <a:endParaRPr lang="en-US" dirty="0" smtClean="0"/>
          </a:p>
          <a:p>
            <a:r>
              <a:rPr lang="en-US" dirty="0" smtClean="0"/>
              <a:t>6. Except for </a:t>
            </a:r>
            <a:r>
              <a:rPr lang="en-US" dirty="0" err="1" smtClean="0"/>
              <a:t>LinkedList</a:t>
            </a:r>
            <a:r>
              <a:rPr lang="en-US" dirty="0" smtClean="0"/>
              <a:t>, </a:t>
            </a:r>
            <a:r>
              <a:rPr lang="en-US" dirty="0" err="1" smtClean="0"/>
              <a:t>ArrayList</a:t>
            </a:r>
            <a:r>
              <a:rPr lang="en-US" dirty="0" smtClean="0"/>
              <a:t>, and Vector is an indexed based structure.</a:t>
            </a:r>
          </a:p>
          <a:p>
            <a:endParaRPr lang="en-US" dirty="0" smtClean="0"/>
          </a:p>
          <a:p>
            <a:r>
              <a:rPr lang="en-US" dirty="0" smtClean="0"/>
              <a:t>7. It provides a special </a:t>
            </a:r>
            <a:r>
              <a:rPr lang="en-US" dirty="0" err="1" smtClean="0"/>
              <a:t>Iterator</a:t>
            </a:r>
            <a:r>
              <a:rPr lang="en-US" dirty="0" smtClean="0"/>
              <a:t> called a </a:t>
            </a:r>
            <a:r>
              <a:rPr lang="en-US" dirty="0" err="1" smtClean="0"/>
              <a:t>ListIterator</a:t>
            </a:r>
            <a:r>
              <a:rPr lang="en-US" dirty="0" smtClean="0"/>
              <a:t> that allows accessing the elements in the forward direction using </a:t>
            </a:r>
            <a:r>
              <a:rPr lang="en-US" dirty="0" err="1" smtClean="0"/>
              <a:t>hasNext</a:t>
            </a:r>
            <a:r>
              <a:rPr lang="en-US" dirty="0" smtClean="0"/>
              <a:t>() and next() methods.</a:t>
            </a:r>
          </a:p>
          <a:p>
            <a:endParaRPr lang="en-US" dirty="0" smtClean="0"/>
          </a:p>
          <a:p>
            <a:r>
              <a:rPr lang="en-US" dirty="0" smtClean="0"/>
              <a:t>In the reverse direction, it access elements using </a:t>
            </a:r>
            <a:r>
              <a:rPr lang="en-US" dirty="0" err="1" smtClean="0"/>
              <a:t>hasPrevious</a:t>
            </a:r>
            <a:r>
              <a:rPr lang="en-US" dirty="0" smtClean="0"/>
              <a:t>() and previous() methods. </a:t>
            </a:r>
          </a:p>
          <a:p>
            <a:r>
              <a:rPr lang="en-US" dirty="0" smtClean="0"/>
              <a:t>We can add, remove elements of the collection, and can also replace the existing elements with the new element using </a:t>
            </a:r>
            <a:r>
              <a:rPr lang="en-US" dirty="0" err="1" smtClean="0"/>
              <a:t>ListIterator</a:t>
            </a:r>
            <a:r>
              <a:rPr lang="en-US" dirty="0" smtClean="0"/>
              <a:t>.</a:t>
            </a:r>
            <a:endParaRPr lang="en-US"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83568" y="404664"/>
            <a:ext cx="1877437" cy="369332"/>
          </a:xfrm>
          <a:prstGeom prst="rect">
            <a:avLst/>
          </a:prstGeom>
        </p:spPr>
        <p:txBody>
          <a:bodyPr wrap="none">
            <a:spAutoFit/>
          </a:bodyPr>
          <a:lstStyle/>
          <a:p>
            <a:r>
              <a:rPr lang="en-US" b="1" dirty="0" smtClean="0"/>
              <a:t>When to use List?</a:t>
            </a:r>
            <a:endParaRPr lang="en-US" b="1" dirty="0"/>
          </a:p>
        </p:txBody>
      </p:sp>
      <p:sp>
        <p:nvSpPr>
          <p:cNvPr id="6" name="Rectangle 5"/>
          <p:cNvSpPr/>
          <p:nvPr/>
        </p:nvSpPr>
        <p:spPr>
          <a:xfrm>
            <a:off x="395536" y="2136339"/>
            <a:ext cx="8496944" cy="2308324"/>
          </a:xfrm>
          <a:prstGeom prst="rect">
            <a:avLst/>
          </a:prstGeom>
        </p:spPr>
        <p:txBody>
          <a:bodyPr wrap="square">
            <a:spAutoFit/>
          </a:bodyPr>
          <a:lstStyle/>
          <a:p>
            <a:r>
              <a:rPr lang="en-US" dirty="0" smtClean="0"/>
              <a:t>There are the following points for using list in java application that should be to keep in mind. They are:</a:t>
            </a:r>
          </a:p>
          <a:p>
            <a:endParaRPr lang="en-US" dirty="0" smtClean="0"/>
          </a:p>
          <a:p>
            <a:r>
              <a:rPr lang="en-US" dirty="0" smtClean="0"/>
              <a:t>1. List can be used when we want to allow or store duplicate elements.</a:t>
            </a:r>
          </a:p>
          <a:p>
            <a:r>
              <a:rPr lang="en-US" dirty="0" smtClean="0"/>
              <a:t/>
            </a:r>
            <a:br>
              <a:rPr lang="en-US" dirty="0" smtClean="0"/>
            </a:br>
            <a:r>
              <a:rPr lang="en-US" dirty="0" smtClean="0"/>
              <a:t>2. It can be used when we want to store null elements.</a:t>
            </a:r>
            <a:br>
              <a:rPr lang="en-US" dirty="0" smtClean="0"/>
            </a:br>
            <a:endParaRPr lang="en-US" dirty="0" smtClean="0"/>
          </a:p>
          <a:p>
            <a:r>
              <a:rPr lang="en-US" dirty="0" smtClean="0"/>
              <a:t>3. When we want to preserve my insertion order, we should go for list.</a:t>
            </a:r>
            <a:endParaRPr lang="en-US" dirty="0"/>
          </a:p>
        </p:txBody>
      </p:sp>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528" y="332656"/>
            <a:ext cx="1716304" cy="369332"/>
          </a:xfrm>
          <a:prstGeom prst="rect">
            <a:avLst/>
          </a:prstGeom>
        </p:spPr>
        <p:txBody>
          <a:bodyPr wrap="none">
            <a:spAutoFit/>
          </a:bodyPr>
          <a:lstStyle/>
          <a:p>
            <a:r>
              <a:rPr lang="en-US" b="1" dirty="0" err="1" smtClean="0"/>
              <a:t>ArrayList</a:t>
            </a:r>
            <a:r>
              <a:rPr lang="en-US" b="1" dirty="0" smtClean="0"/>
              <a:t> in Java</a:t>
            </a:r>
            <a:endParaRPr lang="en-US" b="1" dirty="0"/>
          </a:p>
        </p:txBody>
      </p:sp>
      <p:sp>
        <p:nvSpPr>
          <p:cNvPr id="3" name="Rectangle 2"/>
          <p:cNvSpPr/>
          <p:nvPr/>
        </p:nvSpPr>
        <p:spPr>
          <a:xfrm>
            <a:off x="467544" y="948784"/>
            <a:ext cx="8424936" cy="4524315"/>
          </a:xfrm>
          <a:prstGeom prst="rect">
            <a:avLst/>
          </a:prstGeom>
        </p:spPr>
        <p:txBody>
          <a:bodyPr wrap="square">
            <a:spAutoFit/>
          </a:bodyPr>
          <a:lstStyle/>
          <a:p>
            <a:r>
              <a:rPr lang="en-US" dirty="0" smtClean="0"/>
              <a:t>➲ </a:t>
            </a:r>
            <a:r>
              <a:rPr lang="en-US" dirty="0" err="1" smtClean="0"/>
              <a:t>ArrayList</a:t>
            </a:r>
            <a:r>
              <a:rPr lang="en-US" dirty="0" smtClean="0"/>
              <a:t> in Java is a resizable-array that can grow or shrink in the memory whenever needed. It is dynamically created with an initial capacity.</a:t>
            </a:r>
          </a:p>
          <a:p>
            <a:endParaRPr lang="en-US" dirty="0" smtClean="0"/>
          </a:p>
          <a:p>
            <a:r>
              <a:rPr lang="en-US" dirty="0" smtClean="0"/>
              <a:t>It means that if the initial capacity of the array is exceeded, a new array with larger capacity is created automatically and all the elements from the current array are copied to the new array.</a:t>
            </a:r>
          </a:p>
          <a:p>
            <a:endParaRPr lang="en-US" dirty="0" smtClean="0"/>
          </a:p>
          <a:p>
            <a:r>
              <a:rPr lang="en-US" dirty="0" smtClean="0"/>
              <a:t>➲ Elements in </a:t>
            </a:r>
            <a:r>
              <a:rPr lang="en-US" dirty="0" err="1" smtClean="0"/>
              <a:t>ArrayList</a:t>
            </a:r>
            <a:r>
              <a:rPr lang="en-US" dirty="0" smtClean="0"/>
              <a:t> are placed according to the zero-based index. That is the first element will be placed at 0 index and the last element at index (n-1) where n is the size of </a:t>
            </a:r>
            <a:r>
              <a:rPr lang="en-US" dirty="0" err="1" smtClean="0"/>
              <a:t>ArrayList</a:t>
            </a:r>
            <a:r>
              <a:rPr lang="en-US" dirty="0" smtClean="0"/>
              <a:t>.</a:t>
            </a:r>
          </a:p>
          <a:p>
            <a:endParaRPr lang="en-US" dirty="0" smtClean="0"/>
          </a:p>
          <a:p>
            <a:r>
              <a:rPr lang="en-US" dirty="0" smtClean="0"/>
              <a:t>➲ Java </a:t>
            </a:r>
            <a:r>
              <a:rPr lang="en-US" dirty="0" err="1" smtClean="0"/>
              <a:t>ArrayList</a:t>
            </a:r>
            <a:r>
              <a:rPr lang="en-US" dirty="0" smtClean="0"/>
              <a:t> uses a dynamic array internally for storing the group of elements or data.</a:t>
            </a:r>
          </a:p>
          <a:p>
            <a:endParaRPr lang="en-US" dirty="0" smtClean="0"/>
          </a:p>
          <a:p>
            <a:r>
              <a:rPr lang="en-US" dirty="0" smtClean="0"/>
              <a:t>➲ The capacity of </a:t>
            </a:r>
            <a:r>
              <a:rPr lang="en-US" dirty="0" err="1" smtClean="0"/>
              <a:t>ArrayList</a:t>
            </a:r>
            <a:r>
              <a:rPr lang="en-US" dirty="0" smtClean="0"/>
              <a:t> does not shrink automatically. When elements are removed from the list, the size of array list can be shrunk automatically but not capacity.</a:t>
            </a:r>
            <a:endParaRPr lang="en-US"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474345"/>
            <a:ext cx="8568952" cy="4801314"/>
          </a:xfrm>
          <a:prstGeom prst="rect">
            <a:avLst/>
          </a:prstGeom>
        </p:spPr>
        <p:txBody>
          <a:bodyPr wrap="square">
            <a:spAutoFit/>
          </a:bodyPr>
          <a:lstStyle/>
          <a:p>
            <a:r>
              <a:rPr lang="en-US" b="1" dirty="0" err="1" smtClean="0"/>
              <a:t>Serializable</a:t>
            </a:r>
            <a:r>
              <a:rPr lang="en-US" b="1" dirty="0" smtClean="0"/>
              <a:t> Interface</a:t>
            </a:r>
          </a:p>
          <a:p>
            <a:endParaRPr lang="en-US" dirty="0" smtClean="0"/>
          </a:p>
          <a:p>
            <a:r>
              <a:rPr lang="en-US" dirty="0" smtClean="0"/>
              <a:t>1. A </a:t>
            </a:r>
            <a:r>
              <a:rPr lang="en-US" dirty="0" err="1" smtClean="0"/>
              <a:t>serializable</a:t>
            </a:r>
            <a:r>
              <a:rPr lang="en-US" dirty="0" smtClean="0"/>
              <a:t> interface is a marker interface that is used to send the group of objects over the network. It is present in the java.io package.</a:t>
            </a:r>
          </a:p>
          <a:p>
            <a:endParaRPr lang="en-US" dirty="0" smtClean="0"/>
          </a:p>
          <a:p>
            <a:r>
              <a:rPr lang="en-US" dirty="0" smtClean="0"/>
              <a:t>2. It helps in sending the data from one class to another class. Usually, we use collections to hold and transfer objects from one place to another place. To provide support for this requirement, every collections class already implements </a:t>
            </a:r>
            <a:r>
              <a:rPr lang="en-US" dirty="0" err="1" smtClean="0"/>
              <a:t>Serializable</a:t>
            </a:r>
            <a:r>
              <a:rPr lang="en-US" dirty="0" smtClean="0"/>
              <a:t> and </a:t>
            </a:r>
            <a:r>
              <a:rPr lang="en-US" dirty="0" err="1" smtClean="0"/>
              <a:t>Cloneable</a:t>
            </a:r>
            <a:r>
              <a:rPr lang="en-US" dirty="0" smtClean="0"/>
              <a:t>.</a:t>
            </a:r>
          </a:p>
          <a:p>
            <a:endParaRPr lang="en-US" b="1" dirty="0" smtClean="0"/>
          </a:p>
          <a:p>
            <a:r>
              <a:rPr lang="en-US" b="1" dirty="0" err="1" smtClean="0"/>
              <a:t>Cloneable</a:t>
            </a:r>
            <a:r>
              <a:rPr lang="en-US" b="1" dirty="0" smtClean="0"/>
              <a:t> Interface</a:t>
            </a:r>
          </a:p>
          <a:p>
            <a:endParaRPr lang="en-US" dirty="0" smtClean="0"/>
          </a:p>
          <a:p>
            <a:r>
              <a:rPr lang="en-US" dirty="0" smtClean="0"/>
              <a:t>1. A </a:t>
            </a:r>
            <a:r>
              <a:rPr lang="en-US" dirty="0" err="1" smtClean="0"/>
              <a:t>cloneable</a:t>
            </a:r>
            <a:r>
              <a:rPr lang="en-US" dirty="0" smtClean="0"/>
              <a:t> interface is present in </a:t>
            </a:r>
            <a:r>
              <a:rPr lang="en-US" dirty="0" err="1" smtClean="0"/>
              <a:t>java.lang</a:t>
            </a:r>
            <a:r>
              <a:rPr lang="en-US" dirty="0" smtClean="0"/>
              <a:t> package.</a:t>
            </a:r>
          </a:p>
          <a:p>
            <a:endParaRPr lang="en-US" dirty="0" smtClean="0"/>
          </a:p>
          <a:p>
            <a:r>
              <a:rPr lang="en-US" dirty="0" smtClean="0"/>
              <a:t>2. It is used to create exactly duplicate objects. When the data or group of objects came from the network, the receiver will create duplicate objects. The process of creating exactly duplicate objects is known as cloning. It is a very common requirement for collection classes.</a:t>
            </a:r>
            <a:endParaRPr lang="en-US"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3568" y="404664"/>
            <a:ext cx="4572000" cy="369332"/>
          </a:xfrm>
          <a:prstGeom prst="rect">
            <a:avLst/>
          </a:prstGeom>
        </p:spPr>
        <p:txBody>
          <a:bodyPr>
            <a:spAutoFit/>
          </a:bodyPr>
          <a:lstStyle/>
          <a:p>
            <a:r>
              <a:rPr lang="en-US" b="1" dirty="0" smtClean="0"/>
              <a:t>Features of </a:t>
            </a:r>
            <a:r>
              <a:rPr lang="en-US" b="1" dirty="0" err="1" smtClean="0"/>
              <a:t>ArrayList</a:t>
            </a:r>
            <a:r>
              <a:rPr lang="en-US" b="1" dirty="0" smtClean="0"/>
              <a:t> in Java</a:t>
            </a:r>
          </a:p>
        </p:txBody>
      </p:sp>
      <p:sp>
        <p:nvSpPr>
          <p:cNvPr id="3" name="Rectangle 2"/>
          <p:cNvSpPr/>
          <p:nvPr/>
        </p:nvSpPr>
        <p:spPr>
          <a:xfrm>
            <a:off x="467544" y="836712"/>
            <a:ext cx="8208912" cy="5909310"/>
          </a:xfrm>
          <a:prstGeom prst="rect">
            <a:avLst/>
          </a:prstGeom>
        </p:spPr>
        <p:txBody>
          <a:bodyPr wrap="square">
            <a:spAutoFit/>
          </a:bodyPr>
          <a:lstStyle/>
          <a:p>
            <a:r>
              <a:rPr lang="en-US" dirty="0" smtClean="0"/>
              <a:t>There are several features of </a:t>
            </a:r>
            <a:r>
              <a:rPr lang="en-US" dirty="0" err="1" smtClean="0"/>
              <a:t>ArrayList</a:t>
            </a:r>
            <a:r>
              <a:rPr lang="en-US" dirty="0" smtClean="0"/>
              <a:t> class in Java. They are as follows:</a:t>
            </a:r>
          </a:p>
          <a:p>
            <a:r>
              <a:rPr lang="en-US" b="1" dirty="0" smtClean="0"/>
              <a:t>1. Resizable-array:</a:t>
            </a:r>
            <a:r>
              <a:rPr lang="en-US" dirty="0" smtClean="0"/>
              <a:t> </a:t>
            </a:r>
            <a:r>
              <a:rPr lang="en-US" dirty="0" err="1" smtClean="0"/>
              <a:t>ArrayList</a:t>
            </a:r>
            <a:r>
              <a:rPr lang="en-US" dirty="0" smtClean="0"/>
              <a:t> is a resizable array or </a:t>
            </a:r>
            <a:r>
              <a:rPr lang="en-US" dirty="0" err="1" smtClean="0"/>
              <a:t>growable</a:t>
            </a:r>
            <a:r>
              <a:rPr lang="en-US" dirty="0" smtClean="0"/>
              <a:t> array that means the size of </a:t>
            </a:r>
            <a:r>
              <a:rPr lang="en-US" dirty="0" err="1" smtClean="0"/>
              <a:t>ArrayList</a:t>
            </a:r>
            <a:r>
              <a:rPr lang="en-US" dirty="0" smtClean="0"/>
              <a:t> can increase or decrease in size at runtime. Once </a:t>
            </a:r>
            <a:r>
              <a:rPr lang="en-US" dirty="0" err="1" smtClean="0"/>
              <a:t>ArrayList</a:t>
            </a:r>
            <a:r>
              <a:rPr lang="en-US" dirty="0" smtClean="0"/>
              <a:t> is created, we can add any number of elements.</a:t>
            </a:r>
          </a:p>
          <a:p>
            <a:r>
              <a:rPr lang="en-US" b="1" dirty="0" smtClean="0"/>
              <a:t>2. Index-based structure:</a:t>
            </a:r>
            <a:r>
              <a:rPr lang="en-US" dirty="0" smtClean="0"/>
              <a:t> It uses an index-based structure in java.</a:t>
            </a:r>
          </a:p>
          <a:p>
            <a:r>
              <a:rPr lang="en-US" b="1" dirty="0" smtClean="0"/>
              <a:t>3. Duplicate elements:</a:t>
            </a:r>
            <a:r>
              <a:rPr lang="en-US" dirty="0" smtClean="0"/>
              <a:t> Duplicate elements are allowed in the array list.</a:t>
            </a:r>
          </a:p>
          <a:p>
            <a:r>
              <a:rPr lang="en-US" b="1" dirty="0" smtClean="0"/>
              <a:t>4. Null elements:</a:t>
            </a:r>
            <a:r>
              <a:rPr lang="en-US" dirty="0" smtClean="0"/>
              <a:t> Any number of null elements can be added to </a:t>
            </a:r>
            <a:r>
              <a:rPr lang="en-US" dirty="0" err="1" smtClean="0"/>
              <a:t>ArrayList</a:t>
            </a:r>
            <a:r>
              <a:rPr lang="en-US" dirty="0" smtClean="0"/>
              <a:t>.</a:t>
            </a:r>
          </a:p>
          <a:p>
            <a:r>
              <a:rPr lang="en-US" b="1" dirty="0" smtClean="0"/>
              <a:t>5. Insertion order:</a:t>
            </a:r>
            <a:r>
              <a:rPr lang="en-US" dirty="0" smtClean="0"/>
              <a:t> It maintains the insertion order in Java. That is insertion order is preserved.</a:t>
            </a:r>
          </a:p>
          <a:p>
            <a:r>
              <a:rPr lang="en-US" b="1" dirty="0" smtClean="0"/>
              <a:t>6. Heterogeneous objects:</a:t>
            </a:r>
            <a:r>
              <a:rPr lang="en-US" dirty="0" smtClean="0"/>
              <a:t> Heterogeneous objects are allowed everywhere except </a:t>
            </a:r>
            <a:r>
              <a:rPr lang="en-US" dirty="0" err="1" smtClean="0"/>
              <a:t>TreeSet</a:t>
            </a:r>
            <a:r>
              <a:rPr lang="en-US" dirty="0" smtClean="0"/>
              <a:t> and </a:t>
            </a:r>
            <a:r>
              <a:rPr lang="en-US" dirty="0" err="1" smtClean="0"/>
              <a:t>TreeMap</a:t>
            </a:r>
            <a:r>
              <a:rPr lang="en-US" dirty="0" smtClean="0"/>
              <a:t>. Heterogeneous means different elements.</a:t>
            </a:r>
          </a:p>
          <a:p>
            <a:r>
              <a:rPr lang="en-US" b="1" dirty="0" smtClean="0"/>
              <a:t>7. Synchronized:</a:t>
            </a:r>
            <a:r>
              <a:rPr lang="en-US" dirty="0" smtClean="0"/>
              <a:t> </a:t>
            </a:r>
            <a:r>
              <a:rPr lang="en-US" dirty="0" err="1" smtClean="0"/>
              <a:t>ArrayList</a:t>
            </a:r>
            <a:r>
              <a:rPr lang="en-US" dirty="0" smtClean="0"/>
              <a:t> is not synchronized. That means multiple threads can use the same </a:t>
            </a:r>
            <a:r>
              <a:rPr lang="en-US" dirty="0" err="1" smtClean="0"/>
              <a:t>ArrayList</a:t>
            </a:r>
            <a:r>
              <a:rPr lang="en-US" dirty="0" smtClean="0"/>
              <a:t> objects simultaneously.</a:t>
            </a:r>
          </a:p>
          <a:p>
            <a:r>
              <a:rPr lang="en-US" b="1" dirty="0" smtClean="0"/>
              <a:t>8. Random Access:</a:t>
            </a:r>
            <a:r>
              <a:rPr lang="en-US" dirty="0" smtClean="0"/>
              <a:t> </a:t>
            </a:r>
            <a:r>
              <a:rPr lang="en-US" dirty="0" err="1" smtClean="0"/>
              <a:t>ArrayList</a:t>
            </a:r>
            <a:r>
              <a:rPr lang="en-US" dirty="0" smtClean="0"/>
              <a:t> implements random access because it uses an index-based structure. Therefore, we can get, set, insert, and remove elements of the array list from any arbitrary position.</a:t>
            </a:r>
          </a:p>
          <a:p>
            <a:r>
              <a:rPr lang="en-US" b="1" dirty="0" smtClean="0"/>
              <a:t>9. Performance:</a:t>
            </a:r>
            <a:r>
              <a:rPr lang="en-US" dirty="0" smtClean="0"/>
              <a:t> In </a:t>
            </a:r>
            <a:r>
              <a:rPr lang="en-US" dirty="0" err="1" smtClean="0"/>
              <a:t>ArrayList</a:t>
            </a:r>
            <a:r>
              <a:rPr lang="en-US" dirty="0" smtClean="0"/>
              <a:t>, manipulation is slow because if any element is removed from </a:t>
            </a:r>
            <a:r>
              <a:rPr lang="en-US" dirty="0" err="1" smtClean="0"/>
              <a:t>ArrayList</a:t>
            </a:r>
            <a:r>
              <a:rPr lang="en-US" dirty="0" smtClean="0"/>
              <a:t>, a lot of shifting takes place. For example, if an array list has 500 elements and we remove 50th elements then the 51st element will try to acquire that 50th position, and likewise all elements. Thus, it consumes a lot of time shifting.</a:t>
            </a:r>
          </a:p>
          <a:p>
            <a:endParaRPr lang="en-US"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404664"/>
            <a:ext cx="3086229" cy="369332"/>
          </a:xfrm>
          <a:prstGeom prst="rect">
            <a:avLst/>
          </a:prstGeom>
        </p:spPr>
        <p:txBody>
          <a:bodyPr wrap="none">
            <a:spAutoFit/>
          </a:bodyPr>
          <a:lstStyle/>
          <a:p>
            <a:r>
              <a:rPr lang="en-US" b="1" dirty="0" smtClean="0"/>
              <a:t>When to use </a:t>
            </a:r>
            <a:r>
              <a:rPr lang="en-US" b="1" dirty="0" err="1" smtClean="0"/>
              <a:t>ArrayList</a:t>
            </a:r>
            <a:r>
              <a:rPr lang="en-US" b="1" dirty="0" smtClean="0"/>
              <a:t> in Java?</a:t>
            </a:r>
            <a:endParaRPr lang="en-US" b="1" dirty="0"/>
          </a:p>
        </p:txBody>
      </p:sp>
      <p:sp>
        <p:nvSpPr>
          <p:cNvPr id="3" name="Rectangle 2"/>
          <p:cNvSpPr/>
          <p:nvPr/>
        </p:nvSpPr>
        <p:spPr>
          <a:xfrm>
            <a:off x="251520" y="1196752"/>
            <a:ext cx="8568952" cy="2031325"/>
          </a:xfrm>
          <a:prstGeom prst="rect">
            <a:avLst/>
          </a:prstGeom>
        </p:spPr>
        <p:txBody>
          <a:bodyPr wrap="square">
            <a:spAutoFit/>
          </a:bodyPr>
          <a:lstStyle/>
          <a:p>
            <a:r>
              <a:rPr lang="en-US" dirty="0" err="1" smtClean="0"/>
              <a:t>ArrayList</a:t>
            </a:r>
            <a:r>
              <a:rPr lang="en-US" dirty="0" smtClean="0"/>
              <a:t> can be used in an application program when</a:t>
            </a:r>
          </a:p>
          <a:p>
            <a:r>
              <a:rPr lang="en-US" dirty="0" smtClean="0"/>
              <a:t>We want to store duplicate elements.</a:t>
            </a:r>
          </a:p>
          <a:p>
            <a:r>
              <a:rPr lang="en-US" dirty="0" smtClean="0"/>
              <a:t>We want to store null elements.</a:t>
            </a:r>
          </a:p>
          <a:p>
            <a:r>
              <a:rPr lang="en-US" dirty="0" smtClean="0"/>
              <a:t>It is more preferred in Java when getting of the element is more as compared to adding and removing elements.</a:t>
            </a:r>
          </a:p>
          <a:p>
            <a:r>
              <a:rPr lang="en-US" dirty="0" smtClean="0"/>
              <a:t>We are not working in the multi-threading environment in Java because </a:t>
            </a:r>
            <a:r>
              <a:rPr lang="en-US" dirty="0" err="1" smtClean="0"/>
              <a:t>ArrayList</a:t>
            </a:r>
            <a:r>
              <a:rPr lang="en-US" dirty="0" smtClean="0"/>
              <a:t> is non-synchronized.</a:t>
            </a:r>
            <a:endParaRPr lang="en-US"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404664"/>
            <a:ext cx="1690591" cy="369332"/>
          </a:xfrm>
          <a:prstGeom prst="rect">
            <a:avLst/>
          </a:prstGeom>
        </p:spPr>
        <p:txBody>
          <a:bodyPr wrap="none">
            <a:spAutoFit/>
          </a:bodyPr>
          <a:lstStyle/>
          <a:p>
            <a:r>
              <a:rPr lang="en-US" b="1" dirty="0" err="1" smtClean="0"/>
              <a:t>Iterators</a:t>
            </a:r>
            <a:r>
              <a:rPr lang="en-US" b="1" dirty="0" smtClean="0"/>
              <a:t> in Java</a:t>
            </a:r>
            <a:endParaRPr lang="en-US" b="1" dirty="0"/>
          </a:p>
        </p:txBody>
      </p:sp>
      <p:sp>
        <p:nvSpPr>
          <p:cNvPr id="3" name="Rectangle 2"/>
          <p:cNvSpPr/>
          <p:nvPr/>
        </p:nvSpPr>
        <p:spPr>
          <a:xfrm>
            <a:off x="179512" y="1412776"/>
            <a:ext cx="8136904" cy="646331"/>
          </a:xfrm>
          <a:prstGeom prst="rect">
            <a:avLst/>
          </a:prstGeom>
        </p:spPr>
        <p:txBody>
          <a:bodyPr wrap="square">
            <a:spAutoFit/>
          </a:bodyPr>
          <a:lstStyle/>
          <a:p>
            <a:r>
              <a:rPr lang="en-US" dirty="0" err="1" smtClean="0"/>
              <a:t>Iterators</a:t>
            </a:r>
            <a:r>
              <a:rPr lang="en-US" dirty="0" smtClean="0"/>
              <a:t> in Java are used to retrieve the elements one by one from a collection object. They are also called cursors in java. </a:t>
            </a:r>
            <a:endParaRPr lang="en-US" dirty="0"/>
          </a:p>
        </p:txBody>
      </p:sp>
      <p:sp>
        <p:nvSpPr>
          <p:cNvPr id="4" name="Rectangle 3"/>
          <p:cNvSpPr/>
          <p:nvPr/>
        </p:nvSpPr>
        <p:spPr>
          <a:xfrm>
            <a:off x="251520" y="2564904"/>
            <a:ext cx="2539350" cy="369332"/>
          </a:xfrm>
          <a:prstGeom prst="rect">
            <a:avLst/>
          </a:prstGeom>
        </p:spPr>
        <p:txBody>
          <a:bodyPr wrap="none">
            <a:spAutoFit/>
          </a:bodyPr>
          <a:lstStyle/>
          <a:p>
            <a:r>
              <a:rPr lang="en-US" b="1" dirty="0" smtClean="0"/>
              <a:t>Types of </a:t>
            </a:r>
            <a:r>
              <a:rPr lang="en-US" b="1" dirty="0" err="1" smtClean="0"/>
              <a:t>Iterators</a:t>
            </a:r>
            <a:r>
              <a:rPr lang="en-US" b="1" dirty="0" smtClean="0"/>
              <a:t> in Java</a:t>
            </a:r>
            <a:endParaRPr lang="en-US" b="1" dirty="0"/>
          </a:p>
        </p:txBody>
      </p:sp>
      <p:sp>
        <p:nvSpPr>
          <p:cNvPr id="5" name="Rectangle 4"/>
          <p:cNvSpPr/>
          <p:nvPr/>
        </p:nvSpPr>
        <p:spPr>
          <a:xfrm>
            <a:off x="467544" y="3212976"/>
            <a:ext cx="8568952" cy="1477328"/>
          </a:xfrm>
          <a:prstGeom prst="rect">
            <a:avLst/>
          </a:prstGeom>
        </p:spPr>
        <p:txBody>
          <a:bodyPr wrap="square">
            <a:spAutoFit/>
          </a:bodyPr>
          <a:lstStyle/>
          <a:p>
            <a:r>
              <a:rPr lang="en-US" dirty="0" smtClean="0"/>
              <a:t>There are four types of </a:t>
            </a:r>
            <a:r>
              <a:rPr lang="en-US" dirty="0" err="1" smtClean="0"/>
              <a:t>iterators</a:t>
            </a:r>
            <a:r>
              <a:rPr lang="en-US" dirty="0" smtClean="0"/>
              <a:t> or cursors available in Java. They are as follows:</a:t>
            </a:r>
          </a:p>
          <a:p>
            <a:r>
              <a:rPr lang="en-US" dirty="0" smtClean="0"/>
              <a:t>Enumeration</a:t>
            </a:r>
          </a:p>
          <a:p>
            <a:r>
              <a:rPr lang="en-US" dirty="0" err="1" smtClean="0"/>
              <a:t>Iterator</a:t>
            </a:r>
            <a:endParaRPr lang="en-US" dirty="0" smtClean="0"/>
          </a:p>
          <a:p>
            <a:r>
              <a:rPr lang="en-US" dirty="0" err="1" smtClean="0"/>
              <a:t>ListIterator</a:t>
            </a:r>
            <a:endParaRPr lang="en-US" dirty="0" smtClean="0"/>
          </a:p>
          <a:p>
            <a:r>
              <a:rPr lang="en-US" dirty="0" err="1" smtClean="0"/>
              <a:t>Spilterator</a:t>
            </a:r>
            <a:endParaRPr lang="en-US" dirty="0"/>
          </a:p>
        </p:txBody>
      </p:sp>
      <p:pic>
        <p:nvPicPr>
          <p:cNvPr id="193538" name="Picture 2" descr="Java Iterators: Enumeration in Java"/>
          <p:cNvPicPr>
            <a:picLocks noChangeAspect="1" noChangeArrowheads="1"/>
          </p:cNvPicPr>
          <p:nvPr/>
        </p:nvPicPr>
        <p:blipFill>
          <a:blip r:embed="rId2" cstate="print"/>
          <a:srcRect/>
          <a:stretch>
            <a:fillRect/>
          </a:stretch>
        </p:blipFill>
        <p:spPr bwMode="auto">
          <a:xfrm>
            <a:off x="1403648" y="4653136"/>
            <a:ext cx="5715000" cy="1905000"/>
          </a:xfrm>
          <a:prstGeom prst="rect">
            <a:avLst/>
          </a:prstGeom>
          <a:noFill/>
        </p:spPr>
      </p:pic>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5536" y="188640"/>
            <a:ext cx="4572000" cy="923330"/>
          </a:xfrm>
          <a:prstGeom prst="rect">
            <a:avLst/>
          </a:prstGeom>
        </p:spPr>
        <p:txBody>
          <a:bodyPr>
            <a:spAutoFit/>
          </a:bodyPr>
          <a:lstStyle/>
          <a:p>
            <a:r>
              <a:rPr lang="en-US" b="1" dirty="0" smtClean="0"/>
              <a:t>Enumeration in Java</a:t>
            </a:r>
          </a:p>
          <a:p>
            <a:r>
              <a:rPr lang="en-US" dirty="0" smtClean="0"/>
              <a:t/>
            </a:r>
            <a:br>
              <a:rPr lang="en-US" dirty="0" smtClean="0"/>
            </a:br>
            <a:endParaRPr lang="en-US" dirty="0"/>
          </a:p>
        </p:txBody>
      </p:sp>
      <p:sp>
        <p:nvSpPr>
          <p:cNvPr id="3" name="Rectangle 2"/>
          <p:cNvSpPr/>
          <p:nvPr/>
        </p:nvSpPr>
        <p:spPr>
          <a:xfrm>
            <a:off x="107504" y="908720"/>
            <a:ext cx="9036496" cy="5355312"/>
          </a:xfrm>
          <a:prstGeom prst="rect">
            <a:avLst/>
          </a:prstGeom>
        </p:spPr>
        <p:txBody>
          <a:bodyPr wrap="square">
            <a:spAutoFit/>
          </a:bodyPr>
          <a:lstStyle/>
          <a:p>
            <a:r>
              <a:rPr lang="en-US" dirty="0" smtClean="0"/>
              <a:t>It is a legacy interface that is implemented to get elements one by one from the legacy collection classes such as Vector and Properties.</a:t>
            </a:r>
          </a:p>
          <a:p>
            <a:endParaRPr lang="en-US" dirty="0" smtClean="0"/>
          </a:p>
          <a:p>
            <a:endParaRPr lang="en-US" dirty="0" smtClean="0"/>
          </a:p>
          <a:p>
            <a:endParaRPr lang="en-US" dirty="0" smtClean="0"/>
          </a:p>
          <a:p>
            <a:r>
              <a:rPr lang="en-US" b="1" dirty="0" smtClean="0"/>
              <a:t>Methods of Enumeration in Java</a:t>
            </a:r>
          </a:p>
          <a:p>
            <a:endParaRPr lang="en-US" b="1" dirty="0" smtClean="0"/>
          </a:p>
          <a:p>
            <a:r>
              <a:rPr lang="en-US" dirty="0" smtClean="0"/>
              <a:t>The Enumeration interface defines the following two methods. They are as follows:</a:t>
            </a:r>
          </a:p>
          <a:p>
            <a:endParaRPr lang="en-US" dirty="0" smtClean="0"/>
          </a:p>
          <a:p>
            <a:r>
              <a:rPr lang="en-US" b="1" dirty="0" smtClean="0"/>
              <a:t>1. public </a:t>
            </a:r>
            <a:r>
              <a:rPr lang="en-US" b="1" dirty="0" err="1" smtClean="0"/>
              <a:t>boolean</a:t>
            </a:r>
            <a:r>
              <a:rPr lang="en-US" b="1" dirty="0" smtClean="0"/>
              <a:t> </a:t>
            </a:r>
            <a:r>
              <a:rPr lang="en-US" b="1" dirty="0" err="1" smtClean="0"/>
              <a:t>hasMoreElements</a:t>
            </a:r>
            <a:r>
              <a:rPr lang="en-US" b="1" dirty="0" smtClean="0"/>
              <a:t>():</a:t>
            </a:r>
            <a:r>
              <a:rPr lang="en-US" dirty="0" smtClean="0"/>
              <a:t> When this method is implemented, </a:t>
            </a:r>
            <a:r>
              <a:rPr lang="en-US" dirty="0" err="1" smtClean="0"/>
              <a:t>hasMoreElements</a:t>
            </a:r>
            <a:r>
              <a:rPr lang="en-US" dirty="0" smtClean="0"/>
              <a:t>() will return true If there are still more elements to extract and false if all the elements have been enumerated.</a:t>
            </a:r>
          </a:p>
          <a:p>
            <a:endParaRPr lang="en-US" dirty="0" smtClean="0"/>
          </a:p>
          <a:p>
            <a:r>
              <a:rPr lang="en-US" b="1" dirty="0" smtClean="0"/>
              <a:t>2. public Object </a:t>
            </a:r>
            <a:r>
              <a:rPr lang="en-US" b="1" dirty="0" err="1" smtClean="0"/>
              <a:t>nextElement</a:t>
            </a:r>
            <a:r>
              <a:rPr lang="en-US" b="1" dirty="0" smtClean="0"/>
              <a:t>():</a:t>
            </a:r>
            <a:r>
              <a:rPr lang="en-US" dirty="0" smtClean="0"/>
              <a:t> The </a:t>
            </a:r>
            <a:r>
              <a:rPr lang="en-US" dirty="0" err="1" smtClean="0"/>
              <a:t>nextElement</a:t>
            </a:r>
            <a:r>
              <a:rPr lang="en-US" dirty="0" smtClean="0"/>
              <a:t>() method returns next element in the enumeration. It will throw </a:t>
            </a:r>
            <a:r>
              <a:rPr lang="en-US" dirty="0" err="1" smtClean="0"/>
              <a:t>NoSuchElementException</a:t>
            </a:r>
            <a:r>
              <a:rPr lang="en-US" dirty="0" smtClean="0"/>
              <a:t> when the enumeration is complete.</a:t>
            </a:r>
          </a:p>
          <a:p>
            <a:r>
              <a:rPr lang="en-US" dirty="0" smtClean="0"/>
              <a:t/>
            </a:r>
            <a:br>
              <a:rPr lang="en-US" dirty="0" smtClean="0"/>
            </a:br>
            <a:endParaRPr lang="en-US" dirty="0" smtClean="0"/>
          </a:p>
          <a:p>
            <a:r>
              <a:rPr lang="en-US" dirty="0" smtClean="0"/>
              <a:t/>
            </a:r>
            <a:br>
              <a:rPr lang="en-US" dirty="0" smtClean="0"/>
            </a:br>
            <a:endParaRPr lang="en-US"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496" y="188640"/>
            <a:ext cx="2691442" cy="369332"/>
          </a:xfrm>
          <a:prstGeom prst="rect">
            <a:avLst/>
          </a:prstGeom>
        </p:spPr>
        <p:txBody>
          <a:bodyPr wrap="none">
            <a:spAutoFit/>
          </a:bodyPr>
          <a:lstStyle/>
          <a:p>
            <a:r>
              <a:rPr lang="en-US" b="1" dirty="0" smtClean="0"/>
              <a:t>Limitation of Enumeration</a:t>
            </a:r>
            <a:endParaRPr lang="en-US" b="1" dirty="0"/>
          </a:p>
        </p:txBody>
      </p:sp>
      <p:sp>
        <p:nvSpPr>
          <p:cNvPr id="3" name="Rectangle 2"/>
          <p:cNvSpPr/>
          <p:nvPr/>
        </p:nvSpPr>
        <p:spPr>
          <a:xfrm>
            <a:off x="72008" y="908720"/>
            <a:ext cx="8964488" cy="2862322"/>
          </a:xfrm>
          <a:prstGeom prst="rect">
            <a:avLst/>
          </a:prstGeom>
        </p:spPr>
        <p:txBody>
          <a:bodyPr wrap="square">
            <a:spAutoFit/>
          </a:bodyPr>
          <a:lstStyle/>
          <a:p>
            <a:r>
              <a:rPr lang="en-US" dirty="0" smtClean="0"/>
              <a:t>There are many limitations of using enumeration interface in java. They are as follows:</a:t>
            </a:r>
          </a:p>
          <a:p>
            <a:endParaRPr lang="en-US" dirty="0" smtClean="0"/>
          </a:p>
          <a:p>
            <a:r>
              <a:rPr lang="en-US" dirty="0" smtClean="0"/>
              <a:t>1. Enumeration concept is applicable for only legacy class. Hence, it is not a universal cursor.</a:t>
            </a:r>
            <a:br>
              <a:rPr lang="en-US" dirty="0" smtClean="0"/>
            </a:br>
            <a:endParaRPr lang="en-US" dirty="0" smtClean="0"/>
          </a:p>
          <a:p>
            <a:r>
              <a:rPr lang="en-US" dirty="0" smtClean="0"/>
              <a:t>2. We can get only read operation by using the enumeration. We cannot perform remove operation.</a:t>
            </a:r>
            <a:br>
              <a:rPr lang="en-US" dirty="0" smtClean="0"/>
            </a:br>
            <a:endParaRPr lang="en-US" dirty="0" smtClean="0"/>
          </a:p>
          <a:p>
            <a:r>
              <a:rPr lang="en-US" dirty="0" smtClean="0"/>
              <a:t>3. We can iterate using enumeration only in the forward direction.</a:t>
            </a:r>
            <a:br>
              <a:rPr lang="en-US" dirty="0" smtClean="0"/>
            </a:br>
            <a:endParaRPr lang="en-US" dirty="0" smtClean="0"/>
          </a:p>
          <a:p>
            <a:r>
              <a:rPr lang="en-US" dirty="0" smtClean="0"/>
              <a:t>4. Java is not recommended to use it in new projects.</a:t>
            </a:r>
            <a:endParaRPr lang="en-US" dirty="0"/>
          </a:p>
        </p:txBody>
      </p:sp>
      <p:sp>
        <p:nvSpPr>
          <p:cNvPr id="5" name="Rectangle 4"/>
          <p:cNvSpPr/>
          <p:nvPr/>
        </p:nvSpPr>
        <p:spPr>
          <a:xfrm>
            <a:off x="251520" y="4653136"/>
            <a:ext cx="8712968" cy="1200329"/>
          </a:xfrm>
          <a:prstGeom prst="rect">
            <a:avLst/>
          </a:prstGeom>
        </p:spPr>
        <p:txBody>
          <a:bodyPr wrap="square">
            <a:spAutoFit/>
          </a:bodyPr>
          <a:lstStyle/>
          <a:p>
            <a:r>
              <a:rPr lang="en-US" b="1" dirty="0" err="1" smtClean="0"/>
              <a:t>Iterator</a:t>
            </a:r>
            <a:r>
              <a:rPr lang="en-US" b="1" dirty="0" smtClean="0"/>
              <a:t> in Java</a:t>
            </a:r>
          </a:p>
          <a:p>
            <a:endParaRPr lang="en-US" dirty="0" smtClean="0"/>
          </a:p>
          <a:p>
            <a:r>
              <a:rPr lang="en-US" dirty="0" smtClean="0"/>
              <a:t>An </a:t>
            </a:r>
            <a:r>
              <a:rPr lang="en-US" b="1" dirty="0" err="1" smtClean="0"/>
              <a:t>iterator</a:t>
            </a:r>
            <a:r>
              <a:rPr lang="en-US" b="1" dirty="0" smtClean="0"/>
              <a:t> in Java</a:t>
            </a:r>
            <a:r>
              <a:rPr lang="en-US" dirty="0" smtClean="0"/>
              <a:t> is a special type of object that provides sequential (one by one) access to the elements of a collection object.</a:t>
            </a:r>
            <a:endParaRPr lang="en-US"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528" y="332656"/>
            <a:ext cx="8805167" cy="6186309"/>
          </a:xfrm>
          <a:prstGeom prst="rect">
            <a:avLst/>
          </a:prstGeom>
        </p:spPr>
        <p:txBody>
          <a:bodyPr wrap="none">
            <a:spAutoFit/>
          </a:bodyPr>
          <a:lstStyle/>
          <a:p>
            <a:r>
              <a:rPr lang="en-US" b="1" dirty="0" smtClean="0"/>
              <a:t>Difference between Enumeration and </a:t>
            </a:r>
            <a:r>
              <a:rPr lang="en-US" b="1" dirty="0" err="1" smtClean="0"/>
              <a:t>Iterator</a:t>
            </a:r>
            <a:endParaRPr lang="en-US" b="1" dirty="0" smtClean="0"/>
          </a:p>
          <a:p>
            <a:endParaRPr lang="en-IN" b="1" dirty="0" smtClean="0"/>
          </a:p>
          <a:p>
            <a:r>
              <a:rPr lang="en-US" dirty="0" smtClean="0"/>
              <a:t>Both are useful to retrieve elements from a collection. But the main difference between </a:t>
            </a:r>
          </a:p>
          <a:p>
            <a:r>
              <a:rPr lang="en-US" dirty="0" smtClean="0"/>
              <a:t>Enumeration and </a:t>
            </a:r>
            <a:r>
              <a:rPr lang="en-US" dirty="0" err="1" smtClean="0"/>
              <a:t>iterator</a:t>
            </a:r>
            <a:r>
              <a:rPr lang="en-US" dirty="0" smtClean="0"/>
              <a:t> is with respect to functionality.</a:t>
            </a:r>
          </a:p>
          <a:p>
            <a:r>
              <a:rPr lang="en-US" dirty="0" smtClean="0"/>
              <a:t>By using an enumeration, we can perform only read access but using an </a:t>
            </a:r>
            <a:r>
              <a:rPr lang="en-US" dirty="0" err="1" smtClean="0"/>
              <a:t>iterator</a:t>
            </a:r>
            <a:r>
              <a:rPr lang="en-US" dirty="0" smtClean="0"/>
              <a:t>,</a:t>
            </a:r>
          </a:p>
          <a:p>
            <a:r>
              <a:rPr lang="en-US" dirty="0" smtClean="0"/>
              <a:t> we can perform both read and remove operation.</a:t>
            </a:r>
          </a:p>
          <a:p>
            <a:endParaRPr lang="en-US" b="1" dirty="0" smtClean="0"/>
          </a:p>
          <a:p>
            <a:endParaRPr lang="en-US" b="1" dirty="0" smtClean="0"/>
          </a:p>
          <a:p>
            <a:r>
              <a:rPr lang="en-US" b="1" dirty="0" smtClean="0"/>
              <a:t>Advantage of </a:t>
            </a:r>
            <a:r>
              <a:rPr lang="en-US" b="1" dirty="0" err="1" smtClean="0"/>
              <a:t>Iterator</a:t>
            </a:r>
            <a:r>
              <a:rPr lang="en-US" b="1" dirty="0" smtClean="0"/>
              <a:t> in Java</a:t>
            </a:r>
          </a:p>
          <a:p>
            <a:r>
              <a:rPr lang="en-US" dirty="0" smtClean="0"/>
              <a:t>Java </a:t>
            </a:r>
            <a:r>
              <a:rPr lang="en-US" dirty="0" err="1" smtClean="0"/>
              <a:t>Iterator</a:t>
            </a:r>
            <a:r>
              <a:rPr lang="en-US" dirty="0" smtClean="0"/>
              <a:t> has the following advantages. They are as follows:</a:t>
            </a:r>
          </a:p>
          <a:p>
            <a:r>
              <a:rPr lang="en-US" dirty="0" smtClean="0"/>
              <a:t>An </a:t>
            </a:r>
            <a:r>
              <a:rPr lang="en-US" dirty="0" err="1" smtClean="0"/>
              <a:t>iterator</a:t>
            </a:r>
            <a:r>
              <a:rPr lang="en-US" dirty="0" smtClean="0"/>
              <a:t> can be used with any collection classes.</a:t>
            </a:r>
          </a:p>
          <a:p>
            <a:r>
              <a:rPr lang="en-US" dirty="0" smtClean="0"/>
              <a:t>We can perform both read and remove operations.</a:t>
            </a:r>
          </a:p>
          <a:p>
            <a:r>
              <a:rPr lang="en-US" dirty="0" smtClean="0"/>
              <a:t>It acts as a universal cursor for collection API.</a:t>
            </a:r>
          </a:p>
          <a:p>
            <a:endParaRPr lang="en-US" b="1" dirty="0" smtClean="0"/>
          </a:p>
          <a:p>
            <a:endParaRPr lang="en-US" b="1" dirty="0" smtClean="0"/>
          </a:p>
          <a:p>
            <a:r>
              <a:rPr lang="en-US" b="1" dirty="0" smtClean="0"/>
              <a:t>Limitation of </a:t>
            </a:r>
            <a:r>
              <a:rPr lang="en-US" b="1" dirty="0" err="1" smtClean="0"/>
              <a:t>Iterator</a:t>
            </a:r>
            <a:r>
              <a:rPr lang="en-US" b="1" dirty="0" smtClean="0"/>
              <a:t> in Java</a:t>
            </a:r>
          </a:p>
          <a:p>
            <a:r>
              <a:rPr lang="en-US" dirty="0" err="1" smtClean="0"/>
              <a:t>Iterator</a:t>
            </a:r>
            <a:r>
              <a:rPr lang="en-US" dirty="0" smtClean="0"/>
              <a:t> has the following limitations or drawbacks. They are as:</a:t>
            </a:r>
          </a:p>
          <a:p>
            <a:r>
              <a:rPr lang="en-US" dirty="0" smtClean="0"/>
              <a:t>1. By using Enumeration and </a:t>
            </a:r>
            <a:r>
              <a:rPr lang="en-US" dirty="0" err="1" smtClean="0"/>
              <a:t>Iterator</a:t>
            </a:r>
            <a:r>
              <a:rPr lang="en-US" dirty="0" smtClean="0"/>
              <a:t>, we can move only towards forwarding direction. </a:t>
            </a:r>
          </a:p>
          <a:p>
            <a:r>
              <a:rPr lang="en-US" dirty="0" smtClean="0"/>
              <a:t>We cannot move to the backward direction. Hence, these are called single direction cursors.</a:t>
            </a:r>
            <a:br>
              <a:rPr lang="en-US" dirty="0" smtClean="0"/>
            </a:br>
            <a:r>
              <a:rPr lang="en-US" dirty="0" smtClean="0"/>
              <a:t>2. We can perform either read operation or remove operation.</a:t>
            </a:r>
            <a:br>
              <a:rPr lang="en-US" dirty="0" smtClean="0"/>
            </a:br>
            <a:r>
              <a:rPr lang="en-US" dirty="0" smtClean="0"/>
              <a:t>3. We cannot perform the replacement of new objects.</a:t>
            </a:r>
          </a:p>
          <a:p>
            <a:endParaRPr lang="en-US" b="1"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476672"/>
            <a:ext cx="8712968" cy="3416320"/>
          </a:xfrm>
          <a:prstGeom prst="rect">
            <a:avLst/>
          </a:prstGeom>
        </p:spPr>
        <p:txBody>
          <a:bodyPr wrap="square">
            <a:spAutoFit/>
          </a:bodyPr>
          <a:lstStyle/>
          <a:p>
            <a:r>
              <a:rPr lang="en-US" b="1" dirty="0" smtClean="0"/>
              <a:t>Java Collections : Interface</a:t>
            </a:r>
          </a:p>
          <a:p>
            <a:endParaRPr lang="en-US" dirty="0" smtClean="0"/>
          </a:p>
          <a:p>
            <a:r>
              <a:rPr lang="en-US" b="1" dirty="0" err="1" smtClean="0"/>
              <a:t>Iterator</a:t>
            </a:r>
            <a:r>
              <a:rPr lang="en-US" b="1" dirty="0" smtClean="0"/>
              <a:t> interface</a:t>
            </a:r>
            <a:r>
              <a:rPr lang="en-US" dirty="0" smtClean="0"/>
              <a:t> : </a:t>
            </a:r>
            <a:r>
              <a:rPr lang="en-US" dirty="0" err="1" smtClean="0"/>
              <a:t>Iterator</a:t>
            </a:r>
            <a:r>
              <a:rPr lang="en-US" dirty="0" smtClean="0"/>
              <a:t> is an interface that iterates the elements. It is used to traverse the list and modify the elements. </a:t>
            </a:r>
            <a:r>
              <a:rPr lang="en-US" dirty="0" err="1" smtClean="0"/>
              <a:t>Iterator</a:t>
            </a:r>
            <a:r>
              <a:rPr lang="en-US" dirty="0" smtClean="0"/>
              <a:t> interface has three methods which are mentioned below: </a:t>
            </a:r>
          </a:p>
          <a:p>
            <a:endParaRPr lang="en-US" b="1" dirty="0" smtClean="0"/>
          </a:p>
          <a:p>
            <a:r>
              <a:rPr lang="en-US" b="1" dirty="0" smtClean="0"/>
              <a:t>public </a:t>
            </a:r>
            <a:r>
              <a:rPr lang="en-US" b="1" dirty="0" err="1" smtClean="0"/>
              <a:t>boolean</a:t>
            </a:r>
            <a:r>
              <a:rPr lang="en-US" b="1" dirty="0" smtClean="0"/>
              <a:t> </a:t>
            </a:r>
            <a:r>
              <a:rPr lang="en-US" b="1" dirty="0" err="1" smtClean="0"/>
              <a:t>hasNext</a:t>
            </a:r>
            <a:r>
              <a:rPr lang="en-US" b="1" dirty="0" smtClean="0"/>
              <a:t>()</a:t>
            </a:r>
            <a:r>
              <a:rPr lang="en-US" dirty="0" smtClean="0"/>
              <a:t> – This method returns true if the </a:t>
            </a:r>
            <a:r>
              <a:rPr lang="en-US" dirty="0" err="1" smtClean="0"/>
              <a:t>iterator</a:t>
            </a:r>
            <a:r>
              <a:rPr lang="en-US" dirty="0" smtClean="0"/>
              <a:t> has more elements.</a:t>
            </a:r>
          </a:p>
          <a:p>
            <a:endParaRPr lang="en-US" b="1" dirty="0" smtClean="0"/>
          </a:p>
          <a:p>
            <a:r>
              <a:rPr lang="en-US" b="1" dirty="0" smtClean="0"/>
              <a:t>public object next()</a:t>
            </a:r>
            <a:r>
              <a:rPr lang="en-US" dirty="0" smtClean="0"/>
              <a:t> – It returns the element and moves the cursor pointer to the next element.</a:t>
            </a:r>
          </a:p>
          <a:p>
            <a:endParaRPr lang="en-US" b="1" dirty="0" smtClean="0"/>
          </a:p>
          <a:p>
            <a:r>
              <a:rPr lang="en-US" b="1" dirty="0" smtClean="0"/>
              <a:t>public void remove()</a:t>
            </a:r>
            <a:r>
              <a:rPr lang="en-US" dirty="0" smtClean="0"/>
              <a:t> – This method removes the last elements returned by the </a:t>
            </a:r>
            <a:r>
              <a:rPr lang="en-US" dirty="0" err="1" smtClean="0"/>
              <a:t>iterator</a:t>
            </a:r>
            <a:r>
              <a:rPr lang="en-US" dirty="0" smtClean="0"/>
              <a:t>. </a:t>
            </a:r>
            <a:endParaRPr lang="en-US" dirty="0"/>
          </a:p>
        </p:txBody>
      </p:sp>
      <p:sp>
        <p:nvSpPr>
          <p:cNvPr id="3" name="Rectangle 2"/>
          <p:cNvSpPr/>
          <p:nvPr/>
        </p:nvSpPr>
        <p:spPr>
          <a:xfrm>
            <a:off x="251520" y="4149080"/>
            <a:ext cx="8424936" cy="2585323"/>
          </a:xfrm>
          <a:prstGeom prst="rect">
            <a:avLst/>
          </a:prstGeom>
        </p:spPr>
        <p:txBody>
          <a:bodyPr wrap="square">
            <a:spAutoFit/>
          </a:bodyPr>
          <a:lstStyle/>
          <a:p>
            <a:r>
              <a:rPr lang="en-US" b="1" dirty="0" smtClean="0"/>
              <a:t>Java collections: List </a:t>
            </a:r>
          </a:p>
          <a:p>
            <a:endParaRPr lang="en-US" dirty="0" smtClean="0"/>
          </a:p>
          <a:p>
            <a:r>
              <a:rPr lang="en-US" dirty="0" smtClean="0"/>
              <a:t>A List is an ordered Collection of elements which may contain duplicates. It is an interface that extends the Collection interface. Lists are further classified into the following:</a:t>
            </a:r>
          </a:p>
          <a:p>
            <a:endParaRPr lang="en-US" dirty="0" smtClean="0"/>
          </a:p>
          <a:p>
            <a:pPr>
              <a:buFont typeface="Arial" pitchFamily="34" charset="0"/>
              <a:buChar char="•"/>
            </a:pPr>
            <a:r>
              <a:rPr lang="en-US" dirty="0" err="1" smtClean="0"/>
              <a:t>ArrayList</a:t>
            </a:r>
            <a:endParaRPr lang="en-US" dirty="0" smtClean="0"/>
          </a:p>
          <a:p>
            <a:pPr>
              <a:buFont typeface="Arial" pitchFamily="34" charset="0"/>
              <a:buChar char="•"/>
            </a:pPr>
            <a:r>
              <a:rPr lang="en-US" dirty="0" err="1" smtClean="0"/>
              <a:t>LinkedList</a:t>
            </a:r>
            <a:endParaRPr lang="en-US" dirty="0" smtClean="0"/>
          </a:p>
          <a:p>
            <a:pPr>
              <a:buFont typeface="Arial" pitchFamily="34" charset="0"/>
              <a:buChar char="•"/>
            </a:pPr>
            <a:r>
              <a:rPr lang="en-US" dirty="0" smtClean="0"/>
              <a:t>Vectors</a:t>
            </a:r>
            <a:endParaRPr lang="en-US"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116632"/>
            <a:ext cx="8784976" cy="646331"/>
          </a:xfrm>
          <a:prstGeom prst="rect">
            <a:avLst/>
          </a:prstGeom>
        </p:spPr>
        <p:txBody>
          <a:bodyPr wrap="square">
            <a:spAutoFit/>
          </a:bodyPr>
          <a:lstStyle/>
          <a:p>
            <a:r>
              <a:rPr lang="en-US" b="1" dirty="0" smtClean="0"/>
              <a:t>Array list:</a:t>
            </a:r>
            <a:r>
              <a:rPr lang="en-US" dirty="0" smtClean="0"/>
              <a:t> </a:t>
            </a:r>
            <a:r>
              <a:rPr lang="en-US" dirty="0" err="1" smtClean="0"/>
              <a:t>ArrayList</a:t>
            </a:r>
            <a:r>
              <a:rPr lang="en-US" dirty="0" smtClean="0"/>
              <a:t> is the implementation of List Interface where the elements can be dynamically added or removed from the list. </a:t>
            </a:r>
            <a:endParaRPr lang="en-US"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504" y="548680"/>
            <a:ext cx="8568952" cy="2585323"/>
          </a:xfrm>
          <a:prstGeom prst="rect">
            <a:avLst/>
          </a:prstGeom>
        </p:spPr>
        <p:txBody>
          <a:bodyPr wrap="square">
            <a:spAutoFit/>
          </a:bodyPr>
          <a:lstStyle/>
          <a:p>
            <a:r>
              <a:rPr lang="en-US" b="1" dirty="0" smtClean="0"/>
              <a:t>Linked List</a:t>
            </a:r>
            <a:r>
              <a:rPr lang="en-US" dirty="0" smtClean="0"/>
              <a:t>: Linked List is a sequence of links which contains items. Each link contains a connection to another link. </a:t>
            </a:r>
          </a:p>
          <a:p>
            <a:endParaRPr lang="en-US" dirty="0" smtClean="0"/>
          </a:p>
          <a:p>
            <a:r>
              <a:rPr lang="en-US" i="1" dirty="0" smtClean="0"/>
              <a:t>Syntax</a:t>
            </a:r>
            <a:r>
              <a:rPr lang="en-US" dirty="0" smtClean="0"/>
              <a:t>: </a:t>
            </a:r>
            <a:r>
              <a:rPr lang="en-US" dirty="0" err="1" smtClean="0"/>
              <a:t>Linkedlist</a:t>
            </a:r>
            <a:r>
              <a:rPr lang="en-US" dirty="0" smtClean="0"/>
              <a:t> object = new </a:t>
            </a:r>
            <a:r>
              <a:rPr lang="en-US" dirty="0" err="1" smtClean="0"/>
              <a:t>Linkedlist</a:t>
            </a:r>
            <a:r>
              <a:rPr lang="en-US" dirty="0" smtClean="0"/>
              <a:t>();</a:t>
            </a:r>
          </a:p>
          <a:p>
            <a:endParaRPr lang="en-US" dirty="0" smtClean="0"/>
          </a:p>
          <a:p>
            <a:r>
              <a:rPr lang="en-US" dirty="0" smtClean="0"/>
              <a:t>Java Linked List class uses two types of Linked list to store the elements:</a:t>
            </a:r>
          </a:p>
          <a:p>
            <a:endParaRPr lang="en-US" dirty="0" smtClean="0"/>
          </a:p>
          <a:p>
            <a:pPr>
              <a:buFont typeface="Arial" pitchFamily="34" charset="0"/>
              <a:buChar char="•"/>
            </a:pPr>
            <a:r>
              <a:rPr lang="en-US" dirty="0" smtClean="0"/>
              <a:t>Singly Linked List</a:t>
            </a:r>
          </a:p>
          <a:p>
            <a:pPr>
              <a:buFont typeface="Arial" pitchFamily="34" charset="0"/>
              <a:buChar char="•"/>
            </a:pPr>
            <a:r>
              <a:rPr lang="en-US" dirty="0" smtClean="0"/>
              <a:t>Doubly Linked List </a:t>
            </a:r>
            <a:endParaRPr lang="en-US" dirty="0"/>
          </a:p>
        </p:txBody>
      </p:sp>
      <p:sp>
        <p:nvSpPr>
          <p:cNvPr id="3" name="Rectangle 2"/>
          <p:cNvSpPr/>
          <p:nvPr/>
        </p:nvSpPr>
        <p:spPr>
          <a:xfrm>
            <a:off x="0" y="3356992"/>
            <a:ext cx="9036496" cy="923330"/>
          </a:xfrm>
          <a:prstGeom prst="rect">
            <a:avLst/>
          </a:prstGeom>
        </p:spPr>
        <p:txBody>
          <a:bodyPr wrap="square">
            <a:spAutoFit/>
          </a:bodyPr>
          <a:lstStyle/>
          <a:p>
            <a:r>
              <a:rPr lang="en-US" b="1" dirty="0" smtClean="0"/>
              <a:t>Singly Linked List</a:t>
            </a:r>
            <a:r>
              <a:rPr lang="en-US" dirty="0" smtClean="0"/>
              <a:t>: In a singly Linked list each node in this list stores the data of the node and a pointer or reference to the next node in the list. Refer to the below image to get a better understanding of single Linked list.</a:t>
            </a:r>
            <a:endParaRPr lang="en-US" dirty="0"/>
          </a:p>
        </p:txBody>
      </p:sp>
      <p:pic>
        <p:nvPicPr>
          <p:cNvPr id="167939" name="Picture 3"/>
          <p:cNvPicPr>
            <a:picLocks noChangeAspect="1" noChangeArrowheads="1"/>
          </p:cNvPicPr>
          <p:nvPr/>
        </p:nvPicPr>
        <p:blipFill>
          <a:blip r:embed="rId2" cstate="print"/>
          <a:srcRect/>
          <a:stretch>
            <a:fillRect/>
          </a:stretch>
        </p:blipFill>
        <p:spPr bwMode="auto">
          <a:xfrm>
            <a:off x="395536" y="4653136"/>
            <a:ext cx="7296150" cy="1593850"/>
          </a:xfrm>
          <a:prstGeom prst="rect">
            <a:avLst/>
          </a:prstGeom>
          <a:noFill/>
          <a:ln w="9525">
            <a:noFill/>
            <a:miter lim="800000"/>
            <a:headEnd/>
            <a:tailEnd/>
          </a:ln>
        </p:spPr>
      </p:pic>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88640"/>
            <a:ext cx="8892480" cy="923330"/>
          </a:xfrm>
          <a:prstGeom prst="rect">
            <a:avLst/>
          </a:prstGeom>
        </p:spPr>
        <p:txBody>
          <a:bodyPr wrap="square">
            <a:spAutoFit/>
          </a:bodyPr>
          <a:lstStyle/>
          <a:p>
            <a:r>
              <a:rPr lang="en-US" b="1" dirty="0" smtClean="0"/>
              <a:t>Doubly Linked List</a:t>
            </a:r>
            <a:r>
              <a:rPr lang="en-US" dirty="0" smtClean="0"/>
              <a:t>: In a doubly Linked list, it has two references, one to the next node and another to previous node. You can refer to the below image to get a better understanding of doubly linked list.</a:t>
            </a:r>
            <a:endParaRPr lang="en-US" dirty="0"/>
          </a:p>
        </p:txBody>
      </p:sp>
      <p:pic>
        <p:nvPicPr>
          <p:cNvPr id="166915" name="Picture 3"/>
          <p:cNvPicPr>
            <a:picLocks noChangeAspect="1" noChangeArrowheads="1"/>
          </p:cNvPicPr>
          <p:nvPr/>
        </p:nvPicPr>
        <p:blipFill>
          <a:blip r:embed="rId2" cstate="print"/>
          <a:srcRect/>
          <a:stretch>
            <a:fillRect/>
          </a:stretch>
        </p:blipFill>
        <p:spPr bwMode="auto">
          <a:xfrm>
            <a:off x="666750" y="1530350"/>
            <a:ext cx="7810500" cy="3797300"/>
          </a:xfrm>
          <a:prstGeom prst="rect">
            <a:avLst/>
          </a:prstGeom>
          <a:noFill/>
          <a:ln w="9525">
            <a:noFill/>
            <a:miter lim="800000"/>
            <a:headEnd/>
            <a:tailEnd/>
          </a:ln>
        </p:spPr>
      </p:pic>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504" y="476672"/>
            <a:ext cx="8856984" cy="2031325"/>
          </a:xfrm>
          <a:prstGeom prst="rect">
            <a:avLst/>
          </a:prstGeom>
        </p:spPr>
        <p:txBody>
          <a:bodyPr wrap="square">
            <a:spAutoFit/>
          </a:bodyPr>
          <a:lstStyle/>
          <a:p>
            <a:r>
              <a:rPr lang="en-US" b="1" dirty="0" smtClean="0"/>
              <a:t>Vectors</a:t>
            </a:r>
            <a:r>
              <a:rPr lang="en-US" dirty="0" smtClean="0"/>
              <a:t> : Vectors are similar to arrays, where the elements of the vector object can be accessed via an index into the vector. Vector implements a dynamic array. Also, the vector is not limited to a specific size, it can shrink or grow automatically whenever required.</a:t>
            </a:r>
          </a:p>
          <a:p>
            <a:r>
              <a:rPr lang="en-US" dirty="0" smtClean="0"/>
              <a:t> It is similar to </a:t>
            </a:r>
            <a:r>
              <a:rPr lang="en-US" dirty="0" err="1" smtClean="0"/>
              <a:t>ArrayList</a:t>
            </a:r>
            <a:r>
              <a:rPr lang="en-US" dirty="0" smtClean="0"/>
              <a:t>, but with two differences :</a:t>
            </a:r>
          </a:p>
          <a:p>
            <a:endParaRPr lang="en-US" dirty="0" smtClean="0"/>
          </a:p>
          <a:p>
            <a:r>
              <a:rPr lang="en-US" dirty="0" smtClean="0"/>
              <a:t>Vector is synchronized.</a:t>
            </a:r>
          </a:p>
          <a:p>
            <a:r>
              <a:rPr lang="en-US" dirty="0" smtClean="0"/>
              <a:t>Vector contains many legacy methods that are not part of the collections framework.</a:t>
            </a:r>
            <a:endParaRPr lang="en-US"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476672"/>
            <a:ext cx="8784976" cy="1477328"/>
          </a:xfrm>
          <a:prstGeom prst="rect">
            <a:avLst/>
          </a:prstGeom>
        </p:spPr>
        <p:txBody>
          <a:bodyPr wrap="square">
            <a:spAutoFit/>
          </a:bodyPr>
          <a:lstStyle/>
          <a:p>
            <a:r>
              <a:rPr lang="en-US" b="1" dirty="0" smtClean="0"/>
              <a:t>Java Collections: Sets</a:t>
            </a:r>
          </a:p>
          <a:p>
            <a:endParaRPr lang="en-US" dirty="0" smtClean="0"/>
          </a:p>
          <a:p>
            <a:r>
              <a:rPr lang="en-US" dirty="0" smtClean="0"/>
              <a:t>A Set refers to a collection that cannot contain duplicate elements. It is mainly used to model the mathematical set abstraction. Set has its implementation in various classes such as </a:t>
            </a:r>
            <a:r>
              <a:rPr lang="en-US" dirty="0" err="1" smtClean="0"/>
              <a:t>HashSet</a:t>
            </a:r>
            <a:r>
              <a:rPr lang="en-US" dirty="0" smtClean="0"/>
              <a:t>, </a:t>
            </a:r>
            <a:r>
              <a:rPr lang="en-US" dirty="0" err="1" smtClean="0"/>
              <a:t>TreeSetand</a:t>
            </a:r>
            <a:r>
              <a:rPr lang="en-US" dirty="0" smtClean="0"/>
              <a:t> </a:t>
            </a:r>
            <a:r>
              <a:rPr lang="en-US" dirty="0" err="1" smtClean="0"/>
              <a:t>LinkedHashSet</a:t>
            </a:r>
            <a:r>
              <a:rPr lang="en-US" dirty="0" smtClean="0"/>
              <a:t>.</a:t>
            </a:r>
            <a:endParaRPr lang="en-US" dirty="0"/>
          </a:p>
        </p:txBody>
      </p:sp>
      <p:pic>
        <p:nvPicPr>
          <p:cNvPr id="164867" name="Picture 3"/>
          <p:cNvPicPr>
            <a:picLocks noChangeAspect="1" noChangeArrowheads="1"/>
          </p:cNvPicPr>
          <p:nvPr/>
        </p:nvPicPr>
        <p:blipFill>
          <a:blip r:embed="rId2" cstate="print"/>
          <a:srcRect/>
          <a:stretch>
            <a:fillRect/>
          </a:stretch>
        </p:blipFill>
        <p:spPr bwMode="auto">
          <a:xfrm>
            <a:off x="1043608" y="2060848"/>
            <a:ext cx="7732592" cy="2931145"/>
          </a:xfrm>
          <a:prstGeom prst="rect">
            <a:avLst/>
          </a:prstGeom>
          <a:noFill/>
          <a:ln w="9525">
            <a:noFill/>
            <a:miter lim="800000"/>
            <a:headEnd/>
            <a:tailEnd/>
          </a:ln>
        </p:spPr>
      </p:pic>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504" y="260648"/>
            <a:ext cx="8856984" cy="923330"/>
          </a:xfrm>
          <a:prstGeom prst="rect">
            <a:avLst/>
          </a:prstGeom>
        </p:spPr>
        <p:txBody>
          <a:bodyPr wrap="square">
            <a:spAutoFit/>
          </a:bodyPr>
          <a:lstStyle/>
          <a:p>
            <a:r>
              <a:rPr lang="en-US" b="1" dirty="0" err="1" smtClean="0"/>
              <a:t>HashSet</a:t>
            </a:r>
            <a:r>
              <a:rPr lang="en-US" dirty="0" smtClean="0"/>
              <a:t>: Java </a:t>
            </a:r>
            <a:r>
              <a:rPr lang="en-US" dirty="0" err="1" smtClean="0"/>
              <a:t>HashSet</a:t>
            </a:r>
            <a:r>
              <a:rPr lang="en-US" dirty="0" smtClean="0"/>
              <a:t> class creates a collection that use a hash table for storage. </a:t>
            </a:r>
            <a:r>
              <a:rPr lang="en-US" dirty="0" err="1" smtClean="0"/>
              <a:t>Hashset</a:t>
            </a:r>
            <a:r>
              <a:rPr lang="en-US" dirty="0" smtClean="0"/>
              <a:t> only contain unique elements and it inherits the </a:t>
            </a:r>
            <a:r>
              <a:rPr lang="en-US" dirty="0" err="1" smtClean="0"/>
              <a:t>AbstractSet</a:t>
            </a:r>
            <a:r>
              <a:rPr lang="en-US" dirty="0" smtClean="0"/>
              <a:t> class and implements Set interface. Also, it uses a mechanism </a:t>
            </a:r>
            <a:r>
              <a:rPr lang="en-US" i="1" dirty="0" smtClean="0"/>
              <a:t>hashing</a:t>
            </a:r>
            <a:r>
              <a:rPr lang="en-US" dirty="0" smtClean="0"/>
              <a:t> to store the elements.  </a:t>
            </a:r>
            <a:endParaRPr lang="en-US"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142844" y="214290"/>
            <a:ext cx="9001156" cy="6357982"/>
            <a:chOff x="142844" y="214290"/>
            <a:chExt cx="8391525" cy="5805521"/>
          </a:xfrm>
        </p:grpSpPr>
        <p:pic>
          <p:nvPicPr>
            <p:cNvPr id="8194" name="Picture 2"/>
            <p:cNvPicPr>
              <a:picLocks noChangeAspect="1" noChangeArrowheads="1"/>
            </p:cNvPicPr>
            <p:nvPr/>
          </p:nvPicPr>
          <p:blipFill>
            <a:blip r:embed="rId2"/>
            <a:srcRect/>
            <a:stretch>
              <a:fillRect/>
            </a:stretch>
          </p:blipFill>
          <p:spPr bwMode="auto">
            <a:xfrm>
              <a:off x="142844" y="214290"/>
              <a:ext cx="8391525" cy="4410075"/>
            </a:xfrm>
            <a:prstGeom prst="rect">
              <a:avLst/>
            </a:prstGeom>
            <a:noFill/>
            <a:ln w="9525">
              <a:noFill/>
              <a:miter lim="800000"/>
              <a:headEnd/>
              <a:tailEnd/>
            </a:ln>
            <a:effectLst/>
          </p:spPr>
        </p:pic>
        <p:pic>
          <p:nvPicPr>
            <p:cNvPr id="8195" name="Picture 3"/>
            <p:cNvPicPr>
              <a:picLocks noChangeAspect="1" noChangeArrowheads="1"/>
            </p:cNvPicPr>
            <p:nvPr/>
          </p:nvPicPr>
          <p:blipFill>
            <a:blip r:embed="rId3"/>
            <a:srcRect/>
            <a:stretch>
              <a:fillRect/>
            </a:stretch>
          </p:blipFill>
          <p:spPr bwMode="auto">
            <a:xfrm>
              <a:off x="1919295" y="5000636"/>
              <a:ext cx="3724275" cy="1019175"/>
            </a:xfrm>
            <a:prstGeom prst="rect">
              <a:avLst/>
            </a:prstGeom>
            <a:noFill/>
            <a:ln w="9525">
              <a:noFill/>
              <a:miter lim="800000"/>
              <a:headEnd/>
              <a:tailEnd/>
            </a:ln>
            <a:effectLst/>
          </p:spPr>
        </p:pic>
      </p:gr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83277" y="3244334"/>
            <a:ext cx="2228239" cy="461665"/>
          </a:xfrm>
          <a:prstGeom prst="rect">
            <a:avLst/>
          </a:prstGeom>
        </p:spPr>
        <p:txBody>
          <a:bodyPr wrap="none">
            <a:spAutoFit/>
          </a:bodyPr>
          <a:lstStyle/>
          <a:p>
            <a:r>
              <a:rPr lang="en-US" sz="2400" b="1" dirty="0" smtClean="0"/>
              <a:t>Multithreading </a:t>
            </a:r>
            <a:endParaRPr lang="en-US" sz="2400" b="1"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16632"/>
            <a:ext cx="2377446" cy="369332"/>
          </a:xfrm>
          <a:prstGeom prst="rect">
            <a:avLst/>
          </a:prstGeom>
        </p:spPr>
        <p:txBody>
          <a:bodyPr wrap="none">
            <a:spAutoFit/>
          </a:bodyPr>
          <a:lstStyle/>
          <a:p>
            <a:r>
              <a:rPr lang="en-US" b="1" dirty="0" smtClean="0"/>
              <a:t>What is Thread in Java </a:t>
            </a:r>
            <a:endParaRPr lang="en-US" b="1" dirty="0"/>
          </a:p>
        </p:txBody>
      </p:sp>
      <p:sp>
        <p:nvSpPr>
          <p:cNvPr id="3" name="Rectangle 2"/>
          <p:cNvSpPr/>
          <p:nvPr/>
        </p:nvSpPr>
        <p:spPr>
          <a:xfrm>
            <a:off x="179512" y="620688"/>
            <a:ext cx="8712968" cy="2585323"/>
          </a:xfrm>
          <a:prstGeom prst="rect">
            <a:avLst/>
          </a:prstGeom>
        </p:spPr>
        <p:txBody>
          <a:bodyPr wrap="square">
            <a:spAutoFit/>
          </a:bodyPr>
          <a:lstStyle/>
          <a:p>
            <a:r>
              <a:rPr lang="en-US" dirty="0" smtClean="0"/>
              <a:t>A </a:t>
            </a:r>
            <a:r>
              <a:rPr lang="en-US" b="1" dirty="0" smtClean="0"/>
              <a:t>thread in Java</a:t>
            </a:r>
            <a:r>
              <a:rPr lang="en-US" dirty="0" smtClean="0"/>
              <a:t> simply represents a single independent path of execution of a group of statements. It is the flow of execution, from beginning to end, of a task.</a:t>
            </a:r>
          </a:p>
          <a:p>
            <a:r>
              <a:rPr lang="en-US" dirty="0" smtClean="0"/>
              <a:t>When we write a group of statements in a program, these statements are executed by JVM one by one. </a:t>
            </a:r>
            <a:r>
              <a:rPr lang="en-US" b="1" dirty="0" smtClean="0"/>
              <a:t>This execution process is called thread in Java.</a:t>
            </a:r>
          </a:p>
          <a:p>
            <a:r>
              <a:rPr lang="en-US" dirty="0" smtClean="0"/>
              <a:t>There is always at least one thread running internally in every program and this thread is used by JVM to execute statements in the program.</a:t>
            </a:r>
          </a:p>
          <a:p>
            <a:r>
              <a:rPr lang="en-US" dirty="0" smtClean="0"/>
              <a:t>When a program contains a single flow of control, it is called single-threaded program. In a single thread program, there is a beginning, a body, and an end, and execute commands sequentially. Look at the below figure.</a:t>
            </a:r>
            <a:endParaRPr lang="en-US" dirty="0"/>
          </a:p>
        </p:txBody>
      </p:sp>
      <p:pic>
        <p:nvPicPr>
          <p:cNvPr id="161794" name="Picture 2" descr="Single threaded program in Java"/>
          <p:cNvPicPr>
            <a:picLocks noChangeAspect="1" noChangeArrowheads="1"/>
          </p:cNvPicPr>
          <p:nvPr/>
        </p:nvPicPr>
        <p:blipFill>
          <a:blip r:embed="rId2" cstate="print"/>
          <a:srcRect/>
          <a:stretch>
            <a:fillRect/>
          </a:stretch>
        </p:blipFill>
        <p:spPr bwMode="auto">
          <a:xfrm>
            <a:off x="2627784" y="3140968"/>
            <a:ext cx="5715000" cy="3810000"/>
          </a:xfrm>
          <a:prstGeom prst="rect">
            <a:avLst/>
          </a:prstGeom>
          <a:noFill/>
        </p:spPr>
      </p:pic>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504" y="188640"/>
            <a:ext cx="8712968" cy="6186309"/>
          </a:xfrm>
          <a:prstGeom prst="rect">
            <a:avLst/>
          </a:prstGeom>
        </p:spPr>
        <p:txBody>
          <a:bodyPr wrap="square">
            <a:spAutoFit/>
          </a:bodyPr>
          <a:lstStyle/>
          <a:p>
            <a:r>
              <a:rPr lang="en-US" dirty="0" smtClean="0"/>
              <a:t>We can also create more than one execution thread in a program that can be used to perform multiple tasks simultaneously.</a:t>
            </a:r>
            <a:br>
              <a:rPr lang="en-US" dirty="0" smtClean="0"/>
            </a:br>
            <a:endParaRPr lang="en-US" dirty="0" smtClean="0"/>
          </a:p>
          <a:p>
            <a:r>
              <a:rPr lang="en-US" dirty="0" smtClean="0"/>
              <a:t/>
            </a:r>
            <a:br>
              <a:rPr lang="en-US" dirty="0" smtClean="0"/>
            </a:br>
            <a:r>
              <a:rPr lang="en-US" dirty="0" smtClean="0"/>
              <a:t>When we create more than one thread in a program, each thread has its own path of execution and all the threads share the same memory address space, data, and code in a program.</a:t>
            </a:r>
          </a:p>
          <a:p>
            <a:endParaRPr lang="en-IN" dirty="0" smtClean="0"/>
          </a:p>
          <a:p>
            <a:r>
              <a:rPr lang="en-US" b="1" dirty="0" smtClean="0"/>
              <a:t>What is Process in Java?</a:t>
            </a:r>
          </a:p>
          <a:p>
            <a:r>
              <a:rPr lang="en-US" dirty="0" smtClean="0"/>
              <a:t>Thread in Java is the smallest unit of executable code in a program. It helps to divide a program into multiple parts to speed up the process. A process is a program that executes as a single thread. In other words, when an executable program is loaded into memory, it is called process.</a:t>
            </a:r>
          </a:p>
          <a:p>
            <a:r>
              <a:rPr lang="en-US" b="1" dirty="0" smtClean="0"/>
              <a:t>Points to be Noted:</a:t>
            </a:r>
            <a:endParaRPr lang="en-US" dirty="0" smtClean="0"/>
          </a:p>
          <a:p>
            <a:r>
              <a:rPr lang="en-US" dirty="0" smtClean="0"/>
              <a:t>1. Every individual process has its own separate memory address space and can execute a different program.</a:t>
            </a:r>
          </a:p>
          <a:p>
            <a:r>
              <a:rPr lang="en-US" dirty="0" smtClean="0"/>
              <a:t>2. Each process can have more than one thread.</a:t>
            </a:r>
          </a:p>
          <a:p>
            <a:r>
              <a:rPr lang="en-US" dirty="0" smtClean="0"/>
              <a:t>3. Each process communicates through the operating system, files, and network.</a:t>
            </a:r>
          </a:p>
          <a:p>
            <a:r>
              <a:rPr lang="en-US" dirty="0" smtClean="0"/>
              <a:t>When we will create a new thread in a program, it shares the same memory address space with other threads in a program whereas every individual process has its own separate memory address space.</a:t>
            </a:r>
          </a:p>
          <a:p>
            <a:endParaRPr lang="en-US"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504" y="260648"/>
            <a:ext cx="8856984" cy="646331"/>
          </a:xfrm>
          <a:prstGeom prst="rect">
            <a:avLst/>
          </a:prstGeom>
        </p:spPr>
        <p:txBody>
          <a:bodyPr wrap="square">
            <a:spAutoFit/>
          </a:bodyPr>
          <a:lstStyle/>
          <a:p>
            <a:r>
              <a:rPr lang="en-US" dirty="0" smtClean="0"/>
              <a:t>Therefore, creating a thread takes fewer resources than creating a new process. Look at the below figure to understand better.</a:t>
            </a:r>
            <a:endParaRPr lang="en-US" dirty="0"/>
          </a:p>
        </p:txBody>
      </p:sp>
      <p:pic>
        <p:nvPicPr>
          <p:cNvPr id="159746" name="Picture 2" descr="Thread in Java"/>
          <p:cNvPicPr>
            <a:picLocks noChangeAspect="1" noChangeArrowheads="1"/>
          </p:cNvPicPr>
          <p:nvPr/>
        </p:nvPicPr>
        <p:blipFill>
          <a:blip r:embed="rId2" cstate="print"/>
          <a:srcRect/>
          <a:stretch>
            <a:fillRect/>
          </a:stretch>
        </p:blipFill>
        <p:spPr bwMode="auto">
          <a:xfrm>
            <a:off x="1403648" y="980728"/>
            <a:ext cx="4176464" cy="3480387"/>
          </a:xfrm>
          <a:prstGeom prst="rect">
            <a:avLst/>
          </a:prstGeom>
          <a:noFill/>
        </p:spPr>
      </p:pic>
      <p:sp>
        <p:nvSpPr>
          <p:cNvPr id="4" name="Rectangle 3"/>
          <p:cNvSpPr/>
          <p:nvPr/>
        </p:nvSpPr>
        <p:spPr>
          <a:xfrm>
            <a:off x="467544" y="4509120"/>
            <a:ext cx="8244408" cy="2031325"/>
          </a:xfrm>
          <a:prstGeom prst="rect">
            <a:avLst/>
          </a:prstGeom>
        </p:spPr>
        <p:txBody>
          <a:bodyPr wrap="square">
            <a:spAutoFit/>
          </a:bodyPr>
          <a:lstStyle/>
          <a:p>
            <a:r>
              <a:rPr lang="en-US" dirty="0" smtClean="0"/>
              <a:t>As you can see in the above figure, the thread is executed inside a process and one process can have also multiple threads. There can be multiple processes inside the operating system.</a:t>
            </a:r>
            <a:br>
              <a:rPr lang="en-US" dirty="0" smtClean="0"/>
            </a:br>
            <a:endParaRPr lang="en-US" dirty="0" smtClean="0"/>
          </a:p>
          <a:p>
            <a:r>
              <a:rPr lang="en-US" dirty="0" smtClean="0"/>
              <a:t/>
            </a:r>
            <a:br>
              <a:rPr lang="en-US" dirty="0" smtClean="0"/>
            </a:br>
            <a:r>
              <a:rPr lang="en-US" dirty="0" smtClean="0"/>
              <a:t>Multiple Threads are independent of each other. At a time only one thread is executed. If an exception occurs in one thread, it doesn’t affect other threads.</a:t>
            </a:r>
            <a:endParaRPr lang="en-US"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260648"/>
            <a:ext cx="3097195" cy="369332"/>
          </a:xfrm>
          <a:prstGeom prst="rect">
            <a:avLst/>
          </a:prstGeom>
        </p:spPr>
        <p:txBody>
          <a:bodyPr wrap="none">
            <a:spAutoFit/>
          </a:bodyPr>
          <a:lstStyle/>
          <a:p>
            <a:r>
              <a:rPr lang="en-US" b="1" dirty="0" smtClean="0"/>
              <a:t>What is Multithreading in Java</a:t>
            </a:r>
            <a:endParaRPr lang="en-US" b="1" dirty="0"/>
          </a:p>
        </p:txBody>
      </p:sp>
      <p:sp>
        <p:nvSpPr>
          <p:cNvPr id="3" name="Rectangle 2"/>
          <p:cNvSpPr/>
          <p:nvPr/>
        </p:nvSpPr>
        <p:spPr>
          <a:xfrm>
            <a:off x="323528" y="836712"/>
            <a:ext cx="8496944" cy="2862322"/>
          </a:xfrm>
          <a:prstGeom prst="rect">
            <a:avLst/>
          </a:prstGeom>
        </p:spPr>
        <p:txBody>
          <a:bodyPr wrap="square">
            <a:spAutoFit/>
          </a:bodyPr>
          <a:lstStyle/>
          <a:p>
            <a:r>
              <a:rPr lang="en-US" dirty="0" smtClean="0"/>
              <a:t>Multithreading means multiple threads of execution concurrently. The process of executing multiple threads simultaneously (concurrently) is called </a:t>
            </a:r>
            <a:r>
              <a:rPr lang="en-US" b="1" dirty="0" smtClean="0"/>
              <a:t>multithreading in Java</a:t>
            </a:r>
            <a:r>
              <a:rPr lang="en-US" dirty="0" smtClean="0"/>
              <a:t>.</a:t>
            </a:r>
          </a:p>
          <a:p>
            <a:r>
              <a:rPr lang="en-US" dirty="0" smtClean="0"/>
              <a:t>In other words, multithreading is a technique or programming concept in which a program (process) is divided into two or more subprograms (</a:t>
            </a:r>
            <a:r>
              <a:rPr lang="en-US" dirty="0" err="1" smtClean="0"/>
              <a:t>subprocesses</a:t>
            </a:r>
            <a:r>
              <a:rPr lang="en-US" dirty="0" smtClean="0"/>
              <a:t>), each of which can perform different tasks simultaneously (at the same time and in parallel manner). Each subprogram of a program is called thread in Java.</a:t>
            </a:r>
          </a:p>
          <a:p>
            <a:r>
              <a:rPr lang="en-US" dirty="0" smtClean="0"/>
              <a:t>Look at the below figure where a Java program has three threads, one main and two others. The other two threads </a:t>
            </a:r>
            <a:r>
              <a:rPr lang="en-US" dirty="0" err="1" smtClean="0"/>
              <a:t>ThreadA</a:t>
            </a:r>
            <a:r>
              <a:rPr lang="en-US" dirty="0" smtClean="0"/>
              <a:t> and </a:t>
            </a:r>
            <a:r>
              <a:rPr lang="en-US" dirty="0" err="1" smtClean="0"/>
              <a:t>ThreadB</a:t>
            </a:r>
            <a:r>
              <a:rPr lang="en-US" dirty="0" smtClean="0"/>
              <a:t> are created and started from the main thread. When a program contains multiple flows of control, it is called multithreaded program.</a:t>
            </a:r>
            <a:endParaRPr lang="en-US" dirty="0"/>
          </a:p>
        </p:txBody>
      </p:sp>
      <p:pic>
        <p:nvPicPr>
          <p:cNvPr id="203778" name="Picture 2" descr="Multithreaded program in Java"/>
          <p:cNvPicPr>
            <a:picLocks noChangeAspect="1" noChangeArrowheads="1"/>
          </p:cNvPicPr>
          <p:nvPr/>
        </p:nvPicPr>
        <p:blipFill>
          <a:blip r:embed="rId2" cstate="print"/>
          <a:srcRect/>
          <a:stretch>
            <a:fillRect/>
          </a:stretch>
        </p:blipFill>
        <p:spPr bwMode="auto">
          <a:xfrm>
            <a:off x="2673424" y="3723456"/>
            <a:ext cx="4418856" cy="2945904"/>
          </a:xfrm>
          <a:prstGeom prst="rect">
            <a:avLst/>
          </a:prstGeom>
          <a:noFill/>
        </p:spPr>
      </p:pic>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5536" y="474345"/>
            <a:ext cx="8424936" cy="3970318"/>
          </a:xfrm>
          <a:prstGeom prst="rect">
            <a:avLst/>
          </a:prstGeom>
        </p:spPr>
        <p:txBody>
          <a:bodyPr wrap="square">
            <a:spAutoFit/>
          </a:bodyPr>
          <a:lstStyle/>
          <a:p>
            <a:r>
              <a:rPr lang="en-US" dirty="0" smtClean="0"/>
              <a:t>Once initiated by the main thread, thread </a:t>
            </a:r>
            <a:r>
              <a:rPr lang="en-US" dirty="0" err="1" smtClean="0"/>
              <a:t>ThreadA</a:t>
            </a:r>
            <a:r>
              <a:rPr lang="en-US" dirty="0" smtClean="0"/>
              <a:t> and </a:t>
            </a:r>
            <a:r>
              <a:rPr lang="en-US" dirty="0" err="1" smtClean="0"/>
              <a:t>ThreadB</a:t>
            </a:r>
            <a:r>
              <a:rPr lang="en-US" dirty="0" smtClean="0"/>
              <a:t> run simultaneously and share the resources together. It is the same as people living in a joint family and sharing certain resources among all of them.</a:t>
            </a:r>
            <a:br>
              <a:rPr lang="en-US" dirty="0" smtClean="0"/>
            </a:br>
            <a:endParaRPr lang="en-US" dirty="0" smtClean="0"/>
          </a:p>
          <a:p>
            <a:r>
              <a:rPr lang="en-US" dirty="0" smtClean="0"/>
              <a:t/>
            </a:r>
            <a:br>
              <a:rPr lang="en-US" dirty="0" smtClean="0"/>
            </a:br>
            <a:r>
              <a:rPr lang="en-US" dirty="0" smtClean="0"/>
              <a:t>When a program contains more than one thread, the CPU can switch between two threads to execute them at the same time. The switching between two threads is known as </a:t>
            </a:r>
            <a:r>
              <a:rPr lang="en-US" b="1" dirty="0" smtClean="0"/>
              <a:t>context switch</a:t>
            </a:r>
            <a:r>
              <a:rPr lang="en-US" dirty="0" smtClean="0"/>
              <a:t>. The switching from one thread to another thread occurs so fast that it appears to the users that all threads are being executed at the same time. But in reality, only one thread is executed at a time.</a:t>
            </a:r>
          </a:p>
          <a:p>
            <a:endParaRPr lang="en-US" dirty="0" smtClean="0"/>
          </a:p>
          <a:p>
            <a:r>
              <a:rPr lang="en-US" dirty="0" smtClean="0"/>
              <a:t>This technique is useful for those applications which need multiple tasks to be done simultaneously. In a single processor system, multiple threads share CPU time that is known as </a:t>
            </a:r>
            <a:r>
              <a:rPr lang="en-US" b="1" dirty="0" smtClean="0"/>
              <a:t>time-sharing</a:t>
            </a:r>
            <a:r>
              <a:rPr lang="en-US" dirty="0" smtClean="0"/>
              <a:t>.</a:t>
            </a:r>
            <a:endParaRPr lang="en-US"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889844"/>
            <a:ext cx="8496944" cy="3970318"/>
          </a:xfrm>
          <a:prstGeom prst="rect">
            <a:avLst/>
          </a:prstGeom>
        </p:spPr>
        <p:txBody>
          <a:bodyPr wrap="square">
            <a:spAutoFit/>
          </a:bodyPr>
          <a:lstStyle/>
          <a:p>
            <a:r>
              <a:rPr lang="en-US" dirty="0" smtClean="0"/>
              <a:t>The operating system is responsible for allocating and scheduling resources to them. Thus, multithreading improves the performance of CPU by maximum utilization and keeping the idle time of CPU to minimum.</a:t>
            </a:r>
          </a:p>
          <a:p>
            <a:endParaRPr lang="en-US" dirty="0" smtClean="0"/>
          </a:p>
          <a:p>
            <a:r>
              <a:rPr lang="en-US" dirty="0" smtClean="0"/>
              <a:t>In a multithreaded program, each thread is assigned a single task to perform and executes independently. If an exception occurs in one thread, it does not affect other threads during the execution.</a:t>
            </a:r>
          </a:p>
          <a:p>
            <a:endParaRPr lang="en-US" dirty="0" smtClean="0"/>
          </a:p>
          <a:p>
            <a:endParaRPr lang="en-US" dirty="0" smtClean="0"/>
          </a:p>
          <a:p>
            <a:r>
              <a:rPr lang="en-US" dirty="0" smtClean="0"/>
              <a:t>For example, one thread read data, another thread process it, and third thread write it, thus improves the overall performance of an application.</a:t>
            </a:r>
          </a:p>
          <a:p>
            <a:endParaRPr lang="en-US" dirty="0" smtClean="0"/>
          </a:p>
          <a:p>
            <a:r>
              <a:rPr lang="en-US" dirty="0" smtClean="0"/>
              <a:t>We can write a multithreaded program to display animations, to play music, and download a file from the network at the same time.</a:t>
            </a:r>
            <a:endParaRPr lang="en-US"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5536" y="116632"/>
            <a:ext cx="2206438" cy="369332"/>
          </a:xfrm>
          <a:prstGeom prst="rect">
            <a:avLst/>
          </a:prstGeom>
        </p:spPr>
        <p:txBody>
          <a:bodyPr wrap="none">
            <a:spAutoFit/>
          </a:bodyPr>
          <a:lstStyle/>
          <a:p>
            <a:r>
              <a:rPr lang="en-US" b="1" dirty="0" smtClean="0"/>
              <a:t>Use of Thread in Java</a:t>
            </a:r>
            <a:endParaRPr lang="en-US" b="1" dirty="0"/>
          </a:p>
        </p:txBody>
      </p:sp>
      <p:sp>
        <p:nvSpPr>
          <p:cNvPr id="3" name="Rectangle 2"/>
          <p:cNvSpPr/>
          <p:nvPr/>
        </p:nvSpPr>
        <p:spPr>
          <a:xfrm>
            <a:off x="0" y="908720"/>
            <a:ext cx="9036496" cy="5632311"/>
          </a:xfrm>
          <a:prstGeom prst="rect">
            <a:avLst/>
          </a:prstGeom>
        </p:spPr>
        <p:txBody>
          <a:bodyPr wrap="square">
            <a:spAutoFit/>
          </a:bodyPr>
          <a:lstStyle/>
          <a:p>
            <a:r>
              <a:rPr lang="en-US" dirty="0" smtClean="0"/>
              <a:t>Threads can be used for multiple purposes. Some advantages of using threads are as follows:</a:t>
            </a:r>
          </a:p>
          <a:p>
            <a:r>
              <a:rPr lang="en-US" dirty="0" smtClean="0"/>
              <a:t>1. Threads are mainly used in server-side programs where we need to handle multiple clients on network or internet simultaneously.</a:t>
            </a:r>
          </a:p>
          <a:p>
            <a:r>
              <a:rPr lang="en-US" dirty="0" smtClean="0"/>
              <a:t>2. Another important use of threads is in creating games and animations. For example, threads can be used to show picture in motion. In many games, threads help to perform more than one task simultaneously.</a:t>
            </a:r>
          </a:p>
          <a:p>
            <a:r>
              <a:rPr lang="en-US" dirty="0" smtClean="0"/>
              <a:t>For example, in fighter game, a fighter plane may be from left to right. A machine gun in fighter plane continuously shoots enemy by releasing bullets.</a:t>
            </a:r>
          </a:p>
          <a:p>
            <a:r>
              <a:rPr lang="en-US" dirty="0" smtClean="0"/>
              <a:t>Here, two tasks are happening simultaneously. One thread is moving the fighter plane while another thread releasing bullets simultaneously.</a:t>
            </a:r>
          </a:p>
          <a:p>
            <a:r>
              <a:rPr lang="en-US" dirty="0" smtClean="0"/>
              <a:t>3. Generally, threads can be used to perform more than one task simultaneously.</a:t>
            </a:r>
          </a:p>
          <a:p>
            <a:r>
              <a:rPr lang="en-US" dirty="0" smtClean="0"/>
              <a:t>A program running on a single thread can cause problems when we want to perform two or more tasks simultaneously. For example, when you play online cricket game, you sometimes see such a situation where game does not show the updated score but still displays graphics properly.</a:t>
            </a:r>
          </a:p>
          <a:p>
            <a:r>
              <a:rPr lang="en-US" dirty="0" smtClean="0"/>
              <a:t>Here, displaying graphics of game and updating scores are two different jobs that are to be handled at the same time. Therefore, it is important that the game programming must be able to handle these multiple tasks to make game fast.</a:t>
            </a:r>
          </a:p>
          <a:p>
            <a:r>
              <a:rPr lang="en-US" dirty="0" smtClean="0"/>
              <a:t>To overcome these problems, Java supports multithreaded programming that enables a single program to perform multiple tasks simultaneously.</a:t>
            </a:r>
            <a:endParaRPr lang="en-US"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504" y="188640"/>
            <a:ext cx="3638881" cy="369332"/>
          </a:xfrm>
          <a:prstGeom prst="rect">
            <a:avLst/>
          </a:prstGeom>
        </p:spPr>
        <p:txBody>
          <a:bodyPr wrap="none">
            <a:spAutoFit/>
          </a:bodyPr>
          <a:lstStyle/>
          <a:p>
            <a:r>
              <a:rPr lang="en-US" b="1" dirty="0" smtClean="0"/>
              <a:t>Advantage of Multithreading in Java</a:t>
            </a:r>
            <a:endParaRPr lang="en-US" b="1" dirty="0"/>
          </a:p>
        </p:txBody>
      </p:sp>
      <p:sp>
        <p:nvSpPr>
          <p:cNvPr id="3" name="Rectangle 2"/>
          <p:cNvSpPr/>
          <p:nvPr/>
        </p:nvSpPr>
        <p:spPr>
          <a:xfrm>
            <a:off x="179512" y="764704"/>
            <a:ext cx="8640960" cy="5909310"/>
          </a:xfrm>
          <a:prstGeom prst="rect">
            <a:avLst/>
          </a:prstGeom>
        </p:spPr>
        <p:txBody>
          <a:bodyPr wrap="square">
            <a:spAutoFit/>
          </a:bodyPr>
          <a:lstStyle/>
          <a:p>
            <a:r>
              <a:rPr lang="en-US" dirty="0" smtClean="0"/>
              <a:t>The advantages of using multithreading programming concept are as follows:</a:t>
            </a:r>
          </a:p>
          <a:p>
            <a:endParaRPr lang="en-US" dirty="0" smtClean="0"/>
          </a:p>
          <a:p>
            <a:r>
              <a:rPr lang="en-US" dirty="0" smtClean="0"/>
              <a:t>1. In a multithreaded application program, different parts of the application are executed by different threads. The entire application does not stop even if an exception occurs in any of the threads. It does not affect other threads during the execution of the application.</a:t>
            </a:r>
          </a:p>
          <a:p>
            <a:endParaRPr lang="en-US" dirty="0" smtClean="0"/>
          </a:p>
          <a:p>
            <a:r>
              <a:rPr lang="en-US" dirty="0" smtClean="0"/>
              <a:t>2. Different threads are allotted to different processors and each thread is executed in different processors in parallel.</a:t>
            </a:r>
            <a:br>
              <a:rPr lang="en-US" dirty="0" smtClean="0"/>
            </a:br>
            <a:endParaRPr lang="en-US" dirty="0" smtClean="0"/>
          </a:p>
          <a:p>
            <a:r>
              <a:rPr lang="en-US" dirty="0" smtClean="0"/>
              <a:t/>
            </a:r>
            <a:br>
              <a:rPr lang="en-US" dirty="0" smtClean="0"/>
            </a:br>
            <a:r>
              <a:rPr lang="en-US" dirty="0" smtClean="0"/>
              <a:t>3. Multithreading helps to reduce computation time.</a:t>
            </a:r>
            <a:br>
              <a:rPr lang="en-US" dirty="0" smtClean="0"/>
            </a:br>
            <a:endParaRPr lang="en-US" dirty="0" smtClean="0"/>
          </a:p>
          <a:p>
            <a:r>
              <a:rPr lang="en-US" dirty="0" smtClean="0"/>
              <a:t>4. Multithreading technique improves the performance of the application.</a:t>
            </a:r>
            <a:br>
              <a:rPr lang="en-US" dirty="0" smtClean="0"/>
            </a:br>
            <a:endParaRPr lang="en-US" dirty="0" smtClean="0"/>
          </a:p>
          <a:p>
            <a:r>
              <a:rPr lang="en-US" dirty="0" smtClean="0"/>
              <a:t>5. Threads share the same memory address space. Hence, it saves memory.</a:t>
            </a:r>
            <a:br>
              <a:rPr lang="en-US" dirty="0" smtClean="0"/>
            </a:br>
            <a:endParaRPr lang="en-US" dirty="0" smtClean="0"/>
          </a:p>
          <a:p>
            <a:r>
              <a:rPr lang="en-US" dirty="0" smtClean="0"/>
              <a:t>6. Multithreaded program makes maximum utilization of CPU and keeping the idle time of CPU to minimum.</a:t>
            </a:r>
            <a:br>
              <a:rPr lang="en-US" dirty="0" smtClean="0"/>
            </a:br>
            <a:endParaRPr lang="en-US" dirty="0" smtClean="0"/>
          </a:p>
          <a:p>
            <a:r>
              <a:rPr lang="en-US" dirty="0" smtClean="0"/>
              <a:t>7. Context switching from one thread to another thread is less expensive than between processes.</a:t>
            </a:r>
            <a:endParaRPr lang="en-US"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332656"/>
            <a:ext cx="3661195" cy="369332"/>
          </a:xfrm>
          <a:prstGeom prst="rect">
            <a:avLst/>
          </a:prstGeom>
        </p:spPr>
        <p:txBody>
          <a:bodyPr wrap="none">
            <a:spAutoFit/>
          </a:bodyPr>
          <a:lstStyle/>
          <a:p>
            <a:r>
              <a:rPr lang="en-US" b="1" dirty="0" smtClean="0"/>
              <a:t>Drawbacks of Multithreading in Java</a:t>
            </a:r>
            <a:endParaRPr lang="en-US" b="1" dirty="0"/>
          </a:p>
        </p:txBody>
      </p:sp>
      <p:sp>
        <p:nvSpPr>
          <p:cNvPr id="3" name="Rectangle 2"/>
          <p:cNvSpPr/>
          <p:nvPr/>
        </p:nvSpPr>
        <p:spPr>
          <a:xfrm>
            <a:off x="467544" y="1052736"/>
            <a:ext cx="8280920" cy="3416320"/>
          </a:xfrm>
          <a:prstGeom prst="rect">
            <a:avLst/>
          </a:prstGeom>
        </p:spPr>
        <p:txBody>
          <a:bodyPr wrap="square">
            <a:spAutoFit/>
          </a:bodyPr>
          <a:lstStyle/>
          <a:p>
            <a:r>
              <a:rPr lang="en-US" dirty="0" smtClean="0"/>
              <a:t>The drawbacks of multithreading are as follows:</a:t>
            </a:r>
          </a:p>
          <a:p>
            <a:r>
              <a:rPr lang="en-US" dirty="0" smtClean="0"/>
              <a:t/>
            </a:r>
            <a:br>
              <a:rPr lang="en-US" dirty="0" smtClean="0"/>
            </a:br>
            <a:r>
              <a:rPr lang="en-US" dirty="0" smtClean="0"/>
              <a:t>1. Increased complexity.</a:t>
            </a:r>
            <a:br>
              <a:rPr lang="en-US" dirty="0" smtClean="0"/>
            </a:br>
            <a:endParaRPr lang="en-US" dirty="0" smtClean="0"/>
          </a:p>
          <a:p>
            <a:r>
              <a:rPr lang="en-US" dirty="0" smtClean="0"/>
              <a:t>2. Synchronization of shared resources.</a:t>
            </a:r>
            <a:br>
              <a:rPr lang="en-US" dirty="0" smtClean="0"/>
            </a:br>
            <a:endParaRPr lang="en-US" dirty="0" smtClean="0"/>
          </a:p>
          <a:p>
            <a:r>
              <a:rPr lang="en-US" dirty="0" smtClean="0"/>
              <a:t>3. In the multithreading programming concept, debugging is difficult. At times, result is unpredictable.</a:t>
            </a:r>
            <a:br>
              <a:rPr lang="en-US" dirty="0" smtClean="0"/>
            </a:br>
            <a:endParaRPr lang="en-US" dirty="0" smtClean="0"/>
          </a:p>
          <a:p>
            <a:r>
              <a:rPr lang="en-US" dirty="0" smtClean="0"/>
              <a:t>4. Potential deadlocks.</a:t>
            </a:r>
            <a:br>
              <a:rPr lang="en-US" dirty="0" smtClean="0"/>
            </a:br>
            <a:endParaRPr lang="en-US" dirty="0" smtClean="0"/>
          </a:p>
          <a:p>
            <a:r>
              <a:rPr lang="en-US" dirty="0" smtClean="0"/>
              <a:t>5. Programming complications may occur.</a:t>
            </a:r>
            <a:endParaRPr lang="en-US"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504" y="116632"/>
            <a:ext cx="2076915" cy="369332"/>
          </a:xfrm>
          <a:prstGeom prst="rect">
            <a:avLst/>
          </a:prstGeom>
        </p:spPr>
        <p:txBody>
          <a:bodyPr wrap="none">
            <a:spAutoFit/>
          </a:bodyPr>
          <a:lstStyle/>
          <a:p>
            <a:r>
              <a:rPr lang="en-US" b="1" dirty="0" smtClean="0"/>
              <a:t>Multitasking in Java</a:t>
            </a:r>
            <a:endParaRPr lang="en-US" b="1" dirty="0"/>
          </a:p>
        </p:txBody>
      </p:sp>
      <p:sp>
        <p:nvSpPr>
          <p:cNvPr id="3" name="Rectangle 2"/>
          <p:cNvSpPr/>
          <p:nvPr/>
        </p:nvSpPr>
        <p:spPr>
          <a:xfrm>
            <a:off x="179512" y="692696"/>
            <a:ext cx="8712968" cy="5909310"/>
          </a:xfrm>
          <a:prstGeom prst="rect">
            <a:avLst/>
          </a:prstGeom>
        </p:spPr>
        <p:txBody>
          <a:bodyPr wrap="square">
            <a:spAutoFit/>
          </a:bodyPr>
          <a:lstStyle/>
          <a:p>
            <a:r>
              <a:rPr lang="en-US" dirty="0" smtClean="0"/>
              <a:t>The process of executing one or more tasks concurrently or at the same time is called </a:t>
            </a:r>
            <a:r>
              <a:rPr lang="en-US" b="1" dirty="0" smtClean="0"/>
              <a:t>multitasking</a:t>
            </a:r>
            <a:r>
              <a:rPr lang="en-US" dirty="0" smtClean="0"/>
              <a:t>. It is the ability of an operating system to execute multiple tasks at once. The main purpose of multitasking is to use the idle time of CPU.</a:t>
            </a:r>
          </a:p>
          <a:p>
            <a:endParaRPr lang="en-US" dirty="0" smtClean="0"/>
          </a:p>
          <a:p>
            <a:r>
              <a:rPr lang="en-US" dirty="0" smtClean="0"/>
              <a:t>Multitasking can be implemented in two ways:</a:t>
            </a:r>
            <a:br>
              <a:rPr lang="en-US" dirty="0" smtClean="0"/>
            </a:br>
            <a:r>
              <a:rPr lang="en-US" dirty="0" smtClean="0"/>
              <a:t>1. Process-based multitasking (Multiprocessing)</a:t>
            </a:r>
            <a:br>
              <a:rPr lang="en-US" dirty="0" smtClean="0"/>
            </a:br>
            <a:r>
              <a:rPr lang="en-US" dirty="0" smtClean="0"/>
              <a:t>2. Thread-based multitasking (Multithreading)</a:t>
            </a:r>
          </a:p>
          <a:p>
            <a:endParaRPr lang="en-IN" dirty="0" smtClean="0"/>
          </a:p>
          <a:p>
            <a:endParaRPr lang="en-US" dirty="0" smtClean="0"/>
          </a:p>
          <a:p>
            <a:r>
              <a:rPr lang="en-US" b="1" dirty="0" smtClean="0"/>
              <a:t>Process-based Multitasking (Multiprocessing)</a:t>
            </a:r>
          </a:p>
          <a:p>
            <a:endParaRPr lang="en-IN" b="1" dirty="0" smtClean="0"/>
          </a:p>
          <a:p>
            <a:r>
              <a:rPr lang="en-US" dirty="0" smtClean="0"/>
              <a:t>The process of executing multiple programs or processes at the same time (concurrently) is called process-based multitasking or program-based multitasking. In process-based multitasking, several programs are executed at the same time by the microprocessor.</a:t>
            </a:r>
          </a:p>
          <a:p>
            <a:r>
              <a:rPr lang="en-US" dirty="0" smtClean="0"/>
              <a:t>Therefore, it is also called multiprocessing in Java. It is a heavyweight. A process-based multitasking feature allows to execute two or more programs concurrently on the computer.</a:t>
            </a:r>
          </a:p>
          <a:p>
            <a:r>
              <a:rPr lang="en-US" dirty="0" smtClean="0"/>
              <a:t>A good example is, running spreadsheet program while also working with word-processor.</a:t>
            </a:r>
          </a:p>
          <a:p>
            <a:r>
              <a:rPr lang="en-US" dirty="0" smtClean="0"/>
              <a:t>Each program (process) has its own address space in the memory. In other words, each program is allocated in a separate memory area.</a:t>
            </a:r>
          </a:p>
          <a:p>
            <a:endParaRPr lang="en-US" b="1"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404664"/>
            <a:ext cx="8424936" cy="4247317"/>
          </a:xfrm>
          <a:prstGeom prst="rect">
            <a:avLst/>
          </a:prstGeom>
        </p:spPr>
        <p:txBody>
          <a:bodyPr wrap="square">
            <a:spAutoFit/>
          </a:bodyPr>
          <a:lstStyle/>
          <a:p>
            <a:r>
              <a:rPr lang="en-US" dirty="0" smtClean="0"/>
              <a:t>The operating system requires some CPU time to switch from one program to another program. The switching of CPU among programs is called context switching.</a:t>
            </a:r>
          </a:p>
          <a:p>
            <a:endParaRPr lang="en-US" dirty="0" smtClean="0"/>
          </a:p>
          <a:p>
            <a:r>
              <a:rPr lang="en-US" dirty="0" smtClean="0"/>
              <a:t>The switching from one program to another program is so fast that it appears to the user that multiple tasks are being done at the same time.</a:t>
            </a:r>
          </a:p>
          <a:p>
            <a:endParaRPr lang="en-IN" dirty="0" smtClean="0"/>
          </a:p>
          <a:p>
            <a:r>
              <a:rPr lang="en-US" b="1" dirty="0" smtClean="0"/>
              <a:t>Thread-based Multitasking (Multithreading)</a:t>
            </a:r>
          </a:p>
          <a:p>
            <a:endParaRPr lang="en-US" b="1" dirty="0" smtClean="0"/>
          </a:p>
          <a:p>
            <a:r>
              <a:rPr lang="en-US" dirty="0" smtClean="0"/>
              <a:t>A thread is a separate path of execution of code for each task within a program. In thread-based multitasking, a program uses multiple threads to perform one or more tasks at the same time by a processor.</a:t>
            </a:r>
          </a:p>
          <a:p>
            <a:endParaRPr lang="en-US" dirty="0" smtClean="0"/>
          </a:p>
          <a:p>
            <a:r>
              <a:rPr lang="en-US" dirty="0" smtClean="0"/>
              <a:t>That is, thread-based multitasking feature allows you to execute several parts of the same program at once. Each thread has a different path of execution.</a:t>
            </a:r>
          </a:p>
          <a:p>
            <a:endParaRPr lang="en-US"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528" y="260648"/>
            <a:ext cx="4336252" cy="369332"/>
          </a:xfrm>
          <a:prstGeom prst="rect">
            <a:avLst/>
          </a:prstGeom>
        </p:spPr>
        <p:txBody>
          <a:bodyPr wrap="none">
            <a:spAutoFit/>
          </a:bodyPr>
          <a:lstStyle/>
          <a:p>
            <a:r>
              <a:rPr lang="en-US" b="1" dirty="0" err="1" smtClean="0"/>
              <a:t>Realtime</a:t>
            </a:r>
            <a:r>
              <a:rPr lang="en-US" b="1" dirty="0" smtClean="0"/>
              <a:t> Example of Multithreading in Java</a:t>
            </a:r>
            <a:endParaRPr lang="en-US" b="1" dirty="0"/>
          </a:p>
        </p:txBody>
      </p:sp>
      <p:sp>
        <p:nvSpPr>
          <p:cNvPr id="3" name="Rectangle 2"/>
          <p:cNvSpPr/>
          <p:nvPr/>
        </p:nvSpPr>
        <p:spPr>
          <a:xfrm>
            <a:off x="323528" y="1028343"/>
            <a:ext cx="8280920" cy="2585323"/>
          </a:xfrm>
          <a:prstGeom prst="rect">
            <a:avLst/>
          </a:prstGeom>
        </p:spPr>
        <p:txBody>
          <a:bodyPr wrap="square">
            <a:spAutoFit/>
          </a:bodyPr>
          <a:lstStyle/>
          <a:p>
            <a:r>
              <a:rPr lang="en-US" dirty="0" smtClean="0"/>
              <a:t>Let’s take different examples of thread-based multithreading in Java.</a:t>
            </a:r>
          </a:p>
          <a:p>
            <a:r>
              <a:rPr lang="en-US" dirty="0" smtClean="0"/>
              <a:t>1. A very good example of thread-based multithreading is a word processing program that checks the spelling of words in a document while writing the document. This is possible only if each action is performed by a separate thread.</a:t>
            </a:r>
          </a:p>
          <a:p>
            <a:r>
              <a:rPr lang="en-US" dirty="0" smtClean="0"/>
              <a:t>2. Another familiar example is a browser that starts rendering a web page while it is still downloading the rest of page.</a:t>
            </a:r>
          </a:p>
          <a:p>
            <a:r>
              <a:rPr lang="en-US" dirty="0" smtClean="0"/>
              <a:t>Consider a program as shown in the below figure. The program is divided into two parts. These parts may represent two separate blocks of code or two separate methods that can perform two different tasks of the same program.</a:t>
            </a:r>
            <a:endParaRPr lang="en-US" dirty="0"/>
          </a:p>
        </p:txBody>
      </p:sp>
      <p:pic>
        <p:nvPicPr>
          <p:cNvPr id="196610" name="Picture 2" descr="Thread based multitasking (Multithreading) in Java"/>
          <p:cNvPicPr>
            <a:picLocks noChangeAspect="1" noChangeArrowheads="1"/>
          </p:cNvPicPr>
          <p:nvPr/>
        </p:nvPicPr>
        <p:blipFill>
          <a:blip r:embed="rId2" cstate="print"/>
          <a:srcRect/>
          <a:stretch>
            <a:fillRect/>
          </a:stretch>
        </p:blipFill>
        <p:spPr bwMode="auto">
          <a:xfrm>
            <a:off x="467544" y="3497626"/>
            <a:ext cx="5040560" cy="3360373"/>
          </a:xfrm>
          <a:prstGeom prst="rect">
            <a:avLst/>
          </a:prstGeom>
          <a:noFill/>
        </p:spPr>
      </p:pic>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60648"/>
            <a:ext cx="8892480" cy="6186309"/>
          </a:xfrm>
          <a:prstGeom prst="rect">
            <a:avLst/>
          </a:prstGeom>
        </p:spPr>
        <p:txBody>
          <a:bodyPr wrap="square">
            <a:spAutoFit/>
          </a:bodyPr>
          <a:lstStyle/>
          <a:p>
            <a:r>
              <a:rPr lang="en-US" dirty="0" smtClean="0"/>
              <a:t>Hence, a processor will create two separate threads to execute these two parts simultaneously. Each thread acts as an individual process that will execute a separate block of code.</a:t>
            </a:r>
          </a:p>
          <a:p>
            <a:r>
              <a:rPr lang="en-US" dirty="0" smtClean="0"/>
              <a:t>Thus, a processor has two threads that will perform two different tasks at a time. This multitasking is called thread-based multiple tasking.</a:t>
            </a:r>
          </a:p>
          <a:p>
            <a:endParaRPr lang="en-IN" dirty="0" smtClean="0"/>
          </a:p>
          <a:p>
            <a:endParaRPr lang="en-IN" dirty="0" smtClean="0"/>
          </a:p>
          <a:p>
            <a:r>
              <a:rPr lang="en-US" b="1" dirty="0" smtClean="0"/>
              <a:t>Advantage of Thread-based Multitasking over Process-Thread Multitasking</a:t>
            </a:r>
          </a:p>
          <a:p>
            <a:endParaRPr lang="en-US" b="1" dirty="0" smtClean="0"/>
          </a:p>
          <a:p>
            <a:r>
              <a:rPr lang="en-US" dirty="0" smtClean="0"/>
              <a:t>The main advantages of thread-based multitasking as compared to process-based tasking are</a:t>
            </a:r>
          </a:p>
          <a:p>
            <a:r>
              <a:rPr lang="en-US" dirty="0" smtClean="0"/>
              <a:t>1. Threads share the same memory address space.</a:t>
            </a:r>
            <a:br>
              <a:rPr lang="en-US" dirty="0" smtClean="0"/>
            </a:br>
            <a:r>
              <a:rPr lang="en-US" dirty="0" smtClean="0"/>
              <a:t>2. Context switching from one thread to another thread is less expensive than between processes.</a:t>
            </a:r>
            <a:br>
              <a:rPr lang="en-US" dirty="0" smtClean="0"/>
            </a:br>
            <a:r>
              <a:rPr lang="en-US" dirty="0" smtClean="0"/>
              <a:t>3. The cost of communication between threads is relatively low.</a:t>
            </a:r>
          </a:p>
          <a:p>
            <a:r>
              <a:rPr lang="en-US" dirty="0" smtClean="0"/>
              <a:t>4. Threads are lightweight as compared to processes (heavyweight). They utilize the minimum resources of the system. They take less memory and less processor time.</a:t>
            </a:r>
          </a:p>
          <a:p>
            <a:r>
              <a:rPr lang="en-US" dirty="0" smtClean="0"/>
              <a:t>Java supports thread-based multitasking and provides a high quality of facilities for multithreading programming.</a:t>
            </a:r>
          </a:p>
          <a:p>
            <a:r>
              <a:rPr lang="en-US" dirty="0" smtClean="0"/>
              <a:t>A great way to remember the difference between process-based multitasking and thread-based multitasking is process-based multitasking works with multiple programs or processes whereas thread-based multitasking works with parts of one program.</a:t>
            </a:r>
          </a:p>
          <a:p>
            <a:endParaRPr lang="en-US"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Ways for Creating threads in Java"/>
          <p:cNvPicPr>
            <a:picLocks noChangeAspect="1" noChangeArrowheads="1"/>
          </p:cNvPicPr>
          <p:nvPr/>
        </p:nvPicPr>
        <p:blipFill>
          <a:blip r:embed="rId2" cstate="print"/>
          <a:srcRect/>
          <a:stretch>
            <a:fillRect/>
          </a:stretch>
        </p:blipFill>
        <p:spPr bwMode="auto">
          <a:xfrm>
            <a:off x="3203848" y="2780928"/>
            <a:ext cx="5715000" cy="3810000"/>
          </a:xfrm>
          <a:prstGeom prst="rect">
            <a:avLst/>
          </a:prstGeom>
          <a:noFill/>
        </p:spPr>
      </p:pic>
      <p:sp>
        <p:nvSpPr>
          <p:cNvPr id="3" name="Rectangle 2"/>
          <p:cNvSpPr/>
          <p:nvPr/>
        </p:nvSpPr>
        <p:spPr>
          <a:xfrm>
            <a:off x="179512" y="260648"/>
            <a:ext cx="8784976" cy="2031325"/>
          </a:xfrm>
          <a:prstGeom prst="rect">
            <a:avLst/>
          </a:prstGeom>
        </p:spPr>
        <p:txBody>
          <a:bodyPr wrap="square">
            <a:spAutoFit/>
          </a:bodyPr>
          <a:lstStyle/>
          <a:p>
            <a:r>
              <a:rPr lang="en-US" b="1" dirty="0" smtClean="0"/>
              <a:t>Creating threads in Java</a:t>
            </a:r>
            <a:r>
              <a:rPr lang="en-US" dirty="0" smtClean="0"/>
              <a:t> | We know that every Java program has at least one thread called main thread. When a program starts, main thread starts running immediately.</a:t>
            </a:r>
          </a:p>
          <a:p>
            <a:endParaRPr lang="en-US" dirty="0" smtClean="0"/>
          </a:p>
          <a:p>
            <a:r>
              <a:rPr lang="en-US" dirty="0" smtClean="0"/>
              <a:t>Apart from this main thread, we can also create our own threads in a program that is called child thread. </a:t>
            </a:r>
          </a:p>
          <a:p>
            <a:endParaRPr lang="en-US" dirty="0" smtClean="0"/>
          </a:p>
          <a:p>
            <a:r>
              <a:rPr lang="en-US" dirty="0" smtClean="0"/>
              <a:t>Every child threads create from its main thread known as parent thread.</a:t>
            </a:r>
            <a:endParaRPr lang="en-US"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404664"/>
            <a:ext cx="3072444" cy="369332"/>
          </a:xfrm>
          <a:prstGeom prst="rect">
            <a:avLst/>
          </a:prstGeom>
        </p:spPr>
        <p:txBody>
          <a:bodyPr wrap="none">
            <a:spAutoFit/>
          </a:bodyPr>
          <a:lstStyle/>
          <a:p>
            <a:r>
              <a:rPr lang="en-US" b="1" dirty="0" smtClean="0"/>
              <a:t>Extending Thread Class in Java</a:t>
            </a:r>
            <a:endParaRPr lang="en-US" b="1" dirty="0"/>
          </a:p>
        </p:txBody>
      </p:sp>
      <p:sp>
        <p:nvSpPr>
          <p:cNvPr id="3" name="Rectangle 2"/>
          <p:cNvSpPr/>
          <p:nvPr/>
        </p:nvSpPr>
        <p:spPr>
          <a:xfrm>
            <a:off x="0" y="980728"/>
            <a:ext cx="8856984" cy="4524315"/>
          </a:xfrm>
          <a:prstGeom prst="rect">
            <a:avLst/>
          </a:prstGeom>
        </p:spPr>
        <p:txBody>
          <a:bodyPr wrap="square">
            <a:spAutoFit/>
          </a:bodyPr>
          <a:lstStyle/>
          <a:p>
            <a:r>
              <a:rPr lang="en-US" dirty="0" smtClean="0"/>
              <a:t>Extending Thread class is the easiest way to create a new thread in Java. The following steps can be followed to create your own thread in Java.</a:t>
            </a:r>
          </a:p>
          <a:p>
            <a:endParaRPr lang="en-IN" dirty="0" smtClean="0"/>
          </a:p>
          <a:p>
            <a:r>
              <a:rPr lang="en-US" dirty="0" smtClean="0">
                <a:solidFill>
                  <a:srgbClr val="00B0F0"/>
                </a:solidFill>
              </a:rPr>
              <a:t>Class </a:t>
            </a:r>
            <a:r>
              <a:rPr lang="en-US" dirty="0" err="1" smtClean="0">
                <a:solidFill>
                  <a:srgbClr val="00B0F0"/>
                </a:solidFill>
              </a:rPr>
              <a:t>Myclass</a:t>
            </a:r>
            <a:r>
              <a:rPr lang="en-US" dirty="0" smtClean="0">
                <a:solidFill>
                  <a:srgbClr val="00B0F0"/>
                </a:solidFill>
              </a:rPr>
              <a:t> extends Thread</a:t>
            </a:r>
          </a:p>
          <a:p>
            <a:endParaRPr lang="en-IN" dirty="0" smtClean="0">
              <a:solidFill>
                <a:srgbClr val="00B0F0"/>
              </a:solidFill>
            </a:endParaRPr>
          </a:p>
          <a:p>
            <a:endParaRPr lang="en-IN" dirty="0" smtClean="0">
              <a:solidFill>
                <a:srgbClr val="00B0F0"/>
              </a:solidFill>
            </a:endParaRPr>
          </a:p>
          <a:p>
            <a:r>
              <a:rPr lang="en-US" dirty="0" smtClean="0"/>
              <a:t>Now in this newly created class, define a method run(). Here, run() method acts as entry point of the new thread. The run() method contains the actual task that thread will perform. Thus, we override run() method of Thread class.</a:t>
            </a:r>
          </a:p>
          <a:p>
            <a:endParaRPr lang="en-IN" dirty="0" smtClean="0">
              <a:solidFill>
                <a:srgbClr val="00B0F0"/>
              </a:solidFill>
            </a:endParaRPr>
          </a:p>
          <a:p>
            <a:r>
              <a:rPr lang="en-US" dirty="0" smtClean="0">
                <a:solidFill>
                  <a:srgbClr val="00B0F0"/>
                </a:solidFill>
              </a:rPr>
              <a:t>public void run()</a:t>
            </a:r>
          </a:p>
          <a:p>
            <a:r>
              <a:rPr lang="en-US" dirty="0" smtClean="0">
                <a:solidFill>
                  <a:srgbClr val="00B0F0"/>
                </a:solidFill>
              </a:rPr>
              <a:t>{</a:t>
            </a:r>
          </a:p>
          <a:p>
            <a:r>
              <a:rPr lang="en-US" dirty="0" smtClean="0">
                <a:solidFill>
                  <a:srgbClr val="00B0F0"/>
                </a:solidFill>
              </a:rPr>
              <a:t> // statements to be executed.</a:t>
            </a:r>
          </a:p>
          <a:p>
            <a:r>
              <a:rPr lang="en-US" dirty="0" smtClean="0">
                <a:solidFill>
                  <a:srgbClr val="00B0F0"/>
                </a:solidFill>
              </a:rPr>
              <a:t>}</a:t>
            </a:r>
          </a:p>
          <a:p>
            <a:endParaRPr lang="en-US" dirty="0" smtClean="0">
              <a:solidFill>
                <a:srgbClr val="00B0F0"/>
              </a:solidFill>
            </a:endParaRPr>
          </a:p>
          <a:p>
            <a:endParaRPr lang="en-US" dirty="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736455" cy="369332"/>
          </a:xfrm>
          <a:prstGeom prst="rect">
            <a:avLst/>
          </a:prstGeom>
        </p:spPr>
        <p:txBody>
          <a:bodyPr wrap="none">
            <a:spAutoFit/>
          </a:bodyPr>
          <a:lstStyle/>
          <a:p>
            <a:r>
              <a:rPr lang="en-US" b="1" dirty="0" smtClean="0"/>
              <a:t>Life Cycle of Thread in Java</a:t>
            </a:r>
            <a:endParaRPr lang="en-US" b="1" dirty="0"/>
          </a:p>
        </p:txBody>
      </p:sp>
      <p:sp>
        <p:nvSpPr>
          <p:cNvPr id="3" name="Rectangle 2"/>
          <p:cNvSpPr/>
          <p:nvPr/>
        </p:nvSpPr>
        <p:spPr>
          <a:xfrm>
            <a:off x="179512" y="476672"/>
            <a:ext cx="8496944" cy="3693319"/>
          </a:xfrm>
          <a:prstGeom prst="rect">
            <a:avLst/>
          </a:prstGeom>
        </p:spPr>
        <p:txBody>
          <a:bodyPr wrap="square">
            <a:spAutoFit/>
          </a:bodyPr>
          <a:lstStyle/>
          <a:p>
            <a:r>
              <a:rPr lang="en-US" b="1" dirty="0" smtClean="0"/>
              <a:t>Life Cycle of Thread in Java</a:t>
            </a:r>
            <a:r>
              <a:rPr lang="en-US" dirty="0" smtClean="0"/>
              <a:t> is basically state transitions of a thread that starts from its birth and ends on its death.</a:t>
            </a:r>
          </a:p>
          <a:p>
            <a:endParaRPr lang="en-US" dirty="0" smtClean="0"/>
          </a:p>
          <a:p>
            <a:r>
              <a:rPr lang="en-US" dirty="0" smtClean="0"/>
              <a:t>When an instance of a thread is created and is executed by calling start() method of Thread class, the thread goes into </a:t>
            </a:r>
            <a:r>
              <a:rPr lang="en-US" dirty="0" err="1" smtClean="0"/>
              <a:t>runnable</a:t>
            </a:r>
            <a:r>
              <a:rPr lang="en-US" dirty="0" smtClean="0"/>
              <a:t> state. When sleep() or wait() method is called by Thread class, the thread enters into non-</a:t>
            </a:r>
            <a:r>
              <a:rPr lang="en-US" dirty="0" err="1" smtClean="0"/>
              <a:t>runnable</a:t>
            </a:r>
            <a:r>
              <a:rPr lang="en-US" dirty="0" smtClean="0"/>
              <a:t> state.</a:t>
            </a:r>
          </a:p>
          <a:p>
            <a:endParaRPr lang="en-US" dirty="0" smtClean="0"/>
          </a:p>
          <a:p>
            <a:r>
              <a:rPr lang="en-US" dirty="0" smtClean="0"/>
              <a:t>From non-</a:t>
            </a:r>
            <a:r>
              <a:rPr lang="en-US" dirty="0" err="1" smtClean="0"/>
              <a:t>runnable</a:t>
            </a:r>
            <a:r>
              <a:rPr lang="en-US" dirty="0" smtClean="0"/>
              <a:t> state, thread comes back to </a:t>
            </a:r>
            <a:r>
              <a:rPr lang="en-US" dirty="0" err="1" smtClean="0"/>
              <a:t>runnable</a:t>
            </a:r>
            <a:r>
              <a:rPr lang="en-US" dirty="0" smtClean="0"/>
              <a:t> state and continues execution of statements. When the thread comes out of run() method, it dies. </a:t>
            </a:r>
          </a:p>
          <a:p>
            <a:endParaRPr lang="en-US" dirty="0" smtClean="0"/>
          </a:p>
          <a:p>
            <a:r>
              <a:rPr lang="en-US" dirty="0" smtClean="0"/>
              <a:t>These state transitions of a thread are called </a:t>
            </a:r>
            <a:r>
              <a:rPr lang="en-US" b="1" dirty="0" smtClean="0"/>
              <a:t>Thread life cycle in Java</a:t>
            </a:r>
            <a:r>
              <a:rPr lang="en-US" dirty="0" smtClean="0"/>
              <a:t>.</a:t>
            </a:r>
          </a:p>
          <a:p>
            <a:endParaRPr lang="en-IN" dirty="0" smtClean="0"/>
          </a:p>
          <a:p>
            <a:endParaRPr lang="en-US"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Life cycle of thread in Java"/>
          <p:cNvPicPr>
            <a:picLocks noChangeAspect="1" noChangeArrowheads="1"/>
          </p:cNvPicPr>
          <p:nvPr/>
        </p:nvPicPr>
        <p:blipFill>
          <a:blip r:embed="rId2" cstate="print"/>
          <a:srcRect/>
          <a:stretch>
            <a:fillRect/>
          </a:stretch>
        </p:blipFill>
        <p:spPr bwMode="auto">
          <a:xfrm>
            <a:off x="3393504" y="1412776"/>
            <a:ext cx="5715000" cy="4762500"/>
          </a:xfrm>
          <a:prstGeom prst="rect">
            <a:avLst/>
          </a:prstGeom>
          <a:noFill/>
        </p:spPr>
      </p:pic>
      <p:sp>
        <p:nvSpPr>
          <p:cNvPr id="3" name="Rectangle 2"/>
          <p:cNvSpPr/>
          <p:nvPr/>
        </p:nvSpPr>
        <p:spPr>
          <a:xfrm>
            <a:off x="251520" y="332656"/>
            <a:ext cx="8892480" cy="3139321"/>
          </a:xfrm>
          <a:prstGeom prst="rect">
            <a:avLst/>
          </a:prstGeom>
        </p:spPr>
        <p:txBody>
          <a:bodyPr wrap="square">
            <a:spAutoFit/>
          </a:bodyPr>
          <a:lstStyle/>
          <a:p>
            <a:r>
              <a:rPr lang="en-US" b="1" dirty="0" smtClean="0"/>
              <a:t>Thread States in Java</a:t>
            </a:r>
          </a:p>
          <a:p>
            <a:endParaRPr lang="en-US" b="1" dirty="0" smtClean="0"/>
          </a:p>
          <a:p>
            <a:r>
              <a:rPr lang="en-US" dirty="0" smtClean="0"/>
              <a:t>A thread is a path of execution in a program that enters in any one of the following five states during its life cycle. </a:t>
            </a:r>
          </a:p>
          <a:p>
            <a:endParaRPr lang="en-US" dirty="0" smtClean="0"/>
          </a:p>
          <a:p>
            <a:r>
              <a:rPr lang="en-US" dirty="0" smtClean="0"/>
              <a:t>The five states are as follows:</a:t>
            </a:r>
          </a:p>
          <a:p>
            <a:r>
              <a:rPr lang="en-US" dirty="0" smtClean="0"/>
              <a:t>1. New</a:t>
            </a:r>
          </a:p>
          <a:p>
            <a:r>
              <a:rPr lang="en-US" dirty="0" smtClean="0"/>
              <a:t>2. </a:t>
            </a:r>
            <a:r>
              <a:rPr lang="en-US" dirty="0" err="1" smtClean="0"/>
              <a:t>Runnable</a:t>
            </a:r>
            <a:endParaRPr lang="en-US" dirty="0" smtClean="0"/>
          </a:p>
          <a:p>
            <a:r>
              <a:rPr lang="en-US" dirty="0" smtClean="0"/>
              <a:t>3. Running</a:t>
            </a:r>
          </a:p>
          <a:p>
            <a:r>
              <a:rPr lang="en-US" dirty="0" smtClean="0"/>
              <a:t>4. Blocked (Non-</a:t>
            </a:r>
            <a:r>
              <a:rPr lang="en-US" dirty="0" err="1" smtClean="0"/>
              <a:t>runnable</a:t>
            </a:r>
            <a:r>
              <a:rPr lang="en-US" dirty="0" smtClean="0"/>
              <a:t> state)</a:t>
            </a:r>
          </a:p>
          <a:p>
            <a:r>
              <a:rPr lang="en-US" dirty="0" smtClean="0"/>
              <a:t>5. Dead</a:t>
            </a: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88640"/>
            <a:ext cx="8964488" cy="923330"/>
          </a:xfrm>
          <a:prstGeom prst="rect">
            <a:avLst/>
          </a:prstGeom>
        </p:spPr>
        <p:txBody>
          <a:bodyPr wrap="square">
            <a:spAutoFit/>
          </a:bodyPr>
          <a:lstStyle/>
          <a:p>
            <a:r>
              <a:rPr lang="en-US" b="1" dirty="0" smtClean="0"/>
              <a:t>New (Newborn State):</a:t>
            </a:r>
            <a:r>
              <a:rPr lang="en-US" dirty="0" smtClean="0"/>
              <a:t> When we create a thread object using Thread class, thread is born and is known to be in Newborn state. That is, when a thread is born, it enters into new state but the start() method has not been called yet on the instance.</a:t>
            </a:r>
            <a:endParaRPr lang="en-US" dirty="0"/>
          </a:p>
        </p:txBody>
      </p:sp>
      <p:pic>
        <p:nvPicPr>
          <p:cNvPr id="4098" name="Picture 2" descr="Thread in new born state"/>
          <p:cNvPicPr>
            <a:picLocks noChangeAspect="1" noChangeArrowheads="1"/>
          </p:cNvPicPr>
          <p:nvPr/>
        </p:nvPicPr>
        <p:blipFill>
          <a:blip r:embed="rId2" cstate="print"/>
          <a:srcRect/>
          <a:stretch>
            <a:fillRect/>
          </a:stretch>
        </p:blipFill>
        <p:spPr bwMode="auto">
          <a:xfrm>
            <a:off x="2195736" y="1700808"/>
            <a:ext cx="5715000" cy="3810000"/>
          </a:xfrm>
          <a:prstGeom prst="rect">
            <a:avLst/>
          </a:prstGeom>
          <a:noFill/>
        </p:spPr>
      </p:pic>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260648"/>
            <a:ext cx="8748464" cy="5909310"/>
          </a:xfrm>
          <a:prstGeom prst="rect">
            <a:avLst/>
          </a:prstGeom>
        </p:spPr>
        <p:txBody>
          <a:bodyPr wrap="square">
            <a:spAutoFit/>
          </a:bodyPr>
          <a:lstStyle/>
          <a:p>
            <a:r>
              <a:rPr lang="en-US" dirty="0" smtClean="0"/>
              <a:t>In other words, Thread object exists but it cannot execute any statement because it is not an execution of thread. Only start() method can be called on a new thread; otherwise, an </a:t>
            </a:r>
            <a:r>
              <a:rPr lang="en-US" b="1" dirty="0" err="1" smtClean="0"/>
              <a:t>IllegalThreadStateException</a:t>
            </a:r>
            <a:r>
              <a:rPr lang="en-US" dirty="0" smtClean="0"/>
              <a:t> will be thrown.</a:t>
            </a:r>
          </a:p>
          <a:p>
            <a:endParaRPr lang="en-IN" dirty="0" smtClean="0"/>
          </a:p>
          <a:p>
            <a:endParaRPr lang="en-US" dirty="0" smtClean="0"/>
          </a:p>
          <a:p>
            <a:r>
              <a:rPr lang="en-US" b="1" dirty="0" smtClean="0"/>
              <a:t>2.</a:t>
            </a:r>
            <a:r>
              <a:rPr lang="en-US" dirty="0" smtClean="0"/>
              <a:t> </a:t>
            </a:r>
            <a:r>
              <a:rPr lang="en-US" b="1" dirty="0" err="1" smtClean="0"/>
              <a:t>Runnable</a:t>
            </a:r>
            <a:r>
              <a:rPr lang="en-US" b="1" dirty="0" smtClean="0"/>
              <a:t> state:</a:t>
            </a:r>
            <a:r>
              <a:rPr lang="en-US" dirty="0" smtClean="0"/>
              <a:t> </a:t>
            </a:r>
            <a:r>
              <a:rPr lang="en-US" dirty="0" err="1" smtClean="0"/>
              <a:t>Runnable</a:t>
            </a:r>
            <a:r>
              <a:rPr lang="en-US" dirty="0" smtClean="0"/>
              <a:t> state means a thread is ready for execution. When the start() method is called on a new thread, thread enters into a </a:t>
            </a:r>
            <a:r>
              <a:rPr lang="en-US" dirty="0" err="1" smtClean="0"/>
              <a:t>runnable</a:t>
            </a:r>
            <a:r>
              <a:rPr lang="en-US" dirty="0" smtClean="0"/>
              <a:t> state.</a:t>
            </a:r>
            <a:br>
              <a:rPr lang="en-US" dirty="0" smtClean="0"/>
            </a:br>
            <a:endParaRPr lang="en-US" dirty="0" smtClean="0"/>
          </a:p>
          <a:p>
            <a:r>
              <a:rPr lang="en-US" dirty="0" smtClean="0"/>
              <a:t/>
            </a:r>
            <a:br>
              <a:rPr lang="en-US" dirty="0" smtClean="0"/>
            </a:br>
            <a:r>
              <a:rPr lang="en-US" dirty="0" smtClean="0"/>
              <a:t>In </a:t>
            </a:r>
            <a:r>
              <a:rPr lang="en-US" dirty="0" err="1" smtClean="0"/>
              <a:t>runnable</a:t>
            </a:r>
            <a:r>
              <a:rPr lang="en-US" dirty="0" smtClean="0"/>
              <a:t> state, thread is ready for execution and is waiting for availability of the processor (CPU time). That is, thread has joined queue (line) of threads that are waiting for execution.</a:t>
            </a:r>
          </a:p>
          <a:p>
            <a:endParaRPr lang="en-US" dirty="0" smtClean="0"/>
          </a:p>
          <a:p>
            <a:r>
              <a:rPr lang="en-US" b="1" dirty="0" smtClean="0"/>
              <a:t>3.Running state:</a:t>
            </a:r>
            <a:r>
              <a:rPr lang="en-US" dirty="0" smtClean="0"/>
              <a:t> Running means Processor (CPU) has allocated time slot to thread for its execution. When thread scheduler selects a thread from the </a:t>
            </a:r>
            <a:r>
              <a:rPr lang="en-US" dirty="0" err="1" smtClean="0"/>
              <a:t>runnable</a:t>
            </a:r>
            <a:r>
              <a:rPr lang="en-US" dirty="0" smtClean="0"/>
              <a:t> state for execution, it goes into running state. Look at the above figure.</a:t>
            </a:r>
          </a:p>
          <a:p>
            <a:endParaRPr lang="en-US" dirty="0" smtClean="0"/>
          </a:p>
          <a:p>
            <a:r>
              <a:rPr lang="en-US" dirty="0" smtClean="0"/>
              <a:t>In running state, processor gives its time to the thread for execution and executes its run method. This is the state where thread performs its actual functions. A thread can come into running state only from </a:t>
            </a:r>
            <a:r>
              <a:rPr lang="en-US" dirty="0" err="1" smtClean="0"/>
              <a:t>runnable</a:t>
            </a:r>
            <a:r>
              <a:rPr lang="en-US" dirty="0" smtClean="0"/>
              <a:t> state.</a:t>
            </a:r>
          </a:p>
          <a:p>
            <a:endParaRPr lang="en-US" dirty="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hread in running state"/>
          <p:cNvPicPr>
            <a:picLocks noChangeAspect="1" noChangeArrowheads="1"/>
          </p:cNvPicPr>
          <p:nvPr/>
        </p:nvPicPr>
        <p:blipFill>
          <a:blip r:embed="rId2" cstate="print"/>
          <a:srcRect/>
          <a:stretch>
            <a:fillRect/>
          </a:stretch>
        </p:blipFill>
        <p:spPr bwMode="auto">
          <a:xfrm>
            <a:off x="1619672" y="404664"/>
            <a:ext cx="5715000" cy="3810000"/>
          </a:xfrm>
          <a:prstGeom prst="rect">
            <a:avLst/>
          </a:prstGeom>
          <a:noFill/>
        </p:spPr>
      </p:pic>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332656"/>
            <a:ext cx="8496944" cy="4247317"/>
          </a:xfrm>
          <a:prstGeom prst="rect">
            <a:avLst/>
          </a:prstGeom>
        </p:spPr>
        <p:txBody>
          <a:bodyPr wrap="square">
            <a:spAutoFit/>
          </a:bodyPr>
          <a:lstStyle/>
          <a:p>
            <a:r>
              <a:rPr lang="en-US" dirty="0" smtClean="0"/>
              <a:t>1. When sleep() method is invoked on a thread to sleep for specified time period, the thread is out of queue during this time period. The thread again reenters into the </a:t>
            </a:r>
            <a:r>
              <a:rPr lang="en-US" dirty="0" err="1" smtClean="0"/>
              <a:t>runnable</a:t>
            </a:r>
            <a:r>
              <a:rPr lang="en-US" dirty="0" smtClean="0"/>
              <a:t> state as soon as this time period is elapsed.</a:t>
            </a:r>
          </a:p>
          <a:p>
            <a:r>
              <a:rPr lang="en-US" dirty="0" smtClean="0"/>
              <a:t>2. When a thread is suspended using suspend() method for some time in order to satisfy some conditions. A suspended thread can be revived by using resume() method.</a:t>
            </a:r>
          </a:p>
          <a:p>
            <a:r>
              <a:rPr lang="en-US" dirty="0" smtClean="0"/>
              <a:t>3. When wait() method is called on a thread to wait for some time. The thread in wait state can be run again using notify() or </a:t>
            </a:r>
            <a:r>
              <a:rPr lang="en-US" dirty="0" err="1" smtClean="0"/>
              <a:t>notifyAll</a:t>
            </a:r>
            <a:r>
              <a:rPr lang="en-US" dirty="0" smtClean="0"/>
              <a:t>() method.</a:t>
            </a:r>
          </a:p>
          <a:p>
            <a:r>
              <a:rPr lang="en-US" b="1" dirty="0" smtClean="0"/>
              <a:t>4.</a:t>
            </a:r>
            <a:r>
              <a:rPr lang="en-US" dirty="0" smtClean="0"/>
              <a:t> </a:t>
            </a:r>
            <a:r>
              <a:rPr lang="en-US" b="1" dirty="0" smtClean="0"/>
              <a:t>Blocked state:</a:t>
            </a:r>
            <a:r>
              <a:rPr lang="en-US" dirty="0" smtClean="0"/>
              <a:t> A thread is considered to be in the blocked state when it is suspended, sleeping, or waiting for some time in order to satisfy some condition.</a:t>
            </a:r>
          </a:p>
          <a:p>
            <a:r>
              <a:rPr lang="en-US" b="1" dirty="0" smtClean="0"/>
              <a:t>5.</a:t>
            </a:r>
            <a:r>
              <a:rPr lang="en-US" dirty="0" smtClean="0"/>
              <a:t> </a:t>
            </a:r>
            <a:r>
              <a:rPr lang="en-US" b="1" dirty="0" smtClean="0"/>
              <a:t>Dead state:</a:t>
            </a:r>
            <a:r>
              <a:rPr lang="en-US" dirty="0" smtClean="0"/>
              <a:t> A thread dies or moves into dead state automatically when its run() method completes the execution of statements. That is, a thread is terminated or dead when a thread comes out of run() method. A thread can also be dead when the stop() method is called.</a:t>
            </a:r>
          </a:p>
          <a:p>
            <a:r>
              <a:rPr lang="en-US" dirty="0" smtClean="0"/>
              <a:t/>
            </a:r>
            <a:br>
              <a:rPr lang="en-US" dirty="0" smtClean="0"/>
            </a:br>
            <a:endParaRPr lang="en-US"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srcRect/>
          <a:stretch>
            <a:fillRect/>
          </a:stretch>
        </p:blipFill>
        <p:spPr bwMode="auto">
          <a:xfrm>
            <a:off x="-24538" y="1214422"/>
            <a:ext cx="9044799" cy="4357718"/>
          </a:xfrm>
          <a:prstGeom prst="rect">
            <a:avLst/>
          </a:prstGeom>
          <a:noFill/>
          <a:ln w="9525">
            <a:noFill/>
            <a:miter lim="800000"/>
            <a:headEnd/>
            <a:tailEnd/>
          </a:ln>
          <a:effectLst/>
        </p:spPr>
      </p:pic>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srcRect/>
          <a:stretch>
            <a:fillRect/>
          </a:stretch>
        </p:blipFill>
        <p:spPr bwMode="auto">
          <a:xfrm>
            <a:off x="357158" y="932310"/>
            <a:ext cx="7205692" cy="4268340"/>
          </a:xfrm>
          <a:prstGeom prst="rect">
            <a:avLst/>
          </a:prstGeom>
          <a:noFill/>
          <a:ln w="9525">
            <a:noFill/>
            <a:miter lim="800000"/>
            <a:headEnd/>
            <a:tailEnd/>
          </a:ln>
          <a:effectLst/>
        </p:spPr>
      </p:pic>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srcRect/>
          <a:stretch>
            <a:fillRect/>
          </a:stretch>
        </p:blipFill>
        <p:spPr bwMode="auto">
          <a:xfrm>
            <a:off x="1033463" y="1890713"/>
            <a:ext cx="7077075" cy="3076575"/>
          </a:xfrm>
          <a:prstGeom prst="rect">
            <a:avLst/>
          </a:prstGeom>
          <a:noFill/>
          <a:ln w="9525">
            <a:noFill/>
            <a:miter lim="800000"/>
            <a:headEnd/>
            <a:tailEnd/>
          </a:ln>
          <a:effectLst/>
        </p:spPr>
      </p:pic>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a:srcRect/>
          <a:stretch>
            <a:fillRect/>
          </a:stretch>
        </p:blipFill>
        <p:spPr bwMode="auto">
          <a:xfrm>
            <a:off x="957263" y="1895475"/>
            <a:ext cx="7229475" cy="3067050"/>
          </a:xfrm>
          <a:prstGeom prst="rect">
            <a:avLst/>
          </a:prstGeom>
          <a:noFill/>
          <a:ln w="9525">
            <a:noFill/>
            <a:miter lim="800000"/>
            <a:headEnd/>
            <a:tailEnd/>
          </a:ln>
          <a:effectLst/>
        </p:spPr>
      </p:pic>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a:srcRect/>
          <a:stretch>
            <a:fillRect/>
          </a:stretch>
        </p:blipFill>
        <p:spPr bwMode="auto">
          <a:xfrm>
            <a:off x="155250" y="428604"/>
            <a:ext cx="8774468" cy="5386409"/>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2001</TotalTime>
  <Words>4608</Words>
  <Application>Microsoft Office PowerPoint</Application>
  <PresentationFormat>On-screen Show (4:3)</PresentationFormat>
  <Paragraphs>717</Paragraphs>
  <Slides>177</Slides>
  <Notes>0</Notes>
  <HiddenSlides>0</HiddenSlides>
  <MMClips>0</MMClips>
  <ScaleCrop>false</ScaleCrop>
  <HeadingPairs>
    <vt:vector size="4" baseType="variant">
      <vt:variant>
        <vt:lpstr>Theme</vt:lpstr>
      </vt:variant>
      <vt:variant>
        <vt:i4>1</vt:i4>
      </vt:variant>
      <vt:variant>
        <vt:lpstr>Slide Titles</vt:lpstr>
      </vt:variant>
      <vt:variant>
        <vt:i4>177</vt:i4>
      </vt:variant>
    </vt:vector>
  </HeadingPairs>
  <TitlesOfParts>
    <vt:vector size="178"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91924</dc:creator>
  <cp:lastModifiedBy>Windows User</cp:lastModifiedBy>
  <cp:revision>250</cp:revision>
  <dcterms:created xsi:type="dcterms:W3CDTF">2020-12-24T15:18:44Z</dcterms:created>
  <dcterms:modified xsi:type="dcterms:W3CDTF">2024-01-06T05:05:31Z</dcterms:modified>
</cp:coreProperties>
</file>