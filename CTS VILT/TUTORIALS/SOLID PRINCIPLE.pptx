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74" r:id="rId7"/>
    <p:sldId id="275" r:id="rId8"/>
    <p:sldId id="276" r:id="rId9"/>
    <p:sldId id="260" r:id="rId10"/>
    <p:sldId id="277" r:id="rId11"/>
    <p:sldId id="278" r:id="rId12"/>
    <p:sldId id="279" r:id="rId13"/>
    <p:sldId id="261" r:id="rId14"/>
    <p:sldId id="280" r:id="rId15"/>
    <p:sldId id="281" r:id="rId16"/>
    <p:sldId id="262" r:id="rId17"/>
    <p:sldId id="282" r:id="rId18"/>
    <p:sldId id="283" r:id="rId19"/>
    <p:sldId id="284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2831F-0C22-4EC5-8FFD-B7CBFDBF42DE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49090-7E60-4C50-B311-993B818DAA9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85860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</a:t>
            </a:r>
            <a:r>
              <a:rPr lang="en-US" sz="3200" b="1" dirty="0"/>
              <a:t>SOLID</a:t>
            </a:r>
            <a:r>
              <a:rPr lang="en-US" sz="3200" dirty="0"/>
              <a:t> principles are a set of </a:t>
            </a:r>
            <a:r>
              <a:rPr lang="en-US" sz="3200" b="1" dirty="0"/>
              <a:t>five design principles</a:t>
            </a:r>
            <a:r>
              <a:rPr lang="en-US" sz="3200" dirty="0"/>
              <a:t> that were introduced by </a:t>
            </a:r>
            <a:r>
              <a:rPr lang="en-US" sz="3200" b="1" dirty="0"/>
              <a:t>Robert C. Martin (also known as Uncle Bob)</a:t>
            </a:r>
            <a:r>
              <a:rPr lang="en-US" sz="3200" dirty="0"/>
              <a:t> to help software developers create more maintainable, flexible, and scalable code. </a:t>
            </a:r>
          </a:p>
          <a:p>
            <a:endParaRPr lang="en-US" sz="3200" dirty="0"/>
          </a:p>
          <a:p>
            <a:r>
              <a:rPr lang="en-US" sz="3200" dirty="0"/>
              <a:t>These principles have become fundamental in </a:t>
            </a:r>
            <a:r>
              <a:rPr lang="en-US" sz="3200" b="1" dirty="0"/>
              <a:t>object-oriented programming </a:t>
            </a:r>
            <a:r>
              <a:rPr lang="en-US" sz="3200" dirty="0"/>
              <a:t>and are widely used in modern software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16100"/>
            <a:ext cx="9144000" cy="32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1357299"/>
            <a:ext cx="79296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SOLID Stands for</a:t>
            </a:r>
          </a:p>
          <a:p>
            <a:endParaRPr lang="en-US" sz="3600" b="1" dirty="0"/>
          </a:p>
          <a:p>
            <a:r>
              <a:rPr lang="en-US" sz="3600" b="1" dirty="0"/>
              <a:t>S</a:t>
            </a:r>
            <a:r>
              <a:rPr lang="en-US" sz="3600" dirty="0"/>
              <a:t>  : Single Responsibility Principle (SRP)</a:t>
            </a:r>
          </a:p>
          <a:p>
            <a:r>
              <a:rPr lang="en-US" sz="3600" b="1" dirty="0"/>
              <a:t>O</a:t>
            </a:r>
            <a:r>
              <a:rPr lang="en-US" sz="3600" dirty="0"/>
              <a:t> : Open closed Principle (OSP)</a:t>
            </a:r>
          </a:p>
          <a:p>
            <a:r>
              <a:rPr lang="en-US" sz="3600" b="1" dirty="0"/>
              <a:t>L</a:t>
            </a:r>
            <a:r>
              <a:rPr lang="en-US" sz="3600" dirty="0"/>
              <a:t>  : </a:t>
            </a:r>
            <a:r>
              <a:rPr lang="en-US" sz="3600" dirty="0" err="1"/>
              <a:t>Liskov</a:t>
            </a:r>
            <a:r>
              <a:rPr lang="en-US" sz="3600" dirty="0"/>
              <a:t> substitution Principle (LSP)</a:t>
            </a:r>
          </a:p>
          <a:p>
            <a:r>
              <a:rPr lang="en-US" sz="3600" b="1" dirty="0"/>
              <a:t>I   </a:t>
            </a:r>
            <a:r>
              <a:rPr lang="en-US" sz="3600" dirty="0"/>
              <a:t>: Interface Segregation Principle (ISP)</a:t>
            </a:r>
          </a:p>
          <a:p>
            <a:r>
              <a:rPr lang="en-US" sz="3600" b="1" dirty="0"/>
              <a:t>D</a:t>
            </a:r>
            <a:r>
              <a:rPr lang="en-US" sz="3600" dirty="0"/>
              <a:t> : Dependency Inversion Principle (DIP)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1071546"/>
            <a:ext cx="89297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Single Responsibility Principle</a:t>
            </a:r>
          </a:p>
          <a:p>
            <a:endParaRPr lang="en-US" sz="3600" dirty="0"/>
          </a:p>
          <a:p>
            <a:r>
              <a:rPr lang="en-US" sz="3600" dirty="0"/>
              <a:t>This principle states that “</a:t>
            </a:r>
            <a:r>
              <a:rPr lang="en-US" sz="3600" b="1" i="1" dirty="0"/>
              <a:t>a class should have only one reason to change</a:t>
            </a:r>
            <a:r>
              <a:rPr lang="en-US" sz="3600" dirty="0"/>
              <a:t>” which means every class should have a </a:t>
            </a:r>
            <a:r>
              <a:rPr lang="en-US" sz="3600" b="1" dirty="0"/>
              <a:t>single responsibility </a:t>
            </a:r>
            <a:r>
              <a:rPr lang="en-US" sz="3600" dirty="0"/>
              <a:t>or </a:t>
            </a:r>
            <a:r>
              <a:rPr lang="en-US" sz="3600" b="1" dirty="0"/>
              <a:t>single job </a:t>
            </a:r>
            <a:r>
              <a:rPr lang="en-US" sz="3600" dirty="0"/>
              <a:t>or</a:t>
            </a:r>
            <a:r>
              <a:rPr lang="en-US" sz="3600" b="1" dirty="0"/>
              <a:t> single purpose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42D709-25DE-EB1D-8988-67B5A308A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680"/>
            <a:ext cx="9144000" cy="622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6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EFAA7A-49F4-1476-1F3D-EA07FDA14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09" y="0"/>
            <a:ext cx="7907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46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519C6-702C-BB2E-5418-7704277FAA3E}"/>
              </a:ext>
            </a:extLst>
          </p:cNvPr>
          <p:cNvSpPr txBox="1"/>
          <p:nvPr/>
        </p:nvSpPr>
        <p:spPr>
          <a:xfrm>
            <a:off x="395536" y="1166843"/>
            <a:ext cx="85689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Main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User </a:t>
            </a:r>
            <a:r>
              <a:rPr lang="en-IN" dirty="0" err="1"/>
              <a:t>user</a:t>
            </a:r>
            <a:r>
              <a:rPr lang="en-IN" dirty="0"/>
              <a:t> = new User(“Rohit Sharma", “rohit.sharma@gmail.com");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UserRepository</a:t>
            </a:r>
            <a:r>
              <a:rPr lang="en-IN" dirty="0"/>
              <a:t> </a:t>
            </a:r>
            <a:r>
              <a:rPr lang="en-IN" dirty="0" err="1"/>
              <a:t>userRepository</a:t>
            </a:r>
            <a:r>
              <a:rPr lang="en-IN" dirty="0"/>
              <a:t> = new </a:t>
            </a:r>
            <a:r>
              <a:rPr lang="en-IN" dirty="0" err="1"/>
              <a:t>UserRepository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userRepository.saveUser</a:t>
            </a:r>
            <a:r>
              <a:rPr lang="en-IN" dirty="0"/>
              <a:t>(user);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EmailService</a:t>
            </a:r>
            <a:r>
              <a:rPr lang="en-IN" dirty="0"/>
              <a:t> </a:t>
            </a:r>
            <a:r>
              <a:rPr lang="en-IN" dirty="0" err="1"/>
              <a:t>emailService</a:t>
            </a:r>
            <a:r>
              <a:rPr lang="en-IN" dirty="0"/>
              <a:t> = new </a:t>
            </a:r>
            <a:r>
              <a:rPr lang="en-IN" dirty="0" err="1"/>
              <a:t>EmailService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emailService.sendEmail</a:t>
            </a:r>
            <a:r>
              <a:rPr lang="en-IN" dirty="0"/>
              <a:t>(user, "Welcome to our platform!");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42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2. Open/Closed Principle (OCP)</a:t>
            </a:r>
          </a:p>
          <a:p>
            <a:endParaRPr lang="en-US" sz="3600" b="1" dirty="0"/>
          </a:p>
          <a:p>
            <a:r>
              <a:rPr lang="en-US" sz="3600" dirty="0"/>
              <a:t>The Open/Closed Principle states that software entities (</a:t>
            </a:r>
            <a:r>
              <a:rPr lang="en-US" sz="3600" b="1" dirty="0"/>
              <a:t>classes, modules, functions</a:t>
            </a:r>
            <a:r>
              <a:rPr lang="en-US" sz="3600" dirty="0"/>
              <a:t>, etc.) should be open for extension but closed for modification. </a:t>
            </a:r>
          </a:p>
          <a:p>
            <a:endParaRPr lang="en-US" sz="3600" dirty="0"/>
          </a:p>
          <a:p>
            <a:r>
              <a:rPr lang="en-US" sz="3600" dirty="0"/>
              <a:t>In simpler terms, you should be able </a:t>
            </a:r>
            <a:r>
              <a:rPr lang="en-US" sz="3600" b="1" dirty="0"/>
              <a:t>to add new functionality without modifying the existing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3D224-9011-31E1-5069-DC260EAA4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0"/>
            <a:ext cx="6720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48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B2A73-F8E5-1BD2-F43F-0DEBFC7FD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11" y="0"/>
            <a:ext cx="4397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80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171BC-523A-B60C-7B72-4A896020C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5" y="556811"/>
            <a:ext cx="8230749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35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Liskov</a:t>
            </a:r>
            <a:r>
              <a:rPr lang="en-US" sz="3600" b="1" dirty="0"/>
              <a:t> Substitution Principle (LSP)</a:t>
            </a:r>
          </a:p>
          <a:p>
            <a:endParaRPr lang="en-US" sz="3600" b="1" dirty="0"/>
          </a:p>
          <a:p>
            <a:r>
              <a:rPr lang="en-US" sz="3600" dirty="0"/>
              <a:t>The </a:t>
            </a:r>
            <a:r>
              <a:rPr lang="en-US" sz="3600" dirty="0" err="1"/>
              <a:t>Liskov</a:t>
            </a:r>
            <a:r>
              <a:rPr lang="en-US" sz="3600" dirty="0"/>
              <a:t> Substitution Principle states that </a:t>
            </a:r>
            <a:r>
              <a:rPr lang="en-US" sz="3600" b="1" dirty="0"/>
              <a:t>subtypes must be substitutable </a:t>
            </a:r>
            <a:r>
              <a:rPr lang="en-US" sz="3600" dirty="0"/>
              <a:t>for their </a:t>
            </a:r>
            <a:r>
              <a:rPr lang="en-US" sz="3600" b="1" dirty="0"/>
              <a:t>base types. </a:t>
            </a:r>
          </a:p>
          <a:p>
            <a:endParaRPr lang="en-US" sz="3600" dirty="0"/>
          </a:p>
          <a:p>
            <a:r>
              <a:rPr lang="en-US" sz="3600" dirty="0"/>
              <a:t>In other words, if you have </a:t>
            </a:r>
            <a:r>
              <a:rPr lang="en-US" sz="3600" b="1" dirty="0"/>
              <a:t>a base class </a:t>
            </a:r>
            <a:r>
              <a:rPr lang="en-US" sz="3600" dirty="0"/>
              <a:t>and a </a:t>
            </a:r>
            <a:r>
              <a:rPr lang="en-US" sz="3600" b="1" dirty="0"/>
              <a:t>derived class</a:t>
            </a:r>
            <a:r>
              <a:rPr lang="en-US" sz="3600" dirty="0"/>
              <a:t>, you should be able to use instances of the derived class wherever instances of the base class are expected, without affecting the correctness of the program.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5A7B9-252C-0375-2D6E-238CA3AC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48" y="523469"/>
            <a:ext cx="6477904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41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9A4CB6-0730-A9AB-DB2F-F43E36EF0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022" y="0"/>
            <a:ext cx="4687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15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429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4. Interface Segregation Principle (ISP)</a:t>
            </a:r>
          </a:p>
          <a:p>
            <a:endParaRPr lang="en-IN" sz="3600" b="1" dirty="0"/>
          </a:p>
          <a:p>
            <a:r>
              <a:rPr lang="en-US" sz="3600" dirty="0"/>
              <a:t>The Interface Segregation Principle states that </a:t>
            </a:r>
            <a:r>
              <a:rPr lang="en-US" sz="3600" b="1" dirty="0"/>
              <a:t>clients should not be forced to depend on interfaces</a:t>
            </a:r>
            <a:r>
              <a:rPr lang="en-US" sz="3600" dirty="0"/>
              <a:t> they don’t use. </a:t>
            </a:r>
          </a:p>
          <a:p>
            <a:endParaRPr lang="en-US" sz="3600" dirty="0"/>
          </a:p>
          <a:p>
            <a:r>
              <a:rPr lang="en-US" sz="3600" dirty="0"/>
              <a:t>In other words, it’s better to have </a:t>
            </a:r>
            <a:r>
              <a:rPr lang="en-US" sz="3600" b="1" dirty="0"/>
              <a:t>many smaller, focused interfaces than a large, </a:t>
            </a:r>
            <a:r>
              <a:rPr lang="en-US" sz="3600" dirty="0"/>
              <a:t>monolithic interface.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409CA-F54F-05BB-FDBE-3A1C02C4D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571" y="0"/>
            <a:ext cx="5776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49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D1F64-BAF6-3086-F581-EF4FC1F1F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048" y="0"/>
            <a:ext cx="4313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2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51A4C-E85A-035F-E06A-759E88C5C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980728"/>
            <a:ext cx="5115639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91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42852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Dependency Inversion Principle (DIP)</a:t>
            </a:r>
          </a:p>
          <a:p>
            <a:endParaRPr lang="en-US" sz="2800" dirty="0"/>
          </a:p>
          <a:p>
            <a:r>
              <a:rPr lang="en-US" sz="2800" dirty="0"/>
              <a:t>The principle states that we must use </a:t>
            </a:r>
            <a:r>
              <a:rPr lang="en-US" sz="2800" b="1" dirty="0"/>
              <a:t>abstraction (abstract classes and interfaces) instead of concrete implementations</a:t>
            </a:r>
            <a:r>
              <a:rPr lang="en-US" sz="2800" dirty="0"/>
              <a:t>. </a:t>
            </a:r>
          </a:p>
          <a:p>
            <a:r>
              <a:rPr lang="en-US" sz="2800" dirty="0"/>
              <a:t>High-level modules should not depend on the low-level module but both should depend on the abstraction</a:t>
            </a:r>
          </a:p>
        </p:txBody>
      </p:sp>
      <p:pic>
        <p:nvPicPr>
          <p:cNvPr id="5" name="Picture 2" descr="SOLID Principles 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046543"/>
            <a:ext cx="7572428" cy="38114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A3E40-F430-4CAE-E059-7C866229E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9" y="0"/>
            <a:ext cx="47707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24587-5CD6-4D68-22FB-FC9C0DAF9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279CC-6E9F-16B7-84A3-4475CB66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58" y="342469"/>
            <a:ext cx="6506483" cy="617306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412</Words>
  <Application>Microsoft Office PowerPoint</Application>
  <PresentationFormat>On-screen Show (4:3)</PresentationFormat>
  <Paragraphs>43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charan teja</cp:lastModifiedBy>
  <cp:revision>18</cp:revision>
  <dcterms:created xsi:type="dcterms:W3CDTF">2024-11-04T22:58:13Z</dcterms:created>
  <dcterms:modified xsi:type="dcterms:W3CDTF">2024-11-06T01:52:01Z</dcterms:modified>
</cp:coreProperties>
</file>