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3" r:id="rId3"/>
    <p:sldId id="257" r:id="rId4"/>
    <p:sldId id="260" r:id="rId5"/>
    <p:sldId id="264" r:id="rId6"/>
    <p:sldId id="294" r:id="rId7"/>
    <p:sldId id="263" r:id="rId8"/>
    <p:sldId id="268" r:id="rId9"/>
    <p:sldId id="290" r:id="rId10"/>
    <p:sldId id="270" r:id="rId11"/>
    <p:sldId id="276" r:id="rId12"/>
    <p:sldId id="275" r:id="rId13"/>
    <p:sldId id="277" r:id="rId14"/>
    <p:sldId id="279" r:id="rId15"/>
    <p:sldId id="280" r:id="rId16"/>
    <p:sldId id="281" r:id="rId17"/>
    <p:sldId id="282" r:id="rId18"/>
    <p:sldId id="283" r:id="rId19"/>
    <p:sldId id="284" r:id="rId20"/>
    <p:sldId id="292" r:id="rId21"/>
    <p:sldId id="285" r:id="rId22"/>
    <p:sldId id="291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323F76A0-9AAC-49B2-B5B6-AF86F3136FD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23F76A0-9AAC-49B2-B5B6-AF86F3136FD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323F76A0-9AAC-49B2-B5B6-AF86F3136FD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76A0-9AAC-49B2-B5B6-AF86F3136FD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76A0-9AAC-49B2-B5B6-AF86F3136FD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23F76A0-9AAC-49B2-B5B6-AF86F3136FD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76A0-9AAC-49B2-B5B6-AF86F3136FD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23F76A0-9AAC-49B2-B5B6-AF86F3136FD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23F76A0-9AAC-49B2-B5B6-AF86F3136FD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76A0-9AAC-49B2-B5B6-AF86F3136FD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F76A0-9AAC-49B2-B5B6-AF86F3136FD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323F76A0-9AAC-49B2-B5B6-AF86F3136FD9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01F72AD-8213-4967-B97F-5CFC9271EC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beginnersbook.com/2017/10/java-lambda-expressions-tutorial-with-examples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playlist?list=PLb9rJN26yMEmlAzQKabssjXzV7s5uSPXE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836712"/>
            <a:ext cx="7272808" cy="72008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1916832"/>
            <a:ext cx="8712968" cy="3721968"/>
          </a:xfrm>
        </p:spPr>
        <p:txBody>
          <a:bodyPr>
            <a:normAutofit/>
          </a:bodyPr>
          <a:lstStyle/>
          <a:p>
            <a:r>
              <a:rPr lang="en-IN" sz="2800" dirty="0" smtClean="0">
                <a:solidFill>
                  <a:schemeClr val="tx1"/>
                </a:solidFill>
              </a:rPr>
              <a:t>                    </a:t>
            </a:r>
          </a:p>
          <a:p>
            <a:r>
              <a:rPr lang="en-IN" sz="2800" dirty="0" smtClean="0">
                <a:solidFill>
                  <a:schemeClr val="tx1"/>
                </a:solidFill>
              </a:rPr>
              <a:t>                           </a:t>
            </a:r>
            <a:r>
              <a:rPr lang="en-US" sz="2800" dirty="0" smtClean="0"/>
              <a:t>Java 8 Features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981309"/>
            <a:ext cx="8772556" cy="4847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500298" y="260648"/>
            <a:ext cx="6104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Key Features </a:t>
            </a:r>
            <a:r>
              <a:rPr lang="en-US" sz="2400" b="1" dirty="0" smtClean="0">
                <a:solidFill>
                  <a:srgbClr val="FF0000"/>
                </a:solidFill>
              </a:rPr>
              <a:t>of Java 8 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928670"/>
            <a:ext cx="8457872" cy="465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472" y="-24"/>
            <a:ext cx="41665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 </a:t>
            </a:r>
            <a:r>
              <a:rPr lang="en-US" sz="2800" b="1" dirty="0">
                <a:solidFill>
                  <a:srgbClr val="FF0000"/>
                </a:solidFill>
              </a:rPr>
              <a:t>Lambda Expressions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76672"/>
            <a:ext cx="925252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 smtClean="0"/>
          </a:p>
          <a:p>
            <a:r>
              <a:rPr lang="en-US" sz="2000" dirty="0"/>
              <a:t> lambda expression is an anonymous function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 </a:t>
            </a:r>
            <a:r>
              <a:rPr lang="en-US" sz="2000" dirty="0"/>
              <a:t>A function that doesn’t have a name and doesn’t belong to any class.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b="1" dirty="0" smtClean="0"/>
              <a:t>Java </a:t>
            </a:r>
            <a:r>
              <a:rPr lang="en-US" sz="2000" b="1" dirty="0"/>
              <a:t>Lambda Expression Syntax</a:t>
            </a:r>
          </a:p>
          <a:p>
            <a:endParaRPr lang="en-US" sz="2000" dirty="0" smtClean="0"/>
          </a:p>
          <a:p>
            <a:r>
              <a:rPr lang="en-US" sz="2000" dirty="0" smtClean="0"/>
              <a:t>To </a:t>
            </a:r>
            <a:r>
              <a:rPr lang="en-US" sz="2000" dirty="0"/>
              <a:t>create a lambda expression, we specify input </a:t>
            </a:r>
            <a:r>
              <a:rPr lang="en-US" sz="2000" dirty="0" smtClean="0"/>
              <a:t>parameters </a:t>
            </a:r>
            <a:r>
              <a:rPr lang="en-US" sz="2000" dirty="0"/>
              <a:t>on the left side of the </a:t>
            </a:r>
            <a:r>
              <a:rPr lang="en-US" sz="2000" b="1" dirty="0"/>
              <a:t>lambda operator -&gt;</a:t>
            </a:r>
            <a:r>
              <a:rPr lang="en-US" sz="2000" dirty="0"/>
              <a:t>, and place the </a:t>
            </a:r>
            <a:r>
              <a:rPr lang="en-US" sz="2000" b="1" dirty="0"/>
              <a:t>expression or block of statements </a:t>
            </a:r>
            <a:r>
              <a:rPr lang="en-US" sz="2000" dirty="0"/>
              <a:t>on the right side of lambda operator.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b="1" dirty="0" smtClean="0"/>
              <a:t>The </a:t>
            </a:r>
            <a:r>
              <a:rPr lang="en-US" sz="2000" b="1" dirty="0"/>
              <a:t>basic </a:t>
            </a:r>
            <a:r>
              <a:rPr lang="en-US" sz="2000" b="1" i="1" dirty="0"/>
              <a:t>syntax of a lambda expression</a:t>
            </a:r>
            <a:r>
              <a:rPr lang="en-US" sz="2000" b="1" dirty="0"/>
              <a:t> is</a:t>
            </a:r>
            <a:r>
              <a:rPr lang="en-US" sz="2000" b="1" dirty="0" smtClean="0"/>
              <a:t>:</a:t>
            </a:r>
          </a:p>
          <a:p>
            <a:endParaRPr lang="en-US" sz="2000" dirty="0"/>
          </a:p>
          <a:p>
            <a:pPr fontAlgn="base"/>
            <a:r>
              <a:rPr lang="en-US" sz="2000" dirty="0"/>
              <a:t>either</a:t>
            </a:r>
          </a:p>
          <a:p>
            <a:pPr fontAlgn="base"/>
            <a:r>
              <a:rPr lang="en-US" sz="2000" dirty="0" smtClean="0"/>
              <a:t>          (</a:t>
            </a:r>
            <a:r>
              <a:rPr lang="en-US" sz="2000" dirty="0"/>
              <a:t>parameters) -&gt; expression</a:t>
            </a:r>
          </a:p>
          <a:p>
            <a:pPr fontAlgn="base"/>
            <a:r>
              <a:rPr lang="en-US" sz="2000" dirty="0"/>
              <a:t>or</a:t>
            </a:r>
          </a:p>
          <a:p>
            <a:pPr fontAlgn="base"/>
            <a:r>
              <a:rPr lang="en-US" sz="2000" dirty="0" smtClean="0"/>
              <a:t>         (</a:t>
            </a:r>
            <a:r>
              <a:rPr lang="en-US" sz="2000" dirty="0"/>
              <a:t>parameters) -&gt; { statements; }</a:t>
            </a:r>
          </a:p>
          <a:p>
            <a:pPr fontAlgn="base"/>
            <a:r>
              <a:rPr lang="en-US" sz="2000" dirty="0"/>
              <a:t>or </a:t>
            </a:r>
          </a:p>
          <a:p>
            <a:pPr fontAlgn="base"/>
            <a:r>
              <a:rPr lang="en-US" sz="2000" dirty="0" smtClean="0"/>
              <a:t>         () </a:t>
            </a:r>
            <a:r>
              <a:rPr lang="en-US" sz="2000" dirty="0"/>
              <a:t>-&gt; expression</a:t>
            </a:r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797" y="1000108"/>
            <a:ext cx="9077203" cy="4791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596" y="1997839"/>
            <a:ext cx="81439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Advantages of Lambda Expressions</a:t>
            </a:r>
          </a:p>
          <a:p>
            <a:r>
              <a:rPr lang="en-US" b="1" dirty="0" smtClean="0"/>
              <a:t>Less Boilerplate Code</a:t>
            </a:r>
            <a:r>
              <a:rPr lang="en-US" dirty="0" smtClean="0"/>
              <a:t>: Reduces the verbosity of anonymous classes.</a:t>
            </a:r>
          </a:p>
          <a:p>
            <a:r>
              <a:rPr lang="en-US" b="1" dirty="0" smtClean="0"/>
              <a:t>Improved Readability</a:t>
            </a:r>
            <a:r>
              <a:rPr lang="en-US" dirty="0" smtClean="0"/>
              <a:t>: Code becomes cleaner and easier to understand.</a:t>
            </a:r>
          </a:p>
          <a:p>
            <a:r>
              <a:rPr lang="en-US" b="1" dirty="0" smtClean="0"/>
              <a:t>Supports Functional Programming</a:t>
            </a:r>
            <a:r>
              <a:rPr lang="en-US" dirty="0" smtClean="0"/>
              <a:t>: Facilitates declarative and functional styles of coding.</a:t>
            </a:r>
          </a:p>
          <a:p>
            <a:r>
              <a:rPr lang="en-US" b="1" dirty="0" smtClean="0"/>
              <a:t>Enhanced API Usage</a:t>
            </a:r>
            <a:r>
              <a:rPr lang="en-US" dirty="0" smtClean="0"/>
              <a:t>: Works seamlessly with the Streams API.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57158" y="4429132"/>
            <a:ext cx="79296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https://medium.com/@ucgorai/java-8-features-that-every-programmer-must-know-39e73a1daafb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4290"/>
            <a:ext cx="9144000" cy="7602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Method References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endParaRPr lang="en-IN" sz="2000" b="1" dirty="0"/>
          </a:p>
          <a:p>
            <a:r>
              <a:rPr lang="en-US" sz="2000" dirty="0" smtClean="0"/>
              <a:t>Method </a:t>
            </a:r>
            <a:r>
              <a:rPr lang="en-US" sz="2000" dirty="0"/>
              <a:t>reference is a </a:t>
            </a:r>
            <a:r>
              <a:rPr lang="en-US" sz="2000" b="1" dirty="0"/>
              <a:t>shorthand notation </a:t>
            </a:r>
            <a:r>
              <a:rPr lang="en-US" sz="2000" dirty="0"/>
              <a:t>of a lambda expression to call a method. 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If </a:t>
            </a:r>
            <a:r>
              <a:rPr lang="en-US" sz="2000" dirty="0"/>
              <a:t>your lambda expression is like this:</a:t>
            </a:r>
          </a:p>
          <a:p>
            <a:r>
              <a:rPr lang="en-US" sz="2000" dirty="0" err="1"/>
              <a:t>str</a:t>
            </a:r>
            <a:r>
              <a:rPr lang="en-US" sz="2000" dirty="0"/>
              <a:t> -&gt; </a:t>
            </a:r>
            <a:r>
              <a:rPr lang="en-US" sz="2000" dirty="0" err="1"/>
              <a:t>System.out.println</a:t>
            </a:r>
            <a:r>
              <a:rPr lang="en-US" sz="2000" dirty="0"/>
              <a:t>(</a:t>
            </a:r>
            <a:r>
              <a:rPr lang="en-US" sz="2000" dirty="0" err="1"/>
              <a:t>str</a:t>
            </a:r>
            <a:r>
              <a:rPr lang="en-US" sz="2000" dirty="0" smtClean="0"/>
              <a:t>)  </a:t>
            </a:r>
          </a:p>
          <a:p>
            <a:endParaRPr lang="en-US" sz="2000" dirty="0" smtClean="0"/>
          </a:p>
          <a:p>
            <a:r>
              <a:rPr lang="en-US" sz="2000" dirty="0" smtClean="0"/>
              <a:t> then </a:t>
            </a:r>
            <a:r>
              <a:rPr lang="en-US" sz="2000" dirty="0"/>
              <a:t>you can replace it with a method reference like this:</a:t>
            </a:r>
          </a:p>
          <a:p>
            <a:endParaRPr lang="en-US" sz="2000" dirty="0" smtClean="0"/>
          </a:p>
          <a:p>
            <a:r>
              <a:rPr lang="en-US" sz="2000" dirty="0" err="1" smtClean="0"/>
              <a:t>System.out</a:t>
            </a:r>
            <a:r>
              <a:rPr lang="en-US" sz="2000" dirty="0"/>
              <a:t>::</a:t>
            </a:r>
            <a:r>
              <a:rPr lang="en-US" sz="2000" dirty="0" err="1" smtClean="0"/>
              <a:t>println</a:t>
            </a:r>
            <a:r>
              <a:rPr lang="en-US" sz="2000" dirty="0" smtClean="0"/>
              <a:t>    </a:t>
            </a:r>
          </a:p>
          <a:p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:: operator is used in method reference to separate the class or object from the method name</a:t>
            </a:r>
          </a:p>
          <a:p>
            <a:endParaRPr lang="en-IN" sz="2000" b="1" dirty="0" smtClean="0"/>
          </a:p>
          <a:p>
            <a:r>
              <a:rPr lang="en-US" sz="2000" b="1" dirty="0"/>
              <a:t>Four types of method </a:t>
            </a:r>
            <a:r>
              <a:rPr lang="en-US" sz="2000" b="1" dirty="0" smtClean="0"/>
              <a:t>references</a:t>
            </a:r>
          </a:p>
          <a:p>
            <a:endParaRPr lang="en-US" sz="2000" b="1" dirty="0"/>
          </a:p>
          <a:p>
            <a:r>
              <a:rPr lang="en-US" sz="2000" dirty="0"/>
              <a:t>1. Method reference to an instance method of an object </a:t>
            </a:r>
            <a:r>
              <a:rPr lang="en-US" sz="2000" b="1" dirty="0"/>
              <a:t>– object::</a:t>
            </a:r>
            <a:r>
              <a:rPr lang="en-US" sz="2000" b="1" dirty="0" err="1"/>
              <a:t>instanceMethod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2. Method reference to a static method of a class </a:t>
            </a:r>
            <a:r>
              <a:rPr lang="en-US" sz="2000" b="1" dirty="0"/>
              <a:t>– Class::</a:t>
            </a:r>
            <a:r>
              <a:rPr lang="en-US" sz="2000" b="1" dirty="0" err="1"/>
              <a:t>staticMethod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3. Method reference to an instance method of an arbitrary object of a particular type – </a:t>
            </a:r>
            <a:r>
              <a:rPr lang="en-US" sz="2000" b="1" dirty="0"/>
              <a:t>Class::</a:t>
            </a:r>
            <a:r>
              <a:rPr lang="en-US" sz="2000" b="1" dirty="0" err="1"/>
              <a:t>instanceMethod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4. Method reference to a constructor </a:t>
            </a:r>
            <a:r>
              <a:rPr lang="en-US" sz="2000" b="1" dirty="0"/>
              <a:t>– Class::new</a:t>
            </a:r>
          </a:p>
          <a:p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214290"/>
            <a:ext cx="34712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Java Functional Interfaces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0108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An interface with </a:t>
            </a:r>
            <a:r>
              <a:rPr lang="en-US" sz="2000" b="1" dirty="0"/>
              <a:t>only single abstract method</a:t>
            </a:r>
            <a:r>
              <a:rPr lang="en-US" sz="2000" dirty="0"/>
              <a:t> is called functional interface. </a:t>
            </a:r>
            <a:endParaRPr lang="en-US" sz="2000" dirty="0" smtClean="0"/>
          </a:p>
          <a:p>
            <a:r>
              <a:rPr lang="en-US" sz="2000" dirty="0" smtClean="0"/>
              <a:t>You </a:t>
            </a:r>
            <a:r>
              <a:rPr lang="en-US" sz="2000" dirty="0"/>
              <a:t>can either use the </a:t>
            </a:r>
            <a:r>
              <a:rPr lang="en-US" sz="2000" b="1" dirty="0"/>
              <a:t>predefined functional interface </a:t>
            </a:r>
            <a:r>
              <a:rPr lang="en-US" sz="2000" dirty="0"/>
              <a:t>provided by Java or create </a:t>
            </a:r>
            <a:r>
              <a:rPr lang="en-US" sz="2000" b="1" dirty="0"/>
              <a:t>your own functional interface </a:t>
            </a:r>
            <a:r>
              <a:rPr lang="en-US" sz="2000" dirty="0"/>
              <a:t>and use it</a:t>
            </a:r>
            <a:r>
              <a:rPr lang="en-US" sz="2000" dirty="0" smtClean="0"/>
              <a:t>.</a:t>
            </a:r>
          </a:p>
          <a:p>
            <a:endParaRPr lang="en-IN" sz="2000" dirty="0"/>
          </a:p>
          <a:p>
            <a:r>
              <a:rPr lang="en-US" sz="2000" dirty="0"/>
              <a:t>To use </a:t>
            </a:r>
            <a:r>
              <a:rPr lang="en-US" sz="2000" b="1" dirty="0">
                <a:hlinkClick r:id="rId2"/>
              </a:rPr>
              <a:t>lambda expression in Java</a:t>
            </a:r>
            <a:r>
              <a:rPr lang="en-US" sz="2000" dirty="0"/>
              <a:t>, you need to either create your own functional interface or use the pre defined functional interface provided by Java. 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While </a:t>
            </a:r>
            <a:r>
              <a:rPr lang="en-US" sz="2000" dirty="0"/>
              <a:t>creating your own functional interface, mark it </a:t>
            </a:r>
            <a:r>
              <a:rPr lang="en-US" sz="2000" dirty="0" smtClean="0"/>
              <a:t> with  </a:t>
            </a:r>
            <a:r>
              <a:rPr lang="en-US" sz="2000" dirty="0"/>
              <a:t> </a:t>
            </a:r>
            <a:r>
              <a:rPr lang="en-US" sz="2000" b="1" dirty="0" smtClean="0"/>
              <a:t>@</a:t>
            </a:r>
            <a:r>
              <a:rPr lang="en-US" sz="2000" b="1" dirty="0" err="1"/>
              <a:t>FunctionalInterface</a:t>
            </a:r>
            <a:r>
              <a:rPr lang="en-US" sz="2000" dirty="0"/>
              <a:t> </a:t>
            </a:r>
            <a:r>
              <a:rPr lang="en-US" sz="2000" dirty="0" smtClean="0"/>
              <a:t>annotation.</a:t>
            </a:r>
          </a:p>
          <a:p>
            <a:endParaRPr lang="en-US" sz="2000" dirty="0" smtClean="0"/>
          </a:p>
          <a:p>
            <a:endParaRPr lang="en-US" sz="2000" b="1" dirty="0" smtClean="0"/>
          </a:p>
          <a:p>
            <a:r>
              <a:rPr lang="en-US" sz="2000" b="1" dirty="0" smtClean="0"/>
              <a:t>What </a:t>
            </a:r>
            <a:r>
              <a:rPr lang="en-US" sz="2000" b="1" dirty="0"/>
              <a:t>are the rules of defining a functional interface?</a:t>
            </a:r>
          </a:p>
          <a:p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/>
              <a:t>functional interface should have </a:t>
            </a:r>
            <a:r>
              <a:rPr lang="en-US" sz="2000" b="1" dirty="0"/>
              <a:t>Only one</a:t>
            </a:r>
            <a:r>
              <a:rPr lang="en-US" sz="2000" dirty="0"/>
              <a:t> abstract method. Along with the one abstract method, they can have any number of default and static methods.</a:t>
            </a:r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075" y="1139825"/>
            <a:ext cx="8959850" cy="457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142852"/>
            <a:ext cx="8858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Interface </a:t>
            </a:r>
            <a:r>
              <a:rPr lang="en-US" sz="2400" b="1" dirty="0">
                <a:solidFill>
                  <a:srgbClr val="FF0000"/>
                </a:solidFill>
              </a:rPr>
              <a:t>Changes – default method and static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80728"/>
            <a:ext cx="86409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 In </a:t>
            </a:r>
            <a:r>
              <a:rPr lang="en-US" sz="2400" b="1" dirty="0" smtClean="0"/>
              <a:t>interface in java </a:t>
            </a:r>
            <a:r>
              <a:rPr lang="en-US" sz="2400" dirty="0" smtClean="0"/>
              <a:t>can only have abstract methods. </a:t>
            </a:r>
          </a:p>
          <a:p>
            <a:r>
              <a:rPr lang="en-US" sz="2400" dirty="0" smtClean="0"/>
              <a:t>All the methods of interfaces are public &amp; abstract by default. </a:t>
            </a:r>
          </a:p>
          <a:p>
            <a:r>
              <a:rPr lang="en-US" sz="2400" dirty="0" smtClean="0"/>
              <a:t>Java 8 allows the interfaces to have </a:t>
            </a:r>
            <a:r>
              <a:rPr lang="en-US" sz="2400" b="1" dirty="0" smtClean="0"/>
              <a:t>default</a:t>
            </a:r>
            <a:r>
              <a:rPr lang="en-US" sz="2400" dirty="0" smtClean="0"/>
              <a:t> and </a:t>
            </a:r>
            <a:r>
              <a:rPr lang="en-US" sz="2400" b="1" dirty="0" smtClean="0"/>
              <a:t>static</a:t>
            </a:r>
            <a:r>
              <a:rPr lang="en-US" sz="2400" dirty="0" smtClean="0"/>
              <a:t> methods. </a:t>
            </a:r>
          </a:p>
          <a:p>
            <a:r>
              <a:rPr lang="en-US" sz="2400" dirty="0" smtClean="0"/>
              <a:t>The reason we have default methods in interfaces is to allow the developers to add new methods to the interfaces without affecting the classes that implements these interfaces.</a:t>
            </a:r>
          </a:p>
          <a:p>
            <a:endParaRPr lang="en-IN" sz="2400" dirty="0" smtClean="0"/>
          </a:p>
          <a:p>
            <a:endParaRPr lang="en-IN" sz="2400" dirty="0" smtClean="0"/>
          </a:p>
          <a:p>
            <a:r>
              <a:rPr lang="en-US" sz="2400" b="1" dirty="0" smtClean="0"/>
              <a:t>Static methods</a:t>
            </a:r>
            <a:r>
              <a:rPr lang="en-US" sz="2400" dirty="0" smtClean="0"/>
              <a:t> in interfaces are similar to the default methods </a:t>
            </a:r>
            <a:r>
              <a:rPr lang="en-US" sz="2400" b="1" dirty="0" smtClean="0"/>
              <a:t>except that we cannot override these methods </a:t>
            </a:r>
            <a:r>
              <a:rPr lang="en-US" sz="2400" dirty="0" smtClean="0"/>
              <a:t>in the classes that implements these interfaces.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8640"/>
            <a:ext cx="9001156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What is </a:t>
            </a:r>
            <a:r>
              <a:rPr lang="en-US" sz="2400" b="1" dirty="0" smtClean="0">
                <a:solidFill>
                  <a:srgbClr val="FF0000"/>
                </a:solidFill>
              </a:rPr>
              <a:t>Stream</a:t>
            </a:r>
          </a:p>
          <a:p>
            <a:endParaRPr lang="en-US" sz="2400" dirty="0"/>
          </a:p>
          <a:p>
            <a:r>
              <a:rPr lang="en-US" sz="2400" dirty="0"/>
              <a:t>Stream represents a sequence of </a:t>
            </a:r>
            <a:r>
              <a:rPr lang="en-US" sz="2400" dirty="0" smtClean="0"/>
              <a:t>elements </a:t>
            </a:r>
            <a:r>
              <a:rPr lang="en-US" sz="2400" dirty="0"/>
              <a:t>from a source, which supports aggregate operations. </a:t>
            </a:r>
            <a:endParaRPr lang="en-US" sz="2400" dirty="0" smtClean="0"/>
          </a:p>
          <a:p>
            <a:endParaRPr lang="en-US" sz="2400" b="1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Source</a:t>
            </a:r>
            <a:r>
              <a:rPr lang="en-US" sz="2400" dirty="0"/>
              <a:t> − Stream takes Collections, Arrays, or I/O resources as input source.</a:t>
            </a:r>
          </a:p>
          <a:p>
            <a:endParaRPr lang="en-US" sz="2400" b="1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Aggregate </a:t>
            </a:r>
            <a:r>
              <a:rPr lang="en-US" sz="2400" b="1" dirty="0">
                <a:solidFill>
                  <a:srgbClr val="FF0000"/>
                </a:solidFill>
              </a:rPr>
              <a:t>operations</a:t>
            </a:r>
            <a:r>
              <a:rPr lang="en-US" sz="2400" dirty="0"/>
              <a:t> − Stream supports aggregate operations like filter, map, limit, reduce, find, match, and so on.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Pipelining</a:t>
            </a:r>
            <a:r>
              <a:rPr lang="en-US" sz="2400" dirty="0"/>
              <a:t> − Most of the stream operations return stream itself so that their result can be pipelined. These operations are called </a:t>
            </a:r>
            <a:r>
              <a:rPr lang="en-US" sz="2400" b="1" dirty="0">
                <a:solidFill>
                  <a:srgbClr val="FF0000"/>
                </a:solidFill>
              </a:rPr>
              <a:t>intermediate operations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and their function is to take input, process them, and return output to the target. </a:t>
            </a:r>
            <a:endParaRPr lang="en-US" sz="2400" dirty="0" smtClean="0"/>
          </a:p>
          <a:p>
            <a:r>
              <a:rPr lang="en-US" sz="2400" dirty="0" smtClean="0"/>
              <a:t>A </a:t>
            </a:r>
            <a:r>
              <a:rPr lang="en-US" sz="2400" b="1" dirty="0">
                <a:solidFill>
                  <a:srgbClr val="FF0000"/>
                </a:solidFill>
              </a:rPr>
              <a:t>terminal operation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which is normally present at the end of the pipelining operation to mark the end of the stream.</a:t>
            </a:r>
          </a:p>
          <a:p>
            <a:endParaRPr lang="en-US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04664"/>
            <a:ext cx="90364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How to work with Stream in </a:t>
            </a:r>
            <a:r>
              <a:rPr lang="en-US" sz="2000" b="1" dirty="0" smtClean="0"/>
              <a:t>Java</a:t>
            </a:r>
          </a:p>
          <a:p>
            <a:endParaRPr lang="en-US" sz="2000" b="1" dirty="0"/>
          </a:p>
          <a:p>
            <a:r>
              <a:rPr lang="en-US" sz="2000" dirty="0" smtClean="0"/>
              <a:t>Stream </a:t>
            </a:r>
            <a:r>
              <a:rPr lang="en-US" sz="2000" dirty="0"/>
              <a:t>can be explained in three stages:</a:t>
            </a:r>
            <a:br>
              <a:rPr lang="en-US" sz="2000" dirty="0"/>
            </a:br>
            <a:endParaRPr lang="en-US" sz="2000" dirty="0" smtClean="0"/>
          </a:p>
          <a:p>
            <a:r>
              <a:rPr lang="en-US" sz="2000" b="1" dirty="0" smtClean="0"/>
              <a:t>1</a:t>
            </a:r>
            <a:r>
              <a:rPr lang="en-US" sz="2000" b="1" dirty="0"/>
              <a:t>. Create a stream</a:t>
            </a:r>
          </a:p>
          <a:p>
            <a:endParaRPr lang="en-US" sz="2000" dirty="0" smtClean="0"/>
          </a:p>
          <a:p>
            <a:r>
              <a:rPr lang="en-US" sz="2000" dirty="0" smtClean="0"/>
              <a:t>2</a:t>
            </a:r>
            <a:r>
              <a:rPr lang="en-US" sz="2000" dirty="0"/>
              <a:t>. Perform </a:t>
            </a:r>
            <a:r>
              <a:rPr lang="en-US" sz="2000" b="1" dirty="0"/>
              <a:t>intermediate operations</a:t>
            </a:r>
            <a:r>
              <a:rPr lang="en-US" sz="2000" dirty="0"/>
              <a:t> on the initial stream to transform it into another stream and so on </a:t>
            </a:r>
            <a:r>
              <a:rPr lang="en-US" sz="2000" dirty="0" smtClean="0"/>
              <a:t>further </a:t>
            </a:r>
            <a:r>
              <a:rPr lang="en-US" sz="2000" dirty="0"/>
              <a:t>intermediate operations. </a:t>
            </a:r>
          </a:p>
          <a:p>
            <a:endParaRPr lang="en-US" sz="2000" dirty="0" smtClean="0"/>
          </a:p>
          <a:p>
            <a:r>
              <a:rPr lang="en-US" sz="2000" dirty="0" smtClean="0"/>
              <a:t>3</a:t>
            </a:r>
            <a:r>
              <a:rPr lang="en-US" sz="2000" dirty="0"/>
              <a:t>. Perform </a:t>
            </a:r>
            <a:r>
              <a:rPr lang="en-US" sz="2000" b="1" dirty="0"/>
              <a:t>terminal operation</a:t>
            </a:r>
            <a:r>
              <a:rPr lang="en-US" sz="2000" dirty="0"/>
              <a:t> on the final stream to get the result. </a:t>
            </a:r>
            <a:endParaRPr lang="en-US" sz="2000" dirty="0" smtClean="0"/>
          </a:p>
          <a:p>
            <a:endParaRPr lang="en-US" sz="2000" dirty="0"/>
          </a:p>
          <a:p>
            <a:endParaRPr lang="en-US" sz="2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467544" y="477900"/>
            <a:ext cx="8064896" cy="5298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As source we can have collections, arrays, lines of a file, files in a directory or numeric ranges;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 smtClean="0">
              <a:solidFill>
                <a:srgbClr val="333333"/>
              </a:solidFill>
              <a:latin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Intermediate operations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 are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filter, map,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distict</a:t>
            </a:r>
            <a:r>
              <a:rPr kumimoji="0" lang="en-US" sz="2400" b="1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 or </a:t>
            </a:r>
            <a:r>
              <a:rPr kumimoji="0" lang="en-US" sz="2400" b="1" i="0" u="none" strike="noStrike" cap="none" normalizeH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flatMap</a:t>
            </a:r>
            <a:r>
              <a:rPr kumimoji="0" lang="en-US" sz="2400" b="1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 etc..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several intermediate operations can be concatenated.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 smtClean="0">
              <a:solidFill>
                <a:srgbClr val="333333"/>
              </a:solidFill>
              <a:latin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Terminal operations are for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example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forEach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, collect, reduce,</a:t>
            </a:r>
            <a:r>
              <a:rPr kumimoji="0" lang="en-US" sz="2400" b="1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 min max, etc…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 smtClean="0">
              <a:solidFill>
                <a:srgbClr val="333333"/>
              </a:solidFill>
              <a:latin typeface="Tahoma" pitchFamily="34" charset="0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Tahoma" pitchFamily="34" charset="0"/>
                <a:cs typeface="Tahoma" pitchFamily="34" charset="0"/>
              </a:rPr>
              <a:t>Only one terminal operation is possible, if a terminal operation is executed the stream will be closed and cannot be used again.</a:t>
            </a: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052736"/>
            <a:ext cx="8496944" cy="3456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The filter()</a:t>
            </a:r>
            <a:r>
              <a:rPr lang="en-US" sz="3600" dirty="0"/>
              <a:t> is an intermediate operation that reads the data from a stream and returns a new stream after transforming the data based on the given condition. </a:t>
            </a:r>
            <a:endParaRPr lang="en-US" sz="3600" dirty="0" smtClean="0"/>
          </a:p>
          <a:p>
            <a:endParaRPr lang="en-IN" sz="3600" dirty="0"/>
          </a:p>
          <a:p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5786" y="3105835"/>
            <a:ext cx="60722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https://www.youtube.com/watch?v=ltHm_RA53sI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057274"/>
            <a:ext cx="8786874" cy="5586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928662" y="142852"/>
            <a:ext cx="57864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 smtClean="0"/>
              <a:t>Comparable </a:t>
            </a:r>
            <a:r>
              <a:rPr lang="en-US" sz="2400" b="1" dirty="0" err="1" smtClean="0"/>
              <a:t>vs</a:t>
            </a:r>
            <a:r>
              <a:rPr lang="en-US" sz="2400" b="1" dirty="0" smtClean="0"/>
              <a:t> Comparator in Java</a:t>
            </a:r>
            <a:endParaRPr lang="en-US" sz="24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20" y="889844"/>
            <a:ext cx="864399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 smtClean="0"/>
              <a:t>Using Comparator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Unlike Comparable, Comparator is external to the element type we are comparing. It’s a separate class. We create multiple separate classes (that implement Comparator) to compare by different members.</a:t>
            </a:r>
            <a:br>
              <a:rPr lang="en-US" dirty="0" smtClean="0"/>
            </a:br>
            <a:endParaRPr lang="en-US" dirty="0" smtClean="0"/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Collections class has a second sort() method and it takes Comparator. The sort() method invokes the compare() to sort objects.</a:t>
            </a:r>
          </a:p>
          <a:p>
            <a:pPr fontAlgn="base"/>
            <a:endParaRPr lang="en-US" dirty="0" smtClean="0"/>
          </a:p>
          <a:p>
            <a:pPr fontAlgn="base"/>
            <a:r>
              <a:rPr lang="en-IN" dirty="0" smtClean="0"/>
              <a:t>	</a:t>
            </a:r>
            <a:endParaRPr lang="en-US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3105835"/>
            <a:ext cx="87154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hlinkClick r:id="rId2"/>
              </a:rPr>
              <a:t>https://www.youtube.com/playlist?list=PLb9rJN26yMEmlAzQKabssjXzV7s5uSPXE</a:t>
            </a:r>
            <a:endParaRPr lang="en-US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Interview questions</a:t>
            </a:r>
            <a:endParaRPr lang="en-US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63650"/>
            <a:ext cx="10826750" cy="433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714356"/>
            <a:ext cx="5229225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000372"/>
            <a:ext cx="842962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785</TotalTime>
  <Words>355</Words>
  <Application>Microsoft Office PowerPoint</Application>
  <PresentationFormat>On-screen Show (4:3)</PresentationFormat>
  <Paragraphs>109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Oriel</vt:lpstr>
      <vt:lpstr>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Features of Java 8</dc:title>
  <dc:creator>91924</dc:creator>
  <cp:lastModifiedBy>Windows User</cp:lastModifiedBy>
  <cp:revision>82</cp:revision>
  <dcterms:created xsi:type="dcterms:W3CDTF">2020-11-13T02:54:52Z</dcterms:created>
  <dcterms:modified xsi:type="dcterms:W3CDTF">2025-06-13T15:39:12Z</dcterms:modified>
</cp:coreProperties>
</file>