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9" r:id="rId4"/>
    <p:sldId id="270" r:id="rId5"/>
    <p:sldId id="296" r:id="rId6"/>
    <p:sldId id="294" r:id="rId7"/>
    <p:sldId id="295" r:id="rId8"/>
    <p:sldId id="297" r:id="rId9"/>
    <p:sldId id="257" r:id="rId10"/>
    <p:sldId id="258" r:id="rId11"/>
    <p:sldId id="276" r:id="rId12"/>
    <p:sldId id="277" r:id="rId13"/>
    <p:sldId id="278" r:id="rId14"/>
    <p:sldId id="279" r:id="rId15"/>
    <p:sldId id="285" r:id="rId16"/>
    <p:sldId id="286" r:id="rId17"/>
    <p:sldId id="280" r:id="rId18"/>
    <p:sldId id="287" r:id="rId19"/>
    <p:sldId id="288" r:id="rId20"/>
    <p:sldId id="289" r:id="rId21"/>
    <p:sldId id="290" r:id="rId22"/>
    <p:sldId id="291" r:id="rId23"/>
    <p:sldId id="292" r:id="rId24"/>
    <p:sldId id="281" r:id="rId25"/>
    <p:sldId id="293" r:id="rId26"/>
    <p:sldId id="282" r:id="rId27"/>
    <p:sldId id="283" r:id="rId28"/>
    <p:sldId id="284" r:id="rId29"/>
    <p:sldId id="265" r:id="rId30"/>
    <p:sldId id="259" r:id="rId31"/>
    <p:sldId id="260" r:id="rId32"/>
    <p:sldId id="261" r:id="rId33"/>
    <p:sldId id="262" r:id="rId34"/>
    <p:sldId id="263" r:id="rId35"/>
    <p:sldId id="266" r:id="rId36"/>
    <p:sldId id="298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6DB7-8881-4ED1-9642-DA8DD654A2C1}" type="datetimeFigureOut">
              <a:rPr lang="en-US" smtClean="0"/>
              <a:pPr/>
              <a:t>10/29/2020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66B8C-4AFE-4B3A-96D6-7C7D82BBF5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6DB7-8881-4ED1-9642-DA8DD654A2C1}" type="datetimeFigureOut">
              <a:rPr lang="en-US" smtClean="0"/>
              <a:pPr/>
              <a:t>10/29/2020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66B8C-4AFE-4B3A-96D6-7C7D82BBF5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6DB7-8881-4ED1-9642-DA8DD654A2C1}" type="datetimeFigureOut">
              <a:rPr lang="en-US" smtClean="0"/>
              <a:pPr/>
              <a:t>10/29/2020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66B8C-4AFE-4B3A-96D6-7C7D82BBF5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6DB7-8881-4ED1-9642-DA8DD654A2C1}" type="datetimeFigureOut">
              <a:rPr lang="en-US" smtClean="0"/>
              <a:pPr/>
              <a:t>10/29/2020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66B8C-4AFE-4B3A-96D6-7C7D82BBF5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6DB7-8881-4ED1-9642-DA8DD654A2C1}" type="datetimeFigureOut">
              <a:rPr lang="en-US" smtClean="0"/>
              <a:pPr/>
              <a:t>10/29/2020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66B8C-4AFE-4B3A-96D6-7C7D82BBF5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6DB7-8881-4ED1-9642-DA8DD654A2C1}" type="datetimeFigureOut">
              <a:rPr lang="en-US" smtClean="0"/>
              <a:pPr/>
              <a:t>10/29/2020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66B8C-4AFE-4B3A-96D6-7C7D82BBF5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6DB7-8881-4ED1-9642-DA8DD654A2C1}" type="datetimeFigureOut">
              <a:rPr lang="en-US" smtClean="0"/>
              <a:pPr/>
              <a:t>10/29/2020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66B8C-4AFE-4B3A-96D6-7C7D82BBF5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6DB7-8881-4ED1-9642-DA8DD654A2C1}" type="datetimeFigureOut">
              <a:rPr lang="en-US" smtClean="0"/>
              <a:pPr/>
              <a:t>10/29/2020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66B8C-4AFE-4B3A-96D6-7C7D82BBF5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6DB7-8881-4ED1-9642-DA8DD654A2C1}" type="datetimeFigureOut">
              <a:rPr lang="en-US" smtClean="0"/>
              <a:pPr/>
              <a:t>10/29/2020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66B8C-4AFE-4B3A-96D6-7C7D82BBF5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6DB7-8881-4ED1-9642-DA8DD654A2C1}" type="datetimeFigureOut">
              <a:rPr lang="en-US" smtClean="0"/>
              <a:pPr/>
              <a:t>10/29/2020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66B8C-4AFE-4B3A-96D6-7C7D82BBF5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6DB7-8881-4ED1-9642-DA8DD654A2C1}" type="datetimeFigureOut">
              <a:rPr lang="en-US" smtClean="0"/>
              <a:pPr/>
              <a:t>10/29/2020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66B8C-4AFE-4B3A-96D6-7C7D82BBF5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A6DB7-8881-4ED1-9642-DA8DD654A2C1}" type="datetimeFigureOut">
              <a:rPr lang="en-US" smtClean="0"/>
              <a:pPr/>
              <a:t>10/29/2020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C66B8C-4AFE-4B3A-96D6-7C7D82BBF58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start.spring.io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" TargetMode="External"/><Relationship Id="rId2" Type="http://schemas.openxmlformats.org/officeDocument/2006/relationships/hyperlink" Target="https://nodejs.org/en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4200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400" b="1" dirty="0" smtClean="0"/>
              <a:t>Abstraction: https://helpmecoder.com/2019/03/26/angular-tutorial-introduction-to-angular</a:t>
            </a:r>
            <a:r>
              <a:rPr lang="en-US" sz="2400" b="1" smtClean="0"/>
              <a:t>/ </a:t>
            </a:r>
            <a:r>
              <a:rPr lang="en-US" sz="2400" b="1" smtClean="0"/>
              <a:t/>
            </a:r>
            <a:br>
              <a:rPr lang="en-US" sz="2400" b="1" smtClean="0"/>
            </a:br>
            <a:r>
              <a:rPr lang="en-US" sz="2400" b="1" smtClean="0"/>
              <a:t/>
            </a:r>
            <a:br>
              <a:rPr lang="en-US" sz="2400" b="1" smtClean="0"/>
            </a:br>
            <a:r>
              <a:rPr lang="en-US" sz="2400" b="1" smtClean="0"/>
              <a:t> https://</a:t>
            </a:r>
            <a:r>
              <a:rPr lang="en-US" sz="2400" b="1" smtClean="0"/>
              <a:t>v2.angular.io/docs/ts/latest/guide/lifecycle-hooks.html </a:t>
            </a:r>
            <a:r>
              <a:rPr lang="en-US" sz="2400" b="1" smtClean="0"/>
              <a:t/>
            </a:r>
            <a:br>
              <a:rPr lang="en-US" sz="2400" b="1" smtClean="0"/>
            </a:br>
            <a:r>
              <a:rPr lang="en-US" sz="2400" b="1" dirty="0" smtClean="0"/>
              <a:t/>
            </a:r>
            <a:br>
              <a:rPr lang="en-US" sz="2400" b="1" dirty="0" smtClean="0"/>
            </a:b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3886200"/>
            <a:ext cx="8352928" cy="2351112"/>
          </a:xfrm>
        </p:spPr>
        <p:txBody>
          <a:bodyPr/>
          <a:lstStyle/>
          <a:p>
            <a:r>
              <a:rPr lang="en-US" dirty="0" smtClean="0"/>
              <a:t>Spring Boot Data JPA with Angular crud operations with proper exception handling and validations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Spring Boot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Spring Boot is the combination of </a:t>
            </a:r>
            <a:r>
              <a:rPr lang="en-US" b="1" dirty="0" smtClean="0"/>
              <a:t>Spring Framework</a:t>
            </a:r>
            <a:r>
              <a:rPr lang="en-US" dirty="0" smtClean="0"/>
              <a:t> and </a:t>
            </a:r>
            <a:r>
              <a:rPr lang="en-US" b="1" dirty="0" smtClean="0"/>
              <a:t>Embedded Servers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 Spring Boot, there is no requirement for XML configuration (deployment descriptor). It uses convention over configuration software design paradigm that means it decreases the effort of the developer.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Spring Boot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What is Spring Boo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2564904"/>
            <a:ext cx="7620000" cy="19335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7650" name="Picture 2" descr="Spring Boot Architectur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628800"/>
            <a:ext cx="7488832" cy="424204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Spring Boot uses all the modules of Spring-like Spring MVC, Spring Data, etc. </a:t>
            </a:r>
          </a:p>
          <a:p>
            <a:r>
              <a:rPr lang="en-US" dirty="0" smtClean="0"/>
              <a:t>The architecture of Spring Boot is the same as the architecture of Spring MVC, except one thing: there is no need for </a:t>
            </a:r>
            <a:r>
              <a:rPr lang="en-US" b="1" dirty="0" smtClean="0"/>
              <a:t>DAO</a:t>
            </a:r>
            <a:r>
              <a:rPr lang="en-US" dirty="0" smtClean="0"/>
              <a:t> and </a:t>
            </a:r>
            <a:r>
              <a:rPr lang="en-US" b="1" dirty="0" err="1" smtClean="0"/>
              <a:t>DAOImpl</a:t>
            </a:r>
            <a:r>
              <a:rPr lang="en-US" dirty="0" smtClean="0"/>
              <a:t> classes in Spring boot.</a:t>
            </a:r>
          </a:p>
          <a:p>
            <a:r>
              <a:rPr lang="en-US" dirty="0" smtClean="0"/>
              <a:t>Creates a data access layer and performs CRUD operation.</a:t>
            </a:r>
          </a:p>
          <a:p>
            <a:r>
              <a:rPr lang="en-US" dirty="0" smtClean="0"/>
              <a:t>The client makes the HTTP requests (PUT or GET).</a:t>
            </a:r>
          </a:p>
          <a:p>
            <a:r>
              <a:rPr lang="en-US" dirty="0" smtClean="0"/>
              <a:t>The request goes to the controller, and the controller maps that request and handles it. After that, it calls the service logic if required.</a:t>
            </a:r>
          </a:p>
          <a:p>
            <a:r>
              <a:rPr lang="en-US" dirty="0" smtClean="0"/>
              <a:t>In the service layer, all the business logic performs. It performs the logic on the data that is mapped to JPA with model classes.</a:t>
            </a:r>
          </a:p>
          <a:p>
            <a:r>
              <a:rPr lang="en-US" dirty="0" smtClean="0"/>
              <a:t>A JSP page is returned to the user if no error occurred.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Angular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Angular 7 is a JavaScript </a:t>
            </a:r>
            <a:r>
              <a:rPr lang="en-US" sz="2400" b="1" dirty="0" smtClean="0"/>
              <a:t>(actually a </a:t>
            </a:r>
            <a:r>
              <a:rPr lang="en-US" sz="2400" b="1" dirty="0" err="1" smtClean="0"/>
              <a:t>TypeScript</a:t>
            </a:r>
            <a:r>
              <a:rPr lang="en-US" sz="2400" b="1" dirty="0" smtClean="0"/>
              <a:t> based open-source full-stack web application)</a:t>
            </a:r>
            <a:r>
              <a:rPr lang="en-US" sz="2400" dirty="0" smtClean="0"/>
              <a:t> framework which makes you able to create reactive </a:t>
            </a:r>
            <a:r>
              <a:rPr lang="en-US" sz="2400" b="1" dirty="0" smtClean="0"/>
              <a:t>Single Page Applications</a:t>
            </a:r>
            <a:r>
              <a:rPr lang="en-US" sz="2400" dirty="0" smtClean="0"/>
              <a:t> (SPAs). </a:t>
            </a:r>
          </a:p>
          <a:p>
            <a:r>
              <a:rPr lang="en-US" sz="2400" dirty="0" smtClean="0"/>
              <a:t>Angular 7 is completely based on components. </a:t>
            </a:r>
          </a:p>
          <a:p>
            <a:r>
              <a:rPr lang="en-US" sz="2400" dirty="0" smtClean="0"/>
              <a:t>It consists of several components which forms a tree structure with parent and child components. </a:t>
            </a:r>
          </a:p>
          <a:p>
            <a:r>
              <a:rPr lang="en-US" sz="2400" dirty="0" err="1" smtClean="0"/>
              <a:t>Angular's</a:t>
            </a:r>
            <a:r>
              <a:rPr lang="en-US" sz="2400" dirty="0" smtClean="0"/>
              <a:t> versions beyond 2+ are generally known as </a:t>
            </a:r>
            <a:r>
              <a:rPr lang="en-US" sz="2400" b="1" dirty="0" smtClean="0"/>
              <a:t>Angular</a:t>
            </a:r>
            <a:r>
              <a:rPr lang="en-US" sz="2400" dirty="0" smtClean="0"/>
              <a:t> only.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What  is Single Page Application (SPA)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A single page application is a web application or a website which provides users a very fluid, reactive and fast. </a:t>
            </a:r>
          </a:p>
          <a:p>
            <a:r>
              <a:rPr lang="en-US" sz="2800" dirty="0" smtClean="0"/>
              <a:t>A single-page application is an app that doesn’t need to reload the page during its use and works within a browser. </a:t>
            </a:r>
          </a:p>
          <a:p>
            <a:r>
              <a:rPr lang="en-US" sz="2800" dirty="0" smtClean="0"/>
              <a:t>Think of the apps you use daily: </a:t>
            </a:r>
            <a:r>
              <a:rPr lang="en-US" sz="2800" dirty="0" err="1" smtClean="0"/>
              <a:t>Facebook</a:t>
            </a:r>
            <a:r>
              <a:rPr lang="en-US" sz="2800" dirty="0" smtClean="0"/>
              <a:t>, Google Maps, Gmail, Twitter, Google Drive, or even </a:t>
            </a:r>
            <a:r>
              <a:rPr lang="en-US" sz="2800" dirty="0" err="1" smtClean="0"/>
              <a:t>GitHub</a:t>
            </a:r>
            <a:r>
              <a:rPr lang="en-US" sz="2800" dirty="0" smtClean="0"/>
              <a:t>. All these are examples of a SPA.</a:t>
            </a:r>
          </a:p>
          <a:p>
            <a:endParaRPr lang="en-US" sz="2800" dirty="0" smtClean="0"/>
          </a:p>
          <a:p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971600" y="2136339"/>
            <a:ext cx="5886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Angular application Flow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26" name="AutoShape 2" descr="https://helpmecoder.com/wp-content/uploads/2019/05/AngularFlow-1-1024x466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8" name="Picture 4" descr="https://helpmecoder.com/wp-content/uploads/2019/05/AngularFlow-1-1024x466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556792"/>
            <a:ext cx="8708976" cy="44386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Employee Management System 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7487" y="1593304"/>
            <a:ext cx="8963025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What we will build?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B</a:t>
            </a:r>
            <a:r>
              <a:rPr lang="en-IN" sz="2400" b="1" dirty="0" smtClean="0">
                <a:solidFill>
                  <a:srgbClr val="FF0000"/>
                </a:solidFill>
              </a:rPr>
              <a:t>ack-end :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r>
              <a:rPr lang="en-US" sz="2400" b="1" dirty="0" err="1" smtClean="0"/>
              <a:t>springboot</a:t>
            </a:r>
            <a:r>
              <a:rPr lang="en-US" sz="2400" b="1" dirty="0" smtClean="0"/>
              <a:t>-</a:t>
            </a:r>
            <a:r>
              <a:rPr lang="en-US" sz="2400" b="1" dirty="0" err="1" smtClean="0"/>
              <a:t>jpa</a:t>
            </a:r>
            <a:r>
              <a:rPr lang="en-US" sz="2400" b="1" dirty="0" smtClean="0"/>
              <a:t>-crud</a:t>
            </a:r>
            <a:r>
              <a:rPr lang="en-US" sz="2400" dirty="0" smtClean="0"/>
              <a:t>: </a:t>
            </a:r>
            <a:r>
              <a:rPr lang="en-US" sz="2000" dirty="0"/>
              <a:t>This project is used to develop CRUD </a:t>
            </a:r>
            <a:r>
              <a:rPr lang="en-US" sz="2000" dirty="0" err="1"/>
              <a:t>RESTFul</a:t>
            </a:r>
            <a:r>
              <a:rPr lang="en-US" sz="2000" dirty="0"/>
              <a:t> APIs  using Spring </a:t>
            </a:r>
            <a:r>
              <a:rPr lang="en-US" sz="2000" dirty="0" smtClean="0"/>
              <a:t>Boot, </a:t>
            </a:r>
            <a:r>
              <a:rPr lang="en-US" sz="2000" dirty="0"/>
              <a:t>JPA and </a:t>
            </a:r>
            <a:r>
              <a:rPr lang="en-US" sz="2000" dirty="0" err="1" smtClean="0"/>
              <a:t>MySQL</a:t>
            </a:r>
            <a:r>
              <a:rPr lang="en-US" sz="2000" dirty="0" smtClean="0"/>
              <a:t>/H2 </a:t>
            </a:r>
            <a:r>
              <a:rPr lang="en-US" sz="2000" dirty="0"/>
              <a:t>as a database</a:t>
            </a:r>
            <a:r>
              <a:rPr lang="en-US" sz="2000" dirty="0" smtClean="0"/>
              <a:t>.</a:t>
            </a:r>
            <a:endParaRPr lang="en-US" sz="2400" dirty="0" smtClean="0"/>
          </a:p>
          <a:p>
            <a:endParaRPr lang="en-IN" sz="2400" dirty="0"/>
          </a:p>
          <a:p>
            <a:r>
              <a:rPr lang="en-IN" sz="2400" b="1" dirty="0" smtClean="0">
                <a:solidFill>
                  <a:srgbClr val="FF0000"/>
                </a:solidFill>
              </a:rPr>
              <a:t>Front-end :</a:t>
            </a:r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sz="2400" b="1" dirty="0" smtClean="0"/>
              <a:t>angular-</a:t>
            </a:r>
            <a:r>
              <a:rPr lang="en-US" sz="2400" b="1" dirty="0" err="1" smtClean="0"/>
              <a:t>springboot</a:t>
            </a:r>
            <a:r>
              <a:rPr lang="en-US" sz="2400" b="1" dirty="0" smtClean="0"/>
              <a:t>-client</a:t>
            </a:r>
            <a:r>
              <a:rPr lang="en-US" sz="2400" dirty="0"/>
              <a:t>: This project is used to develop single page application using Angular </a:t>
            </a:r>
            <a:r>
              <a:rPr lang="en-US" sz="2400" dirty="0" smtClean="0"/>
              <a:t> </a:t>
            </a:r>
            <a:r>
              <a:rPr lang="en-US" sz="2400" dirty="0"/>
              <a:t>as front-end technology. This Angular </a:t>
            </a:r>
            <a:r>
              <a:rPr lang="en-US" sz="2400" dirty="0" smtClean="0"/>
              <a:t> </a:t>
            </a:r>
            <a:r>
              <a:rPr lang="en-US" sz="2400" dirty="0"/>
              <a:t>application consumes CRUD Restful APIs developed and exposed by a </a:t>
            </a:r>
            <a:r>
              <a:rPr lang="en-US" sz="2400" b="1" dirty="0" err="1" smtClean="0"/>
              <a:t>springboot</a:t>
            </a:r>
            <a:r>
              <a:rPr lang="en-US" sz="2400" b="1" dirty="0" smtClean="0"/>
              <a:t>-</a:t>
            </a:r>
            <a:r>
              <a:rPr lang="en-US" sz="2400" b="1" dirty="0" err="1" smtClean="0"/>
              <a:t>jpa</a:t>
            </a:r>
            <a:r>
              <a:rPr lang="en-US" sz="2400" b="1" dirty="0" smtClean="0"/>
              <a:t>-crud.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Tools and technologies used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Back end </a:t>
            </a:r>
            <a:r>
              <a:rPr lang="en-US" b="1" dirty="0">
                <a:solidFill>
                  <a:srgbClr val="FF0000"/>
                </a:solidFill>
              </a:rPr>
              <a:t>technologies</a:t>
            </a:r>
          </a:p>
          <a:p>
            <a:pPr lvl="1"/>
            <a:r>
              <a:rPr lang="en-US" dirty="0" smtClean="0"/>
              <a:t>JDK </a:t>
            </a:r>
            <a:r>
              <a:rPr lang="en-US" dirty="0"/>
              <a:t>- 1.8 or </a:t>
            </a:r>
            <a:r>
              <a:rPr lang="en-US" dirty="0" smtClean="0"/>
              <a:t>later</a:t>
            </a:r>
          </a:p>
          <a:p>
            <a:pPr lvl="1"/>
            <a:r>
              <a:rPr lang="en-US" dirty="0" smtClean="0"/>
              <a:t>Spring Boot - 2.0.5.RELEASE</a:t>
            </a:r>
          </a:p>
          <a:p>
            <a:pPr lvl="1"/>
            <a:r>
              <a:rPr lang="en-US" dirty="0" smtClean="0"/>
              <a:t>Spring </a:t>
            </a:r>
            <a:r>
              <a:rPr lang="en-US" dirty="0"/>
              <a:t>Framework - 5.0.8 RELEASE</a:t>
            </a:r>
          </a:p>
          <a:p>
            <a:pPr lvl="1"/>
            <a:r>
              <a:rPr lang="en-US" dirty="0"/>
              <a:t>Hibernate - 5.2.17.Final</a:t>
            </a:r>
          </a:p>
          <a:p>
            <a:pPr lvl="1"/>
            <a:r>
              <a:rPr lang="en-US" dirty="0"/>
              <a:t>Spring Data JPA - 2+</a:t>
            </a:r>
          </a:p>
          <a:p>
            <a:r>
              <a:rPr lang="en-US" b="1" dirty="0">
                <a:solidFill>
                  <a:srgbClr val="FF0000"/>
                </a:solidFill>
              </a:rPr>
              <a:t>Front end technologies</a:t>
            </a:r>
          </a:p>
          <a:p>
            <a:pPr lvl="1"/>
            <a:r>
              <a:rPr lang="en-US" dirty="0"/>
              <a:t>Angular 8.0.0</a:t>
            </a:r>
          </a:p>
          <a:p>
            <a:pPr lvl="1"/>
            <a:r>
              <a:rPr lang="en-US" dirty="0"/>
              <a:t>Bootstrap 4</a:t>
            </a:r>
          </a:p>
          <a:p>
            <a:pPr lvl="1"/>
            <a:r>
              <a:rPr lang="en-US" dirty="0" err="1"/>
              <a:t>npm</a:t>
            </a:r>
            <a:r>
              <a:rPr lang="en-US" dirty="0"/>
              <a:t>- 6.9.0</a:t>
            </a:r>
          </a:p>
          <a:p>
            <a:pPr lvl="1"/>
            <a:r>
              <a:rPr lang="en-US" dirty="0" err="1"/>
              <a:t>JQuery</a:t>
            </a: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Tools</a:t>
            </a:r>
          </a:p>
          <a:p>
            <a:pPr lvl="1"/>
            <a:r>
              <a:rPr lang="en-US" dirty="0"/>
              <a:t>Maven - 3.2+</a:t>
            </a:r>
          </a:p>
          <a:p>
            <a:pPr lvl="1"/>
            <a:r>
              <a:rPr lang="en-US" dirty="0"/>
              <a:t>IDE - Eclipse or Spring Tool Suite (STS</a:t>
            </a:r>
            <a:r>
              <a:rPr lang="en-US" dirty="0" smtClean="0"/>
              <a:t>)</a:t>
            </a:r>
            <a:endParaRPr lang="en-US" dirty="0"/>
          </a:p>
          <a:p>
            <a:pPr lvl="1"/>
            <a:r>
              <a:rPr lang="en-US" dirty="0"/>
              <a:t>Visual Studio </a:t>
            </a:r>
            <a:r>
              <a:rPr lang="en-US" dirty="0" smtClean="0"/>
              <a:t>Code Editor</a:t>
            </a:r>
            <a:endParaRPr lang="en-US" dirty="0"/>
          </a:p>
          <a:p>
            <a:pPr lvl="1"/>
            <a:r>
              <a:rPr lang="en-US" dirty="0"/>
              <a:t>Angular CLI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</a:rPr>
              <a:t>Spring Boot + Angular 8 CRUD</a:t>
            </a:r>
            <a:endParaRPr lang="en-US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Part 1 </a:t>
            </a:r>
            <a:r>
              <a:rPr lang="en-US" sz="2800" dirty="0" smtClean="0"/>
              <a:t>- Develop Spring Boot CRUD Rest APIs</a:t>
            </a:r>
          </a:p>
          <a:p>
            <a:r>
              <a:rPr lang="en-US" sz="2800" b="1" dirty="0" smtClean="0"/>
              <a:t>Part 2 </a:t>
            </a:r>
            <a:r>
              <a:rPr lang="en-US" sz="2800" dirty="0" smtClean="0"/>
              <a:t>- Create Angular 8 App</a:t>
            </a:r>
          </a:p>
          <a:p>
            <a:r>
              <a:rPr lang="en-US" sz="2800" b="1" dirty="0" smtClean="0"/>
              <a:t>Part 3 </a:t>
            </a:r>
            <a:r>
              <a:rPr lang="en-US" sz="2800" dirty="0" smtClean="0"/>
              <a:t>- Develop Angular 8 CRUD Operations</a:t>
            </a:r>
          </a:p>
          <a:p>
            <a:r>
              <a:rPr lang="en-US" sz="2800" b="1" dirty="0" smtClean="0"/>
              <a:t>Part 4 </a:t>
            </a:r>
            <a:r>
              <a:rPr lang="en-US" sz="2800" dirty="0" smtClean="0"/>
              <a:t>- Angular 8 CRUD App Configuration</a:t>
            </a:r>
          </a:p>
          <a:p>
            <a:r>
              <a:rPr lang="en-US" sz="2800" b="1" dirty="0" smtClean="0"/>
              <a:t>Part 5 </a:t>
            </a:r>
            <a:r>
              <a:rPr lang="en-US" sz="2800" dirty="0" smtClean="0"/>
              <a:t>- Running Angular 8 CRUD App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600" dirty="0" smtClean="0"/>
              <a:t>Look at the above diagram, we have specified the following details:</a:t>
            </a:r>
          </a:p>
          <a:p>
            <a:r>
              <a:rPr lang="en-US" sz="1600" b="1" dirty="0" smtClean="0"/>
              <a:t>Generate</a:t>
            </a:r>
            <a:r>
              <a:rPr lang="en-US" sz="1600" dirty="0" smtClean="0"/>
              <a:t>: Maven Project</a:t>
            </a:r>
          </a:p>
          <a:p>
            <a:r>
              <a:rPr lang="en-US" sz="1600" b="1" dirty="0" smtClean="0"/>
              <a:t>Java Version</a:t>
            </a:r>
            <a:r>
              <a:rPr lang="en-US" sz="1600" dirty="0" smtClean="0"/>
              <a:t>: 1.8 (Default)</a:t>
            </a:r>
          </a:p>
          <a:p>
            <a:r>
              <a:rPr lang="en-US" sz="1600" b="1" dirty="0" smtClean="0"/>
              <a:t>Spring Boot</a:t>
            </a:r>
            <a:r>
              <a:rPr lang="en-US" sz="1600" dirty="0" smtClean="0"/>
              <a:t>:2.0.4</a:t>
            </a:r>
          </a:p>
          <a:p>
            <a:r>
              <a:rPr lang="en-US" sz="1600" b="1" dirty="0" smtClean="0"/>
              <a:t>Group</a:t>
            </a:r>
            <a:r>
              <a:rPr lang="en-US" sz="1600" dirty="0" smtClean="0"/>
              <a:t>: </a:t>
            </a:r>
            <a:r>
              <a:rPr lang="en-US" sz="1600" dirty="0" err="1" smtClean="0"/>
              <a:t>com.springboot.jpa</a:t>
            </a:r>
            <a:endParaRPr lang="en-US" sz="1600" dirty="0" smtClean="0"/>
          </a:p>
          <a:p>
            <a:r>
              <a:rPr lang="en-US" sz="1600" b="1" dirty="0" smtClean="0"/>
              <a:t>Artifact</a:t>
            </a:r>
            <a:r>
              <a:rPr lang="en-US" sz="1600" dirty="0" smtClean="0"/>
              <a:t>: </a:t>
            </a:r>
            <a:r>
              <a:rPr lang="en-US" sz="1600" dirty="0" err="1" smtClean="0"/>
              <a:t>springbootbackend</a:t>
            </a:r>
            <a:endParaRPr lang="en-US" sz="1600" dirty="0" smtClean="0"/>
          </a:p>
          <a:p>
            <a:r>
              <a:rPr lang="en-US" sz="1600" b="1" dirty="0" smtClean="0"/>
              <a:t>Name</a:t>
            </a:r>
            <a:r>
              <a:rPr lang="en-US" sz="1600" dirty="0" smtClean="0"/>
              <a:t>: </a:t>
            </a:r>
            <a:r>
              <a:rPr lang="en-US" sz="1600" dirty="0" err="1" smtClean="0"/>
              <a:t>springbootbackend</a:t>
            </a:r>
            <a:endParaRPr lang="en-US" sz="1600" dirty="0" smtClean="0"/>
          </a:p>
          <a:p>
            <a:r>
              <a:rPr lang="en-US" sz="1600" b="1" dirty="0" smtClean="0"/>
              <a:t>Description</a:t>
            </a:r>
            <a:r>
              <a:rPr lang="en-US" sz="1600" dirty="0" smtClean="0"/>
              <a:t>: Rest API for a Simple Employee Management Application</a:t>
            </a:r>
          </a:p>
          <a:p>
            <a:r>
              <a:rPr lang="en-US" sz="1600" b="1" dirty="0" smtClean="0"/>
              <a:t>Package Name</a:t>
            </a:r>
            <a:r>
              <a:rPr lang="en-US" sz="1600" dirty="0" smtClean="0"/>
              <a:t> : </a:t>
            </a:r>
            <a:r>
              <a:rPr lang="en-US" sz="1600" dirty="0" err="1" smtClean="0"/>
              <a:t>com.springboot.jpa</a:t>
            </a:r>
            <a:r>
              <a:rPr lang="en-US" sz="1600" dirty="0" smtClean="0"/>
              <a:t> .</a:t>
            </a:r>
            <a:r>
              <a:rPr lang="en-US" sz="1600" dirty="0" err="1" smtClean="0"/>
              <a:t>springbootbackend</a:t>
            </a:r>
            <a:endParaRPr lang="en-US" sz="1600" dirty="0" smtClean="0"/>
          </a:p>
          <a:p>
            <a:r>
              <a:rPr lang="en-US" sz="1600" b="1" dirty="0" smtClean="0"/>
              <a:t>Packaging</a:t>
            </a:r>
            <a:r>
              <a:rPr lang="en-US" sz="1600" dirty="0" smtClean="0"/>
              <a:t>: jar (This is the default value)</a:t>
            </a:r>
          </a:p>
          <a:p>
            <a:r>
              <a:rPr lang="en-US" sz="1600" b="1" dirty="0" smtClean="0"/>
              <a:t>Dependencies</a:t>
            </a:r>
            <a:r>
              <a:rPr lang="en-US" sz="1600" dirty="0" smtClean="0"/>
              <a:t>: Web, JPA, </a:t>
            </a:r>
            <a:r>
              <a:rPr lang="en-US" sz="1600" dirty="0" err="1" smtClean="0"/>
              <a:t>MySQL</a:t>
            </a:r>
            <a:r>
              <a:rPr lang="en-US" sz="1600" dirty="0" smtClean="0"/>
              <a:t>, </a:t>
            </a:r>
            <a:r>
              <a:rPr lang="en-US" sz="1600" dirty="0" err="1" smtClean="0"/>
              <a:t>DevTools</a:t>
            </a:r>
            <a:endParaRPr lang="en-US" sz="1600" dirty="0" smtClean="0"/>
          </a:p>
          <a:p>
            <a:endParaRPr lang="en-US" sz="1600" dirty="0" smtClean="0"/>
          </a:p>
          <a:p>
            <a:r>
              <a:rPr lang="en-US" sz="1600" dirty="0" smtClean="0"/>
              <a:t>Once, all the details are entered, click on Generate Project button will generate a spring boot project and downloads it. </a:t>
            </a:r>
          </a:p>
          <a:p>
            <a:r>
              <a:rPr lang="en-US" sz="1600" dirty="0" smtClean="0"/>
              <a:t>Next, Unzip the downloaded zip file and import it into your favorite IDE.</a:t>
            </a:r>
          </a:p>
          <a:p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dirty="0" smtClean="0"/>
              <a:t>Part 1 </a:t>
            </a:r>
            <a:r>
              <a:rPr lang="en-US" sz="2800" dirty="0" smtClean="0"/>
              <a:t>- Develop Spring Boot CRUD Rest APIs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employee</a:t>
            </a:r>
          </a:p>
          <a:p>
            <a:r>
              <a:rPr lang="en-US" dirty="0" smtClean="0"/>
              <a:t>list employee</a:t>
            </a:r>
          </a:p>
          <a:p>
            <a:r>
              <a:rPr lang="en-US" dirty="0" smtClean="0"/>
              <a:t>delete employee</a:t>
            </a:r>
          </a:p>
          <a:p>
            <a:r>
              <a:rPr lang="en-US" dirty="0" smtClean="0"/>
              <a:t>update employee</a:t>
            </a:r>
          </a:p>
          <a:p>
            <a:r>
              <a:rPr lang="en-US" dirty="0" smtClean="0"/>
              <a:t>get employee by id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1800" b="1" dirty="0" smtClean="0"/>
              <a:t>1. Creating and Importing a Project</a:t>
            </a:r>
            <a:br>
              <a:rPr lang="en-US" sz="1800" b="1" dirty="0" smtClean="0"/>
            </a:br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There are many ways to create a Spring Boot application. </a:t>
            </a:r>
          </a:p>
          <a:p>
            <a:r>
              <a:rPr lang="en-US" sz="2400" dirty="0" smtClean="0"/>
              <a:t>The simplest way is to use Spring Initialization </a:t>
            </a:r>
            <a:r>
              <a:rPr lang="en-US" sz="2400" b="1" dirty="0" smtClean="0">
                <a:hlinkClick r:id="rId2"/>
              </a:rPr>
              <a:t>http://start.spring.io/</a:t>
            </a:r>
            <a:r>
              <a:rPr lang="en-US" sz="2400" dirty="0" smtClean="0"/>
              <a:t>, which is an online Spring Boot application generator.</a:t>
            </a:r>
            <a:br>
              <a:rPr lang="en-US" sz="2400" dirty="0" smtClean="0"/>
            </a:b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3243742"/>
            <a:ext cx="7416824" cy="342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 smtClean="0"/>
              <a:t>Packaging Structure</a:t>
            </a:r>
            <a:endParaRPr lang="en-US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268760"/>
            <a:ext cx="6508973" cy="610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Part 2 </a:t>
            </a:r>
            <a:r>
              <a:rPr lang="en-US" sz="3200" dirty="0" smtClean="0"/>
              <a:t>- Create Angular 8 App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Install the latest version of Angular CLI</a:t>
            </a:r>
          </a:p>
          <a:p>
            <a:r>
              <a:rPr lang="en-US" sz="2800" dirty="0" smtClean="0"/>
              <a:t>Create Angular 8 client application using Angular CLI</a:t>
            </a:r>
          </a:p>
          <a:p>
            <a:r>
              <a:rPr lang="en-US" sz="2800" dirty="0" smtClean="0"/>
              <a:t>Identify Components, Services, and Modules</a:t>
            </a:r>
          </a:p>
          <a:p>
            <a:r>
              <a:rPr lang="en-US" sz="2800" dirty="0" smtClean="0"/>
              <a:t>Create Service &amp; Components using Angular CLI</a:t>
            </a:r>
          </a:p>
          <a:p>
            <a:r>
              <a:rPr lang="en-US" sz="2800" dirty="0" smtClean="0"/>
              <a:t>Integrate </a:t>
            </a:r>
            <a:r>
              <a:rPr lang="en-US" sz="2800" dirty="0" err="1" smtClean="0"/>
              <a:t>JQuery</a:t>
            </a:r>
            <a:r>
              <a:rPr lang="en-US" sz="2800" dirty="0" smtClean="0"/>
              <a:t> and Bootstrap with Angular</a:t>
            </a:r>
          </a:p>
          <a:p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install Angular, we require the following −</a:t>
            </a:r>
          </a:p>
          <a:p>
            <a:r>
              <a:rPr lang="en-US" dirty="0" err="1" smtClean="0"/>
              <a:t>Nodejs</a:t>
            </a:r>
            <a:endParaRPr lang="en-US" sz="2000" dirty="0" smtClean="0"/>
          </a:p>
          <a:p>
            <a:r>
              <a:rPr lang="en-US" b="1" dirty="0" smtClean="0">
                <a:hlinkClick r:id="rId2"/>
              </a:rPr>
              <a:t> install   site  :https://nodejs.org/en/</a:t>
            </a:r>
            <a:endParaRPr lang="en-US" dirty="0" smtClean="0"/>
          </a:p>
          <a:p>
            <a:r>
              <a:rPr lang="en-US" dirty="0" err="1" smtClean="0"/>
              <a:t>Npm</a:t>
            </a:r>
            <a:r>
              <a:rPr lang="en-US" dirty="0" smtClean="0"/>
              <a:t> :</a:t>
            </a:r>
          </a:p>
          <a:p>
            <a:r>
              <a:rPr lang="en-US" dirty="0" smtClean="0"/>
              <a:t>Angular CLI</a:t>
            </a:r>
          </a:p>
          <a:p>
            <a:r>
              <a:rPr lang="en-US" dirty="0" smtClean="0"/>
              <a:t>IDE for writing your code :You can download VS Code from here: </a:t>
            </a:r>
            <a:r>
              <a:rPr lang="en-US" b="1" dirty="0" smtClean="0">
                <a:hlinkClick r:id="rId3"/>
              </a:rPr>
              <a:t>https://code.visualstudio.com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8674" name="Picture 2" descr="How to install Angular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7366" y="198462"/>
            <a:ext cx="7639050" cy="6038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dirty="0" smtClean="0"/>
              <a:t>Identify Components, Services, and Modules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smtClean="0"/>
              <a:t>Components</a:t>
            </a:r>
          </a:p>
          <a:p>
            <a:pPr lvl="1"/>
            <a:r>
              <a:rPr lang="en-US" dirty="0" smtClean="0"/>
              <a:t>create-employee</a:t>
            </a:r>
          </a:p>
          <a:p>
            <a:pPr lvl="1"/>
            <a:r>
              <a:rPr lang="en-US" dirty="0" smtClean="0"/>
              <a:t>employee-list</a:t>
            </a:r>
          </a:p>
          <a:p>
            <a:pPr lvl="1"/>
            <a:r>
              <a:rPr lang="en-US" dirty="0" smtClean="0"/>
              <a:t>employee-details</a:t>
            </a:r>
          </a:p>
          <a:p>
            <a:r>
              <a:rPr lang="en-US" b="1" dirty="0" smtClean="0"/>
              <a:t>Services</a:t>
            </a:r>
          </a:p>
          <a:p>
            <a:pPr lvl="1"/>
            <a:r>
              <a:rPr lang="en-US" dirty="0" err="1" smtClean="0"/>
              <a:t>employee.service.ts</a:t>
            </a:r>
            <a:r>
              <a:rPr lang="en-US" dirty="0" smtClean="0"/>
              <a:t> - Service for Http Client methods</a:t>
            </a:r>
          </a:p>
          <a:p>
            <a:r>
              <a:rPr lang="en-US" b="1" dirty="0" smtClean="0"/>
              <a:t>Modules</a:t>
            </a:r>
          </a:p>
          <a:p>
            <a:pPr lvl="1"/>
            <a:r>
              <a:rPr lang="en-US" dirty="0" err="1" smtClean="0"/>
              <a:t>FormsModule</a:t>
            </a:r>
            <a:endParaRPr lang="en-US" dirty="0" smtClean="0"/>
          </a:p>
          <a:p>
            <a:pPr lvl="1"/>
            <a:r>
              <a:rPr lang="en-US" dirty="0" err="1" smtClean="0"/>
              <a:t>HttpClientModule</a:t>
            </a:r>
            <a:endParaRPr lang="en-US" dirty="0" smtClean="0"/>
          </a:p>
          <a:p>
            <a:pPr lvl="1"/>
            <a:r>
              <a:rPr lang="en-US" dirty="0" err="1" smtClean="0"/>
              <a:t>AppRoutingModule</a:t>
            </a:r>
            <a:endParaRPr lang="en-US" dirty="0" smtClean="0"/>
          </a:p>
          <a:p>
            <a:r>
              <a:rPr lang="en-US" b="1" dirty="0" smtClean="0"/>
              <a:t>Employee Class (Typescript class)</a:t>
            </a:r>
          </a:p>
          <a:p>
            <a:pPr lvl="1"/>
            <a:r>
              <a:rPr lang="en-US" dirty="0" err="1" smtClean="0"/>
              <a:t>employee.ts</a:t>
            </a:r>
            <a:r>
              <a:rPr lang="en-US" dirty="0" smtClean="0"/>
              <a:t>: class Employee (id, </a:t>
            </a:r>
            <a:r>
              <a:rPr lang="en-US" dirty="0" err="1" smtClean="0"/>
              <a:t>firstName</a:t>
            </a:r>
            <a:r>
              <a:rPr lang="en-US" dirty="0" smtClean="0"/>
              <a:t>, </a:t>
            </a:r>
            <a:r>
              <a:rPr lang="en-US" dirty="0" err="1" smtClean="0"/>
              <a:t>lastName</a:t>
            </a:r>
            <a:r>
              <a:rPr lang="en-US" dirty="0" smtClean="0"/>
              <a:t>, </a:t>
            </a:r>
            <a:r>
              <a:rPr lang="en-US" dirty="0" err="1" smtClean="0"/>
              <a:t>emailId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b="1" dirty="0" smtClean="0"/>
              <a:t>Create Service &amp; Components using Angular CLI</a:t>
            </a:r>
            <a:br>
              <a:rPr lang="en-US" sz="2400" b="1" dirty="0" smtClean="0"/>
            </a:b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 err="1" smtClean="0"/>
              <a:t>ng</a:t>
            </a:r>
            <a:r>
              <a:rPr lang="en-US" dirty="0" smtClean="0"/>
              <a:t> g s employee </a:t>
            </a:r>
          </a:p>
          <a:p>
            <a:pPr>
              <a:buNone/>
            </a:pPr>
            <a:r>
              <a:rPr lang="en-US" dirty="0" smtClean="0"/>
              <a:t>	– </a:t>
            </a:r>
            <a:r>
              <a:rPr lang="en-US" dirty="0" err="1" smtClean="0"/>
              <a:t>ng</a:t>
            </a:r>
            <a:r>
              <a:rPr lang="en-US" dirty="0" smtClean="0"/>
              <a:t> g c create-employee </a:t>
            </a:r>
          </a:p>
          <a:p>
            <a:pPr>
              <a:buNone/>
            </a:pPr>
            <a:r>
              <a:rPr lang="en-US" dirty="0" smtClean="0"/>
              <a:t>	– </a:t>
            </a:r>
            <a:r>
              <a:rPr lang="en-US" dirty="0" err="1" smtClean="0"/>
              <a:t>ng</a:t>
            </a:r>
            <a:r>
              <a:rPr lang="en-US" dirty="0" smtClean="0"/>
              <a:t> g c employee-details </a:t>
            </a:r>
          </a:p>
          <a:p>
            <a:pPr>
              <a:buNone/>
            </a:pPr>
            <a:r>
              <a:rPr lang="en-US" dirty="0" smtClean="0"/>
              <a:t>	– </a:t>
            </a:r>
            <a:r>
              <a:rPr lang="en-US" dirty="0" err="1" smtClean="0"/>
              <a:t>ng</a:t>
            </a:r>
            <a:r>
              <a:rPr lang="en-US" dirty="0" smtClean="0"/>
              <a:t> g c employee-list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 smtClean="0"/>
              <a:t>Integrate </a:t>
            </a:r>
            <a:r>
              <a:rPr lang="en-US" sz="3200" b="1" dirty="0" err="1" smtClean="0"/>
              <a:t>JQuery</a:t>
            </a:r>
            <a:r>
              <a:rPr lang="en-US" sz="3200" b="1" dirty="0" smtClean="0"/>
              <a:t> and Bootstrap with Angular</a:t>
            </a:r>
            <a:br>
              <a:rPr lang="en-US" sz="3200" b="1" dirty="0" smtClean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000" dirty="0" smtClean="0"/>
          </a:p>
          <a:p>
            <a:r>
              <a:rPr lang="en-US" sz="2000" dirty="0" smtClean="0"/>
              <a:t>Use NPM to download  </a:t>
            </a:r>
            <a:r>
              <a:rPr lang="en-US" sz="2000" b="1" dirty="0" smtClean="0"/>
              <a:t>Bootstrap</a:t>
            </a:r>
            <a:r>
              <a:rPr lang="en-US" sz="2000" dirty="0" smtClean="0"/>
              <a:t> &amp; </a:t>
            </a:r>
            <a:r>
              <a:rPr lang="en-US" sz="2000" b="1" dirty="0" err="1" smtClean="0"/>
              <a:t>JQuery</a:t>
            </a:r>
            <a:r>
              <a:rPr lang="en-US" sz="2000" dirty="0" smtClean="0"/>
              <a:t>. </a:t>
            </a:r>
            <a:r>
              <a:rPr lang="en-US" sz="2000" b="1" dirty="0" smtClean="0"/>
              <a:t>Bootstrap</a:t>
            </a:r>
            <a:r>
              <a:rPr lang="en-US" sz="2000" dirty="0" smtClean="0"/>
              <a:t> and </a:t>
            </a:r>
            <a:r>
              <a:rPr lang="en-US" sz="2000" b="1" dirty="0" err="1" smtClean="0"/>
              <a:t>jQuery</a:t>
            </a:r>
            <a:r>
              <a:rPr lang="en-US" sz="2000" dirty="0" smtClean="0"/>
              <a:t> will be installed into the </a:t>
            </a:r>
            <a:r>
              <a:rPr lang="en-US" sz="2000" b="1" dirty="0" err="1" smtClean="0"/>
              <a:t>node_modules</a:t>
            </a:r>
            <a:r>
              <a:rPr lang="en-US" sz="2000" dirty="0" smtClean="0"/>
              <a:t> folder.</a:t>
            </a:r>
          </a:p>
          <a:p>
            <a:endParaRPr lang="en-US" sz="2000" dirty="0" smtClean="0"/>
          </a:p>
          <a:p>
            <a:r>
              <a:rPr lang="en-US" sz="2000" dirty="0" err="1" smtClean="0"/>
              <a:t>npm</a:t>
            </a:r>
            <a:r>
              <a:rPr lang="en-US" sz="2000" dirty="0" smtClean="0"/>
              <a:t> install bootstrap </a:t>
            </a:r>
            <a:r>
              <a:rPr lang="en-US" sz="2000" dirty="0" err="1" smtClean="0"/>
              <a:t>jquery</a:t>
            </a:r>
            <a:r>
              <a:rPr lang="en-US" sz="2000" dirty="0" smtClean="0"/>
              <a:t> --save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dirty="0" smtClean="0"/>
              <a:t>Part 3 </a:t>
            </a:r>
            <a:r>
              <a:rPr lang="en-US" sz="2800" dirty="0" smtClean="0"/>
              <a:t>- Develop Angular 8 CRUD Operations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Create an Employee class</a:t>
            </a:r>
          </a:p>
          <a:p>
            <a:r>
              <a:rPr lang="en-US" sz="2800" dirty="0" smtClean="0"/>
              <a:t>Employee Service</a:t>
            </a:r>
          </a:p>
          <a:p>
            <a:r>
              <a:rPr lang="en-US" sz="2800" dirty="0" smtClean="0"/>
              <a:t>Creating Employee List Template and Component</a:t>
            </a:r>
          </a:p>
          <a:p>
            <a:r>
              <a:rPr lang="en-US" sz="2800" dirty="0" smtClean="0"/>
              <a:t>Create Add Employee Template and Component</a:t>
            </a:r>
          </a:p>
          <a:p>
            <a:r>
              <a:rPr lang="en-US" sz="2800" dirty="0" smtClean="0"/>
              <a:t>Update Employee Template and Component</a:t>
            </a:r>
          </a:p>
          <a:p>
            <a:r>
              <a:rPr lang="en-US" sz="2800" dirty="0" smtClean="0"/>
              <a:t>Create View Employee Details Template and Component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723750"/>
            <a:ext cx="7841059" cy="43946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Part 4 </a:t>
            </a:r>
            <a:r>
              <a:rPr lang="en-US" sz="2400" dirty="0" smtClean="0"/>
              <a:t>- Angular 8 CRUD App Configuration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err="1" smtClean="0"/>
              <a:t>npm</a:t>
            </a:r>
            <a:r>
              <a:rPr lang="en-US" sz="2400" dirty="0" smtClean="0"/>
              <a:t> </a:t>
            </a:r>
            <a:r>
              <a:rPr lang="en-US" sz="2400" dirty="0" err="1" smtClean="0"/>
              <a:t>package.json</a:t>
            </a:r>
            <a:r>
              <a:rPr lang="en-US" sz="2400" dirty="0" smtClean="0"/>
              <a:t> - Configure Dependencies</a:t>
            </a:r>
          </a:p>
          <a:p>
            <a:r>
              <a:rPr lang="en-US" sz="2400" dirty="0" smtClean="0"/>
              <a:t>App Routing Module</a:t>
            </a:r>
          </a:p>
          <a:p>
            <a:r>
              <a:rPr lang="en-US" sz="2400" dirty="0" smtClean="0"/>
              <a:t>App Component</a:t>
            </a:r>
          </a:p>
          <a:p>
            <a:r>
              <a:rPr lang="en-US" sz="2400" dirty="0" smtClean="0"/>
              <a:t>App Component Template</a:t>
            </a:r>
          </a:p>
          <a:p>
            <a:r>
              <a:rPr lang="en-US" sz="2400" dirty="0" smtClean="0"/>
              <a:t>App Module</a:t>
            </a:r>
          </a:p>
          <a:p>
            <a:r>
              <a:rPr lang="en-US" sz="2400" dirty="0" smtClean="0"/>
              <a:t>Main Index Html File</a:t>
            </a:r>
          </a:p>
          <a:p>
            <a:r>
              <a:rPr lang="en-US" sz="2400" dirty="0" smtClean="0"/>
              <a:t>Main (Bootstrap) File</a:t>
            </a:r>
          </a:p>
          <a:p>
            <a:r>
              <a:rPr lang="en-US" sz="2400" dirty="0" err="1" smtClean="0"/>
              <a:t>Polyfills</a:t>
            </a:r>
            <a:endParaRPr lang="en-US" sz="2400" dirty="0" smtClean="0"/>
          </a:p>
          <a:p>
            <a:r>
              <a:rPr lang="en-US" sz="2400" dirty="0" err="1" smtClean="0"/>
              <a:t>TypeScript</a:t>
            </a:r>
            <a:r>
              <a:rPr lang="en-US" sz="2400" dirty="0" smtClean="0"/>
              <a:t> </a:t>
            </a:r>
            <a:r>
              <a:rPr lang="en-US" sz="2400" dirty="0" err="1" smtClean="0"/>
              <a:t>tsconfig.json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Part 5 </a:t>
            </a:r>
            <a:r>
              <a:rPr lang="en-US" sz="2800" dirty="0" smtClean="0"/>
              <a:t>- Running Angular 8 CRUD App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Running Angular 8 Client Application</a:t>
            </a:r>
          </a:p>
          <a:p>
            <a:pPr lvl="1"/>
            <a:r>
              <a:rPr lang="en-US" dirty="0" err="1" smtClean="0"/>
              <a:t>ng</a:t>
            </a:r>
            <a:r>
              <a:rPr lang="en-US" dirty="0" smtClean="0"/>
              <a:t> serve</a:t>
            </a:r>
          </a:p>
          <a:p>
            <a:r>
              <a:rPr lang="en-US" dirty="0" smtClean="0"/>
              <a:t>Demo</a:t>
            </a:r>
          </a:p>
          <a:p>
            <a:pPr lvl="1"/>
            <a:r>
              <a:rPr lang="en-US" sz="2400" dirty="0" smtClean="0"/>
              <a:t>Hit </a:t>
            </a:r>
            <a:r>
              <a:rPr lang="en-US" sz="2400" b="1" dirty="0" smtClean="0">
                <a:hlinkClick r:id="rId2"/>
              </a:rPr>
              <a:t>http://localhost:4200</a:t>
            </a:r>
            <a:r>
              <a:rPr lang="en-US" sz="2400" dirty="0" smtClean="0"/>
              <a:t> link in a browser will host this Angular 8 CRUD app.</a:t>
            </a:r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Features Implementation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Create an Employee</a:t>
            </a:r>
          </a:p>
          <a:p>
            <a:r>
              <a:rPr lang="en-US" sz="2800" dirty="0" smtClean="0"/>
              <a:t>Update an Employee</a:t>
            </a:r>
          </a:p>
          <a:p>
            <a:r>
              <a:rPr lang="en-US" sz="2800" dirty="0" smtClean="0"/>
              <a:t>List of Employees</a:t>
            </a:r>
          </a:p>
          <a:p>
            <a:r>
              <a:rPr lang="en-US" sz="2800" dirty="0" smtClean="0"/>
              <a:t>Delete Employee</a:t>
            </a:r>
          </a:p>
          <a:p>
            <a:r>
              <a:rPr lang="en-US" sz="2800" dirty="0" smtClean="0"/>
              <a:t>View Employee</a:t>
            </a:r>
          </a:p>
          <a:p>
            <a:endParaRPr lang="en-US" sz="2800" dirty="0" smtClean="0"/>
          </a:p>
          <a:p>
            <a:r>
              <a:rPr lang="en-US" sz="2800" dirty="0" smtClean="0"/>
              <a:t>You will developed your </a:t>
            </a:r>
            <a:r>
              <a:rPr lang="en-US" sz="2800" b="1" dirty="0" smtClean="0"/>
              <a:t>FULL STACK </a:t>
            </a:r>
            <a:r>
              <a:rPr lang="en-US" sz="2800" dirty="0" smtClean="0"/>
              <a:t>Application with Angular  and Spring Boot.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Below are the screenshots shows UI of our </a:t>
            </a:r>
            <a:r>
              <a:rPr lang="en-US" b="1" dirty="0" smtClean="0"/>
              <a:t>Employee Management System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1143000"/>
          </a:xfrm>
        </p:spPr>
        <p:txBody>
          <a:bodyPr>
            <a:noAutofit/>
          </a:bodyPr>
          <a:lstStyle/>
          <a:p>
            <a:r>
              <a:rPr lang="en-US" sz="4000" b="1" dirty="0" smtClean="0"/>
              <a:t>Employee List Page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700808"/>
            <a:ext cx="7534275" cy="445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Add Employee Page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628800"/>
            <a:ext cx="7305675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Update Employee Page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556792"/>
            <a:ext cx="6835775" cy="4960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View Employee Details Page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556792"/>
            <a:ext cx="6851650" cy="4868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Delete Employee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8906" y="1600200"/>
            <a:ext cx="6046187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Spring Boot CRUD Rest APIs </a:t>
            </a:r>
            <a:r>
              <a:rPr lang="en-US" sz="3600" b="1" dirty="0" smtClean="0"/>
              <a:t>Development</a:t>
            </a:r>
            <a:endParaRPr lang="en-US" sz="3600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8342" y="1700808"/>
            <a:ext cx="7888114" cy="36102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Thank you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877</TotalTime>
  <Words>683</Words>
  <Application>Microsoft Office PowerPoint</Application>
  <PresentationFormat>On-screen Show (4:3)</PresentationFormat>
  <Paragraphs>156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Office Theme</vt:lpstr>
      <vt:lpstr>Abstraction: https://helpmecoder.com/2019/03/26/angular-tutorial-introduction-to-angular/    https://v2.angular.io/docs/ts/latest/guide/lifecycle-hooks.html   </vt:lpstr>
      <vt:lpstr>What is Spring Boot ?</vt:lpstr>
      <vt:lpstr>What is Spring Boot ?</vt:lpstr>
      <vt:lpstr>Architecture</vt:lpstr>
      <vt:lpstr>Slide 5</vt:lpstr>
      <vt:lpstr>Angular </vt:lpstr>
      <vt:lpstr>What  is Single Page Application (SPA)</vt:lpstr>
      <vt:lpstr>Angular application Flow</vt:lpstr>
      <vt:lpstr>Employee Management System </vt:lpstr>
      <vt:lpstr>What we will build?</vt:lpstr>
      <vt:lpstr>Tools and technologies used</vt:lpstr>
      <vt:lpstr>Spring Boot + Angular 8 CRUD</vt:lpstr>
      <vt:lpstr>Slide 13</vt:lpstr>
      <vt:lpstr>Part 1 - Develop Spring Boot CRUD Rest APIs</vt:lpstr>
      <vt:lpstr>1. Creating and Importing a Project </vt:lpstr>
      <vt:lpstr>Packaging Structure</vt:lpstr>
      <vt:lpstr>Part 2 - Create Angular 8 App</vt:lpstr>
      <vt:lpstr>Slide 18</vt:lpstr>
      <vt:lpstr>Slide 19</vt:lpstr>
      <vt:lpstr>Slide 20</vt:lpstr>
      <vt:lpstr>Identify Components, Services, and Modules</vt:lpstr>
      <vt:lpstr>Create Service &amp; Components using Angular CLI </vt:lpstr>
      <vt:lpstr>Integrate JQuery and Bootstrap with Angular </vt:lpstr>
      <vt:lpstr>Part 3 - Develop Angular 8 CRUD Operations</vt:lpstr>
      <vt:lpstr>Slide 25</vt:lpstr>
      <vt:lpstr>Part 4 - Angular 8 CRUD App Configuration</vt:lpstr>
      <vt:lpstr>Part 5 - Running Angular 8 CRUD App</vt:lpstr>
      <vt:lpstr>Features Implementation</vt:lpstr>
      <vt:lpstr>Slide 29</vt:lpstr>
      <vt:lpstr>Employee List Page</vt:lpstr>
      <vt:lpstr>Add Employee Page </vt:lpstr>
      <vt:lpstr>Update Employee Page</vt:lpstr>
      <vt:lpstr>View Employee Details Page</vt:lpstr>
      <vt:lpstr>Delete Employee</vt:lpstr>
      <vt:lpstr>Spring Boot CRUD Rest APIs Development</vt:lpstr>
      <vt:lpstr>Slide 36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91924</dc:creator>
  <cp:lastModifiedBy>91924</cp:lastModifiedBy>
  <cp:revision>66</cp:revision>
  <dcterms:created xsi:type="dcterms:W3CDTF">2020-10-25T06:05:35Z</dcterms:created>
  <dcterms:modified xsi:type="dcterms:W3CDTF">2020-10-29T14:15:58Z</dcterms:modified>
</cp:coreProperties>
</file>