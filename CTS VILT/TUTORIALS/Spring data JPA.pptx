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463F0-736B-4757-B032-B0A206C8B7B4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D6A7-4E12-4990-B486-5A971758F4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463F0-736B-4757-B032-B0A206C8B7B4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D6A7-4E12-4990-B486-5A971758F4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463F0-736B-4757-B032-B0A206C8B7B4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D6A7-4E12-4990-B486-5A971758F4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463F0-736B-4757-B032-B0A206C8B7B4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D6A7-4E12-4990-B486-5A971758F4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463F0-736B-4757-B032-B0A206C8B7B4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D6A7-4E12-4990-B486-5A971758F4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463F0-736B-4757-B032-B0A206C8B7B4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D6A7-4E12-4990-B486-5A971758F4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463F0-736B-4757-B032-B0A206C8B7B4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D6A7-4E12-4990-B486-5A971758F4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463F0-736B-4757-B032-B0A206C8B7B4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D6A7-4E12-4990-B486-5A971758F4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463F0-736B-4757-B032-B0A206C8B7B4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D6A7-4E12-4990-B486-5A971758F4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463F0-736B-4757-B032-B0A206C8B7B4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D6A7-4E12-4990-B486-5A971758F4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463F0-736B-4757-B032-B0A206C8B7B4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D6A7-4E12-4990-B486-5A971758F4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463F0-736B-4757-B032-B0A206C8B7B4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9D6A7-4E12-4990-B486-5A971758F4B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366851"/>
            <a:ext cx="8258175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2" y="142852"/>
            <a:ext cx="9134507" cy="6643734"/>
            <a:chOff x="-32" y="142852"/>
            <a:chExt cx="9134507" cy="6643734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142852"/>
              <a:ext cx="9134475" cy="3705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-32" y="4225942"/>
              <a:ext cx="8572560" cy="25606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1009650"/>
            <a:ext cx="912495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57166"/>
            <a:ext cx="9144000" cy="1827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3286124"/>
            <a:ext cx="804862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357166"/>
            <a:ext cx="8908205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500306"/>
            <a:ext cx="8786874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875" y="1204913"/>
            <a:ext cx="809625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804863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8" y="1047750"/>
            <a:ext cx="8429625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1125" y="1831975"/>
            <a:ext cx="6381750" cy="319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3800" y="1733550"/>
            <a:ext cx="6756400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928670"/>
            <a:ext cx="871543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 smtClean="0"/>
              <a:t>Modal layer:</a:t>
            </a:r>
            <a:endParaRPr lang="en-US" sz="2400" dirty="0" smtClean="0"/>
          </a:p>
          <a:p>
            <a:pPr fontAlgn="base"/>
            <a:r>
              <a:rPr lang="en-US" sz="2400" dirty="0" smtClean="0"/>
              <a:t>Create a simple POJO(Plain old java class) with some JPA annotation.  </a:t>
            </a:r>
            <a:endParaRPr lang="en-US" sz="2400" dirty="0" smtClean="0"/>
          </a:p>
          <a:p>
            <a:pPr fontAlgn="base"/>
            <a:endParaRPr lang="en-US" sz="2400" dirty="0" smtClean="0"/>
          </a:p>
          <a:p>
            <a:pPr fontAlgn="base"/>
            <a:r>
              <a:rPr lang="en-US" sz="2400" b="1" dirty="0" smtClean="0"/>
              <a:t>@Entity</a:t>
            </a:r>
            <a:r>
              <a:rPr lang="en-US" sz="2400" dirty="0" smtClean="0"/>
              <a:t>: This annotation defines that a class can be mapped to a table</a:t>
            </a:r>
          </a:p>
          <a:p>
            <a:pPr fontAlgn="base"/>
            <a:endParaRPr lang="en-US" sz="2400" b="1" dirty="0" smtClean="0"/>
          </a:p>
          <a:p>
            <a:pPr fontAlgn="base"/>
            <a:r>
              <a:rPr lang="en-US" sz="2400" b="1" dirty="0" smtClean="0"/>
              <a:t>@</a:t>
            </a:r>
            <a:r>
              <a:rPr lang="en-US" sz="2400" b="1" dirty="0" smtClean="0"/>
              <a:t>Id:</a:t>
            </a:r>
            <a:r>
              <a:rPr lang="en-US" sz="2400" dirty="0" smtClean="0"/>
              <a:t> This annotation specifies the primary key of the entity.</a:t>
            </a:r>
          </a:p>
          <a:p>
            <a:pPr fontAlgn="base"/>
            <a:endParaRPr lang="en-US" sz="2400" b="1" dirty="0" smtClean="0"/>
          </a:p>
          <a:p>
            <a:pPr fontAlgn="base"/>
            <a:r>
              <a:rPr lang="en-US" sz="2400" b="1" dirty="0" smtClean="0"/>
              <a:t>@</a:t>
            </a:r>
            <a:r>
              <a:rPr lang="en-US" sz="2400" b="1" dirty="0" err="1" smtClean="0"/>
              <a:t>GeneratedValue</a:t>
            </a:r>
            <a:r>
              <a:rPr lang="en-US" sz="2400" b="1" dirty="0" smtClean="0"/>
              <a:t>:</a:t>
            </a:r>
            <a:r>
              <a:rPr lang="en-US" sz="2400" dirty="0" smtClean="0"/>
              <a:t> This annotation is used to specify the primary key generation strategy to use. i.e. Instructs database to generate a value for this field automatically. If the strategy is not specified by default AUTO will be used.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1720840"/>
            <a:ext cx="87868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 smtClean="0"/>
              <a:t>DAO(Data access object) layer:</a:t>
            </a:r>
            <a:endParaRPr lang="en-US" sz="2400" dirty="0" smtClean="0"/>
          </a:p>
          <a:p>
            <a:pPr fontAlgn="base"/>
            <a:endParaRPr lang="en-US" sz="2400" b="1" dirty="0" smtClean="0"/>
          </a:p>
          <a:p>
            <a:pPr fontAlgn="base"/>
            <a:r>
              <a:rPr lang="en-US" sz="2400" b="1" dirty="0" smtClean="0"/>
              <a:t>@</a:t>
            </a:r>
            <a:r>
              <a:rPr lang="en-US" sz="2400" b="1" dirty="0" smtClean="0"/>
              <a:t>Repository:</a:t>
            </a:r>
            <a:r>
              <a:rPr lang="en-US" sz="2400" dirty="0" smtClean="0"/>
              <a:t> The @Repository annotation is a marker for any class that fulfills the role or stereotype of a repository (also known as Data Access Object or DAO</a:t>
            </a:r>
            <a:r>
              <a:rPr lang="en-US" sz="2400" dirty="0" smtClean="0"/>
              <a:t>).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b="1" dirty="0" err="1" smtClean="0"/>
              <a:t>JpaRepository</a:t>
            </a:r>
            <a:r>
              <a:rPr lang="en-US" sz="2400" b="1" dirty="0" smtClean="0"/>
              <a:t>&lt;Employee, Long&gt;</a:t>
            </a:r>
            <a:r>
              <a:rPr lang="en-US" sz="2400" dirty="0" smtClean="0"/>
              <a:t> </a:t>
            </a:r>
            <a:r>
              <a:rPr lang="en-US" sz="2400" dirty="0" err="1" smtClean="0"/>
              <a:t>JpaRepository</a:t>
            </a:r>
            <a:r>
              <a:rPr lang="en-US" sz="2400" dirty="0" smtClean="0"/>
              <a:t> is a JPA-specific extension of the Repository. It contains the full API of </a:t>
            </a:r>
            <a:r>
              <a:rPr lang="en-US" sz="2400" dirty="0" err="1" smtClean="0"/>
              <a:t>CrudRepository</a:t>
            </a:r>
            <a:r>
              <a:rPr lang="en-US" sz="2400" dirty="0" smtClean="0"/>
              <a:t> and </a:t>
            </a:r>
            <a:r>
              <a:rPr lang="en-US" sz="2400" dirty="0" err="1" smtClean="0"/>
              <a:t>PagingAndSortingRepository</a:t>
            </a:r>
            <a:r>
              <a:rPr lang="en-US" sz="2400" dirty="0" smtClean="0"/>
              <a:t>. So it contains API for basic CRUD operations and also API for pagination and sorting. 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2690336"/>
            <a:ext cx="87868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@Service: </a:t>
            </a:r>
            <a:r>
              <a:rPr lang="en-US" sz="2400" dirty="0" smtClean="0"/>
              <a:t>This annotation is used with classes that provide some business functionalities. Spring context will </a:t>
            </a:r>
            <a:r>
              <a:rPr lang="en-US" sz="2400" dirty="0" err="1" smtClean="0"/>
              <a:t>autodetect</a:t>
            </a:r>
            <a:r>
              <a:rPr lang="en-US" sz="2400" dirty="0" smtClean="0"/>
              <a:t> these classes when annotation-based configuration and </a:t>
            </a:r>
            <a:r>
              <a:rPr lang="en-US" sz="2400" dirty="0" err="1" smtClean="0"/>
              <a:t>classpath</a:t>
            </a:r>
            <a:r>
              <a:rPr lang="en-US" sz="2400" dirty="0" smtClean="0"/>
              <a:t> scanning is used. 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9322"/>
            <a:ext cx="900115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 smtClean="0"/>
              <a:t>Controller layer</a:t>
            </a:r>
            <a:r>
              <a:rPr lang="en-US" b="1" dirty="0" smtClean="0"/>
              <a:t>: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@</a:t>
            </a:r>
            <a:r>
              <a:rPr lang="en-US" b="1" dirty="0" err="1" smtClean="0"/>
              <a:t>RestController</a:t>
            </a:r>
            <a:r>
              <a:rPr lang="en-US" b="1" dirty="0" smtClean="0"/>
              <a:t>: </a:t>
            </a:r>
            <a:r>
              <a:rPr lang="en-US" dirty="0" smtClean="0"/>
              <a:t>This is a Spring annotation that is used to build REST API in a declarative way. </a:t>
            </a:r>
            <a:r>
              <a:rPr lang="en-US" dirty="0" err="1" smtClean="0"/>
              <a:t>RestController</a:t>
            </a:r>
            <a:r>
              <a:rPr lang="en-US" dirty="0" smtClean="0"/>
              <a:t> annotation is applied to a class to mark it as a request handler, and Spring will do the building and provide the </a:t>
            </a:r>
            <a:r>
              <a:rPr lang="en-US" dirty="0" err="1" smtClean="0"/>
              <a:t>RESTful</a:t>
            </a:r>
            <a:r>
              <a:rPr lang="en-US" dirty="0" smtClean="0"/>
              <a:t> web service at runtime.</a:t>
            </a:r>
          </a:p>
          <a:p>
            <a:pPr fontAlgn="base"/>
            <a:endParaRPr lang="en-US" b="1" dirty="0" smtClean="0"/>
          </a:p>
          <a:p>
            <a:pPr fontAlgn="base"/>
            <a:r>
              <a:rPr lang="en-US" b="1" dirty="0" smtClean="0"/>
              <a:t>@</a:t>
            </a:r>
            <a:r>
              <a:rPr lang="en-US" b="1" dirty="0" err="1" smtClean="0"/>
              <a:t>Autowired</a:t>
            </a:r>
            <a:r>
              <a:rPr lang="en-US" b="1" dirty="0" smtClean="0"/>
              <a:t>: </a:t>
            </a:r>
            <a:r>
              <a:rPr lang="en-US" dirty="0" smtClean="0"/>
              <a:t>This annotation can be used to </a:t>
            </a:r>
            <a:r>
              <a:rPr lang="en-US" dirty="0" err="1" smtClean="0"/>
              <a:t>autowire</a:t>
            </a:r>
            <a:r>
              <a:rPr lang="en-US" dirty="0" smtClean="0"/>
              <a:t> bean on the setter method just like @Required annotation, constructor, a property, or methods with arbitrary names and/or multiple arguments</a:t>
            </a:r>
            <a:r>
              <a:rPr lang="en-US" dirty="0" smtClean="0"/>
              <a:t>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@</a:t>
            </a:r>
            <a:r>
              <a:rPr lang="en-US" b="1" dirty="0" err="1" smtClean="0"/>
              <a:t>PostMapping</a:t>
            </a:r>
            <a:r>
              <a:rPr lang="en-US" b="1" dirty="0" smtClean="0"/>
              <a:t>:</a:t>
            </a:r>
            <a:r>
              <a:rPr lang="en-US" dirty="0" smtClean="0"/>
              <a:t> This annotation maps HTTP POST requests onto specific handler methods. It is a composed annotation that acts as a shortcut for @</a:t>
            </a:r>
            <a:r>
              <a:rPr lang="en-US" dirty="0" err="1" smtClean="0"/>
              <a:t>RequestMapping</a:t>
            </a:r>
            <a:r>
              <a:rPr lang="en-US" dirty="0" smtClean="0"/>
              <a:t>(method = </a:t>
            </a:r>
            <a:r>
              <a:rPr lang="en-US" dirty="0" err="1" smtClean="0"/>
              <a:t>RequestMethod</a:t>
            </a:r>
            <a:r>
              <a:rPr lang="en-US" dirty="0" smtClean="0"/>
              <a:t>. POST)</a:t>
            </a:r>
          </a:p>
          <a:p>
            <a:pPr fontAlgn="base"/>
            <a:endParaRPr lang="en-US" b="1" dirty="0" smtClean="0"/>
          </a:p>
          <a:p>
            <a:pPr fontAlgn="base"/>
            <a:r>
              <a:rPr lang="en-US" b="1" dirty="0" smtClean="0"/>
              <a:t>@</a:t>
            </a:r>
            <a:r>
              <a:rPr lang="en-US" b="1" dirty="0" err="1" smtClean="0"/>
              <a:t>GetMapping</a:t>
            </a:r>
            <a:r>
              <a:rPr lang="en-US" b="1" dirty="0" smtClean="0"/>
              <a:t>:</a:t>
            </a:r>
            <a:r>
              <a:rPr lang="en-US" dirty="0" smtClean="0"/>
              <a:t> This annotation is a specialized version of @</a:t>
            </a:r>
            <a:r>
              <a:rPr lang="en-US" dirty="0" err="1" smtClean="0"/>
              <a:t>RequestMapping</a:t>
            </a:r>
            <a:r>
              <a:rPr lang="en-US" dirty="0" smtClean="0"/>
              <a:t> annotation that acts as a shortcut for @</a:t>
            </a:r>
            <a:r>
              <a:rPr lang="en-US" dirty="0" err="1" smtClean="0"/>
              <a:t>RequestMapping</a:t>
            </a:r>
            <a:r>
              <a:rPr lang="en-US" dirty="0" smtClean="0"/>
              <a:t>(method = </a:t>
            </a:r>
            <a:r>
              <a:rPr lang="en-US" dirty="0" err="1" smtClean="0"/>
              <a:t>RequestMethod</a:t>
            </a:r>
            <a:r>
              <a:rPr lang="en-US" dirty="0" smtClean="0"/>
              <a:t>. GET). The @</a:t>
            </a:r>
            <a:r>
              <a:rPr lang="en-US" dirty="0" err="1" smtClean="0"/>
              <a:t>GetMapping</a:t>
            </a:r>
            <a:r>
              <a:rPr lang="en-US" dirty="0" smtClean="0"/>
              <a:t> annotated methods in the @Controller annotated classes handle the HTTP GET requests matched with the given URI expression.</a:t>
            </a:r>
          </a:p>
          <a:p>
            <a:pPr fontAlgn="base"/>
            <a:endParaRPr lang="en-US" b="1" dirty="0" smtClean="0"/>
          </a:p>
          <a:p>
            <a:pPr fontAlgn="base"/>
            <a:r>
              <a:rPr lang="en-US" b="1" dirty="0" smtClean="0"/>
              <a:t>@</a:t>
            </a:r>
            <a:r>
              <a:rPr lang="en-US" b="1" dirty="0" err="1" smtClean="0"/>
              <a:t>DeleteMapping</a:t>
            </a:r>
            <a:r>
              <a:rPr lang="en-US" b="1" dirty="0" smtClean="0"/>
              <a:t>:</a:t>
            </a:r>
            <a:r>
              <a:rPr lang="en-US" dirty="0" smtClean="0"/>
              <a:t> This annotation maps HTTP DELETE requests onto specific handler methods. It is a composed annotation that acts as a shortcut for @</a:t>
            </a:r>
            <a:r>
              <a:rPr lang="en-US" dirty="0" err="1" smtClean="0"/>
              <a:t>RequestMapping</a:t>
            </a:r>
            <a:r>
              <a:rPr lang="en-US" dirty="0" smtClean="0"/>
              <a:t>(method = </a:t>
            </a:r>
            <a:r>
              <a:rPr lang="en-US" dirty="0" err="1" smtClean="0"/>
              <a:t>RequestMethod</a:t>
            </a:r>
            <a:r>
              <a:rPr lang="en-US" dirty="0" smtClean="0"/>
              <a:t>. DELETE)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34</Words>
  <Application>Microsoft Office PowerPoint</Application>
  <PresentationFormat>On-screen Show (4:3)</PresentationFormat>
  <Paragraphs>25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10</cp:revision>
  <dcterms:created xsi:type="dcterms:W3CDTF">2022-06-21T15:17:58Z</dcterms:created>
  <dcterms:modified xsi:type="dcterms:W3CDTF">2024-02-27T07:11:13Z</dcterms:modified>
</cp:coreProperties>
</file>