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8EEF7-B505-70DC-571F-C9F629F2E6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912EA5-A142-A78E-786D-6DB9DD97AB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34748B-27B4-A1A1-3BDB-71033409E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7A218-D820-4CE6-9FAD-92E11B14B81E}" type="datetimeFigureOut">
              <a:rPr lang="en-IN" smtClean="0"/>
              <a:t>09-08-2025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DB5730-586E-A6F4-AF06-89B9B08E8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196A9C-EC5D-1428-6BE9-1C6E7152A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42135-1BDF-4AA8-8617-12233B433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1475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B9B80-FBEA-2F59-9DED-5D05D9A05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43AD19-A6E1-5A29-643F-B5CE3B7D64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941AC-FA9C-787F-EB49-F2FBE3FDF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7A218-D820-4CE6-9FAD-92E11B14B81E}" type="datetimeFigureOut">
              <a:rPr lang="en-IN" smtClean="0"/>
              <a:t>09-08-2025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6064EE-D820-ABF9-802E-A5E509E2F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27D4A9-1DFA-83BE-F582-C5942B4A2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42135-1BDF-4AA8-8617-12233B433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4661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6CDE6-C336-CDD8-D449-7F427CF3E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B7DBE1-8BDC-D1C1-2DBB-70A9E79490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87D851-0D4C-35A3-FD0E-E7D285980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7A218-D820-4CE6-9FAD-92E11B14B81E}" type="datetimeFigureOut">
              <a:rPr lang="en-IN" smtClean="0"/>
              <a:t>09-08-2025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060D46-5C8E-ADDC-436B-FF7744C8B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E6433-738F-9E78-7AE2-C233A1618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42135-1BDF-4AA8-8617-12233B433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4020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A84C8-F815-FD15-C8C6-29C64ACB3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34BE5-21F6-BD3B-F3FC-DE49C5406C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6C546E-2339-3F40-0E77-3C740F055C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B0EA23-FC4B-B1D7-D002-259A12BC9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7A218-D820-4CE6-9FAD-92E11B14B81E}" type="datetimeFigureOut">
              <a:rPr lang="en-IN" smtClean="0"/>
              <a:t>09-08-2025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A46D1B-7CD6-F663-6682-5DE5B2BAE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71CE28-22A3-EDF1-CC03-2CCB05B9A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42135-1BDF-4AA8-8617-12233B433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2341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F9C07-CDBF-0DAF-641C-4622D801B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2A5AAA-72EC-1560-6B09-8701186CE8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367041-A9B9-AEAE-7E58-67DB000E8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797196-0E9C-5DB0-629A-C86303A52C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05B693-748A-8A6C-DFF7-075476E131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40CBFB-83B2-69D9-E6B6-EC939F004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7A218-D820-4CE6-9FAD-92E11B14B81E}" type="datetimeFigureOut">
              <a:rPr lang="en-IN" smtClean="0"/>
              <a:t>09-08-2025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30F45A-B207-E42F-91E6-363C6DD04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0F09C1-7846-4C64-80B6-8CC7C12A2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42135-1BDF-4AA8-8617-12233B433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9147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AF71F-6FFE-26E9-918F-3C38F1B4A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26962E-6BAC-1DDD-8DDB-E095B56D0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7A218-D820-4CE6-9FAD-92E11B14B81E}" type="datetimeFigureOut">
              <a:rPr lang="en-IN" smtClean="0"/>
              <a:t>09-08-2025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B03ABA-1230-8FBE-0C44-F1F3D2F5F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CAFE8D-127E-F56E-BAC6-A162E6324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42135-1BDF-4AA8-8617-12233B433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5024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BE3F61-82E8-1EF5-FDE0-9C1FD70A1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7A218-D820-4CE6-9FAD-92E11B14B81E}" type="datetimeFigureOut">
              <a:rPr lang="en-IN" smtClean="0"/>
              <a:t>09-08-2025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A839FD-0141-F66F-836F-8445BD3E6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9FF0B3-7E86-CBCF-B982-AD92FD754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42135-1BDF-4AA8-8617-12233B433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445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27817-8906-5A02-083D-3A89C3C25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FA4E7-47DB-5EF7-86CE-9CEC53F9C0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16B59B-4FC2-6CF2-DC84-BD435F26F2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B312B2-2590-3364-6844-2A7418BE9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7A218-D820-4CE6-9FAD-92E11B14B81E}" type="datetimeFigureOut">
              <a:rPr lang="en-IN" smtClean="0"/>
              <a:t>09-08-2025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317EDC-57A8-1D0A-BE36-B2E142752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5E02C6-3DBF-FBE4-EC43-060DE9664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42135-1BDF-4AA8-8617-12233B433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7912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885A5-A0E6-1316-587A-A99C80EC8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67CE0C-4498-8BED-F230-BA18312CE0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AC227E-3844-6ADC-4ABD-B51D5A09D9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4ADF24-B92C-E625-E9E3-4A2DEF015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7A218-D820-4CE6-9FAD-92E11B14B81E}" type="datetimeFigureOut">
              <a:rPr lang="en-IN" smtClean="0"/>
              <a:t>09-08-2025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9D03BB-B9B5-4284-5F1B-1FFB5B23E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6233B4-0290-128F-D86A-4C8C57DCF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42135-1BDF-4AA8-8617-12233B433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6815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DC1ED-1FB0-E74D-F93F-E12ECDCEA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1C78A6-B0D3-A1FF-0242-E67589634E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0CABFC-08B8-73FF-D2E3-DD4823DAE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7A218-D820-4CE6-9FAD-92E11B14B81E}" type="datetimeFigureOut">
              <a:rPr lang="en-IN" smtClean="0"/>
              <a:t>09-08-2025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B33973-51AC-56C4-DD22-0047317E7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6DF56F-4D60-2633-A8C6-29E6222B6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42135-1BDF-4AA8-8617-12233B433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5148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945C89-81C5-2ADB-2974-586D5C9F86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DF96E7-839C-3153-C5AA-66631D4C3D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49C00-0BE2-1ACC-2F3B-673C0F5BD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7A218-D820-4CE6-9FAD-92E11B14B81E}" type="datetimeFigureOut">
              <a:rPr lang="en-IN" smtClean="0"/>
              <a:t>09-08-2025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627851-0A49-F945-5533-D4EAE6C98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6E54BF-CC49-25A1-12CE-682517687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42135-1BDF-4AA8-8617-12233B433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4596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EFB3C8-E44D-3E54-BB09-5BBAF5C1B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93AA79-2013-79BE-4EE4-3C3A808AE6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C25DA1-5CF2-6B48-0CE6-08B59F0354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87A218-D820-4CE6-9FAD-92E11B14B81E}" type="datetimeFigureOut">
              <a:rPr lang="en-IN" smtClean="0"/>
              <a:t>09-08-2025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D5FB18-70C4-E2E8-A8CE-C86B34807D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508A72-977F-6021-F58B-87AF6CAE7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542135-1BDF-4AA8-8617-12233B433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3543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D3773-88F2-7D1E-6FA6-FFB304410E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7E102A-035A-06E3-2AF4-27642010AB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890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68B045-FA4A-70DA-B9AD-A6D7DB54E5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17617"/>
            <a:ext cx="12192000" cy="5422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838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25DFC6-8818-7ED3-192A-5D0CE08A9E5D}"/>
              </a:ext>
            </a:extLst>
          </p:cNvPr>
          <p:cNvSpPr txBox="1"/>
          <p:nvPr/>
        </p:nvSpPr>
        <p:spPr>
          <a:xfrm>
            <a:off x="512064" y="1082525"/>
            <a:ext cx="11027664" cy="284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buNone/>
            </a:pPr>
            <a:r>
              <a:rPr lang="en-IN" b="1" i="0" dirty="0">
                <a:solidFill>
                  <a:srgbClr val="242424"/>
                </a:solidFill>
                <a:effectLst/>
                <a:latin typeface="source-serif-pro"/>
              </a:rPr>
              <a:t>Spring?</a:t>
            </a:r>
            <a:endParaRPr lang="en-IN" b="0" i="0" dirty="0">
              <a:solidFill>
                <a:srgbClr val="242424"/>
              </a:solidFill>
              <a:effectLst/>
              <a:latin typeface="source-serif-pro"/>
            </a:endParaRPr>
          </a:p>
          <a:p>
            <a:pPr algn="l">
              <a:lnSpc>
                <a:spcPts val="2400"/>
              </a:lnSpc>
              <a:buNone/>
            </a:pPr>
            <a:r>
              <a:rPr lang="en-IN" b="0" i="0" dirty="0">
                <a:solidFill>
                  <a:srgbClr val="242424"/>
                </a:solidFill>
                <a:effectLst/>
                <a:latin typeface="source-serif-pro"/>
              </a:rPr>
              <a:t>Spring is a popular open-source framework for building enterprise Java applications. It provides comprehensive infrastructure support for developing Java applications, facilitating easier development, and testing through features like dependency injection, aspect-oriented programming, and more.</a:t>
            </a:r>
          </a:p>
          <a:p>
            <a:pPr algn="l">
              <a:lnSpc>
                <a:spcPts val="2400"/>
              </a:lnSpc>
              <a:buNone/>
            </a:pPr>
            <a:r>
              <a:rPr lang="en-IN" b="1" i="0" dirty="0">
                <a:solidFill>
                  <a:srgbClr val="242424"/>
                </a:solidFill>
                <a:effectLst/>
                <a:latin typeface="source-serif-pro"/>
              </a:rPr>
              <a:t>What is Spring Boot?</a:t>
            </a:r>
            <a:endParaRPr lang="en-IN" b="0" i="0" dirty="0">
              <a:solidFill>
                <a:srgbClr val="242424"/>
              </a:solidFill>
              <a:effectLst/>
              <a:latin typeface="source-serif-pro"/>
            </a:endParaRPr>
          </a:p>
          <a:p>
            <a:pPr algn="l">
              <a:lnSpc>
                <a:spcPts val="2400"/>
              </a:lnSpc>
              <a:buNone/>
            </a:pPr>
            <a:r>
              <a:rPr lang="en-IN" b="0" i="0" dirty="0">
                <a:solidFill>
                  <a:srgbClr val="242424"/>
                </a:solidFill>
                <a:effectLst/>
                <a:latin typeface="source-serif-pro"/>
              </a:rPr>
              <a:t>Spring Boot is an extension of the Spring framework that simplifies the process of building stand-alone, production-grade Spring-based applications. It aims to eliminate the boilerplate configuration required in traditional Spring applications by providing auto-configuration and opinionated defaults. Spring Boot enables developers to quickly set up and deploy Spring applications with minimal setup.</a:t>
            </a:r>
          </a:p>
        </p:txBody>
      </p:sp>
    </p:spTree>
    <p:extLst>
      <p:ext uri="{BB962C8B-B14F-4D97-AF65-F5344CB8AC3E}">
        <p14:creationId xmlns:p14="http://schemas.microsoft.com/office/powerpoint/2010/main" val="270149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D18E3-9830-775A-42B5-689CCE779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72E2D7B-FBB1-9488-231A-4A9CC63EAD2F}"/>
              </a:ext>
            </a:extLst>
          </p:cNvPr>
          <p:cNvSpPr txBox="1"/>
          <p:nvPr/>
        </p:nvSpPr>
        <p:spPr>
          <a:xfrm>
            <a:off x="429768" y="1698078"/>
            <a:ext cx="11055096" cy="2230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buNone/>
            </a:pPr>
            <a:r>
              <a:rPr lang="en-IN" b="1" i="0" dirty="0">
                <a:solidFill>
                  <a:srgbClr val="242424"/>
                </a:solidFill>
                <a:effectLst/>
                <a:latin typeface="source-serif-pro"/>
              </a:rPr>
              <a:t>XML Configuration vs. Annotation</a:t>
            </a:r>
            <a:endParaRPr lang="en-IN" b="0" i="0" dirty="0">
              <a:solidFill>
                <a:srgbClr val="242424"/>
              </a:solidFill>
              <a:effectLst/>
              <a:latin typeface="source-serif-pro"/>
            </a:endParaRPr>
          </a:p>
          <a:p>
            <a:pPr algn="l">
              <a:lnSpc>
                <a:spcPts val="2400"/>
              </a:lnSpc>
              <a:buNone/>
            </a:pPr>
            <a:r>
              <a:rPr lang="en-IN" b="0" i="0" dirty="0">
                <a:solidFill>
                  <a:srgbClr val="242424"/>
                </a:solidFill>
                <a:effectLst/>
                <a:latin typeface="source-serif-pro"/>
              </a:rPr>
              <a:t>In Spring, there are primarily two ways to create beans:</a:t>
            </a:r>
            <a:r>
              <a:rPr lang="en-IN" b="1" i="0" dirty="0">
                <a:solidFill>
                  <a:srgbClr val="242424"/>
                </a:solidFill>
                <a:effectLst/>
                <a:latin typeface="source-serif-pro"/>
              </a:rPr>
              <a:t> XML configuration </a:t>
            </a:r>
            <a:r>
              <a:rPr lang="en-IN" b="0" i="0" dirty="0">
                <a:solidFill>
                  <a:srgbClr val="242424"/>
                </a:solidFill>
                <a:effectLst/>
                <a:latin typeface="source-serif-pro"/>
              </a:rPr>
              <a:t>and </a:t>
            </a:r>
            <a:r>
              <a:rPr lang="en-IN" b="1" i="0" dirty="0">
                <a:solidFill>
                  <a:srgbClr val="242424"/>
                </a:solidFill>
                <a:effectLst/>
                <a:latin typeface="source-serif-pro"/>
              </a:rPr>
              <a:t>annotation-based configuration</a:t>
            </a:r>
            <a:r>
              <a:rPr lang="en-IN" b="0" i="0" dirty="0">
                <a:solidFill>
                  <a:srgbClr val="242424"/>
                </a:solidFill>
                <a:effectLst/>
                <a:latin typeface="source-serif-pro"/>
              </a:rPr>
              <a:t>. While XML configuration provides a structured approach, annotation-based configuration offers a more modern and concise way to define beans.</a:t>
            </a:r>
          </a:p>
          <a:p>
            <a:pPr algn="l">
              <a:lnSpc>
                <a:spcPts val="2400"/>
              </a:lnSpc>
              <a:buNone/>
            </a:pPr>
            <a:r>
              <a:rPr lang="en-IN" b="1" i="0" dirty="0">
                <a:solidFill>
                  <a:srgbClr val="242424"/>
                </a:solidFill>
                <a:effectLst/>
                <a:latin typeface="source-serif-pro"/>
              </a:rPr>
              <a:t>Annotation-Based Bean Creation</a:t>
            </a:r>
            <a:endParaRPr lang="en-IN" b="0" i="0" dirty="0">
              <a:solidFill>
                <a:srgbClr val="242424"/>
              </a:solidFill>
              <a:effectLst/>
              <a:latin typeface="source-serif-pro"/>
            </a:endParaRPr>
          </a:p>
          <a:p>
            <a:pPr algn="l">
              <a:lnSpc>
                <a:spcPts val="2400"/>
              </a:lnSpc>
              <a:buNone/>
            </a:pPr>
            <a:r>
              <a:rPr lang="en-IN" b="0" i="0" dirty="0">
                <a:solidFill>
                  <a:srgbClr val="242424"/>
                </a:solidFill>
                <a:effectLst/>
                <a:latin typeface="source-serif-pro"/>
              </a:rPr>
              <a:t>In Spring, annotations are used to declare beans and their dependencies. Annotation-based bean creation involves annotating classes with specific annotations to indicate that they are Spring-managed components.</a:t>
            </a:r>
          </a:p>
        </p:txBody>
      </p:sp>
    </p:spTree>
    <p:extLst>
      <p:ext uri="{BB962C8B-B14F-4D97-AF65-F5344CB8AC3E}">
        <p14:creationId xmlns:p14="http://schemas.microsoft.com/office/powerpoint/2010/main" val="38418478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03AEA-FFEA-65AF-CDD6-08B15CA91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EB5D933-4218-7353-3E9F-DA2724A235E4}"/>
              </a:ext>
            </a:extLst>
          </p:cNvPr>
          <p:cNvSpPr txBox="1"/>
          <p:nvPr/>
        </p:nvSpPr>
        <p:spPr>
          <a:xfrm>
            <a:off x="294894" y="115951"/>
            <a:ext cx="11711178" cy="1635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buNone/>
            </a:pPr>
            <a:r>
              <a:rPr lang="en-IN" sz="2400" b="1" i="0" dirty="0" err="1">
                <a:solidFill>
                  <a:srgbClr val="242424"/>
                </a:solidFill>
                <a:effectLst/>
                <a:latin typeface="source-serif-pro"/>
              </a:rPr>
              <a:t>Autowiring</a:t>
            </a:r>
            <a:r>
              <a:rPr lang="en-IN" sz="2400" b="1" i="0" dirty="0">
                <a:solidFill>
                  <a:srgbClr val="242424"/>
                </a:solidFill>
                <a:effectLst/>
                <a:latin typeface="source-serif-pro"/>
              </a:rPr>
              <a:t> in Spring</a:t>
            </a:r>
            <a:endParaRPr lang="en-IN" sz="2400" b="0" i="0" dirty="0">
              <a:solidFill>
                <a:srgbClr val="242424"/>
              </a:solidFill>
              <a:effectLst/>
              <a:latin typeface="source-serif-pro"/>
            </a:endParaRPr>
          </a:p>
          <a:p>
            <a:pPr algn="l">
              <a:lnSpc>
                <a:spcPts val="2400"/>
              </a:lnSpc>
              <a:buNone/>
            </a:pPr>
            <a:endParaRPr lang="en-IN" sz="2400" b="0" i="0" dirty="0">
              <a:solidFill>
                <a:srgbClr val="242424"/>
              </a:solidFill>
              <a:effectLst/>
              <a:latin typeface="source-serif-pro"/>
            </a:endParaRPr>
          </a:p>
          <a:p>
            <a:pPr algn="l">
              <a:lnSpc>
                <a:spcPts val="2400"/>
              </a:lnSpc>
              <a:buNone/>
            </a:pPr>
            <a:r>
              <a:rPr lang="en-IN" sz="2400" b="0" i="0" dirty="0" err="1">
                <a:solidFill>
                  <a:srgbClr val="242424"/>
                </a:solidFill>
                <a:effectLst/>
                <a:latin typeface="source-serif-pro"/>
              </a:rPr>
              <a:t>Autowiring</a:t>
            </a:r>
            <a:r>
              <a:rPr lang="en-IN" sz="2400" b="0" i="0" dirty="0">
                <a:solidFill>
                  <a:srgbClr val="242424"/>
                </a:solidFill>
                <a:effectLst/>
                <a:latin typeface="source-serif-pro"/>
              </a:rPr>
              <a:t> is a powerful feature in Spring that automatically injects dependencies into Spring-managed beans. </a:t>
            </a:r>
          </a:p>
          <a:p>
            <a:pPr algn="l">
              <a:lnSpc>
                <a:spcPts val="2400"/>
              </a:lnSpc>
              <a:buNone/>
            </a:pPr>
            <a:r>
              <a:rPr lang="en-IN" sz="2400" b="0" i="0" dirty="0">
                <a:solidFill>
                  <a:srgbClr val="242424"/>
                </a:solidFill>
                <a:effectLst/>
                <a:latin typeface="source-serif-pro"/>
              </a:rPr>
              <a:t>It reduces the need for explicit configuration and makes the codebase more maintainable.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3223CA-422C-BE62-5834-664A205BE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994" y="1850009"/>
            <a:ext cx="10383699" cy="4505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8872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40560-CC69-0436-A0D3-512D46576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10706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DBD15-3D47-8252-C6C9-AF33C8BCF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9901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F1C03-6D09-A718-BDC7-0D821F121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2174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DFCD2-E717-FFDD-0A01-E5D5C7601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56922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329D6-E237-4789-DFF2-CB5B88377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10151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CE402-0A46-260B-CC27-F73CF46ED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49192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F0190-1970-8EF3-BD3C-8B555564E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00852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E2FEE-8B0B-61F8-81F8-E50CA4CD3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75755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E72BC-B298-3ECE-2E4F-C4DF16E51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51789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69B92-57B1-7055-6832-BF0FEE1DE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26434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A1D9F-9EB5-1C87-3DEE-91CB74846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00248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D9F36-3BB0-7462-A282-BC49F3995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59046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D8B32-86E0-D371-692E-07A64EA04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50040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F15E8-4F5E-9748-28E4-98FC3E548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47855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48D0C-E999-FBCA-A6FA-72A98685F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34685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53013-FF64-9F58-EF6F-4FC6C6689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81373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E7F1B-7A6F-1ACF-77B4-D15A43695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43918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D1753-6A14-A859-C417-AC23858F9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28547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052EF-5E50-B749-39DD-2BD5B6592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05521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3159B-D9D0-A5F8-CB9C-719DBA369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11486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212</Words>
  <Application>Microsoft Office PowerPoint</Application>
  <PresentationFormat>Widescreen</PresentationFormat>
  <Paragraphs>12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Aptos</vt:lpstr>
      <vt:lpstr>Aptos Display</vt:lpstr>
      <vt:lpstr>Arial</vt:lpstr>
      <vt:lpstr>source-serif-pro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charan teja</dc:creator>
  <cp:lastModifiedBy>charan teja</cp:lastModifiedBy>
  <cp:revision>5</cp:revision>
  <dcterms:created xsi:type="dcterms:W3CDTF">2025-08-09T17:35:00Z</dcterms:created>
  <dcterms:modified xsi:type="dcterms:W3CDTF">2025-08-09T18:07:33Z</dcterms:modified>
</cp:coreProperties>
</file>