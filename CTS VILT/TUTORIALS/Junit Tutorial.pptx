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0" r:id="rId3"/>
    <p:sldId id="281" r:id="rId4"/>
    <p:sldId id="28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6" r:id="rId13"/>
    <p:sldId id="277" r:id="rId14"/>
    <p:sldId id="272" r:id="rId15"/>
    <p:sldId id="260" r:id="rId16"/>
    <p:sldId id="261" r:id="rId17"/>
    <p:sldId id="262" r:id="rId18"/>
    <p:sldId id="274" r:id="rId19"/>
    <p:sldId id="275" r:id="rId20"/>
    <p:sldId id="283" r:id="rId21"/>
    <p:sldId id="284" r:id="rId22"/>
    <p:sldId id="285" r:id="rId23"/>
    <p:sldId id="286" r:id="rId24"/>
    <p:sldId id="287" r:id="rId25"/>
    <p:sldId id="288" r:id="rId26"/>
    <p:sldId id="289" r:id="rId27"/>
    <p:sldId id="290" r:id="rId28"/>
    <p:sldId id="291" r:id="rId29"/>
    <p:sldId id="292" r:id="rId30"/>
    <p:sldId id="293" r:id="rId31"/>
    <p:sldId id="294" r:id="rId32"/>
    <p:sldId id="295" r:id="rId3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9C3C3-BCDF-4C1F-AD55-7054FA2E5BC9}" type="datetimeFigureOut">
              <a:rPr lang="en-US" smtClean="0"/>
              <a:pPr/>
              <a:t>11/22/2024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2C54A-4D32-402C-B4E7-4F77BD03A52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9C3C3-BCDF-4C1F-AD55-7054FA2E5BC9}" type="datetimeFigureOut">
              <a:rPr lang="en-US" smtClean="0"/>
              <a:pPr/>
              <a:t>11/22/2024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2C54A-4D32-402C-B4E7-4F77BD03A52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9C3C3-BCDF-4C1F-AD55-7054FA2E5BC9}" type="datetimeFigureOut">
              <a:rPr lang="en-US" smtClean="0"/>
              <a:pPr/>
              <a:t>11/22/2024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2C54A-4D32-402C-B4E7-4F77BD03A52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9C3C3-BCDF-4C1F-AD55-7054FA2E5BC9}" type="datetimeFigureOut">
              <a:rPr lang="en-US" smtClean="0"/>
              <a:pPr/>
              <a:t>11/22/2024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2C54A-4D32-402C-B4E7-4F77BD03A52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9C3C3-BCDF-4C1F-AD55-7054FA2E5BC9}" type="datetimeFigureOut">
              <a:rPr lang="en-US" smtClean="0"/>
              <a:pPr/>
              <a:t>11/22/2024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2C54A-4D32-402C-B4E7-4F77BD03A52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9C3C3-BCDF-4C1F-AD55-7054FA2E5BC9}" type="datetimeFigureOut">
              <a:rPr lang="en-US" smtClean="0"/>
              <a:pPr/>
              <a:t>11/22/2024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2C54A-4D32-402C-B4E7-4F77BD03A52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9C3C3-BCDF-4C1F-AD55-7054FA2E5BC9}" type="datetimeFigureOut">
              <a:rPr lang="en-US" smtClean="0"/>
              <a:pPr/>
              <a:t>11/22/2024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2C54A-4D32-402C-B4E7-4F77BD03A52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9C3C3-BCDF-4C1F-AD55-7054FA2E5BC9}" type="datetimeFigureOut">
              <a:rPr lang="en-US" smtClean="0"/>
              <a:pPr/>
              <a:t>11/22/2024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2C54A-4D32-402C-B4E7-4F77BD03A52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9C3C3-BCDF-4C1F-AD55-7054FA2E5BC9}" type="datetimeFigureOut">
              <a:rPr lang="en-US" smtClean="0"/>
              <a:pPr/>
              <a:t>11/22/2024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2C54A-4D32-402C-B4E7-4F77BD03A52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9C3C3-BCDF-4C1F-AD55-7054FA2E5BC9}" type="datetimeFigureOut">
              <a:rPr lang="en-US" smtClean="0"/>
              <a:pPr/>
              <a:t>11/22/2024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2C54A-4D32-402C-B4E7-4F77BD03A52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9C3C3-BCDF-4C1F-AD55-7054FA2E5BC9}" type="datetimeFigureOut">
              <a:rPr lang="en-US" smtClean="0"/>
              <a:pPr/>
              <a:t>11/22/2024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2C54A-4D32-402C-B4E7-4F77BD03A52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79C3C3-BCDF-4C1F-AD55-7054FA2E5BC9}" type="datetimeFigureOut">
              <a:rPr lang="en-US" smtClean="0"/>
              <a:pPr/>
              <a:t>11/22/2024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42C54A-4D32-402C-B4E7-4F77BD03A52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EAA8EC-5036-2966-39EA-C1186276AC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9871"/>
            <a:ext cx="9144000" cy="3938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413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46AB78-6DAA-C670-79C5-B55EEB110D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89239"/>
            <a:ext cx="9144000" cy="3679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7388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7FB65A-D047-EBE6-5742-C83A037CBA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9482"/>
            <a:ext cx="9144000" cy="4099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8459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2054" y="785794"/>
            <a:ext cx="8796225" cy="535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928670"/>
            <a:ext cx="8922503" cy="48577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8420" y="1196752"/>
            <a:ext cx="8607160" cy="37444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66825" y="1514475"/>
            <a:ext cx="6610350" cy="3829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622" y="1340768"/>
            <a:ext cx="9102756" cy="4176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3528" y="2564904"/>
            <a:ext cx="8305585" cy="22772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35651" y="357166"/>
            <a:ext cx="8279753" cy="59312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21267"/>
            <a:ext cx="8929718" cy="4879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01224" y="1428736"/>
            <a:ext cx="9179545" cy="4429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1269" y="1357298"/>
            <a:ext cx="8801462" cy="41434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3166725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2340" y="1285860"/>
            <a:ext cx="8500188" cy="39290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6269929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408" y="1214422"/>
            <a:ext cx="8959184" cy="4429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0505036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A2FCB4-FA22-107F-10E3-6805859F0610}"/>
              </a:ext>
            </a:extLst>
          </p:cNvPr>
          <p:cNvSpPr txBox="1"/>
          <p:nvPr/>
        </p:nvSpPr>
        <p:spPr>
          <a:xfrm>
            <a:off x="287524" y="476672"/>
            <a:ext cx="8568952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0" i="0" dirty="0">
                <a:solidFill>
                  <a:srgbClr val="4D5B7C"/>
                </a:solidFill>
                <a:effectLst/>
                <a:latin typeface="__Inter_1fc7a2"/>
              </a:rPr>
              <a:t>Mockito is a java based mocking framework, used in conjunction with other testing frameworks such as </a:t>
            </a:r>
            <a:r>
              <a:rPr lang="en-IN" sz="3200" dirty="0">
                <a:solidFill>
                  <a:srgbClr val="0069FF"/>
                </a:solidFill>
                <a:latin typeface="__Inter_1fc7a2"/>
              </a:rPr>
              <a:t>JUnit</a:t>
            </a:r>
            <a:r>
              <a:rPr lang="en-IN" sz="3200" b="0" i="0" dirty="0">
                <a:solidFill>
                  <a:srgbClr val="4D5B7C"/>
                </a:solidFill>
                <a:effectLst/>
                <a:latin typeface="__Inter_1fc7a2"/>
              </a:rPr>
              <a:t> and </a:t>
            </a:r>
            <a:r>
              <a:rPr lang="en-IN" sz="3200" dirty="0">
                <a:solidFill>
                  <a:srgbClr val="0069FF"/>
                </a:solidFill>
                <a:latin typeface="__Inter_1fc7a2"/>
              </a:rPr>
              <a:t>TestNG</a:t>
            </a:r>
            <a:r>
              <a:rPr lang="en-IN" sz="3200" b="0" i="0" dirty="0">
                <a:solidFill>
                  <a:srgbClr val="4D5B7C"/>
                </a:solidFill>
                <a:effectLst/>
                <a:latin typeface="__Inter_1fc7a2"/>
              </a:rPr>
              <a:t>. </a:t>
            </a:r>
          </a:p>
          <a:p>
            <a:endParaRPr lang="en-IN" sz="3200" dirty="0">
              <a:solidFill>
                <a:srgbClr val="4D5B7C"/>
              </a:solidFill>
              <a:latin typeface="__Inter_1fc7a2"/>
            </a:endParaRPr>
          </a:p>
          <a:p>
            <a:r>
              <a:rPr lang="en-IN" sz="3200" b="0" i="0" dirty="0">
                <a:solidFill>
                  <a:srgbClr val="4D5B7C"/>
                </a:solidFill>
                <a:effectLst/>
                <a:latin typeface="__Inter_1fc7a2"/>
              </a:rPr>
              <a:t>It internally uses </a:t>
            </a:r>
            <a:r>
              <a:rPr lang="en-IN" sz="3200" dirty="0">
                <a:solidFill>
                  <a:srgbClr val="0069FF"/>
                </a:solidFill>
                <a:latin typeface="__Inter_1fc7a2"/>
              </a:rPr>
              <a:t>Java Reflection</a:t>
            </a:r>
            <a:r>
              <a:rPr lang="en-IN" sz="3200" b="0" i="0" dirty="0">
                <a:solidFill>
                  <a:srgbClr val="4D5B7C"/>
                </a:solidFill>
                <a:effectLst/>
                <a:latin typeface="__Inter_1fc7a2"/>
              </a:rPr>
              <a:t> API and allows to create objects of a service. </a:t>
            </a:r>
          </a:p>
          <a:p>
            <a:r>
              <a:rPr lang="en-IN" sz="3200" b="0" i="0" dirty="0">
                <a:solidFill>
                  <a:srgbClr val="4D5B7C"/>
                </a:solidFill>
                <a:effectLst/>
                <a:latin typeface="__Inter_1fc7a2"/>
              </a:rPr>
              <a:t>A mock object returns a dummy data and avoids external dependencies. </a:t>
            </a:r>
          </a:p>
          <a:p>
            <a:endParaRPr lang="en-IN" sz="3200" dirty="0">
              <a:solidFill>
                <a:srgbClr val="4D5B7C"/>
              </a:solidFill>
              <a:latin typeface="__Inter_1fc7a2"/>
            </a:endParaRPr>
          </a:p>
          <a:p>
            <a:r>
              <a:rPr lang="en-IN" sz="3200" b="0" i="0" dirty="0">
                <a:solidFill>
                  <a:srgbClr val="4D5B7C"/>
                </a:solidFill>
                <a:effectLst/>
                <a:latin typeface="__Inter_1fc7a2"/>
              </a:rPr>
              <a:t>It simplifies the development of tests by mocking external dependencies and apply the mocks into the code under test.</a:t>
            </a:r>
            <a:endParaRPr lang="en-IN" sz="3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730A9F0-747D-1226-2B00-ABC350E82895}"/>
              </a:ext>
            </a:extLst>
          </p:cNvPr>
          <p:cNvSpPr txBox="1"/>
          <p:nvPr/>
        </p:nvSpPr>
        <p:spPr>
          <a:xfrm>
            <a:off x="1403648" y="26064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1" dirty="0">
                <a:solidFill>
                  <a:srgbClr val="000C2A"/>
                </a:solidFill>
                <a:latin typeface="__Epilogue_61966b"/>
              </a:rPr>
              <a:t>Mockito Maven Dependencies</a:t>
            </a:r>
            <a:endParaRPr lang="en-IN" b="1" i="0" dirty="0">
              <a:solidFill>
                <a:srgbClr val="4D5B7C"/>
              </a:solidFill>
              <a:effectLst/>
              <a:latin typeface="__Epilogue_61966b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D1DD5F-4810-D5D7-C2F0-F9EA65C419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268760"/>
            <a:ext cx="7632848" cy="460851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EB23FF9-4E67-4D3B-971C-C913818B91F5}"/>
              </a:ext>
            </a:extLst>
          </p:cNvPr>
          <p:cNvSpPr txBox="1"/>
          <p:nvPr/>
        </p:nvSpPr>
        <p:spPr>
          <a:xfrm>
            <a:off x="251520" y="112474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1" dirty="0">
                <a:solidFill>
                  <a:srgbClr val="4D5B7C"/>
                </a:solidFill>
                <a:latin typeface="__Epilogue_61966b"/>
              </a:rPr>
              <a:t>Mockito Mock Creation</a:t>
            </a:r>
            <a:endParaRPr lang="en-IN" b="1" i="0" dirty="0">
              <a:solidFill>
                <a:srgbClr val="4D5B7C"/>
              </a:solidFill>
              <a:effectLst/>
              <a:latin typeface="__Epilogue_61966b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D7E9F7-1BB2-759C-3EC0-848E668F7034}"/>
              </a:ext>
            </a:extLst>
          </p:cNvPr>
          <p:cNvSpPr txBox="1"/>
          <p:nvPr/>
        </p:nvSpPr>
        <p:spPr>
          <a:xfrm>
            <a:off x="251520" y="1628800"/>
            <a:ext cx="864096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2800" dirty="0"/>
          </a:p>
          <a:p>
            <a:r>
              <a:rPr lang="en-IN" sz="2800" dirty="0"/>
              <a:t>The Mockito framework allows us to create mock objects using either @Mock annotation or mock() static method.</a:t>
            </a:r>
          </a:p>
          <a:p>
            <a:endParaRPr lang="en-IN" sz="2800" dirty="0"/>
          </a:p>
          <a:p>
            <a:r>
              <a:rPr lang="en-IN" sz="2800" dirty="0"/>
              <a:t>@Mock creates a mock instance of the class.</a:t>
            </a:r>
          </a:p>
          <a:p>
            <a:endParaRPr lang="en-IN" sz="2800" dirty="0"/>
          </a:p>
          <a:p>
            <a:r>
              <a:rPr lang="en-IN" sz="2800" dirty="0"/>
              <a:t>verify is used to verify that the method add was called with the argument "test".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068247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57251-874E-2EDF-86C6-B02BA399D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E39497E-8763-8C65-40E0-EB01D5263906}"/>
              </a:ext>
            </a:extLst>
          </p:cNvPr>
          <p:cNvSpPr txBox="1"/>
          <p:nvPr/>
        </p:nvSpPr>
        <p:spPr>
          <a:xfrm>
            <a:off x="161764" y="476672"/>
            <a:ext cx="8820472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@InjectMocks</a:t>
            </a:r>
          </a:p>
          <a:p>
            <a:r>
              <a:rPr lang="en-IN" sz="2400" dirty="0"/>
              <a:t>The @InjectMocks annotation is used to inject mock objects into the class being tested. It helps to automatically inject all the mocks marked with @Mock or @Spy into the tested object.</a:t>
            </a:r>
          </a:p>
          <a:p>
            <a:endParaRPr lang="en-IN" sz="2400" dirty="0"/>
          </a:p>
          <a:p>
            <a:endParaRPr lang="en-IN" sz="2400" dirty="0"/>
          </a:p>
          <a:p>
            <a:r>
              <a:rPr lang="en-IN" sz="2400" dirty="0"/>
              <a:t>@ExtendWith</a:t>
            </a:r>
          </a:p>
          <a:p>
            <a:r>
              <a:rPr lang="en-IN" sz="2400" dirty="0"/>
              <a:t>The @ExtendWith annotation is used to register extensions in JUnit 5. For Mockito, it is used to initialize Mockito annotations.</a:t>
            </a:r>
          </a:p>
          <a:p>
            <a:endParaRPr lang="en-IN" sz="2400" dirty="0"/>
          </a:p>
          <a:p>
            <a:endParaRPr lang="en-IN" sz="2400" dirty="0"/>
          </a:p>
          <a:p>
            <a:r>
              <a:rPr lang="en-IN" sz="2400" dirty="0"/>
              <a:t>@Spy</a:t>
            </a:r>
          </a:p>
          <a:p>
            <a:r>
              <a:rPr lang="en-IN" sz="2400" dirty="0"/>
              <a:t>The @Spy annotation is used to create a spy of a real object. Spies allow partial mocking, where you can mock some methods while using real implementations for others.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8478086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17EF4-55F9-C30C-76D4-D9802D86A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7FEDDA6-8968-ACF8-94F8-414D777E5764}"/>
              </a:ext>
            </a:extLst>
          </p:cNvPr>
          <p:cNvSpPr txBox="1"/>
          <p:nvPr/>
        </p:nvSpPr>
        <p:spPr>
          <a:xfrm>
            <a:off x="323528" y="2690336"/>
            <a:ext cx="864096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2800" dirty="0"/>
          </a:p>
          <a:p>
            <a:r>
              <a:rPr lang="en-IN" sz="2800" dirty="0"/>
              <a:t>@Captor</a:t>
            </a:r>
          </a:p>
          <a:p>
            <a:r>
              <a:rPr lang="en-IN" sz="2800" dirty="0"/>
              <a:t>The @Captor annotation is used to create an argument captor, which captures argument values passed to mocked methods.</a:t>
            </a:r>
          </a:p>
        </p:txBody>
      </p:sp>
    </p:spTree>
    <p:extLst>
      <p:ext uri="{BB962C8B-B14F-4D97-AF65-F5344CB8AC3E}">
        <p14:creationId xmlns:p14="http://schemas.microsoft.com/office/powerpoint/2010/main" val="13358676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636D0-D88B-7B33-9470-AA6C32905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54212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634F5-04BC-DD9F-06C7-902660AA4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46025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A24F0-4430-6478-26D8-C6EADB872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51723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C6F94-509B-1F18-E266-89AE94115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67963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9E773-C91B-B57D-B7EC-E166CB6C6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2780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9E70D-DBC2-0D69-A6E2-1684B7CE2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93880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C9988-67DC-D7C9-2B89-2DDD34442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08658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875AC-0E5B-C59F-04BD-72247B843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73536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9040F-C574-82F7-7B4E-4B2163C1C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73344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8F09E-0EAC-3213-BF47-AD60FD5C3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82819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783</TotalTime>
  <Words>243</Words>
  <Application>Microsoft Office PowerPoint</Application>
  <PresentationFormat>On-screen Show (4:3)</PresentationFormat>
  <Paragraphs>27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__Epilogue_61966b</vt:lpstr>
      <vt:lpstr>__Inter_1fc7a2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Windows User</dc:creator>
  <cp:lastModifiedBy>charan teja</cp:lastModifiedBy>
  <cp:revision>22</cp:revision>
  <dcterms:created xsi:type="dcterms:W3CDTF">2024-02-12T04:30:21Z</dcterms:created>
  <dcterms:modified xsi:type="dcterms:W3CDTF">2024-11-22T02:14:55Z</dcterms:modified>
</cp:coreProperties>
</file>