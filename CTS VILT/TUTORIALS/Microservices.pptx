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3" r:id="rId4"/>
    <p:sldId id="258" r:id="rId5"/>
    <p:sldId id="259" r:id="rId6"/>
    <p:sldId id="271" r:id="rId7"/>
    <p:sldId id="260" r:id="rId8"/>
    <p:sldId id="261" r:id="rId9"/>
    <p:sldId id="262" r:id="rId10"/>
    <p:sldId id="263" r:id="rId11"/>
    <p:sldId id="264" r:id="rId12"/>
    <p:sldId id="272" r:id="rId13"/>
    <p:sldId id="268" r:id="rId14"/>
    <p:sldId id="269" r:id="rId15"/>
    <p:sldId id="270" r:id="rId16"/>
    <p:sldId id="265" r:id="rId17"/>
    <p:sldId id="267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EA17-E798-4E3B-B525-B2DB0AA606C6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06B3D-E90B-479D-B1C7-6B8D14A1F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EA17-E798-4E3B-B525-B2DB0AA606C6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06B3D-E90B-479D-B1C7-6B8D14A1F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EA17-E798-4E3B-B525-B2DB0AA606C6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06B3D-E90B-479D-B1C7-6B8D14A1F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EA17-E798-4E3B-B525-B2DB0AA606C6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06B3D-E90B-479D-B1C7-6B8D14A1F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EA17-E798-4E3B-B525-B2DB0AA606C6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06B3D-E90B-479D-B1C7-6B8D14A1F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EA17-E798-4E3B-B525-B2DB0AA606C6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06B3D-E90B-479D-B1C7-6B8D14A1F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EA17-E798-4E3B-B525-B2DB0AA606C6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06B3D-E90B-479D-B1C7-6B8D14A1F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EA17-E798-4E3B-B525-B2DB0AA606C6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06B3D-E90B-479D-B1C7-6B8D14A1F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EA17-E798-4E3B-B525-B2DB0AA606C6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4D106B3D-E90B-479D-B1C7-6B8D14A1F93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EA17-E798-4E3B-B525-B2DB0AA606C6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06B3D-E90B-479D-B1C7-6B8D14A1F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BEA17-E798-4E3B-B525-B2DB0AA606C6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06B3D-E90B-479D-B1C7-6B8D14A1F93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8BBEA17-E798-4E3B-B525-B2DB0AA606C6}" type="datetimeFigureOut">
              <a:rPr lang="en-US" smtClean="0"/>
              <a:pPr/>
              <a:t>8/26/2025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D106B3D-E90B-479D-B1C7-6B8D14A1F93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512" y="1916832"/>
            <a:ext cx="878497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Microservices</a:t>
            </a:r>
            <a:r>
              <a:rPr lang="en-US" sz="2400" dirty="0"/>
              <a:t> is a service-oriented architecture pattern wherein applications are built as a collection of various smallest independent service units. 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term "micro" refers to the sizing of a microservice which must be manageable by a single development team ( 5 to 10 developers). </a:t>
            </a:r>
          </a:p>
          <a:p>
            <a:endParaRPr lang="en-US" sz="2400" dirty="0"/>
          </a:p>
          <a:p>
            <a:r>
              <a:rPr lang="en-US" sz="2400" dirty="0"/>
              <a:t>In this methodology, big applications are divided into smallest independent units.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467544" y="1196752"/>
            <a:ext cx="36990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What are </a:t>
            </a:r>
            <a:r>
              <a:rPr lang="en-US" sz="2400" b="1" dirty="0" err="1"/>
              <a:t>Microservices</a:t>
            </a:r>
            <a:r>
              <a:rPr lang="en-US" sz="2400" b="1" dirty="0"/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872" y="1874728"/>
            <a:ext cx="871296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What is Monolithic Architecture?</a:t>
            </a:r>
          </a:p>
          <a:p>
            <a:endParaRPr lang="en-IN" sz="2800" b="1" dirty="0"/>
          </a:p>
          <a:p>
            <a:endParaRPr lang="en-US" sz="2800" b="1" dirty="0"/>
          </a:p>
          <a:p>
            <a:r>
              <a:rPr lang="en-US" sz="2800" dirty="0"/>
              <a:t>In Monolithic architecture is a big container in which all the software components of an application are clubbed into a single package.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1340768"/>
            <a:ext cx="6026150" cy="539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764704"/>
            <a:ext cx="738187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96752"/>
            <a:ext cx="9144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In any e-commerce application, there are some standard features like Search, Review &amp; Ratings, and Payments. </a:t>
            </a:r>
          </a:p>
          <a:p>
            <a:endParaRPr lang="en-US" sz="2800" dirty="0"/>
          </a:p>
          <a:p>
            <a:r>
              <a:rPr lang="en-US" sz="2800" dirty="0"/>
              <a:t>These features are accessible to customers using their browser or apps. When the developer of the eCommerce site deploys the application, it is a single Monolithic unit. </a:t>
            </a:r>
          </a:p>
          <a:p>
            <a:r>
              <a:rPr lang="en-US" sz="2800" dirty="0"/>
              <a:t>The code for different features like Search, Review &amp; Ratings, and Payments are on the same server. </a:t>
            </a:r>
          </a:p>
          <a:p>
            <a:endParaRPr lang="en-US" sz="2800" dirty="0"/>
          </a:p>
          <a:p>
            <a:r>
              <a:rPr lang="en-US" sz="2800" dirty="0"/>
              <a:t>To scale the application, you need to run multiple instances(servers) of these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04664"/>
            <a:ext cx="9144000" cy="576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12776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/>
              <a:t>Microservice</a:t>
            </a:r>
            <a:r>
              <a:rPr lang="en-US" sz="2400" b="1" dirty="0"/>
              <a:t> Architecture</a:t>
            </a:r>
            <a:r>
              <a:rPr lang="en-US" sz="2400" dirty="0"/>
              <a:t> is an architectural development style that allows building applications as a collection of small autonomous services developed for a business domain. </a:t>
            </a:r>
          </a:p>
          <a:p>
            <a:r>
              <a:rPr lang="en-US" sz="2400" dirty="0"/>
              <a:t>It is a variant of structural style architecture that helps arrange applications as a loosely coupled service collection. The </a:t>
            </a:r>
            <a:r>
              <a:rPr lang="en-US" sz="2400" dirty="0" err="1"/>
              <a:t>Microservice</a:t>
            </a:r>
            <a:r>
              <a:rPr lang="en-US" sz="2400" dirty="0"/>
              <a:t> Architecture contains fine-grained services and lightweight protocols.</a:t>
            </a:r>
          </a:p>
          <a:p>
            <a:endParaRPr lang="en-US" sz="2400" dirty="0"/>
          </a:p>
          <a:p>
            <a:r>
              <a:rPr lang="en-US" sz="2400" dirty="0"/>
              <a:t>Let's take an example of e-commerce application developed with microservice architecture. </a:t>
            </a:r>
          </a:p>
          <a:p>
            <a:endParaRPr lang="en-US" sz="2400" dirty="0"/>
          </a:p>
          <a:p>
            <a:r>
              <a:rPr lang="en-US" sz="2400" dirty="0"/>
              <a:t>In Microservices architecture, each microservice is focused on single business capability. Search, Rating &amp; Review and Payment each have their instance (server) and communicate with each other.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7584" y="764704"/>
            <a:ext cx="60705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What is </a:t>
            </a:r>
            <a:r>
              <a:rPr lang="en-US" sz="2800" b="1" dirty="0" err="1"/>
              <a:t>Microservice</a:t>
            </a:r>
            <a:r>
              <a:rPr lang="en-US" sz="2800" b="1" dirty="0"/>
              <a:t> Architecture?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24744"/>
            <a:ext cx="8568952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66843"/>
            <a:ext cx="896448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In Monolithic Architecture, all the components coalesce into a single module. But, in </a:t>
            </a:r>
            <a:r>
              <a:rPr lang="en-US" sz="2800" dirty="0" err="1"/>
              <a:t>Microservices</a:t>
            </a:r>
            <a:r>
              <a:rPr lang="en-US" sz="2800" dirty="0"/>
              <a:t> Architecture they are spread into individual modules(</a:t>
            </a:r>
            <a:r>
              <a:rPr lang="en-US" sz="2800" dirty="0" err="1"/>
              <a:t>microservice</a:t>
            </a:r>
            <a:r>
              <a:rPr lang="en-US" sz="2800" dirty="0"/>
              <a:t>) which communicate with each other as shown in the </a:t>
            </a:r>
            <a:r>
              <a:rPr lang="en-US" sz="2800" dirty="0" err="1"/>
              <a:t>Microservices</a:t>
            </a:r>
            <a:r>
              <a:rPr lang="en-US" sz="2800" dirty="0"/>
              <a:t> example above.</a:t>
            </a:r>
          </a:p>
          <a:p>
            <a:endParaRPr lang="en-US" sz="2800" dirty="0"/>
          </a:p>
          <a:p>
            <a:r>
              <a:rPr lang="en-US" sz="2800" dirty="0"/>
              <a:t>The communication between </a:t>
            </a:r>
            <a:r>
              <a:rPr lang="en-US" sz="2800" dirty="0" err="1"/>
              <a:t>microservices</a:t>
            </a:r>
            <a:r>
              <a:rPr lang="en-US" sz="2800" dirty="0"/>
              <a:t> is a stateless communication where each pair of request and response is independent. Hence, </a:t>
            </a:r>
            <a:r>
              <a:rPr lang="en-US" sz="2800" dirty="0" err="1"/>
              <a:t>Microservices</a:t>
            </a:r>
            <a:r>
              <a:rPr lang="en-US" sz="2800" dirty="0"/>
              <a:t> can communicate effortlessly. In the </a:t>
            </a:r>
            <a:r>
              <a:rPr lang="en-US" sz="2800" dirty="0" err="1"/>
              <a:t>Microservice</a:t>
            </a:r>
            <a:r>
              <a:rPr lang="en-US" sz="2800" dirty="0"/>
              <a:t> Architecture, the Data is federated. Each </a:t>
            </a:r>
            <a:r>
              <a:rPr lang="en-US" sz="2800" dirty="0" err="1"/>
              <a:t>Microservice</a:t>
            </a:r>
            <a:r>
              <a:rPr lang="en-US" sz="2800" dirty="0"/>
              <a:t> has its separate data store.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60041"/>
            <a:ext cx="8784976" cy="6525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6417" y="692696"/>
            <a:ext cx="8708071" cy="596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262880"/>
            <a:ext cx="9073008" cy="540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27094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SOA is an architectural pattern in computer software design. In this type of application, components provide services to other components via a communications protocol, typically over a network. The principles of service-orientation are independent of any product, vendor, or technology. The full form of SOA is service-oriented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7584" y="764704"/>
            <a:ext cx="1461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What is SOA?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151368"/>
            <a:ext cx="91440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SOA makes it easier for software components over various networks to work with each </a:t>
            </a:r>
            <a:r>
              <a:rPr lang="en-US" sz="2000" dirty="0" err="1"/>
              <a:t>other.Web</a:t>
            </a:r>
            <a:r>
              <a:rPr lang="en-US" sz="2000" dirty="0"/>
              <a:t> services that are built as per the SOA architecture tend to make web services </a:t>
            </a:r>
            <a:r>
              <a:rPr lang="en-US" sz="2400" dirty="0"/>
              <a:t>more</a:t>
            </a:r>
            <a:r>
              <a:rPr lang="en-US" sz="2000" dirty="0"/>
              <a:t> independent.</a:t>
            </a:r>
          </a:p>
          <a:p>
            <a:endParaRPr lang="en-IN" sz="2000" dirty="0"/>
          </a:p>
          <a:p>
            <a:r>
              <a:rPr lang="en-US" sz="2000" b="1" dirty="0"/>
              <a:t>What is SOA Architecture?</a:t>
            </a:r>
          </a:p>
          <a:p>
            <a:endParaRPr lang="en-US" sz="2000" b="1" dirty="0"/>
          </a:p>
          <a:p>
            <a:r>
              <a:rPr lang="en-US" sz="2000" dirty="0"/>
              <a:t>Service-oriented architecture is a style of software design. An architecture is categorized into two parts</a:t>
            </a:r>
          </a:p>
          <a:p>
            <a:endParaRPr lang="en-US" sz="2000" dirty="0"/>
          </a:p>
          <a:p>
            <a:pPr>
              <a:buFont typeface="Arial" pitchFamily="34" charset="0"/>
              <a:buChar char="•"/>
            </a:pPr>
            <a:r>
              <a:rPr lang="en-US" sz="2000" dirty="0"/>
              <a:t>functional aspects and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quality of service aspects.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62150" y="38100"/>
            <a:ext cx="5219700" cy="678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61101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Functional Aspects:</a:t>
            </a:r>
          </a:p>
          <a:p>
            <a:endParaRPr lang="en-US" b="1" dirty="0"/>
          </a:p>
          <a:p>
            <a:r>
              <a:rPr lang="en-US" b="1" dirty="0"/>
              <a:t>Transport</a:t>
            </a:r>
            <a:r>
              <a:rPr lang="en-US" dirty="0"/>
              <a:t>: This component transports the service requests from the service consumer to the service provider and service responses from them to the service consumer.</a:t>
            </a:r>
          </a:p>
          <a:p>
            <a:r>
              <a:rPr lang="en-US" b="1" dirty="0"/>
              <a:t>Service Communication Protocol</a:t>
            </a:r>
            <a:r>
              <a:rPr lang="en-US" dirty="0"/>
              <a:t>: It allows the service provider and consumer to communicate with each other.</a:t>
            </a:r>
          </a:p>
          <a:p>
            <a:r>
              <a:rPr lang="en-US" b="1" dirty="0"/>
              <a:t>Service Description</a:t>
            </a:r>
            <a:r>
              <a:rPr lang="en-US" dirty="0"/>
              <a:t>: It explains the service and data required to invoke it.</a:t>
            </a:r>
          </a:p>
          <a:p>
            <a:r>
              <a:rPr lang="en-US" b="1" dirty="0"/>
              <a:t>Service</a:t>
            </a:r>
            <a:r>
              <a:rPr lang="en-US" dirty="0"/>
              <a:t>: It is an actual service.</a:t>
            </a:r>
          </a:p>
          <a:p>
            <a:r>
              <a:rPr lang="en-US" b="1" dirty="0"/>
              <a:t>Business Process:</a:t>
            </a:r>
            <a:r>
              <a:rPr lang="en-US" dirty="0"/>
              <a:t> This component represents the group of services called in a certain predefined sequence associated with the specific rules to meet the business demands.</a:t>
            </a:r>
          </a:p>
          <a:p>
            <a:r>
              <a:rPr lang="en-US" b="1" dirty="0"/>
              <a:t>Service Registry</a:t>
            </a:r>
            <a:r>
              <a:rPr lang="en-US" dirty="0"/>
              <a:t>: This registry contains the description of data that is used by service providers to publish their services.</a:t>
            </a:r>
          </a:p>
          <a:p>
            <a:endParaRPr lang="en-IN" dirty="0"/>
          </a:p>
          <a:p>
            <a:endParaRPr lang="en-IN" dirty="0"/>
          </a:p>
          <a:p>
            <a:r>
              <a:rPr lang="en-US" b="1" dirty="0"/>
              <a:t>Quality of Service Aspects:</a:t>
            </a:r>
          </a:p>
          <a:p>
            <a:endParaRPr lang="en-US" b="1" dirty="0"/>
          </a:p>
          <a:p>
            <a:r>
              <a:rPr lang="en-US" b="1" dirty="0"/>
              <a:t>Policy:</a:t>
            </a:r>
            <a:r>
              <a:rPr lang="en-US" dirty="0"/>
              <a:t> It is a set of protocols according to which service providers create and provide services to consumers.</a:t>
            </a:r>
          </a:p>
          <a:p>
            <a:r>
              <a:rPr lang="en-US" b="1" dirty="0"/>
              <a:t>Security:</a:t>
            </a:r>
            <a:r>
              <a:rPr lang="en-US" dirty="0"/>
              <a:t> It represents the set of protocols needed for the identification and authorization process.</a:t>
            </a:r>
          </a:p>
          <a:p>
            <a:r>
              <a:rPr lang="en-US" b="1" dirty="0"/>
              <a:t>Transaction:</a:t>
            </a:r>
            <a:r>
              <a:rPr lang="en-US" dirty="0"/>
              <a:t> It provides the surety of consistent results.</a:t>
            </a:r>
          </a:p>
          <a:p>
            <a:r>
              <a:rPr lang="en-US" b="1" dirty="0"/>
              <a:t>Management:</a:t>
            </a:r>
            <a:r>
              <a:rPr lang="en-US" dirty="0"/>
              <a:t> This component of SOA helps you define the set of attributes which are used to manage the services.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171699"/>
            <a:ext cx="9036496" cy="5425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008" y="260648"/>
            <a:ext cx="9036496" cy="6552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A8777C-FF93-FE77-9408-EDDDD773B25E}"/>
              </a:ext>
            </a:extLst>
          </p:cNvPr>
          <p:cNvSpPr txBox="1"/>
          <p:nvPr/>
        </p:nvSpPr>
        <p:spPr>
          <a:xfrm>
            <a:off x="107504" y="1291626"/>
            <a:ext cx="892899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1. What are Microservices?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/>
              <a:t>Microservices</a:t>
            </a:r>
            <a:r>
              <a:rPr lang="en-IN" sz="2800" dirty="0"/>
              <a:t> is an architectural style where an application is structured as a collection of small, independent services.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Each service: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Focuses on a </a:t>
            </a:r>
            <a:r>
              <a:rPr lang="en-IN" sz="2800" b="1" dirty="0"/>
              <a:t>specific business capability</a:t>
            </a:r>
            <a:r>
              <a:rPr lang="en-IN" sz="2800" dirty="0"/>
              <a:t> (e.g., User Service, Order Service, Payment Service).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Runs in its </a:t>
            </a:r>
            <a:r>
              <a:rPr lang="en-IN" sz="2800" b="1" dirty="0"/>
              <a:t>own process</a:t>
            </a:r>
            <a:r>
              <a:rPr lang="en-IN" sz="28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Communicates with others via </a:t>
            </a:r>
            <a:r>
              <a:rPr lang="en-IN" sz="2800" b="1" dirty="0"/>
              <a:t>lightweight protocols</a:t>
            </a:r>
            <a:r>
              <a:rPr lang="en-IN" sz="2800" dirty="0"/>
              <a:t> (HTTP/REST, </a:t>
            </a:r>
            <a:r>
              <a:rPr lang="en-IN" sz="2800" dirty="0" err="1"/>
              <a:t>gRPC</a:t>
            </a:r>
            <a:r>
              <a:rPr lang="en-IN" sz="2800" dirty="0"/>
              <a:t>, or messaging queues).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800" dirty="0"/>
              <a:t>Can be </a:t>
            </a:r>
            <a:r>
              <a:rPr lang="en-IN" sz="2800" b="1" dirty="0"/>
              <a:t>developed, deployed, and scaled independently</a:t>
            </a:r>
            <a:r>
              <a:rPr lang="en-IN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0493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5B955B-5B67-850A-626B-386B209906F3}"/>
              </a:ext>
            </a:extLst>
          </p:cNvPr>
          <p:cNvSpPr txBox="1"/>
          <p:nvPr/>
        </p:nvSpPr>
        <p:spPr>
          <a:xfrm>
            <a:off x="179512" y="1845624"/>
            <a:ext cx="88569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2. Why Microservices?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Scalability</a:t>
            </a:r>
            <a:r>
              <a:rPr lang="en-IN" sz="2400" dirty="0"/>
              <a:t> → Scale only the service you need (e.g., scale payment service if demand is high).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Flexibility in technology</a:t>
            </a:r>
            <a:r>
              <a:rPr lang="en-IN" sz="2400" dirty="0"/>
              <a:t> → One service in Java (Spring Boot), another in Node.js, etc.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Faster development</a:t>
            </a:r>
            <a:r>
              <a:rPr lang="en-IN" sz="2400" dirty="0"/>
              <a:t> → Small teams can work independently.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Resilience</a:t>
            </a:r>
            <a:r>
              <a:rPr lang="en-IN" sz="2400" dirty="0"/>
              <a:t> → If one service fails, the whole system doesn’t crash.</a:t>
            </a:r>
          </a:p>
        </p:txBody>
      </p:sp>
    </p:spTree>
    <p:extLst>
      <p:ext uri="{BB962C8B-B14F-4D97-AF65-F5344CB8AC3E}">
        <p14:creationId xmlns:p14="http://schemas.microsoft.com/office/powerpoint/2010/main" val="155476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4C7889-8532-15C2-EB2A-AF2A55EA8D65}"/>
              </a:ext>
            </a:extLst>
          </p:cNvPr>
          <p:cNvSpPr txBox="1"/>
          <p:nvPr/>
        </p:nvSpPr>
        <p:spPr>
          <a:xfrm>
            <a:off x="179512" y="1430125"/>
            <a:ext cx="88569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3. Spring Boot &amp; Microservices</a:t>
            </a:r>
          </a:p>
          <a:p>
            <a:pPr>
              <a:buNone/>
            </a:pPr>
            <a:endParaRPr lang="en-IN" sz="2400" dirty="0"/>
          </a:p>
          <a:p>
            <a:pPr>
              <a:buNone/>
            </a:pPr>
            <a:r>
              <a:rPr lang="en-IN" sz="2400" dirty="0"/>
              <a:t>Spring Boot makes it easy to build microservices because it provides:</a:t>
            </a:r>
          </a:p>
          <a:p>
            <a:pPr>
              <a:buNone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Embedded servers (Tomcat/Jetty)</a:t>
            </a:r>
            <a:r>
              <a:rPr lang="en-IN" sz="2400" dirty="0"/>
              <a:t> → Run independently, no need for external app server.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Spring Cloud</a:t>
            </a:r>
            <a:r>
              <a:rPr lang="en-IN" sz="2400" dirty="0"/>
              <a:t> integration for: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Service Discovery (</a:t>
            </a:r>
            <a:r>
              <a:rPr lang="en-IN" sz="2400" b="1" dirty="0"/>
              <a:t>Eureka</a:t>
            </a:r>
            <a:r>
              <a:rPr lang="en-IN" sz="2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API Gateway (</a:t>
            </a:r>
            <a:r>
              <a:rPr lang="en-IN" sz="2400" b="1" dirty="0"/>
              <a:t>Spring Cloud Gateway</a:t>
            </a:r>
            <a:r>
              <a:rPr lang="en-IN" sz="2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Centralized Configuration (</a:t>
            </a:r>
            <a:r>
              <a:rPr lang="en-IN" sz="2400" b="1" dirty="0"/>
              <a:t>Spring Cloud Config</a:t>
            </a:r>
            <a:r>
              <a:rPr lang="en-IN" sz="24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Resilience (</a:t>
            </a:r>
            <a:r>
              <a:rPr lang="en-IN" sz="2400" b="1" dirty="0"/>
              <a:t>Circuit Breakers with Resilience4j</a:t>
            </a:r>
            <a:r>
              <a:rPr lang="en-IN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537446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D40ECD-403F-C408-0811-84651031EBC1}"/>
              </a:ext>
            </a:extLst>
          </p:cNvPr>
          <p:cNvSpPr txBox="1"/>
          <p:nvPr/>
        </p:nvSpPr>
        <p:spPr>
          <a:xfrm>
            <a:off x="179512" y="1568625"/>
            <a:ext cx="86409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4. Typical Microservices Architecture</a:t>
            </a:r>
          </a:p>
          <a:p>
            <a:pPr>
              <a:buNone/>
            </a:pPr>
            <a:endParaRPr lang="en-IN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API Gateway</a:t>
            </a:r>
            <a:r>
              <a:rPr lang="en-IN" sz="2400" dirty="0"/>
              <a:t> → Single entry point for clients.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Service Registry (Eureka)</a:t>
            </a:r>
            <a:r>
              <a:rPr lang="en-IN" sz="2400" dirty="0"/>
              <a:t> → Keeps track of services.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Config Server</a:t>
            </a:r>
            <a:r>
              <a:rPr lang="en-IN" sz="2400" dirty="0"/>
              <a:t> → Centralized properties management.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Individual Microservices</a:t>
            </a:r>
            <a:r>
              <a:rPr lang="en-IN" sz="2400" dirty="0"/>
              <a:t> (e.g., User Service, Order Service).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Database per service</a:t>
            </a:r>
            <a:r>
              <a:rPr lang="en-IN" sz="2400" dirty="0"/>
              <a:t> (ensures loose coupling).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Message Broker</a:t>
            </a:r>
            <a:r>
              <a:rPr lang="en-IN" sz="2400" dirty="0"/>
              <a:t> (Kafka/RabbitMQ) for async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393633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6597C6-AC2A-DDD9-EB10-E6996A40A057}"/>
              </a:ext>
            </a:extLst>
          </p:cNvPr>
          <p:cNvSpPr txBox="1"/>
          <p:nvPr/>
        </p:nvSpPr>
        <p:spPr>
          <a:xfrm>
            <a:off x="0" y="1052736"/>
            <a:ext cx="9144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What is Load Balancing?</a:t>
            </a:r>
          </a:p>
          <a:p>
            <a:endParaRPr lang="en-IN" dirty="0"/>
          </a:p>
          <a:p>
            <a:r>
              <a:rPr lang="en-IN" dirty="0"/>
              <a:t>Load balancing is the process of distributing incoming traffic across multiple servers (or instances) so that no single server is overwhelmed. It improves performance, reliability, and user experience in cloud-hosted applications.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dirty="0"/>
              <a:t>Why Use Load Balancing in Cloud?</a:t>
            </a:r>
          </a:p>
          <a:p>
            <a:endParaRPr lang="en-IN" dirty="0"/>
          </a:p>
          <a:p>
            <a:r>
              <a:rPr lang="en-IN" dirty="0"/>
              <a:t>=&gt;</a:t>
            </a:r>
            <a:r>
              <a:rPr lang="en-IN" b="1" dirty="0"/>
              <a:t>Scalability</a:t>
            </a:r>
            <a:r>
              <a:rPr lang="en-IN" dirty="0"/>
              <a:t> – handle large amounts of traffic by scaling horizontally (adding more servers).</a:t>
            </a:r>
          </a:p>
          <a:p>
            <a:endParaRPr lang="en-IN" dirty="0"/>
          </a:p>
          <a:p>
            <a:r>
              <a:rPr lang="en-IN" dirty="0"/>
              <a:t>=&gt;</a:t>
            </a:r>
            <a:r>
              <a:rPr lang="en-IN" b="1" dirty="0"/>
              <a:t>Fault Tolerance </a:t>
            </a:r>
            <a:r>
              <a:rPr lang="en-IN" dirty="0"/>
              <a:t>– if one server fails, traffic is redirected to healthy servers.</a:t>
            </a:r>
          </a:p>
          <a:p>
            <a:endParaRPr lang="en-IN" dirty="0"/>
          </a:p>
          <a:p>
            <a:r>
              <a:rPr lang="en-IN" dirty="0"/>
              <a:t>=&gt;</a:t>
            </a:r>
            <a:r>
              <a:rPr lang="en-IN" b="1" dirty="0"/>
              <a:t>High Availability </a:t>
            </a:r>
            <a:r>
              <a:rPr lang="en-IN" dirty="0"/>
              <a:t>– ensures applications are always accessible.</a:t>
            </a:r>
          </a:p>
          <a:p>
            <a:endParaRPr lang="en-IN" dirty="0"/>
          </a:p>
          <a:p>
            <a:r>
              <a:rPr lang="en-IN" dirty="0"/>
              <a:t>=&gt;</a:t>
            </a:r>
            <a:r>
              <a:rPr lang="en-IN" b="1" dirty="0"/>
              <a:t>Optimized Performance </a:t>
            </a:r>
            <a:r>
              <a:rPr lang="en-IN" dirty="0"/>
              <a:t>– balances requests to avoid bottlenecks.</a:t>
            </a:r>
          </a:p>
          <a:p>
            <a:endParaRPr lang="en-IN" dirty="0"/>
          </a:p>
          <a:p>
            <a:r>
              <a:rPr lang="en-IN" dirty="0"/>
              <a:t>=&gt;</a:t>
            </a:r>
            <a:r>
              <a:rPr lang="en-IN" b="1" dirty="0"/>
              <a:t>Flexibility </a:t>
            </a:r>
            <a:r>
              <a:rPr lang="en-IN" dirty="0"/>
              <a:t>– supports multi-region deployments.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7616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200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D75B32-0AB5-54FC-AAD2-787343A7916F}"/>
              </a:ext>
            </a:extLst>
          </p:cNvPr>
          <p:cNvSpPr txBox="1"/>
          <p:nvPr/>
        </p:nvSpPr>
        <p:spPr>
          <a:xfrm>
            <a:off x="107504" y="904066"/>
            <a:ext cx="903649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 What is OAuth 2?</a:t>
            </a:r>
          </a:p>
          <a:p>
            <a:endParaRPr lang="en-IN" dirty="0"/>
          </a:p>
          <a:p>
            <a:r>
              <a:rPr lang="en-IN" dirty="0"/>
              <a:t>OAuth 2.0 is an authorization framework that lets applications access resources (APIs) on behalf of a user, without sharing their credentials (like username &amp; password).</a:t>
            </a:r>
          </a:p>
          <a:p>
            <a:endParaRPr lang="en-IN" dirty="0"/>
          </a:p>
          <a:p>
            <a:r>
              <a:rPr lang="en-IN" dirty="0"/>
              <a:t> Instead of passing credentials, the client app gets an access token from the Authorization Server and uses that token to call the Resource Server (API).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 OAuth 2 Components in Spring Boot</a:t>
            </a:r>
          </a:p>
          <a:p>
            <a:endParaRPr lang="en-IN" dirty="0"/>
          </a:p>
          <a:p>
            <a:r>
              <a:rPr lang="en-IN" dirty="0"/>
              <a:t>Authorization Server – Issues tokens (e.g., </a:t>
            </a:r>
            <a:r>
              <a:rPr lang="en-IN" dirty="0" err="1"/>
              <a:t>Keycloak</a:t>
            </a:r>
            <a:r>
              <a:rPr lang="en-IN" dirty="0"/>
              <a:t>, Okta, Auth0, Spring Authorization Server).</a:t>
            </a:r>
          </a:p>
          <a:p>
            <a:endParaRPr lang="en-IN" dirty="0"/>
          </a:p>
          <a:p>
            <a:r>
              <a:rPr lang="en-IN" dirty="0"/>
              <a:t>Resource Server – The API that protects resources using OAuth 2 tokens.</a:t>
            </a:r>
          </a:p>
          <a:p>
            <a:endParaRPr lang="en-IN" dirty="0"/>
          </a:p>
          <a:p>
            <a:r>
              <a:rPr lang="en-IN" dirty="0"/>
              <a:t>Client – App (Angular/React, Postman, mobile app) requesting access.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664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E0BE8A-687D-1B75-AB2D-DEB7C94C018C}"/>
              </a:ext>
            </a:extLst>
          </p:cNvPr>
          <p:cNvSpPr txBox="1"/>
          <p:nvPr/>
        </p:nvSpPr>
        <p:spPr>
          <a:xfrm>
            <a:off x="323528" y="876128"/>
            <a:ext cx="86409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 OAuth 2 Flow (Authorization Code Grant Example)</a:t>
            </a:r>
          </a:p>
          <a:p>
            <a:r>
              <a:rPr lang="en-IN" dirty="0"/>
              <a:t>================================================</a:t>
            </a:r>
          </a:p>
          <a:p>
            <a:endParaRPr lang="en-IN" dirty="0"/>
          </a:p>
          <a:p>
            <a:r>
              <a:rPr lang="en-IN" dirty="0"/>
              <a:t>User tries to access a client app.</a:t>
            </a:r>
          </a:p>
          <a:p>
            <a:endParaRPr lang="en-IN" dirty="0"/>
          </a:p>
          <a:p>
            <a:r>
              <a:rPr lang="en-IN" dirty="0"/>
              <a:t>Client redirects user to Authorization Server (e.g., Google/Okta).</a:t>
            </a:r>
          </a:p>
          <a:p>
            <a:endParaRPr lang="en-IN" dirty="0"/>
          </a:p>
          <a:p>
            <a:r>
              <a:rPr lang="en-IN" dirty="0"/>
              <a:t>User logs in → Authorization Server issues authorization code.</a:t>
            </a:r>
          </a:p>
          <a:p>
            <a:endParaRPr lang="en-IN" dirty="0"/>
          </a:p>
          <a:p>
            <a:r>
              <a:rPr lang="en-IN" dirty="0"/>
              <a:t>Client exchanges code for access token.</a:t>
            </a:r>
          </a:p>
          <a:p>
            <a:endParaRPr lang="en-IN" dirty="0"/>
          </a:p>
          <a:p>
            <a:r>
              <a:rPr lang="en-IN" dirty="0"/>
              <a:t>Client calls Resource Server API using Authorization: Bearer &lt;token&gt;.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BDCC4C-8A9D-0CEC-9B8A-4CC3026F07F2}"/>
              </a:ext>
            </a:extLst>
          </p:cNvPr>
          <p:cNvSpPr txBox="1"/>
          <p:nvPr/>
        </p:nvSpPr>
        <p:spPr>
          <a:xfrm>
            <a:off x="755576" y="5335541"/>
            <a:ext cx="7776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https://www.youtube.com/watch?v=xAaGxhDiGg8</a:t>
            </a:r>
          </a:p>
        </p:txBody>
      </p:sp>
    </p:spTree>
    <p:extLst>
      <p:ext uri="{BB962C8B-B14F-4D97-AF65-F5344CB8AC3E}">
        <p14:creationId xmlns:p14="http://schemas.microsoft.com/office/powerpoint/2010/main" val="27991870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400</TotalTime>
  <Words>1261</Words>
  <Application>Microsoft Office PowerPoint</Application>
  <PresentationFormat>On-screen Show (4:3)</PresentationFormat>
  <Paragraphs>138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Constantia</vt:lpstr>
      <vt:lpstr>Wingdings 2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91924</dc:creator>
  <cp:lastModifiedBy>charan teja</cp:lastModifiedBy>
  <cp:revision>33</cp:revision>
  <dcterms:created xsi:type="dcterms:W3CDTF">2021-05-24T12:12:09Z</dcterms:created>
  <dcterms:modified xsi:type="dcterms:W3CDTF">2025-08-26T06:50:48Z</dcterms:modified>
</cp:coreProperties>
</file>