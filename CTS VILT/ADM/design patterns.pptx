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60" r:id="rId4"/>
    <p:sldId id="274" r:id="rId5"/>
    <p:sldId id="261" r:id="rId6"/>
    <p:sldId id="262" r:id="rId7"/>
    <p:sldId id="263" r:id="rId8"/>
    <p:sldId id="264" r:id="rId9"/>
    <p:sldId id="265" r:id="rId10"/>
    <p:sldId id="259" r:id="rId11"/>
    <p:sldId id="257" r:id="rId12"/>
    <p:sldId id="258" r:id="rId13"/>
    <p:sldId id="266" r:id="rId14"/>
    <p:sldId id="267" r:id="rId15"/>
    <p:sldId id="285" r:id="rId16"/>
    <p:sldId id="268" r:id="rId17"/>
    <p:sldId id="286" r:id="rId18"/>
    <p:sldId id="269" r:id="rId19"/>
    <p:sldId id="287" r:id="rId20"/>
    <p:sldId id="270" r:id="rId21"/>
    <p:sldId id="271" r:id="rId22"/>
    <p:sldId id="272" r:id="rId23"/>
    <p:sldId id="275" r:id="rId24"/>
    <p:sldId id="276" r:id="rId25"/>
    <p:sldId id="288" r:id="rId26"/>
    <p:sldId id="277" r:id="rId27"/>
    <p:sldId id="278" r:id="rId28"/>
    <p:sldId id="279" r:id="rId29"/>
    <p:sldId id="289" r:id="rId30"/>
    <p:sldId id="280" r:id="rId31"/>
    <p:sldId id="281" r:id="rId32"/>
    <p:sldId id="290" r:id="rId33"/>
    <p:sldId id="282" r:id="rId34"/>
    <p:sldId id="283" r:id="rId35"/>
    <p:sldId id="284" r:id="rId36"/>
    <p:sldId id="291" r:id="rId37"/>
    <p:sldId id="292" r:id="rId38"/>
    <p:sldId id="293" r:id="rId39"/>
    <p:sldId id="294" r:id="rId40"/>
    <p:sldId id="297" r:id="rId41"/>
    <p:sldId id="298" r:id="rId42"/>
    <p:sldId id="299" r:id="rId43"/>
    <p:sldId id="300" r:id="rId44"/>
    <p:sldId id="301" r:id="rId45"/>
    <p:sldId id="302" r:id="rId46"/>
    <p:sldId id="303" r:id="rId47"/>
    <p:sldId id="295" r:id="rId48"/>
    <p:sldId id="296" r:id="rId49"/>
    <p:sldId id="304" r:id="rId50"/>
    <p:sldId id="305" r:id="rId51"/>
    <p:sldId id="306" r:id="rId52"/>
    <p:sldId id="307" r:id="rId53"/>
    <p:sldId id="308" r:id="rId54"/>
    <p:sldId id="309" r:id="rId55"/>
    <p:sldId id="310" r:id="rId56"/>
    <p:sldId id="311" r:id="rId57"/>
    <p:sldId id="31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E276D-6E8E-53BC-CA34-A6D5FA723C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A90411-9263-7FFE-3533-D2CEEA1A19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4724FB-8FFD-0499-57C2-191B88249835}"/>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5" name="Footer Placeholder 4">
            <a:extLst>
              <a:ext uri="{FF2B5EF4-FFF2-40B4-BE49-F238E27FC236}">
                <a16:creationId xmlns:a16="http://schemas.microsoft.com/office/drawing/2014/main" id="{B2BDC710-ADE4-C7CD-565A-6A86130E1E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FA7F17-F075-86B0-94F8-556EDCE0DAEA}"/>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3304510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95CAC-2220-6395-3B3A-40C9C503E1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EE29EA-40A2-24CD-5C00-BEB63F9ED7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997830-3B9F-5FD5-2EF4-252923578D25}"/>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5" name="Footer Placeholder 4">
            <a:extLst>
              <a:ext uri="{FF2B5EF4-FFF2-40B4-BE49-F238E27FC236}">
                <a16:creationId xmlns:a16="http://schemas.microsoft.com/office/drawing/2014/main" id="{07371807-F393-C7B9-2FBD-362C37673D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29B995-529E-A55F-76C0-D02232F28839}"/>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1703540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C42D4-FC1C-D70C-81B3-4DC11D4A7E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D9F0BD-8A32-CFD0-6BF5-1D89C28E05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DE324D-5A27-4482-CF3B-0B9854A3EF6F}"/>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5" name="Footer Placeholder 4">
            <a:extLst>
              <a:ext uri="{FF2B5EF4-FFF2-40B4-BE49-F238E27FC236}">
                <a16:creationId xmlns:a16="http://schemas.microsoft.com/office/drawing/2014/main" id="{D6173596-96C6-0D8D-E5D4-3952254133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1C4CFA-F7D1-CD86-7BA3-491523CFEED8}"/>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2149197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865FD-5BBF-58EC-2A56-6522FAAD61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BAF619-4CF5-DD98-E355-B6F6A8B489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74036C-1DEC-C62F-8335-881CC8B98A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7B78EB-2710-A85C-684C-E55EF10011B0}"/>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6" name="Footer Placeholder 5">
            <a:extLst>
              <a:ext uri="{FF2B5EF4-FFF2-40B4-BE49-F238E27FC236}">
                <a16:creationId xmlns:a16="http://schemas.microsoft.com/office/drawing/2014/main" id="{6ABCDAE3-78D3-8FC6-7BF5-EC68B94711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F96D80-2CCE-6023-4F6C-6E3DDED0FE1F}"/>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3565748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09F11-2360-5820-17F4-55C02C6166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7A9539-97BD-7276-6D3D-B7EC5C75FD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7ECE1D-EBF6-B229-0968-FC5561EE7F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48169E-4AAC-61D8-7B93-0C0F2631C7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F092AE-9D08-FB90-AB3E-DEDB682328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2FACA3-7853-DAEE-87FB-56CF7F73F215}"/>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8" name="Footer Placeholder 7">
            <a:extLst>
              <a:ext uri="{FF2B5EF4-FFF2-40B4-BE49-F238E27FC236}">
                <a16:creationId xmlns:a16="http://schemas.microsoft.com/office/drawing/2014/main" id="{55F62A20-CBA7-3E1F-8CB6-3F91750773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F2E651-9313-F363-EAE7-4BAEA094B37E}"/>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3046755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F1E71-3294-E8BA-06F4-CD388BECB7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A123C6-6FCB-3D8E-B0E2-98949AE56DAC}"/>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4" name="Footer Placeholder 3">
            <a:extLst>
              <a:ext uri="{FF2B5EF4-FFF2-40B4-BE49-F238E27FC236}">
                <a16:creationId xmlns:a16="http://schemas.microsoft.com/office/drawing/2014/main" id="{CD2C503F-CCBE-02B9-08D5-C88CBE59F0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83C787-A405-9F17-833B-4674CD0C9FEF}"/>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1905243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F3A9E4-0AB9-9464-B8F7-149E3B4844AF}"/>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3" name="Footer Placeholder 2">
            <a:extLst>
              <a:ext uri="{FF2B5EF4-FFF2-40B4-BE49-F238E27FC236}">
                <a16:creationId xmlns:a16="http://schemas.microsoft.com/office/drawing/2014/main" id="{0CC54067-9FA5-560C-82D7-364ADDAAC1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599477-B801-3859-C701-7D7C52F951B5}"/>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3822639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BDBCE-5BAC-BF7B-B11F-780FC69950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317205-24C9-02EF-E6E2-E925321FE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EEE95B-6558-0EC7-9BA4-48E908C9D0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2B7046-29D1-9E6E-8F4C-C92FEBBD3145}"/>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6" name="Footer Placeholder 5">
            <a:extLst>
              <a:ext uri="{FF2B5EF4-FFF2-40B4-BE49-F238E27FC236}">
                <a16:creationId xmlns:a16="http://schemas.microsoft.com/office/drawing/2014/main" id="{9DEE63A1-C690-CCFB-44C4-9237E4BE41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CB6DDF-AE28-C61A-A1F4-EE6F75EE945E}"/>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418989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FD43-2706-A56C-09B9-A78B82B25F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BB35AB-073A-EDBE-B2D6-8032E5EAE0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E1E5CEA-2BC9-B0FE-449D-54A9F7741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37A6DC-2859-220C-14BC-445A8F1AC8F2}"/>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6" name="Footer Placeholder 5">
            <a:extLst>
              <a:ext uri="{FF2B5EF4-FFF2-40B4-BE49-F238E27FC236}">
                <a16:creationId xmlns:a16="http://schemas.microsoft.com/office/drawing/2014/main" id="{61DDD51F-4878-D344-8E25-48A8F46856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207CB1-BC2E-D493-DD84-B918FF69A9DB}"/>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2490659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A304E-0A4A-F6D7-C993-9586C711FF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B0BFDF-B941-C55C-AC95-333A7D2B6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BE4035-1128-EA6E-CBE3-AC434B0EE7BF}"/>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5" name="Footer Placeholder 4">
            <a:extLst>
              <a:ext uri="{FF2B5EF4-FFF2-40B4-BE49-F238E27FC236}">
                <a16:creationId xmlns:a16="http://schemas.microsoft.com/office/drawing/2014/main" id="{477E7D3B-4A2A-484F-D1AD-81C74FA4D2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29AF9E-53FE-2BB9-B490-4A209AE38E62}"/>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335880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4D0451-6919-6F49-3D3D-C2EE80D917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4E164F-4F2F-6CD1-3FA6-1573FDCE70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43F68D-D314-C906-4607-5495F4F822D8}"/>
              </a:ext>
            </a:extLst>
          </p:cNvPr>
          <p:cNvSpPr>
            <a:spLocks noGrp="1"/>
          </p:cNvSpPr>
          <p:nvPr>
            <p:ph type="dt" sz="half" idx="10"/>
          </p:nvPr>
        </p:nvSpPr>
        <p:spPr/>
        <p:txBody>
          <a:bodyPr/>
          <a:lstStyle/>
          <a:p>
            <a:fld id="{858D81C6-6EDE-478D-8AA7-EAED59A95599}" type="datetimeFigureOut">
              <a:rPr lang="en-IN" smtClean="0"/>
              <a:t>02-08-2025</a:t>
            </a:fld>
            <a:endParaRPr lang="en-IN"/>
          </a:p>
        </p:txBody>
      </p:sp>
      <p:sp>
        <p:nvSpPr>
          <p:cNvPr id="5" name="Footer Placeholder 4">
            <a:extLst>
              <a:ext uri="{FF2B5EF4-FFF2-40B4-BE49-F238E27FC236}">
                <a16:creationId xmlns:a16="http://schemas.microsoft.com/office/drawing/2014/main" id="{81926EA7-B922-998D-279A-957FB6430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7B8F6-DD4F-5EB8-A903-AAE73CD6FFFC}"/>
              </a:ext>
            </a:extLst>
          </p:cNvPr>
          <p:cNvSpPr>
            <a:spLocks noGrp="1"/>
          </p:cNvSpPr>
          <p:nvPr>
            <p:ph type="sldNum" sz="quarter" idx="12"/>
          </p:nvPr>
        </p:nvSpPr>
        <p:spPr/>
        <p:txBody>
          <a:bodyPr/>
          <a:lstStyle/>
          <a:p>
            <a:fld id="{727E8FF4-6E16-40CA-8B79-C4F47570F7CD}" type="slidenum">
              <a:rPr lang="en-IN" smtClean="0"/>
              <a:t>‹#›</a:t>
            </a:fld>
            <a:endParaRPr lang="en-IN"/>
          </a:p>
        </p:txBody>
      </p:sp>
    </p:spTree>
    <p:extLst>
      <p:ext uri="{BB962C8B-B14F-4D97-AF65-F5344CB8AC3E}">
        <p14:creationId xmlns:p14="http://schemas.microsoft.com/office/powerpoint/2010/main" val="1359846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37CC8A-91F5-3522-34F9-9E9BCEFBDD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257E21-AD71-E62A-9186-01CBD0CAC3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59942E-C101-2DB5-338E-DB0A7409E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8D81C6-6EDE-478D-8AA7-EAED59A95599}" type="datetimeFigureOut">
              <a:rPr lang="en-IN" smtClean="0"/>
              <a:t>02-08-2025</a:t>
            </a:fld>
            <a:endParaRPr lang="en-IN"/>
          </a:p>
        </p:txBody>
      </p:sp>
      <p:sp>
        <p:nvSpPr>
          <p:cNvPr id="5" name="Footer Placeholder 4">
            <a:extLst>
              <a:ext uri="{FF2B5EF4-FFF2-40B4-BE49-F238E27FC236}">
                <a16:creationId xmlns:a16="http://schemas.microsoft.com/office/drawing/2014/main" id="{05910557-9D52-60F1-58FA-4D715634DF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0FA9B72-D2AA-05DC-963C-8CF4FF11D1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7E8FF4-6E16-40CA-8B79-C4F47570F7CD}" type="slidenum">
              <a:rPr lang="en-IN" smtClean="0"/>
              <a:t>‹#›</a:t>
            </a:fld>
            <a:endParaRPr lang="en-IN"/>
          </a:p>
        </p:txBody>
      </p:sp>
    </p:spTree>
    <p:extLst>
      <p:ext uri="{BB962C8B-B14F-4D97-AF65-F5344CB8AC3E}">
        <p14:creationId xmlns:p14="http://schemas.microsoft.com/office/powerpoint/2010/main" val="1063968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47739-E000-E92B-5B3D-78AD6FD496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ADDD32B-32D2-3C89-357D-B3EFA13C8FC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58528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76A10B-7531-CEDD-CDF7-CCB486643EC0}"/>
              </a:ext>
            </a:extLst>
          </p:cNvPr>
          <p:cNvSpPr txBox="1"/>
          <p:nvPr/>
        </p:nvSpPr>
        <p:spPr>
          <a:xfrm>
            <a:off x="240411" y="428178"/>
            <a:ext cx="11711178" cy="6001643"/>
          </a:xfrm>
          <a:prstGeom prst="rect">
            <a:avLst/>
          </a:prstGeom>
          <a:noFill/>
        </p:spPr>
        <p:txBody>
          <a:bodyPr wrap="square">
            <a:spAutoFit/>
          </a:bodyPr>
          <a:lstStyle/>
          <a:p>
            <a:pPr algn="l"/>
            <a:r>
              <a:rPr lang="en-IN" sz="2400" b="1" i="0" dirty="0">
                <a:solidFill>
                  <a:srgbClr val="000000"/>
                </a:solidFill>
                <a:effectLst/>
                <a:latin typeface="-apple-system"/>
              </a:rPr>
              <a:t>What is Design Patterns</a:t>
            </a:r>
          </a:p>
          <a:p>
            <a:pPr algn="l"/>
            <a:endParaRPr lang="en-IN" sz="2400" b="1" dirty="0">
              <a:solidFill>
                <a:srgbClr val="000000"/>
              </a:solidFill>
              <a:latin typeface="-apple-system"/>
            </a:endParaRPr>
          </a:p>
          <a:p>
            <a:pPr algn="l"/>
            <a:endParaRPr lang="en-IN" sz="2400" b="1" i="0" dirty="0">
              <a:solidFill>
                <a:srgbClr val="000000"/>
              </a:solidFill>
              <a:effectLst/>
              <a:latin typeface="-apple-system"/>
            </a:endParaRPr>
          </a:p>
          <a:p>
            <a:pPr algn="l"/>
            <a:r>
              <a:rPr lang="en-IN" sz="2400" b="0" i="0" dirty="0">
                <a:solidFill>
                  <a:srgbClr val="000000"/>
                </a:solidFill>
                <a:effectLst/>
                <a:latin typeface="-apple-system"/>
              </a:rPr>
              <a:t>In software engineering, a </a:t>
            </a:r>
            <a:r>
              <a:rPr lang="en-IN" sz="2400" b="1" i="0" dirty="0">
                <a:solidFill>
                  <a:srgbClr val="000000"/>
                </a:solidFill>
                <a:effectLst/>
                <a:latin typeface="-apple-system"/>
              </a:rPr>
              <a:t>design pattern </a:t>
            </a:r>
            <a:r>
              <a:rPr lang="en-IN" sz="2400" b="0" i="0" dirty="0">
                <a:solidFill>
                  <a:srgbClr val="000000"/>
                </a:solidFill>
                <a:effectLst/>
                <a:latin typeface="-apple-system"/>
              </a:rPr>
              <a:t>is a general repeatable solution to a commonly occurring problem in software design. </a:t>
            </a:r>
          </a:p>
          <a:p>
            <a:pPr algn="l"/>
            <a:endParaRPr lang="en-IN" sz="2400" b="1" dirty="0">
              <a:solidFill>
                <a:srgbClr val="000000"/>
              </a:solidFill>
              <a:latin typeface="-apple-system"/>
            </a:endParaRPr>
          </a:p>
          <a:p>
            <a:pPr algn="l"/>
            <a:r>
              <a:rPr lang="en-IN" sz="2400" b="0" i="0" dirty="0">
                <a:solidFill>
                  <a:srgbClr val="000000"/>
                </a:solidFill>
                <a:effectLst/>
                <a:latin typeface="-apple-system"/>
              </a:rPr>
              <a:t>It is a description or template for how to solve a problem that can be used in many different situations.</a:t>
            </a:r>
            <a:endParaRPr lang="en-IN" sz="2400" b="1" i="0" dirty="0">
              <a:solidFill>
                <a:srgbClr val="000000"/>
              </a:solidFill>
              <a:effectLst/>
              <a:latin typeface="-apple-system"/>
            </a:endParaRPr>
          </a:p>
          <a:p>
            <a:pPr algn="l"/>
            <a:endParaRPr lang="en-IN" sz="2400" b="1" dirty="0">
              <a:solidFill>
                <a:srgbClr val="000000"/>
              </a:solidFill>
              <a:latin typeface="-apple-system"/>
            </a:endParaRPr>
          </a:p>
          <a:p>
            <a:pPr algn="l"/>
            <a:r>
              <a:rPr lang="en-IN" sz="2400" b="0" i="0" dirty="0">
                <a:solidFill>
                  <a:srgbClr val="000000"/>
                </a:solidFill>
                <a:effectLst/>
                <a:latin typeface="-apple-system"/>
              </a:rPr>
              <a:t>Design patterns can speed up the development process by providing tested, proven development paradigms.</a:t>
            </a:r>
            <a:endParaRPr lang="en-IN" sz="2400" b="1" i="0" dirty="0">
              <a:solidFill>
                <a:srgbClr val="000000"/>
              </a:solidFill>
              <a:effectLst/>
              <a:latin typeface="-apple-system"/>
            </a:endParaRPr>
          </a:p>
          <a:p>
            <a:endParaRPr lang="en-IN" sz="2400" b="0" i="0" dirty="0">
              <a:solidFill>
                <a:srgbClr val="000000"/>
              </a:solidFill>
              <a:effectLst/>
              <a:latin typeface="-apple-system"/>
            </a:endParaRPr>
          </a:p>
          <a:p>
            <a:r>
              <a:rPr lang="en-IN" sz="2400" b="0" i="0" dirty="0">
                <a:solidFill>
                  <a:srgbClr val="000000"/>
                </a:solidFill>
                <a:effectLst/>
                <a:latin typeface="-apple-system"/>
              </a:rPr>
              <a:t>In addition, patterns allow developers to communicate using well-known, well-understood names for software interactions. Common design patterns can be improved over time, making them more robust than ad-hoc designs.</a:t>
            </a:r>
          </a:p>
          <a:p>
            <a:pPr algn="l"/>
            <a:endParaRPr lang="en-IN" sz="2400" b="1" i="0" dirty="0">
              <a:solidFill>
                <a:srgbClr val="000000"/>
              </a:solidFill>
              <a:effectLst/>
              <a:latin typeface="-apple-system"/>
            </a:endParaRPr>
          </a:p>
        </p:txBody>
      </p:sp>
    </p:spTree>
    <p:extLst>
      <p:ext uri="{BB962C8B-B14F-4D97-AF65-F5344CB8AC3E}">
        <p14:creationId xmlns:p14="http://schemas.microsoft.com/office/powerpoint/2010/main" val="38563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3EB27F-FE1B-0568-C2B0-329EBB6A8E24}"/>
              </a:ext>
            </a:extLst>
          </p:cNvPr>
          <p:cNvSpPr txBox="1"/>
          <p:nvPr/>
        </p:nvSpPr>
        <p:spPr>
          <a:xfrm>
            <a:off x="73152" y="2274838"/>
            <a:ext cx="12118848" cy="2554545"/>
          </a:xfrm>
          <a:prstGeom prst="rect">
            <a:avLst/>
          </a:prstGeom>
          <a:noFill/>
        </p:spPr>
        <p:txBody>
          <a:bodyPr wrap="square">
            <a:spAutoFit/>
          </a:bodyPr>
          <a:lstStyle/>
          <a:p>
            <a:pPr algn="l"/>
            <a:endParaRPr lang="en-IN" sz="2000" b="1" i="0" dirty="0">
              <a:solidFill>
                <a:srgbClr val="000000"/>
              </a:solidFill>
              <a:effectLst/>
              <a:latin typeface="-apple-system"/>
            </a:endParaRPr>
          </a:p>
          <a:p>
            <a:pPr algn="l"/>
            <a:r>
              <a:rPr lang="en-IN" sz="2000" b="1" i="0" dirty="0">
                <a:solidFill>
                  <a:srgbClr val="000000"/>
                </a:solidFill>
                <a:effectLst/>
                <a:latin typeface="-apple-system"/>
              </a:rPr>
              <a:t>Design patterns are organized </a:t>
            </a:r>
            <a:r>
              <a:rPr lang="en-IN" sz="2000" b="0" i="0" dirty="0">
                <a:solidFill>
                  <a:srgbClr val="000000"/>
                </a:solidFill>
                <a:effectLst/>
                <a:latin typeface="-apple-system"/>
              </a:rPr>
              <a:t>into Creational, Structural, or </a:t>
            </a:r>
            <a:r>
              <a:rPr lang="en-IN" sz="2000" b="0" i="0" dirty="0" err="1">
                <a:solidFill>
                  <a:srgbClr val="000000"/>
                </a:solidFill>
                <a:effectLst/>
                <a:latin typeface="-apple-system"/>
              </a:rPr>
              <a:t>Behavioral</a:t>
            </a:r>
            <a:r>
              <a:rPr lang="en-IN" sz="2000" b="0" i="0" dirty="0">
                <a:solidFill>
                  <a:srgbClr val="000000"/>
                </a:solidFill>
                <a:effectLst/>
                <a:latin typeface="-apple-system"/>
              </a:rPr>
              <a:t> purpose.</a:t>
            </a:r>
            <a:br>
              <a:rPr lang="en-IN" sz="2000" dirty="0"/>
            </a:br>
            <a:endParaRPr lang="en-IN" sz="2000" dirty="0"/>
          </a:p>
          <a:p>
            <a:pPr algn="l">
              <a:buFont typeface="+mj-lt"/>
              <a:buAutoNum type="arabicPeriod"/>
            </a:pPr>
            <a:r>
              <a:rPr lang="en-IN" sz="2000" b="1" i="0" dirty="0">
                <a:solidFill>
                  <a:srgbClr val="000000"/>
                </a:solidFill>
                <a:effectLst/>
                <a:latin typeface="-apple-system"/>
              </a:rPr>
              <a:t>Creational </a:t>
            </a:r>
            <a:r>
              <a:rPr lang="en-IN" sz="2000" b="0" i="0" dirty="0">
                <a:solidFill>
                  <a:srgbClr val="000000"/>
                </a:solidFill>
                <a:effectLst/>
                <a:latin typeface="-apple-system"/>
              </a:rPr>
              <a:t>patterns concern the process of object creation. </a:t>
            </a:r>
          </a:p>
          <a:p>
            <a:pPr algn="l">
              <a:buFont typeface="+mj-lt"/>
              <a:buAutoNum type="arabicPeriod"/>
            </a:pPr>
            <a:endParaRPr lang="en-IN" sz="2000" b="0" i="0" dirty="0">
              <a:solidFill>
                <a:srgbClr val="000000"/>
              </a:solidFill>
              <a:effectLst/>
              <a:latin typeface="-apple-system"/>
            </a:endParaRPr>
          </a:p>
          <a:p>
            <a:pPr algn="l">
              <a:buFont typeface="+mj-lt"/>
              <a:buAutoNum type="arabicPeriod"/>
            </a:pPr>
            <a:r>
              <a:rPr lang="en-IN" sz="2000" b="1" i="0" dirty="0">
                <a:solidFill>
                  <a:srgbClr val="000000"/>
                </a:solidFill>
                <a:effectLst/>
                <a:latin typeface="-apple-system"/>
              </a:rPr>
              <a:t>Structural </a:t>
            </a:r>
            <a:r>
              <a:rPr lang="en-IN" sz="2000" b="0" i="0" dirty="0">
                <a:solidFill>
                  <a:srgbClr val="000000"/>
                </a:solidFill>
                <a:effectLst/>
                <a:latin typeface="-apple-system"/>
              </a:rPr>
              <a:t>patterns deal with the composition of classes or objects. </a:t>
            </a:r>
          </a:p>
          <a:p>
            <a:pPr algn="l">
              <a:buFont typeface="+mj-lt"/>
              <a:buAutoNum type="arabicPeriod"/>
            </a:pPr>
            <a:endParaRPr lang="en-IN" sz="2000" b="0" i="0" dirty="0">
              <a:solidFill>
                <a:srgbClr val="000000"/>
              </a:solidFill>
              <a:effectLst/>
              <a:latin typeface="-apple-system"/>
            </a:endParaRPr>
          </a:p>
          <a:p>
            <a:pPr algn="l">
              <a:buFont typeface="+mj-lt"/>
              <a:buAutoNum type="arabicPeriod"/>
            </a:pPr>
            <a:r>
              <a:rPr lang="en-IN" sz="2000" b="1" i="0" dirty="0" err="1">
                <a:solidFill>
                  <a:srgbClr val="000000"/>
                </a:solidFill>
                <a:effectLst/>
                <a:latin typeface="-apple-system"/>
              </a:rPr>
              <a:t>Behavioral</a:t>
            </a:r>
            <a:r>
              <a:rPr lang="en-IN" sz="2000" b="1" i="0" dirty="0">
                <a:solidFill>
                  <a:srgbClr val="000000"/>
                </a:solidFill>
                <a:effectLst/>
                <a:latin typeface="-apple-system"/>
              </a:rPr>
              <a:t> </a:t>
            </a:r>
            <a:r>
              <a:rPr lang="en-IN" sz="2000" b="0" i="0" dirty="0">
                <a:solidFill>
                  <a:srgbClr val="000000"/>
                </a:solidFill>
                <a:effectLst/>
                <a:latin typeface="-apple-system"/>
              </a:rPr>
              <a:t>patterns characterize the ways in which classes or objects interact and distribute responsibility. </a:t>
            </a:r>
          </a:p>
        </p:txBody>
      </p:sp>
    </p:spTree>
    <p:extLst>
      <p:ext uri="{BB962C8B-B14F-4D97-AF65-F5344CB8AC3E}">
        <p14:creationId xmlns:p14="http://schemas.microsoft.com/office/powerpoint/2010/main" val="703903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73E8A5-70B8-9007-1FD5-54699AD1DBD7}"/>
              </a:ext>
            </a:extLst>
          </p:cNvPr>
          <p:cNvPicPr>
            <a:picLocks noChangeAspect="1"/>
          </p:cNvPicPr>
          <p:nvPr/>
        </p:nvPicPr>
        <p:blipFill>
          <a:blip r:embed="rId2"/>
          <a:stretch>
            <a:fillRect/>
          </a:stretch>
        </p:blipFill>
        <p:spPr>
          <a:xfrm>
            <a:off x="502920" y="0"/>
            <a:ext cx="11045952" cy="6858000"/>
          </a:xfrm>
          <a:prstGeom prst="rect">
            <a:avLst/>
          </a:prstGeom>
        </p:spPr>
      </p:pic>
    </p:spTree>
    <p:extLst>
      <p:ext uri="{BB962C8B-B14F-4D97-AF65-F5344CB8AC3E}">
        <p14:creationId xmlns:p14="http://schemas.microsoft.com/office/powerpoint/2010/main" val="3147439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F02E0-FBA1-8E58-5A77-F9A6EA2B75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2B499E-BAEE-FE34-C6F7-A3AB2BF3E0E6}"/>
              </a:ext>
            </a:extLst>
          </p:cNvPr>
          <p:cNvSpPr txBox="1"/>
          <p:nvPr/>
        </p:nvSpPr>
        <p:spPr>
          <a:xfrm>
            <a:off x="393192" y="2413338"/>
            <a:ext cx="11640312" cy="2677656"/>
          </a:xfrm>
          <a:prstGeom prst="rect">
            <a:avLst/>
          </a:prstGeom>
          <a:noFill/>
        </p:spPr>
        <p:txBody>
          <a:bodyPr wrap="square">
            <a:spAutoFit/>
          </a:bodyPr>
          <a:lstStyle/>
          <a:p>
            <a:pPr algn="l"/>
            <a:r>
              <a:rPr lang="en-IN" sz="2400" b="1" i="0" dirty="0">
                <a:solidFill>
                  <a:srgbClr val="000000"/>
                </a:solidFill>
                <a:effectLst/>
                <a:latin typeface="-apple-system"/>
              </a:rPr>
              <a:t>Creational design patterns</a:t>
            </a:r>
          </a:p>
          <a:p>
            <a:pPr algn="l"/>
            <a:endParaRPr lang="en-IN" sz="2400" b="1" i="0" dirty="0">
              <a:solidFill>
                <a:srgbClr val="000000"/>
              </a:solidFill>
              <a:effectLst/>
              <a:latin typeface="-apple-system"/>
            </a:endParaRPr>
          </a:p>
          <a:p>
            <a:pPr algn="l"/>
            <a:r>
              <a:rPr lang="en-IN" sz="2400" b="1" i="0" dirty="0">
                <a:solidFill>
                  <a:srgbClr val="000000"/>
                </a:solidFill>
                <a:effectLst/>
                <a:latin typeface="-apple-system"/>
              </a:rPr>
              <a:t>Creational</a:t>
            </a:r>
            <a:r>
              <a:rPr lang="en-IN" sz="2400" b="0" i="0" dirty="0">
                <a:solidFill>
                  <a:srgbClr val="000000"/>
                </a:solidFill>
                <a:effectLst/>
                <a:latin typeface="-apple-system"/>
              </a:rPr>
              <a:t> patterns involve object instantiation and all provide a way to decouple a client from the objects it needs to instantiate.</a:t>
            </a:r>
            <a:br>
              <a:rPr lang="en-IN" sz="2400" dirty="0"/>
            </a:br>
            <a:br>
              <a:rPr lang="en-IN" sz="2400" b="0" i="0" dirty="0">
                <a:solidFill>
                  <a:srgbClr val="000000"/>
                </a:solidFill>
                <a:effectLst/>
                <a:latin typeface="-apple-system"/>
              </a:rPr>
            </a:br>
            <a:r>
              <a:rPr lang="en-IN" sz="2400" b="0" i="0" dirty="0">
                <a:solidFill>
                  <a:srgbClr val="000000"/>
                </a:solidFill>
                <a:effectLst/>
                <a:latin typeface="-apple-system"/>
              </a:rPr>
              <a:t>This pattern can be further divided into class-creation patterns and object-creational patterns.</a:t>
            </a:r>
          </a:p>
        </p:txBody>
      </p:sp>
    </p:spTree>
    <p:extLst>
      <p:ext uri="{BB962C8B-B14F-4D97-AF65-F5344CB8AC3E}">
        <p14:creationId xmlns:p14="http://schemas.microsoft.com/office/powerpoint/2010/main" val="2455699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8CD0-3AE2-6A0C-DDE0-36B1E93C38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1B61DB-6CD9-183C-9CC8-CA2C078C7680}"/>
              </a:ext>
            </a:extLst>
          </p:cNvPr>
          <p:cNvPicPr>
            <a:picLocks noChangeAspect="1"/>
          </p:cNvPicPr>
          <p:nvPr/>
        </p:nvPicPr>
        <p:blipFill>
          <a:blip r:embed="rId2"/>
          <a:stretch>
            <a:fillRect/>
          </a:stretch>
        </p:blipFill>
        <p:spPr>
          <a:xfrm>
            <a:off x="84886" y="1207008"/>
            <a:ext cx="12022228" cy="3608073"/>
          </a:xfrm>
          <a:prstGeom prst="rect">
            <a:avLst/>
          </a:prstGeom>
        </p:spPr>
      </p:pic>
    </p:spTree>
    <p:extLst>
      <p:ext uri="{BB962C8B-B14F-4D97-AF65-F5344CB8AC3E}">
        <p14:creationId xmlns:p14="http://schemas.microsoft.com/office/powerpoint/2010/main" val="2867060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41CA9-2A5A-E1E1-23F5-17DD9EBE48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D044192-C2D3-93EC-3AE4-0C5880AAAA30}"/>
              </a:ext>
            </a:extLst>
          </p:cNvPr>
          <p:cNvPicPr>
            <a:picLocks noChangeAspect="1"/>
          </p:cNvPicPr>
          <p:nvPr/>
        </p:nvPicPr>
        <p:blipFill>
          <a:blip r:embed="rId2"/>
          <a:stretch>
            <a:fillRect/>
          </a:stretch>
        </p:blipFill>
        <p:spPr>
          <a:xfrm>
            <a:off x="0" y="449441"/>
            <a:ext cx="12192000" cy="5959118"/>
          </a:xfrm>
          <a:prstGeom prst="rect">
            <a:avLst/>
          </a:prstGeom>
        </p:spPr>
      </p:pic>
    </p:spTree>
    <p:extLst>
      <p:ext uri="{BB962C8B-B14F-4D97-AF65-F5344CB8AC3E}">
        <p14:creationId xmlns:p14="http://schemas.microsoft.com/office/powerpoint/2010/main" val="294242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E0CD2-7099-0615-A592-DFE230AA4F4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2F6D212-1D56-1378-14E3-DC9E1CBDC5F9}"/>
              </a:ext>
            </a:extLst>
          </p:cNvPr>
          <p:cNvPicPr>
            <a:picLocks noChangeAspect="1"/>
          </p:cNvPicPr>
          <p:nvPr/>
        </p:nvPicPr>
        <p:blipFill>
          <a:blip r:embed="rId2"/>
          <a:stretch>
            <a:fillRect/>
          </a:stretch>
        </p:blipFill>
        <p:spPr>
          <a:xfrm>
            <a:off x="231420" y="0"/>
            <a:ext cx="11729160" cy="6858000"/>
          </a:xfrm>
          <a:prstGeom prst="rect">
            <a:avLst/>
          </a:prstGeom>
        </p:spPr>
      </p:pic>
    </p:spTree>
    <p:extLst>
      <p:ext uri="{BB962C8B-B14F-4D97-AF65-F5344CB8AC3E}">
        <p14:creationId xmlns:p14="http://schemas.microsoft.com/office/powerpoint/2010/main" val="3904121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70DA9-7FA3-C7E3-AEF5-0867A04B42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055A84-BC1E-6075-F801-081035F2BFF3}"/>
              </a:ext>
            </a:extLst>
          </p:cNvPr>
          <p:cNvSpPr txBox="1"/>
          <p:nvPr/>
        </p:nvSpPr>
        <p:spPr>
          <a:xfrm>
            <a:off x="130302" y="144518"/>
            <a:ext cx="11665458" cy="4401205"/>
          </a:xfrm>
          <a:prstGeom prst="rect">
            <a:avLst/>
          </a:prstGeom>
          <a:noFill/>
        </p:spPr>
        <p:txBody>
          <a:bodyPr wrap="square">
            <a:spAutoFit/>
          </a:bodyPr>
          <a:lstStyle/>
          <a:p>
            <a:pPr algn="l"/>
            <a:r>
              <a:rPr lang="en-IN" sz="2800" b="1" dirty="0">
                <a:solidFill>
                  <a:srgbClr val="3C3C3C"/>
                </a:solidFill>
                <a:effectLst/>
                <a:latin typeface="Vollkorn"/>
              </a:rPr>
              <a:t>Singleton Design Pattern</a:t>
            </a:r>
          </a:p>
          <a:p>
            <a:pPr algn="l"/>
            <a:endParaRPr lang="en-IN" sz="2800" b="1" dirty="0">
              <a:solidFill>
                <a:srgbClr val="3C3C3C"/>
              </a:solidFill>
              <a:latin typeface="Vollkorn"/>
            </a:endParaRPr>
          </a:p>
          <a:p>
            <a:pPr algn="l"/>
            <a:endParaRPr lang="en-IN" sz="2800" b="1" dirty="0">
              <a:solidFill>
                <a:srgbClr val="3C3C3C"/>
              </a:solidFill>
              <a:effectLst/>
              <a:latin typeface="Vollkorn"/>
            </a:endParaRPr>
          </a:p>
          <a:p>
            <a:pPr algn="l"/>
            <a:r>
              <a:rPr lang="en-IN" sz="2800" b="0" i="0" dirty="0">
                <a:solidFill>
                  <a:srgbClr val="000000"/>
                </a:solidFill>
                <a:effectLst/>
                <a:latin typeface="-apple-system"/>
              </a:rPr>
              <a:t>The Singleton Design Pattern ensures that a class has only one instance and provides a global point of access to that instance. </a:t>
            </a:r>
          </a:p>
          <a:p>
            <a:pPr algn="l"/>
            <a:endParaRPr lang="en-IN" sz="2800" dirty="0">
              <a:solidFill>
                <a:srgbClr val="000000"/>
              </a:solidFill>
              <a:latin typeface="-apple-system"/>
            </a:endParaRPr>
          </a:p>
          <a:p>
            <a:pPr algn="l"/>
            <a:r>
              <a:rPr lang="en-IN" sz="2800" b="0" i="0" dirty="0">
                <a:solidFill>
                  <a:srgbClr val="000000"/>
                </a:solidFill>
                <a:effectLst/>
                <a:latin typeface="-apple-system"/>
              </a:rPr>
              <a:t>It is designed to restrict the instantiation of a class to a single "unique" instance.</a:t>
            </a:r>
            <a:endParaRPr lang="en-IN" sz="2800" b="1" i="0" dirty="0">
              <a:solidFill>
                <a:srgbClr val="3C3C3C"/>
              </a:solidFill>
              <a:latin typeface="Vollkorn"/>
            </a:endParaRPr>
          </a:p>
          <a:p>
            <a:pPr algn="l"/>
            <a:endParaRPr lang="en-IN" sz="2800" b="1" dirty="0">
              <a:solidFill>
                <a:srgbClr val="3C3C3C"/>
              </a:solidFill>
              <a:effectLst/>
              <a:latin typeface="Vollkorn"/>
            </a:endParaRPr>
          </a:p>
          <a:p>
            <a:pPr algn="l"/>
            <a:endParaRPr lang="en-IN" sz="2800" b="1" dirty="0">
              <a:solidFill>
                <a:srgbClr val="3C3C3C"/>
              </a:solidFill>
              <a:effectLst/>
              <a:latin typeface="Vollkorn"/>
            </a:endParaRPr>
          </a:p>
        </p:txBody>
      </p:sp>
      <p:pic>
        <p:nvPicPr>
          <p:cNvPr id="4" name="Picture 3">
            <a:extLst>
              <a:ext uri="{FF2B5EF4-FFF2-40B4-BE49-F238E27FC236}">
                <a16:creationId xmlns:a16="http://schemas.microsoft.com/office/drawing/2014/main" id="{4CD9CA56-9B47-1A03-0416-B7F7098BE0C2}"/>
              </a:ext>
            </a:extLst>
          </p:cNvPr>
          <p:cNvPicPr>
            <a:picLocks noChangeAspect="1"/>
          </p:cNvPicPr>
          <p:nvPr/>
        </p:nvPicPr>
        <p:blipFill>
          <a:blip r:embed="rId2"/>
          <a:stretch>
            <a:fillRect/>
          </a:stretch>
        </p:blipFill>
        <p:spPr>
          <a:xfrm>
            <a:off x="4944717" y="3493828"/>
            <a:ext cx="5110954" cy="3364172"/>
          </a:xfrm>
          <a:prstGeom prst="rect">
            <a:avLst/>
          </a:prstGeom>
        </p:spPr>
      </p:pic>
    </p:spTree>
    <p:extLst>
      <p:ext uri="{BB962C8B-B14F-4D97-AF65-F5344CB8AC3E}">
        <p14:creationId xmlns:p14="http://schemas.microsoft.com/office/powerpoint/2010/main" val="1042754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DEC61-68F4-6022-6911-73CB8AB105D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7A5B542-CC88-E118-A29D-6576EA7AAB63}"/>
              </a:ext>
            </a:extLst>
          </p:cNvPr>
          <p:cNvPicPr>
            <a:picLocks noChangeAspect="1"/>
          </p:cNvPicPr>
          <p:nvPr/>
        </p:nvPicPr>
        <p:blipFill>
          <a:blip r:embed="rId2"/>
          <a:stretch>
            <a:fillRect/>
          </a:stretch>
        </p:blipFill>
        <p:spPr>
          <a:xfrm>
            <a:off x="838200" y="868680"/>
            <a:ext cx="10515600" cy="5308283"/>
          </a:xfrm>
          <a:prstGeom prst="rect">
            <a:avLst/>
          </a:prstGeom>
        </p:spPr>
      </p:pic>
    </p:spTree>
    <p:extLst>
      <p:ext uri="{BB962C8B-B14F-4D97-AF65-F5344CB8AC3E}">
        <p14:creationId xmlns:p14="http://schemas.microsoft.com/office/powerpoint/2010/main" val="3160715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1DC258-791E-F749-9261-61533C79C0B9}"/>
              </a:ext>
            </a:extLst>
          </p:cNvPr>
          <p:cNvPicPr>
            <a:picLocks noChangeAspect="1"/>
          </p:cNvPicPr>
          <p:nvPr/>
        </p:nvPicPr>
        <p:blipFill>
          <a:blip r:embed="rId2"/>
          <a:stretch>
            <a:fillRect/>
          </a:stretch>
        </p:blipFill>
        <p:spPr>
          <a:xfrm>
            <a:off x="429768" y="0"/>
            <a:ext cx="10901483" cy="6858000"/>
          </a:xfrm>
          <a:prstGeom prst="rect">
            <a:avLst/>
          </a:prstGeom>
        </p:spPr>
      </p:pic>
    </p:spTree>
    <p:extLst>
      <p:ext uri="{BB962C8B-B14F-4D97-AF65-F5344CB8AC3E}">
        <p14:creationId xmlns:p14="http://schemas.microsoft.com/office/powerpoint/2010/main" val="3504502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AF322C-E58F-06C7-07F8-0F8796BF8C24}"/>
              </a:ext>
            </a:extLst>
          </p:cNvPr>
          <p:cNvPicPr>
            <a:picLocks noChangeAspect="1"/>
          </p:cNvPicPr>
          <p:nvPr/>
        </p:nvPicPr>
        <p:blipFill>
          <a:blip r:embed="rId2"/>
          <a:stretch>
            <a:fillRect/>
          </a:stretch>
        </p:blipFill>
        <p:spPr>
          <a:xfrm>
            <a:off x="707188" y="387838"/>
            <a:ext cx="6169100" cy="6292069"/>
          </a:xfrm>
          <a:prstGeom prst="rect">
            <a:avLst/>
          </a:prstGeom>
        </p:spPr>
      </p:pic>
    </p:spTree>
    <p:extLst>
      <p:ext uri="{BB962C8B-B14F-4D97-AF65-F5344CB8AC3E}">
        <p14:creationId xmlns:p14="http://schemas.microsoft.com/office/powerpoint/2010/main" val="339620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24266-64B5-5048-49C5-EB1B8AE53C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807431-4779-83BD-C4BE-BB354F1137AA}"/>
              </a:ext>
            </a:extLst>
          </p:cNvPr>
          <p:cNvSpPr txBox="1"/>
          <p:nvPr/>
        </p:nvSpPr>
        <p:spPr>
          <a:xfrm>
            <a:off x="0" y="702302"/>
            <a:ext cx="12192000" cy="5550237"/>
          </a:xfrm>
          <a:prstGeom prst="rect">
            <a:avLst/>
          </a:prstGeom>
          <a:noFill/>
        </p:spPr>
        <p:txBody>
          <a:bodyPr wrap="square">
            <a:spAutoFit/>
          </a:bodyPr>
          <a:lstStyle/>
          <a:p>
            <a:pPr algn="l"/>
            <a:r>
              <a:rPr lang="en-IN" sz="2000" b="1" dirty="0">
                <a:solidFill>
                  <a:srgbClr val="3C3C3C"/>
                </a:solidFill>
                <a:effectLst/>
                <a:latin typeface="Vollkorn"/>
              </a:rPr>
              <a:t>Factory Design Pattern</a:t>
            </a:r>
          </a:p>
          <a:p>
            <a:pPr algn="l"/>
            <a:endParaRPr lang="en-IN" sz="2000" b="1" dirty="0">
              <a:solidFill>
                <a:srgbClr val="3C3C3C"/>
              </a:solidFill>
              <a:latin typeface="Vollkorn"/>
            </a:endParaRPr>
          </a:p>
          <a:p>
            <a:pPr algn="l"/>
            <a:r>
              <a:rPr lang="en-IN" sz="2000" b="0" i="0" dirty="0">
                <a:solidFill>
                  <a:srgbClr val="000000"/>
                </a:solidFill>
                <a:effectLst/>
                <a:latin typeface="-apple-system"/>
              </a:rPr>
              <a:t>The Factory Design Pattern is a creational design pattern that provides an interface for creating objects but allows subclasses to alter the type of objects that will be created. Instead of calling a constructor directly, a factory method is used to create the desired object, abstracting the object creation process.</a:t>
            </a:r>
          </a:p>
          <a:p>
            <a:pPr algn="l"/>
            <a:endParaRPr lang="en-IN" sz="2000" dirty="0">
              <a:solidFill>
                <a:srgbClr val="000000"/>
              </a:solidFill>
              <a:latin typeface="-apple-system"/>
            </a:endParaRPr>
          </a:p>
          <a:p>
            <a:pPr algn="l">
              <a:lnSpc>
                <a:spcPts val="3375"/>
              </a:lnSpc>
            </a:pPr>
            <a:r>
              <a:rPr lang="en-IN" sz="2000" b="1" i="0" dirty="0">
                <a:solidFill>
                  <a:srgbClr val="000000"/>
                </a:solidFill>
                <a:effectLst/>
                <a:latin typeface="-apple-system"/>
              </a:rPr>
              <a:t>Real-World Use Cases</a:t>
            </a:r>
          </a:p>
          <a:p>
            <a:pPr algn="l"/>
            <a:r>
              <a:rPr lang="en-IN" sz="2000" b="0" i="0" dirty="0">
                <a:solidFill>
                  <a:srgbClr val="000000"/>
                </a:solidFill>
                <a:effectLst/>
                <a:latin typeface="-apple-system"/>
              </a:rPr>
              <a:t>1. GUI libraries where each operating system provides a different implementation of a button or a window.</a:t>
            </a:r>
          </a:p>
          <a:p>
            <a:pPr algn="l"/>
            <a:r>
              <a:rPr lang="en-IN" sz="2000" b="0" i="0" dirty="0">
                <a:solidFill>
                  <a:srgbClr val="000000"/>
                </a:solidFill>
                <a:effectLst/>
                <a:latin typeface="-apple-system"/>
              </a:rPr>
              <a:t>2. E-commerce platforms offer multiple payment gateways, where each gateway has a different process.</a:t>
            </a:r>
          </a:p>
          <a:p>
            <a:pPr algn="l"/>
            <a:r>
              <a:rPr lang="en-IN" sz="2000" b="0" i="0" dirty="0">
                <a:solidFill>
                  <a:srgbClr val="000000"/>
                </a:solidFill>
                <a:effectLst/>
                <a:latin typeface="-apple-system"/>
              </a:rPr>
              <a:t>3. Database connection pools where connections to different types of databases need to be created based on configuration.</a:t>
            </a:r>
          </a:p>
          <a:p>
            <a:pPr algn="l"/>
            <a:endParaRPr lang="en-IN" sz="2000" b="1" dirty="0">
              <a:solidFill>
                <a:srgbClr val="000000"/>
              </a:solidFill>
              <a:effectLst/>
              <a:latin typeface="-apple-system"/>
            </a:endParaRPr>
          </a:p>
          <a:p>
            <a:pPr algn="l">
              <a:lnSpc>
                <a:spcPts val="3375"/>
              </a:lnSpc>
            </a:pPr>
            <a:r>
              <a:rPr lang="en-IN" sz="2000" b="1" i="0" dirty="0">
                <a:solidFill>
                  <a:srgbClr val="000000"/>
                </a:solidFill>
                <a:effectLst/>
                <a:latin typeface="-apple-system"/>
              </a:rPr>
              <a:t>Implementation Steps</a:t>
            </a:r>
          </a:p>
          <a:p>
            <a:pPr algn="l"/>
            <a:r>
              <a:rPr lang="en-IN" sz="2000" b="0" i="0" dirty="0">
                <a:solidFill>
                  <a:srgbClr val="000000"/>
                </a:solidFill>
                <a:effectLst/>
                <a:latin typeface="-apple-system"/>
              </a:rPr>
              <a:t>1. Define a common interface or abstract class for the product.</a:t>
            </a:r>
          </a:p>
          <a:p>
            <a:pPr algn="l"/>
            <a:r>
              <a:rPr lang="en-IN" sz="2000" b="0" i="0" dirty="0">
                <a:solidFill>
                  <a:srgbClr val="000000"/>
                </a:solidFill>
                <a:effectLst/>
                <a:latin typeface="-apple-system"/>
              </a:rPr>
              <a:t>2. Implement different concrete classes of the product.</a:t>
            </a:r>
          </a:p>
          <a:p>
            <a:pPr algn="l"/>
            <a:r>
              <a:rPr lang="en-IN" sz="2000" b="0" i="0" dirty="0">
                <a:solidFill>
                  <a:srgbClr val="000000"/>
                </a:solidFill>
                <a:effectLst/>
                <a:latin typeface="-apple-system"/>
              </a:rPr>
              <a:t>3. Create a factory class that has a method to return an instance of the product based on a given input.</a:t>
            </a:r>
          </a:p>
          <a:p>
            <a:pPr algn="l"/>
            <a:endParaRPr lang="en-IN" sz="2000" b="1" dirty="0">
              <a:solidFill>
                <a:srgbClr val="3C3C3C"/>
              </a:solidFill>
              <a:effectLst/>
              <a:latin typeface="Vollkorn"/>
            </a:endParaRPr>
          </a:p>
        </p:txBody>
      </p:sp>
    </p:spTree>
    <p:extLst>
      <p:ext uri="{BB962C8B-B14F-4D97-AF65-F5344CB8AC3E}">
        <p14:creationId xmlns:p14="http://schemas.microsoft.com/office/powerpoint/2010/main" val="2729722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C485-44B5-4A28-33A5-132D7702D9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4A3298-A4AF-40B9-526A-0E62565936AE}"/>
              </a:ext>
            </a:extLst>
          </p:cNvPr>
          <p:cNvPicPr>
            <a:picLocks noChangeAspect="1"/>
          </p:cNvPicPr>
          <p:nvPr/>
        </p:nvPicPr>
        <p:blipFill>
          <a:blip r:embed="rId2"/>
          <a:stretch>
            <a:fillRect/>
          </a:stretch>
        </p:blipFill>
        <p:spPr>
          <a:xfrm>
            <a:off x="0" y="1420143"/>
            <a:ext cx="12192000" cy="4017713"/>
          </a:xfrm>
          <a:prstGeom prst="rect">
            <a:avLst/>
          </a:prstGeom>
        </p:spPr>
      </p:pic>
    </p:spTree>
    <p:extLst>
      <p:ext uri="{BB962C8B-B14F-4D97-AF65-F5344CB8AC3E}">
        <p14:creationId xmlns:p14="http://schemas.microsoft.com/office/powerpoint/2010/main" val="412411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ABF9AF-AFC1-7DFE-1F34-DD8EBE57F2DF}"/>
              </a:ext>
            </a:extLst>
          </p:cNvPr>
          <p:cNvPicPr>
            <a:picLocks noChangeAspect="1"/>
          </p:cNvPicPr>
          <p:nvPr/>
        </p:nvPicPr>
        <p:blipFill>
          <a:blip r:embed="rId2"/>
          <a:stretch>
            <a:fillRect/>
          </a:stretch>
        </p:blipFill>
        <p:spPr>
          <a:xfrm>
            <a:off x="1170017" y="1142312"/>
            <a:ext cx="9327295" cy="4792144"/>
          </a:xfrm>
          <a:prstGeom prst="rect">
            <a:avLst/>
          </a:prstGeom>
        </p:spPr>
      </p:pic>
    </p:spTree>
    <p:extLst>
      <p:ext uri="{BB962C8B-B14F-4D97-AF65-F5344CB8AC3E}">
        <p14:creationId xmlns:p14="http://schemas.microsoft.com/office/powerpoint/2010/main" val="4083188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17683-23FF-9CF0-B208-9E32E16CC97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677C78-48BD-7E2F-1DB0-D8FBDFCF03E2}"/>
              </a:ext>
            </a:extLst>
          </p:cNvPr>
          <p:cNvSpPr txBox="1"/>
          <p:nvPr/>
        </p:nvSpPr>
        <p:spPr>
          <a:xfrm>
            <a:off x="395478" y="674870"/>
            <a:ext cx="11208258" cy="5698996"/>
          </a:xfrm>
          <a:prstGeom prst="rect">
            <a:avLst/>
          </a:prstGeom>
          <a:noFill/>
        </p:spPr>
        <p:txBody>
          <a:bodyPr wrap="square">
            <a:spAutoFit/>
          </a:bodyPr>
          <a:lstStyle/>
          <a:p>
            <a:pPr algn="l"/>
            <a:r>
              <a:rPr lang="en-IN" sz="2400" b="1" dirty="0">
                <a:solidFill>
                  <a:srgbClr val="3C3C3C"/>
                </a:solidFill>
                <a:effectLst/>
                <a:latin typeface="Vollkorn"/>
              </a:rPr>
              <a:t>Builder Design Pattern</a:t>
            </a:r>
          </a:p>
          <a:p>
            <a:pPr algn="l"/>
            <a:endParaRPr lang="en-IN" sz="2400" b="1" dirty="0">
              <a:solidFill>
                <a:srgbClr val="3C3C3C"/>
              </a:solidFill>
              <a:latin typeface="Vollkorn"/>
            </a:endParaRPr>
          </a:p>
          <a:p>
            <a:pPr algn="l"/>
            <a:r>
              <a:rPr lang="en-IN" sz="2400" b="0" i="0" dirty="0">
                <a:solidFill>
                  <a:srgbClr val="000000"/>
                </a:solidFill>
                <a:effectLst/>
                <a:latin typeface="-apple-system"/>
              </a:rPr>
              <a:t>The Builder Design Pattern is a creational pattern that provides a clear and flexible way to construct complex objects by separating the construction process from the actual representation of the object. It allows for step-by-step construction of an object, and gives control over its initialization.</a:t>
            </a:r>
            <a:endParaRPr lang="en-IN" sz="2400" b="1" i="0" dirty="0">
              <a:solidFill>
                <a:srgbClr val="3C3C3C"/>
              </a:solidFill>
              <a:effectLst/>
              <a:latin typeface="Vollkorn"/>
            </a:endParaRPr>
          </a:p>
          <a:p>
            <a:pPr algn="l"/>
            <a:endParaRPr lang="en-IN" sz="2400" b="1" dirty="0">
              <a:solidFill>
                <a:srgbClr val="3C3C3C"/>
              </a:solidFill>
              <a:latin typeface="Vollkorn"/>
            </a:endParaRPr>
          </a:p>
          <a:p>
            <a:pPr algn="l"/>
            <a:endParaRPr lang="en-IN" sz="2400" b="1" dirty="0">
              <a:solidFill>
                <a:srgbClr val="3C3C3C"/>
              </a:solidFill>
              <a:effectLst/>
              <a:latin typeface="Vollkorn"/>
            </a:endParaRPr>
          </a:p>
          <a:p>
            <a:pPr algn="l">
              <a:lnSpc>
                <a:spcPts val="3375"/>
              </a:lnSpc>
            </a:pPr>
            <a:r>
              <a:rPr lang="en-IN" sz="2400" b="1" i="0" dirty="0">
                <a:solidFill>
                  <a:srgbClr val="000000"/>
                </a:solidFill>
                <a:effectLst/>
                <a:latin typeface="-apple-system"/>
              </a:rPr>
              <a:t>Implementation Steps</a:t>
            </a:r>
          </a:p>
          <a:p>
            <a:pPr algn="l"/>
            <a:r>
              <a:rPr lang="en-IN" sz="2400" b="0" i="0" dirty="0">
                <a:solidFill>
                  <a:srgbClr val="000000"/>
                </a:solidFill>
                <a:effectLst/>
                <a:latin typeface="-apple-system"/>
              </a:rPr>
              <a:t>1. Create a specific builder interface/abstract class defining the steps to construct the object.</a:t>
            </a:r>
          </a:p>
          <a:p>
            <a:pPr algn="l"/>
            <a:r>
              <a:rPr lang="en-IN" sz="2400" b="0" i="0" dirty="0">
                <a:solidFill>
                  <a:srgbClr val="000000"/>
                </a:solidFill>
                <a:effectLst/>
                <a:latin typeface="-apple-system"/>
              </a:rPr>
              <a:t>2. Implement the builder to construct the object, step-by-step.</a:t>
            </a:r>
          </a:p>
          <a:p>
            <a:pPr algn="l"/>
            <a:r>
              <a:rPr lang="en-IN" sz="2400" b="0" i="0" dirty="0">
                <a:solidFill>
                  <a:srgbClr val="000000"/>
                </a:solidFill>
                <a:effectLst/>
                <a:latin typeface="-apple-system"/>
              </a:rPr>
              <a:t>3. Define a director class that takes a builder as a parameter and constructs the object.</a:t>
            </a:r>
          </a:p>
          <a:p>
            <a:pPr algn="l"/>
            <a:r>
              <a:rPr lang="en-IN" sz="2400" b="0" i="0" dirty="0">
                <a:solidFill>
                  <a:srgbClr val="000000"/>
                </a:solidFill>
                <a:effectLst/>
                <a:latin typeface="-apple-system"/>
              </a:rPr>
              <a:t>4. The client then uses the director with the specific builder to get the desired object.</a:t>
            </a:r>
          </a:p>
          <a:p>
            <a:pPr algn="l"/>
            <a:endParaRPr lang="en-IN" sz="2400" b="1" dirty="0">
              <a:solidFill>
                <a:srgbClr val="3C3C3C"/>
              </a:solidFill>
              <a:effectLst/>
              <a:latin typeface="Vollkorn"/>
            </a:endParaRPr>
          </a:p>
        </p:txBody>
      </p:sp>
    </p:spTree>
    <p:extLst>
      <p:ext uri="{BB962C8B-B14F-4D97-AF65-F5344CB8AC3E}">
        <p14:creationId xmlns:p14="http://schemas.microsoft.com/office/powerpoint/2010/main" val="2194902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280A3C-AE01-B284-4DFC-F13A0CD02738}"/>
              </a:ext>
            </a:extLst>
          </p:cNvPr>
          <p:cNvPicPr>
            <a:picLocks noChangeAspect="1"/>
          </p:cNvPicPr>
          <p:nvPr/>
        </p:nvPicPr>
        <p:blipFill>
          <a:blip r:embed="rId2"/>
          <a:stretch>
            <a:fillRect/>
          </a:stretch>
        </p:blipFill>
        <p:spPr>
          <a:xfrm>
            <a:off x="1463041" y="785737"/>
            <a:ext cx="8991510" cy="5419710"/>
          </a:xfrm>
          <a:prstGeom prst="rect">
            <a:avLst/>
          </a:prstGeom>
        </p:spPr>
      </p:pic>
    </p:spTree>
    <p:extLst>
      <p:ext uri="{BB962C8B-B14F-4D97-AF65-F5344CB8AC3E}">
        <p14:creationId xmlns:p14="http://schemas.microsoft.com/office/powerpoint/2010/main" val="3054665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B82E0-5C4D-ED58-FE4A-5FBB403300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1FFC5C-F12F-4DFE-16CB-E6E2B8BECA89}"/>
              </a:ext>
            </a:extLst>
          </p:cNvPr>
          <p:cNvSpPr txBox="1"/>
          <p:nvPr/>
        </p:nvSpPr>
        <p:spPr>
          <a:xfrm>
            <a:off x="0" y="16502"/>
            <a:ext cx="12192000" cy="6940361"/>
          </a:xfrm>
          <a:prstGeom prst="rect">
            <a:avLst/>
          </a:prstGeom>
          <a:noFill/>
        </p:spPr>
        <p:txBody>
          <a:bodyPr wrap="square">
            <a:spAutoFit/>
          </a:bodyPr>
          <a:lstStyle/>
          <a:p>
            <a:pPr algn="l"/>
            <a:r>
              <a:rPr lang="en-IN" sz="2400" b="1" dirty="0">
                <a:solidFill>
                  <a:srgbClr val="3C3C3C"/>
                </a:solidFill>
                <a:effectLst/>
                <a:latin typeface="Vollkorn"/>
              </a:rPr>
              <a:t>Prototype Design Pattern</a:t>
            </a:r>
          </a:p>
          <a:p>
            <a:pPr algn="l"/>
            <a:endParaRPr lang="en-IN" sz="2400" b="1" dirty="0">
              <a:solidFill>
                <a:srgbClr val="3C3C3C"/>
              </a:solidFill>
              <a:effectLst/>
              <a:latin typeface="Vollkorn"/>
            </a:endParaRPr>
          </a:p>
          <a:p>
            <a:pPr algn="l"/>
            <a:r>
              <a:rPr lang="en-IN" sz="2400" b="0" i="0" dirty="0">
                <a:solidFill>
                  <a:srgbClr val="000000"/>
                </a:solidFill>
                <a:effectLst/>
                <a:latin typeface="-apple-system"/>
              </a:rPr>
              <a:t>The Prototype Design Pattern falls under the category of creational patterns and involves creating objects by copying an existing object, known as the </a:t>
            </a:r>
            <a:r>
              <a:rPr lang="en-IN" sz="2400" b="1" i="0" dirty="0">
                <a:solidFill>
                  <a:srgbClr val="000000"/>
                </a:solidFill>
                <a:effectLst/>
                <a:latin typeface="-apple-system"/>
              </a:rPr>
              <a:t>prototype</a:t>
            </a:r>
            <a:r>
              <a:rPr lang="en-IN" sz="2400" b="0" i="0" dirty="0">
                <a:solidFill>
                  <a:srgbClr val="000000"/>
                </a:solidFill>
                <a:effectLst/>
                <a:latin typeface="-apple-system"/>
              </a:rPr>
              <a:t>. </a:t>
            </a:r>
            <a:endParaRPr lang="en-IN" sz="2400" b="1" i="0" dirty="0">
              <a:solidFill>
                <a:srgbClr val="3C3C3C"/>
              </a:solidFill>
              <a:latin typeface="Vollkorn"/>
            </a:endParaRPr>
          </a:p>
          <a:p>
            <a:pPr algn="l"/>
            <a:endParaRPr lang="en-IN" sz="2400" b="1" dirty="0">
              <a:solidFill>
                <a:srgbClr val="3C3C3C"/>
              </a:solidFill>
              <a:effectLst/>
              <a:latin typeface="Vollkorn"/>
            </a:endParaRPr>
          </a:p>
          <a:p>
            <a:pPr algn="l"/>
            <a:r>
              <a:rPr lang="en-IN" sz="2400" b="0" i="0" dirty="0">
                <a:solidFill>
                  <a:srgbClr val="000000"/>
                </a:solidFill>
                <a:effectLst/>
                <a:latin typeface="-apple-system"/>
              </a:rPr>
              <a:t>The Prototype pattern allows cloning or copying of an already existing object instead of creating new ones. </a:t>
            </a:r>
          </a:p>
          <a:p>
            <a:pPr algn="l"/>
            <a:endParaRPr lang="en-IN" sz="2400" b="1" dirty="0">
              <a:solidFill>
                <a:srgbClr val="3C3C3C"/>
              </a:solidFill>
              <a:effectLst/>
              <a:latin typeface="Vollkorn"/>
            </a:endParaRPr>
          </a:p>
          <a:p>
            <a:pPr algn="l">
              <a:lnSpc>
                <a:spcPts val="3375"/>
              </a:lnSpc>
            </a:pPr>
            <a:r>
              <a:rPr lang="en-IN" sz="2400" b="1" i="0" dirty="0">
                <a:solidFill>
                  <a:srgbClr val="000000"/>
                </a:solidFill>
                <a:effectLst/>
                <a:latin typeface="-apple-system"/>
              </a:rPr>
              <a:t>Real-World Use Cases</a:t>
            </a:r>
          </a:p>
          <a:p>
            <a:pPr algn="l"/>
            <a:r>
              <a:rPr lang="en-IN" sz="2400" b="0" i="0" dirty="0">
                <a:solidFill>
                  <a:srgbClr val="000000"/>
                </a:solidFill>
                <a:effectLst/>
                <a:latin typeface="-apple-system"/>
              </a:rPr>
              <a:t>1. Cloning/copying configurations or settings for different modules in software.</a:t>
            </a:r>
          </a:p>
          <a:p>
            <a:pPr algn="l"/>
            <a:r>
              <a:rPr lang="en-IN" sz="2400" b="0" i="0" dirty="0">
                <a:solidFill>
                  <a:srgbClr val="000000"/>
                </a:solidFill>
                <a:effectLst/>
                <a:latin typeface="-apple-system"/>
              </a:rPr>
              <a:t>2. Creating unique instances of objects that have most of their state consistent but differ slightly.</a:t>
            </a:r>
          </a:p>
          <a:p>
            <a:pPr algn="l"/>
            <a:r>
              <a:rPr lang="en-IN" sz="2400" b="0" i="0" dirty="0">
                <a:solidFill>
                  <a:srgbClr val="000000"/>
                </a:solidFill>
                <a:effectLst/>
                <a:latin typeface="-apple-system"/>
              </a:rPr>
              <a:t>3. In gaming, duplicating existing game objects or characters.</a:t>
            </a:r>
          </a:p>
          <a:p>
            <a:pPr algn="l">
              <a:lnSpc>
                <a:spcPts val="3375"/>
              </a:lnSpc>
            </a:pPr>
            <a:endParaRPr lang="en-IN" sz="2400" b="1" dirty="0">
              <a:solidFill>
                <a:srgbClr val="000000"/>
              </a:solidFill>
              <a:latin typeface="-apple-system"/>
            </a:endParaRPr>
          </a:p>
          <a:p>
            <a:pPr algn="l">
              <a:lnSpc>
                <a:spcPts val="3375"/>
              </a:lnSpc>
            </a:pPr>
            <a:r>
              <a:rPr lang="en-IN" sz="2400" b="1" i="0" dirty="0">
                <a:solidFill>
                  <a:srgbClr val="000000"/>
                </a:solidFill>
                <a:effectLst/>
                <a:latin typeface="-apple-system"/>
              </a:rPr>
              <a:t> Implementation Steps</a:t>
            </a:r>
          </a:p>
          <a:p>
            <a:pPr algn="l"/>
            <a:r>
              <a:rPr lang="en-IN" sz="2400" b="0" i="0" dirty="0">
                <a:solidFill>
                  <a:srgbClr val="000000"/>
                </a:solidFill>
                <a:effectLst/>
                <a:latin typeface="-apple-system"/>
              </a:rPr>
              <a:t>1. Create a prototype interface that declares a method for cloning itself.</a:t>
            </a:r>
          </a:p>
          <a:p>
            <a:pPr algn="l"/>
            <a:r>
              <a:rPr lang="en-IN" sz="2400" b="0" i="0" dirty="0">
                <a:solidFill>
                  <a:srgbClr val="000000"/>
                </a:solidFill>
                <a:effectLst/>
                <a:latin typeface="-apple-system"/>
              </a:rPr>
              <a:t>2. Implement the prototype interface in concrete classes that require cloneable </a:t>
            </a:r>
            <a:r>
              <a:rPr lang="en-IN" sz="2400" b="0" i="0" dirty="0" err="1">
                <a:solidFill>
                  <a:srgbClr val="000000"/>
                </a:solidFill>
                <a:effectLst/>
                <a:latin typeface="-apple-system"/>
              </a:rPr>
              <a:t>behavior</a:t>
            </a:r>
            <a:r>
              <a:rPr lang="en-IN" sz="2400" b="0" i="0" dirty="0">
                <a:solidFill>
                  <a:srgbClr val="000000"/>
                </a:solidFill>
                <a:effectLst/>
                <a:latin typeface="-apple-system"/>
              </a:rPr>
              <a:t>.</a:t>
            </a:r>
          </a:p>
          <a:p>
            <a:pPr algn="l"/>
            <a:r>
              <a:rPr lang="en-IN" sz="2400" b="0" i="0" dirty="0">
                <a:solidFill>
                  <a:srgbClr val="000000"/>
                </a:solidFill>
                <a:effectLst/>
                <a:latin typeface="-apple-system"/>
              </a:rPr>
              <a:t>3. Use the clone method to duplicate objects.</a:t>
            </a:r>
          </a:p>
          <a:p>
            <a:pPr algn="l"/>
            <a:endParaRPr lang="en-IN" sz="2400" b="1" dirty="0">
              <a:solidFill>
                <a:srgbClr val="3C3C3C"/>
              </a:solidFill>
              <a:effectLst/>
              <a:latin typeface="Vollkorn"/>
            </a:endParaRPr>
          </a:p>
        </p:txBody>
      </p:sp>
    </p:spTree>
    <p:extLst>
      <p:ext uri="{BB962C8B-B14F-4D97-AF65-F5344CB8AC3E}">
        <p14:creationId xmlns:p14="http://schemas.microsoft.com/office/powerpoint/2010/main" val="2782575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9E396B-EE56-45CC-4B69-46AA956DE727}"/>
              </a:ext>
            </a:extLst>
          </p:cNvPr>
          <p:cNvPicPr>
            <a:picLocks noChangeAspect="1"/>
          </p:cNvPicPr>
          <p:nvPr/>
        </p:nvPicPr>
        <p:blipFill>
          <a:blip r:embed="rId2"/>
          <a:stretch>
            <a:fillRect/>
          </a:stretch>
        </p:blipFill>
        <p:spPr>
          <a:xfrm>
            <a:off x="2313432" y="1065944"/>
            <a:ext cx="6999345" cy="5299150"/>
          </a:xfrm>
          <a:prstGeom prst="rect">
            <a:avLst/>
          </a:prstGeom>
        </p:spPr>
      </p:pic>
    </p:spTree>
    <p:extLst>
      <p:ext uri="{BB962C8B-B14F-4D97-AF65-F5344CB8AC3E}">
        <p14:creationId xmlns:p14="http://schemas.microsoft.com/office/powerpoint/2010/main" val="2419381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FD939-BBC1-F03D-D30F-868A0C30AB4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BAFF4482-16B2-1E47-B091-34F86950AFFF}"/>
              </a:ext>
            </a:extLst>
          </p:cNvPr>
          <p:cNvGrpSpPr/>
          <p:nvPr/>
        </p:nvGrpSpPr>
        <p:grpSpPr>
          <a:xfrm>
            <a:off x="532638" y="117086"/>
            <a:ext cx="11491722" cy="6555995"/>
            <a:chOff x="532638" y="117086"/>
            <a:chExt cx="11491722" cy="6555995"/>
          </a:xfrm>
        </p:grpSpPr>
        <p:sp>
          <p:nvSpPr>
            <p:cNvPr id="3" name="TextBox 2">
              <a:extLst>
                <a:ext uri="{FF2B5EF4-FFF2-40B4-BE49-F238E27FC236}">
                  <a16:creationId xmlns:a16="http://schemas.microsoft.com/office/drawing/2014/main" id="{B0DAF975-623E-E615-F1BA-4A993A5DD98F}"/>
                </a:ext>
              </a:extLst>
            </p:cNvPr>
            <p:cNvSpPr txBox="1"/>
            <p:nvPr/>
          </p:nvSpPr>
          <p:spPr>
            <a:xfrm>
              <a:off x="532638" y="117086"/>
              <a:ext cx="11491722" cy="3785652"/>
            </a:xfrm>
            <a:prstGeom prst="rect">
              <a:avLst/>
            </a:prstGeom>
            <a:noFill/>
          </p:spPr>
          <p:txBody>
            <a:bodyPr wrap="square">
              <a:spAutoFit/>
            </a:bodyPr>
            <a:lstStyle/>
            <a:p>
              <a:pPr algn="l"/>
              <a:r>
                <a:rPr lang="en-IN" sz="2400" b="1" dirty="0">
                  <a:solidFill>
                    <a:srgbClr val="3C3C3C"/>
                  </a:solidFill>
                  <a:effectLst/>
                  <a:latin typeface="Vollkorn"/>
                </a:rPr>
                <a:t>Adapter Design Pattern</a:t>
              </a:r>
            </a:p>
            <a:p>
              <a:pPr algn="l"/>
              <a:endParaRPr lang="en-IN" sz="2400" b="1" dirty="0">
                <a:solidFill>
                  <a:srgbClr val="3C3C3C"/>
                </a:solidFill>
                <a:latin typeface="Vollkorn"/>
              </a:endParaRPr>
            </a:p>
            <a:p>
              <a:pPr algn="l"/>
              <a:r>
                <a:rPr lang="en-IN" sz="2400" b="0" i="0" dirty="0">
                  <a:solidFill>
                    <a:srgbClr val="000000"/>
                  </a:solidFill>
                  <a:effectLst/>
                  <a:latin typeface="-apple-system"/>
                </a:rPr>
                <a:t>The Adapter Design Pattern is a structural pattern that allows objects with incompatible interfaces to collaborate. </a:t>
              </a:r>
            </a:p>
            <a:p>
              <a:pPr algn="l"/>
              <a:endParaRPr lang="en-IN" sz="2400" dirty="0">
                <a:solidFill>
                  <a:srgbClr val="000000"/>
                </a:solidFill>
                <a:latin typeface="-apple-system"/>
              </a:endParaRPr>
            </a:p>
            <a:p>
              <a:pPr algn="l"/>
              <a:r>
                <a:rPr lang="en-IN" sz="2400" b="0" i="0" dirty="0">
                  <a:solidFill>
                    <a:srgbClr val="000000"/>
                  </a:solidFill>
                  <a:effectLst/>
                  <a:latin typeface="-apple-system"/>
                </a:rPr>
                <a:t>It acts as a bridge between two incompatible interfaces by converting the interface of one class into an interface expected by the client.</a:t>
              </a:r>
            </a:p>
            <a:p>
              <a:pPr algn="l"/>
              <a:endParaRPr lang="en-IN" sz="2400" b="1" i="0" dirty="0">
                <a:solidFill>
                  <a:srgbClr val="3C3C3C"/>
                </a:solidFill>
                <a:effectLst/>
                <a:latin typeface="Vollkorn"/>
              </a:endParaRPr>
            </a:p>
            <a:p>
              <a:pPr algn="l"/>
              <a:endParaRPr lang="en-IN" sz="2400" b="1" dirty="0">
                <a:solidFill>
                  <a:srgbClr val="3C3C3C"/>
                </a:solidFill>
                <a:latin typeface="Vollkorn"/>
              </a:endParaRPr>
            </a:p>
            <a:p>
              <a:pPr algn="l"/>
              <a:endParaRPr lang="en-IN" sz="2400" b="1" dirty="0">
                <a:solidFill>
                  <a:srgbClr val="3C3C3C"/>
                </a:solidFill>
                <a:effectLst/>
                <a:latin typeface="Vollkorn"/>
              </a:endParaRPr>
            </a:p>
          </p:txBody>
        </p:sp>
        <p:pic>
          <p:nvPicPr>
            <p:cNvPr id="5" name="Picture 4">
              <a:extLst>
                <a:ext uri="{FF2B5EF4-FFF2-40B4-BE49-F238E27FC236}">
                  <a16:creationId xmlns:a16="http://schemas.microsoft.com/office/drawing/2014/main" id="{BDFC9CFB-410B-9AC4-C54C-4EE06EBDE22A}"/>
                </a:ext>
              </a:extLst>
            </p:cNvPr>
            <p:cNvPicPr>
              <a:picLocks noChangeAspect="1"/>
            </p:cNvPicPr>
            <p:nvPr/>
          </p:nvPicPr>
          <p:blipFill>
            <a:blip r:embed="rId2"/>
            <a:stretch>
              <a:fillRect/>
            </a:stretch>
          </p:blipFill>
          <p:spPr>
            <a:xfrm>
              <a:off x="3488398" y="3129286"/>
              <a:ext cx="6001588" cy="3543795"/>
            </a:xfrm>
            <a:prstGeom prst="rect">
              <a:avLst/>
            </a:prstGeom>
          </p:spPr>
        </p:pic>
      </p:grpSp>
    </p:spTree>
    <p:extLst>
      <p:ext uri="{BB962C8B-B14F-4D97-AF65-F5344CB8AC3E}">
        <p14:creationId xmlns:p14="http://schemas.microsoft.com/office/powerpoint/2010/main" val="1629072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1B7B-8399-0FBC-FDB3-A0E89AD1A7D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ECECA6-6637-CC32-769C-D26EE515ECE4}"/>
              </a:ext>
            </a:extLst>
          </p:cNvPr>
          <p:cNvPicPr>
            <a:picLocks noChangeAspect="1"/>
          </p:cNvPicPr>
          <p:nvPr/>
        </p:nvPicPr>
        <p:blipFill>
          <a:blip r:embed="rId2"/>
          <a:stretch>
            <a:fillRect/>
          </a:stretch>
        </p:blipFill>
        <p:spPr>
          <a:xfrm>
            <a:off x="235185" y="281474"/>
            <a:ext cx="11240535" cy="6576525"/>
          </a:xfrm>
          <a:prstGeom prst="rect">
            <a:avLst/>
          </a:prstGeom>
        </p:spPr>
      </p:pic>
    </p:spTree>
    <p:extLst>
      <p:ext uri="{BB962C8B-B14F-4D97-AF65-F5344CB8AC3E}">
        <p14:creationId xmlns:p14="http://schemas.microsoft.com/office/powerpoint/2010/main" val="2119889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15B69-DCE3-FB83-4B0C-FF46520DE31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F2DD34A-5811-4F81-6955-1EB258644A1A}"/>
              </a:ext>
            </a:extLst>
          </p:cNvPr>
          <p:cNvPicPr>
            <a:picLocks noChangeAspect="1"/>
          </p:cNvPicPr>
          <p:nvPr/>
        </p:nvPicPr>
        <p:blipFill>
          <a:blip r:embed="rId2"/>
          <a:stretch>
            <a:fillRect/>
          </a:stretch>
        </p:blipFill>
        <p:spPr>
          <a:xfrm>
            <a:off x="504044" y="2038156"/>
            <a:ext cx="11183911" cy="2781688"/>
          </a:xfrm>
          <a:prstGeom prst="rect">
            <a:avLst/>
          </a:prstGeom>
        </p:spPr>
      </p:pic>
    </p:spTree>
    <p:extLst>
      <p:ext uri="{BB962C8B-B14F-4D97-AF65-F5344CB8AC3E}">
        <p14:creationId xmlns:p14="http://schemas.microsoft.com/office/powerpoint/2010/main" val="3707861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11B1C3-76B6-B943-F151-E4DD34405AD2}"/>
              </a:ext>
            </a:extLst>
          </p:cNvPr>
          <p:cNvPicPr>
            <a:picLocks noChangeAspect="1"/>
          </p:cNvPicPr>
          <p:nvPr/>
        </p:nvPicPr>
        <p:blipFill>
          <a:blip r:embed="rId2"/>
          <a:stretch>
            <a:fillRect/>
          </a:stretch>
        </p:blipFill>
        <p:spPr>
          <a:xfrm>
            <a:off x="132518" y="1152207"/>
            <a:ext cx="11926964" cy="4553585"/>
          </a:xfrm>
          <a:prstGeom prst="rect">
            <a:avLst/>
          </a:prstGeom>
        </p:spPr>
      </p:pic>
    </p:spTree>
    <p:extLst>
      <p:ext uri="{BB962C8B-B14F-4D97-AF65-F5344CB8AC3E}">
        <p14:creationId xmlns:p14="http://schemas.microsoft.com/office/powerpoint/2010/main" val="913049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EF535-5CFE-81D4-B587-2501140CC886}"/>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93316769-1F29-77A2-1367-77C7E948D4BC}"/>
              </a:ext>
            </a:extLst>
          </p:cNvPr>
          <p:cNvGrpSpPr/>
          <p:nvPr/>
        </p:nvGrpSpPr>
        <p:grpSpPr>
          <a:xfrm>
            <a:off x="253782" y="-44923"/>
            <a:ext cx="11331666" cy="6947845"/>
            <a:chOff x="217206" y="-137160"/>
            <a:chExt cx="11331666" cy="6947845"/>
          </a:xfrm>
        </p:grpSpPr>
        <p:sp>
          <p:nvSpPr>
            <p:cNvPr id="3" name="TextBox 2">
              <a:extLst>
                <a:ext uri="{FF2B5EF4-FFF2-40B4-BE49-F238E27FC236}">
                  <a16:creationId xmlns:a16="http://schemas.microsoft.com/office/drawing/2014/main" id="{BC63867C-02F1-B878-C5D4-7D7A33A148E6}"/>
                </a:ext>
              </a:extLst>
            </p:cNvPr>
            <p:cNvSpPr txBox="1"/>
            <p:nvPr/>
          </p:nvSpPr>
          <p:spPr>
            <a:xfrm>
              <a:off x="2434590" y="-137160"/>
              <a:ext cx="6094476" cy="584775"/>
            </a:xfrm>
            <a:prstGeom prst="rect">
              <a:avLst/>
            </a:prstGeom>
            <a:noFill/>
          </p:spPr>
          <p:txBody>
            <a:bodyPr wrap="square">
              <a:spAutoFit/>
            </a:bodyPr>
            <a:lstStyle/>
            <a:p>
              <a:pPr algn="l"/>
              <a:r>
                <a:rPr lang="en-IN" sz="3200" b="1" dirty="0">
                  <a:solidFill>
                    <a:srgbClr val="3C3C3C"/>
                  </a:solidFill>
                  <a:effectLst/>
                  <a:latin typeface="Vollkorn"/>
                </a:rPr>
                <a:t>Bridge Design Pattern</a:t>
              </a:r>
            </a:p>
          </p:txBody>
        </p:sp>
        <p:pic>
          <p:nvPicPr>
            <p:cNvPr id="5" name="Picture 4">
              <a:extLst>
                <a:ext uri="{FF2B5EF4-FFF2-40B4-BE49-F238E27FC236}">
                  <a16:creationId xmlns:a16="http://schemas.microsoft.com/office/drawing/2014/main" id="{49E8DD8C-E092-E594-FE28-CFCC2EC1DDF2}"/>
                </a:ext>
              </a:extLst>
            </p:cNvPr>
            <p:cNvPicPr>
              <a:picLocks noChangeAspect="1"/>
            </p:cNvPicPr>
            <p:nvPr/>
          </p:nvPicPr>
          <p:blipFill>
            <a:blip r:embed="rId2"/>
            <a:stretch>
              <a:fillRect/>
            </a:stretch>
          </p:blipFill>
          <p:spPr>
            <a:xfrm>
              <a:off x="217206" y="351813"/>
              <a:ext cx="11331666" cy="6458872"/>
            </a:xfrm>
            <a:prstGeom prst="rect">
              <a:avLst/>
            </a:prstGeom>
          </p:spPr>
        </p:pic>
      </p:grpSp>
    </p:spTree>
    <p:extLst>
      <p:ext uri="{BB962C8B-B14F-4D97-AF65-F5344CB8AC3E}">
        <p14:creationId xmlns:p14="http://schemas.microsoft.com/office/powerpoint/2010/main" val="77828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FA4735-C683-212D-840B-AE5569177561}"/>
              </a:ext>
            </a:extLst>
          </p:cNvPr>
          <p:cNvPicPr>
            <a:picLocks noChangeAspect="1"/>
          </p:cNvPicPr>
          <p:nvPr/>
        </p:nvPicPr>
        <p:blipFill>
          <a:blip r:embed="rId2"/>
          <a:stretch>
            <a:fillRect/>
          </a:stretch>
        </p:blipFill>
        <p:spPr>
          <a:xfrm>
            <a:off x="1868644" y="1581912"/>
            <a:ext cx="6342201" cy="2771142"/>
          </a:xfrm>
          <a:prstGeom prst="rect">
            <a:avLst/>
          </a:prstGeom>
        </p:spPr>
      </p:pic>
    </p:spTree>
    <p:extLst>
      <p:ext uri="{BB962C8B-B14F-4D97-AF65-F5344CB8AC3E}">
        <p14:creationId xmlns:p14="http://schemas.microsoft.com/office/powerpoint/2010/main" val="1857125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08AE0-59F8-17AB-7726-47A90FC843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B159A22-B381-C2D6-E31B-B9EB3B1B04B4}"/>
              </a:ext>
            </a:extLst>
          </p:cNvPr>
          <p:cNvPicPr>
            <a:picLocks noChangeAspect="1"/>
          </p:cNvPicPr>
          <p:nvPr/>
        </p:nvPicPr>
        <p:blipFill>
          <a:blip r:embed="rId2"/>
          <a:stretch>
            <a:fillRect/>
          </a:stretch>
        </p:blipFill>
        <p:spPr>
          <a:xfrm>
            <a:off x="467522" y="0"/>
            <a:ext cx="11256956" cy="6858000"/>
          </a:xfrm>
          <a:prstGeom prst="rect">
            <a:avLst/>
          </a:prstGeom>
        </p:spPr>
      </p:pic>
    </p:spTree>
    <p:extLst>
      <p:ext uri="{BB962C8B-B14F-4D97-AF65-F5344CB8AC3E}">
        <p14:creationId xmlns:p14="http://schemas.microsoft.com/office/powerpoint/2010/main" val="4184774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0490-7989-963C-C5C2-1A680CCEE7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29E09D-E7A4-E554-C236-DE98E4AAF91B}"/>
              </a:ext>
            </a:extLst>
          </p:cNvPr>
          <p:cNvSpPr txBox="1"/>
          <p:nvPr/>
        </p:nvSpPr>
        <p:spPr>
          <a:xfrm>
            <a:off x="301752" y="1443841"/>
            <a:ext cx="11722608" cy="3970318"/>
          </a:xfrm>
          <a:prstGeom prst="rect">
            <a:avLst/>
          </a:prstGeom>
          <a:noFill/>
        </p:spPr>
        <p:txBody>
          <a:bodyPr wrap="square">
            <a:spAutoFit/>
          </a:bodyPr>
          <a:lstStyle/>
          <a:p>
            <a:pPr algn="l"/>
            <a:r>
              <a:rPr lang="en-IN" sz="2800" b="1" i="0" dirty="0">
                <a:solidFill>
                  <a:srgbClr val="000000"/>
                </a:solidFill>
                <a:effectLst/>
                <a:latin typeface="-apple-system"/>
              </a:rPr>
              <a:t>Explanation</a:t>
            </a:r>
          </a:p>
          <a:p>
            <a:pPr algn="l"/>
            <a:endParaRPr lang="en-IN" sz="2800" b="1" i="0" dirty="0">
              <a:solidFill>
                <a:srgbClr val="000000"/>
              </a:solidFill>
              <a:effectLst/>
              <a:latin typeface="-apple-system"/>
            </a:endParaRPr>
          </a:p>
          <a:p>
            <a:pPr algn="l"/>
            <a:r>
              <a:rPr lang="en-IN" sz="2800" b="0" i="0" dirty="0">
                <a:solidFill>
                  <a:srgbClr val="000000"/>
                </a:solidFill>
                <a:effectLst/>
                <a:latin typeface="-apple-system"/>
              </a:rPr>
              <a:t>The Bridge Pattern separates the Circle and Square (shapes) from their </a:t>
            </a:r>
            <a:r>
              <a:rPr lang="en-IN" sz="2800" b="0" i="0" dirty="0" err="1">
                <a:solidFill>
                  <a:srgbClr val="000000"/>
                </a:solidFill>
                <a:effectLst/>
                <a:latin typeface="-apple-system"/>
              </a:rPr>
              <a:t>colors</a:t>
            </a:r>
            <a:r>
              <a:rPr lang="en-IN" sz="2800" b="0" i="0" dirty="0">
                <a:solidFill>
                  <a:srgbClr val="000000"/>
                </a:solidFill>
                <a:effectLst/>
                <a:latin typeface="-apple-system"/>
              </a:rPr>
              <a:t> (Red and Blue). </a:t>
            </a:r>
          </a:p>
          <a:p>
            <a:pPr algn="l"/>
            <a:endParaRPr lang="en-IN" sz="2800" dirty="0">
              <a:solidFill>
                <a:srgbClr val="000000"/>
              </a:solidFill>
              <a:latin typeface="-apple-system"/>
            </a:endParaRPr>
          </a:p>
          <a:p>
            <a:pPr algn="l"/>
            <a:r>
              <a:rPr lang="en-IN" sz="2800" b="0" i="0" dirty="0">
                <a:solidFill>
                  <a:srgbClr val="000000"/>
                </a:solidFill>
                <a:effectLst/>
                <a:latin typeface="-apple-system"/>
              </a:rPr>
              <a:t>Each shape can independently vary from its </a:t>
            </a:r>
            <a:r>
              <a:rPr lang="en-IN" sz="2800" b="0" i="0" dirty="0" err="1">
                <a:solidFill>
                  <a:srgbClr val="000000"/>
                </a:solidFill>
                <a:effectLst/>
                <a:latin typeface="-apple-system"/>
              </a:rPr>
              <a:t>color</a:t>
            </a:r>
            <a:r>
              <a:rPr lang="en-IN" sz="2800" b="0" i="0" dirty="0">
                <a:solidFill>
                  <a:srgbClr val="000000"/>
                </a:solidFill>
                <a:effectLst/>
                <a:latin typeface="-apple-system"/>
              </a:rPr>
              <a:t>. </a:t>
            </a:r>
          </a:p>
          <a:p>
            <a:pPr algn="l"/>
            <a:endParaRPr lang="en-IN" sz="2800" dirty="0">
              <a:solidFill>
                <a:srgbClr val="000000"/>
              </a:solidFill>
              <a:latin typeface="-apple-system"/>
            </a:endParaRPr>
          </a:p>
          <a:p>
            <a:pPr algn="l"/>
            <a:r>
              <a:rPr lang="en-IN" sz="2800" b="0" i="0" dirty="0">
                <a:solidFill>
                  <a:srgbClr val="000000"/>
                </a:solidFill>
                <a:effectLst/>
                <a:latin typeface="-apple-system"/>
              </a:rPr>
              <a:t>By introducing this separation, it becomes easier to add new shapes or </a:t>
            </a:r>
            <a:r>
              <a:rPr lang="en-IN" sz="2800" b="0" i="0" dirty="0" err="1">
                <a:solidFill>
                  <a:srgbClr val="000000"/>
                </a:solidFill>
                <a:effectLst/>
                <a:latin typeface="-apple-system"/>
              </a:rPr>
              <a:t>colors</a:t>
            </a:r>
            <a:r>
              <a:rPr lang="en-IN" sz="2800" b="0" i="0" dirty="0">
                <a:solidFill>
                  <a:srgbClr val="000000"/>
                </a:solidFill>
                <a:effectLst/>
                <a:latin typeface="-apple-system"/>
              </a:rPr>
              <a:t> without modifying the existing hierarchies.</a:t>
            </a:r>
          </a:p>
        </p:txBody>
      </p:sp>
    </p:spTree>
    <p:extLst>
      <p:ext uri="{BB962C8B-B14F-4D97-AF65-F5344CB8AC3E}">
        <p14:creationId xmlns:p14="http://schemas.microsoft.com/office/powerpoint/2010/main" val="1764421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01F9-A291-61F3-C375-986E911FA5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540DB0-DD7F-99FA-A1E4-6D74EC472182}"/>
              </a:ext>
            </a:extLst>
          </p:cNvPr>
          <p:cNvPicPr>
            <a:picLocks noChangeAspect="1"/>
          </p:cNvPicPr>
          <p:nvPr/>
        </p:nvPicPr>
        <p:blipFill>
          <a:blip r:embed="rId2"/>
          <a:stretch>
            <a:fillRect/>
          </a:stretch>
        </p:blipFill>
        <p:spPr>
          <a:xfrm>
            <a:off x="0" y="312532"/>
            <a:ext cx="12192000" cy="6232935"/>
          </a:xfrm>
          <a:prstGeom prst="rect">
            <a:avLst/>
          </a:prstGeom>
        </p:spPr>
      </p:pic>
    </p:spTree>
    <p:extLst>
      <p:ext uri="{BB962C8B-B14F-4D97-AF65-F5344CB8AC3E}">
        <p14:creationId xmlns:p14="http://schemas.microsoft.com/office/powerpoint/2010/main" val="2171991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503B28-60B9-1598-DD9E-4A1D3465F5F7}"/>
              </a:ext>
            </a:extLst>
          </p:cNvPr>
          <p:cNvPicPr>
            <a:picLocks noChangeAspect="1"/>
          </p:cNvPicPr>
          <p:nvPr/>
        </p:nvPicPr>
        <p:blipFill>
          <a:blip r:embed="rId2"/>
          <a:stretch>
            <a:fillRect/>
          </a:stretch>
        </p:blipFill>
        <p:spPr>
          <a:xfrm>
            <a:off x="2495047" y="2081024"/>
            <a:ext cx="7201905" cy="2695951"/>
          </a:xfrm>
          <a:prstGeom prst="rect">
            <a:avLst/>
          </a:prstGeom>
        </p:spPr>
      </p:pic>
    </p:spTree>
    <p:extLst>
      <p:ext uri="{BB962C8B-B14F-4D97-AF65-F5344CB8AC3E}">
        <p14:creationId xmlns:p14="http://schemas.microsoft.com/office/powerpoint/2010/main" val="1073048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B1618-7BC5-F8E5-51E7-80509CC630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5ED4855-FFA6-1AA6-E337-A2ADEABE3FEC}"/>
              </a:ext>
            </a:extLst>
          </p:cNvPr>
          <p:cNvPicPr>
            <a:picLocks noChangeAspect="1"/>
          </p:cNvPicPr>
          <p:nvPr/>
        </p:nvPicPr>
        <p:blipFill>
          <a:blip r:embed="rId2"/>
          <a:stretch>
            <a:fillRect/>
          </a:stretch>
        </p:blipFill>
        <p:spPr>
          <a:xfrm>
            <a:off x="969226" y="0"/>
            <a:ext cx="10253547" cy="6858000"/>
          </a:xfrm>
          <a:prstGeom prst="rect">
            <a:avLst/>
          </a:prstGeom>
        </p:spPr>
      </p:pic>
    </p:spTree>
    <p:extLst>
      <p:ext uri="{BB962C8B-B14F-4D97-AF65-F5344CB8AC3E}">
        <p14:creationId xmlns:p14="http://schemas.microsoft.com/office/powerpoint/2010/main" val="1621274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28C3F-5F36-1C55-8F42-FE1EDD908EB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F7CF922-2D93-94B2-6149-EAADD1B8DC04}"/>
              </a:ext>
            </a:extLst>
          </p:cNvPr>
          <p:cNvPicPr>
            <a:picLocks noChangeAspect="1"/>
          </p:cNvPicPr>
          <p:nvPr/>
        </p:nvPicPr>
        <p:blipFill>
          <a:blip r:embed="rId2"/>
          <a:stretch>
            <a:fillRect/>
          </a:stretch>
        </p:blipFill>
        <p:spPr>
          <a:xfrm>
            <a:off x="728328" y="0"/>
            <a:ext cx="10735344" cy="6858000"/>
          </a:xfrm>
          <a:prstGeom prst="rect">
            <a:avLst/>
          </a:prstGeom>
        </p:spPr>
      </p:pic>
    </p:spTree>
    <p:extLst>
      <p:ext uri="{BB962C8B-B14F-4D97-AF65-F5344CB8AC3E}">
        <p14:creationId xmlns:p14="http://schemas.microsoft.com/office/powerpoint/2010/main" val="155548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999000-1D8F-20CB-DA80-7D426832E564}"/>
              </a:ext>
            </a:extLst>
          </p:cNvPr>
          <p:cNvPicPr>
            <a:picLocks noChangeAspect="1"/>
          </p:cNvPicPr>
          <p:nvPr/>
        </p:nvPicPr>
        <p:blipFill>
          <a:blip r:embed="rId2"/>
          <a:stretch>
            <a:fillRect/>
          </a:stretch>
        </p:blipFill>
        <p:spPr>
          <a:xfrm>
            <a:off x="3109495" y="1390365"/>
            <a:ext cx="5973009" cy="4077269"/>
          </a:xfrm>
          <a:prstGeom prst="rect">
            <a:avLst/>
          </a:prstGeom>
        </p:spPr>
      </p:pic>
    </p:spTree>
    <p:extLst>
      <p:ext uri="{BB962C8B-B14F-4D97-AF65-F5344CB8AC3E}">
        <p14:creationId xmlns:p14="http://schemas.microsoft.com/office/powerpoint/2010/main" val="236693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0DFD7-C6B6-1F24-20C6-16BADD5FC6A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7F2599-6908-7857-8DF8-F92CD1E9A88D}"/>
              </a:ext>
            </a:extLst>
          </p:cNvPr>
          <p:cNvPicPr>
            <a:picLocks noChangeAspect="1"/>
          </p:cNvPicPr>
          <p:nvPr/>
        </p:nvPicPr>
        <p:blipFill>
          <a:blip r:embed="rId2"/>
          <a:stretch>
            <a:fillRect/>
          </a:stretch>
        </p:blipFill>
        <p:spPr>
          <a:xfrm>
            <a:off x="670755" y="142416"/>
            <a:ext cx="10850489" cy="6573167"/>
          </a:xfrm>
          <a:prstGeom prst="rect">
            <a:avLst/>
          </a:prstGeom>
        </p:spPr>
      </p:pic>
    </p:spTree>
    <p:extLst>
      <p:ext uri="{BB962C8B-B14F-4D97-AF65-F5344CB8AC3E}">
        <p14:creationId xmlns:p14="http://schemas.microsoft.com/office/powerpoint/2010/main" val="4195303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ACA85-3238-7BEC-D09F-3C663D0DD5B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DEBE63-BBCE-4227-513A-26BA02DCD5E8}"/>
              </a:ext>
            </a:extLst>
          </p:cNvPr>
          <p:cNvPicPr>
            <a:picLocks noChangeAspect="1"/>
          </p:cNvPicPr>
          <p:nvPr/>
        </p:nvPicPr>
        <p:blipFill>
          <a:blip r:embed="rId2"/>
          <a:stretch>
            <a:fillRect/>
          </a:stretch>
        </p:blipFill>
        <p:spPr>
          <a:xfrm>
            <a:off x="2785600" y="2209630"/>
            <a:ext cx="6620799" cy="2438740"/>
          </a:xfrm>
          <a:prstGeom prst="rect">
            <a:avLst/>
          </a:prstGeom>
        </p:spPr>
      </p:pic>
    </p:spTree>
    <p:extLst>
      <p:ext uri="{BB962C8B-B14F-4D97-AF65-F5344CB8AC3E}">
        <p14:creationId xmlns:p14="http://schemas.microsoft.com/office/powerpoint/2010/main" val="24120768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BA4C-590C-B6B9-87FE-5C13D5DE08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51C66D-71F0-E0E9-3DC8-2C9101B3718E}"/>
              </a:ext>
            </a:extLst>
          </p:cNvPr>
          <p:cNvSpPr txBox="1"/>
          <p:nvPr/>
        </p:nvSpPr>
        <p:spPr>
          <a:xfrm>
            <a:off x="402336" y="882149"/>
            <a:ext cx="11695176" cy="3431709"/>
          </a:xfrm>
          <a:prstGeom prst="rect">
            <a:avLst/>
          </a:prstGeom>
          <a:noFill/>
        </p:spPr>
        <p:txBody>
          <a:bodyPr wrap="square">
            <a:spAutoFit/>
          </a:bodyPr>
          <a:lstStyle/>
          <a:p>
            <a:pPr algn="l">
              <a:spcBef>
                <a:spcPts val="1800"/>
              </a:spcBef>
              <a:spcAft>
                <a:spcPts val="1200"/>
              </a:spcAft>
            </a:pPr>
            <a:r>
              <a:rPr lang="en-IN" b="1" i="0" dirty="0">
                <a:solidFill>
                  <a:srgbClr val="24292E"/>
                </a:solidFill>
                <a:effectLst/>
                <a:latin typeface="-apple-system"/>
              </a:rPr>
              <a:t>What is Searching?</a:t>
            </a:r>
          </a:p>
          <a:p>
            <a:pPr algn="l">
              <a:spcAft>
                <a:spcPts val="1200"/>
              </a:spcAft>
            </a:pPr>
            <a:r>
              <a:rPr lang="en-IN" b="0" i="0" dirty="0">
                <a:solidFill>
                  <a:srgbClr val="24292E"/>
                </a:solidFill>
                <a:effectLst/>
                <a:latin typeface="-apple-system"/>
              </a:rPr>
              <a:t>In computer science, searching is the process of finding an item with specified properties from a collection of items. The items may be stored as records in a database, simple data elements in arrays, text in files, nodes in trees, vertices and edges in graphs, or they may be elements of other search spaces.</a:t>
            </a:r>
          </a:p>
          <a:p>
            <a:pPr algn="l">
              <a:spcBef>
                <a:spcPts val="1800"/>
              </a:spcBef>
              <a:spcAft>
                <a:spcPts val="1200"/>
              </a:spcAft>
            </a:pPr>
            <a:r>
              <a:rPr lang="en-IN" b="1" i="0" dirty="0">
                <a:solidFill>
                  <a:srgbClr val="24292E"/>
                </a:solidFill>
                <a:effectLst/>
                <a:latin typeface="-apple-system"/>
              </a:rPr>
              <a:t>Why do we need Searching?</a:t>
            </a:r>
          </a:p>
          <a:p>
            <a:pPr algn="l">
              <a:spcAft>
                <a:spcPts val="1200"/>
              </a:spcAft>
            </a:pPr>
            <a:r>
              <a:rPr lang="en-IN" b="0" i="1" dirty="0">
                <a:solidFill>
                  <a:srgbClr val="D73A49"/>
                </a:solidFill>
                <a:effectLst/>
                <a:latin typeface="Consolas" panose="020B0609020204030204" pitchFamily="49" charset="0"/>
              </a:rPr>
              <a:t>Searching </a:t>
            </a:r>
            <a:r>
              <a:rPr lang="en-IN" b="0" i="0" dirty="0">
                <a:solidFill>
                  <a:srgbClr val="24292E"/>
                </a:solidFill>
                <a:effectLst/>
                <a:latin typeface="-apple-system"/>
              </a:rPr>
              <a:t>is one of the core computer science algorithms. We know that today’s computers store a lot of information. To retrieve this information proficiently we need very efficient search algorithms.</a:t>
            </a:r>
          </a:p>
          <a:p>
            <a:pPr algn="l">
              <a:spcAft>
                <a:spcPts val="1200"/>
              </a:spcAft>
            </a:pPr>
            <a:r>
              <a:rPr lang="en-IN" b="0" i="0" dirty="0">
                <a:solidFill>
                  <a:srgbClr val="24292E"/>
                </a:solidFill>
                <a:effectLst/>
                <a:latin typeface="-apple-system"/>
              </a:rPr>
              <a:t>There are certain ways of organizing the data that improve the searching process. That means, if we keep the data in proper order, it is easy to search for the required element. Sorting is one of the techniques for making the elements ordered.</a:t>
            </a:r>
          </a:p>
        </p:txBody>
      </p:sp>
    </p:spTree>
    <p:extLst>
      <p:ext uri="{BB962C8B-B14F-4D97-AF65-F5344CB8AC3E}">
        <p14:creationId xmlns:p14="http://schemas.microsoft.com/office/powerpoint/2010/main" val="4229301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CD358B-8CE5-7704-194B-568CB8604ABC}"/>
              </a:ext>
            </a:extLst>
          </p:cNvPr>
          <p:cNvSpPr txBox="1"/>
          <p:nvPr/>
        </p:nvSpPr>
        <p:spPr>
          <a:xfrm>
            <a:off x="402336" y="1289953"/>
            <a:ext cx="11622024" cy="2616101"/>
          </a:xfrm>
          <a:prstGeom prst="rect">
            <a:avLst/>
          </a:prstGeom>
          <a:noFill/>
        </p:spPr>
        <p:txBody>
          <a:bodyPr wrap="square">
            <a:spAutoFit/>
          </a:bodyPr>
          <a:lstStyle/>
          <a:p>
            <a:pPr algn="l">
              <a:spcBef>
                <a:spcPts val="1800"/>
              </a:spcBef>
              <a:spcAft>
                <a:spcPts val="1200"/>
              </a:spcAft>
            </a:pPr>
            <a:r>
              <a:rPr lang="en-IN" b="1" i="0" dirty="0">
                <a:solidFill>
                  <a:srgbClr val="24292E"/>
                </a:solidFill>
                <a:effectLst/>
                <a:latin typeface="-apple-system"/>
              </a:rPr>
              <a:t>Binary Search with Example</a:t>
            </a:r>
          </a:p>
          <a:p>
            <a:pPr algn="l">
              <a:spcAft>
                <a:spcPts val="1200"/>
              </a:spcAft>
            </a:pPr>
            <a:r>
              <a:rPr lang="en-IN" b="0" i="0" dirty="0">
                <a:solidFill>
                  <a:srgbClr val="24292E"/>
                </a:solidFill>
                <a:effectLst/>
                <a:latin typeface="-apple-system"/>
              </a:rPr>
              <a:t>Binary search is a fast search algorithm with run-time complexity of </a:t>
            </a:r>
            <a:r>
              <a:rPr lang="en-IN" b="0" i="1" dirty="0">
                <a:solidFill>
                  <a:srgbClr val="D73A49"/>
                </a:solidFill>
                <a:effectLst/>
                <a:latin typeface="Consolas" panose="020B0609020204030204" pitchFamily="49" charset="0"/>
              </a:rPr>
              <a:t>Ο(log n)</a:t>
            </a:r>
            <a:r>
              <a:rPr lang="en-IN" b="0" i="0" dirty="0">
                <a:solidFill>
                  <a:srgbClr val="24292E"/>
                </a:solidFill>
                <a:effectLst/>
                <a:latin typeface="-apple-system"/>
              </a:rPr>
              <a:t>. This search algorithm works on the principle of divide and conquer. For this algorithm to work properly, the data collection should be in the sorted form.</a:t>
            </a:r>
          </a:p>
          <a:p>
            <a:pPr algn="l">
              <a:spcAft>
                <a:spcPts val="1200"/>
              </a:spcAft>
            </a:pPr>
            <a:r>
              <a:rPr lang="en-IN" b="0" i="0" dirty="0">
                <a:solidFill>
                  <a:srgbClr val="24292E"/>
                </a:solidFill>
                <a:effectLst/>
                <a:latin typeface="-apple-system"/>
              </a:rPr>
              <a:t>Let us consider the problem of searching for a word in a dictionary. Typically, we directly go to some approximate page [say, middle page] and start searching from that point. If the name that we are searching for is the same then the search is complete. If the page is before the selected pages then apply the same process for the first half; otherwise, apply the same process to the second half. Binary search also works in the same way. The algorithm applying such a strategy is referred to as a binary search algorithm.</a:t>
            </a:r>
          </a:p>
        </p:txBody>
      </p:sp>
    </p:spTree>
    <p:extLst>
      <p:ext uri="{BB962C8B-B14F-4D97-AF65-F5344CB8AC3E}">
        <p14:creationId xmlns:p14="http://schemas.microsoft.com/office/powerpoint/2010/main" val="16348486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499AE-B8B5-E621-E032-59E513A78383}"/>
              </a:ext>
            </a:extLst>
          </p:cNvPr>
          <p:cNvPicPr>
            <a:picLocks noChangeAspect="1"/>
          </p:cNvPicPr>
          <p:nvPr/>
        </p:nvPicPr>
        <p:blipFill>
          <a:blip r:embed="rId2"/>
          <a:stretch>
            <a:fillRect/>
          </a:stretch>
        </p:blipFill>
        <p:spPr>
          <a:xfrm>
            <a:off x="153004" y="0"/>
            <a:ext cx="11885992" cy="6858000"/>
          </a:xfrm>
          <a:prstGeom prst="rect">
            <a:avLst/>
          </a:prstGeom>
        </p:spPr>
      </p:pic>
    </p:spTree>
    <p:extLst>
      <p:ext uri="{BB962C8B-B14F-4D97-AF65-F5344CB8AC3E}">
        <p14:creationId xmlns:p14="http://schemas.microsoft.com/office/powerpoint/2010/main" val="3161438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DB85CA-2D0A-5D20-699B-77841615146D}"/>
              </a:ext>
            </a:extLst>
          </p:cNvPr>
          <p:cNvPicPr>
            <a:picLocks noChangeAspect="1"/>
          </p:cNvPicPr>
          <p:nvPr/>
        </p:nvPicPr>
        <p:blipFill>
          <a:blip r:embed="rId2"/>
          <a:stretch>
            <a:fillRect/>
          </a:stretch>
        </p:blipFill>
        <p:spPr>
          <a:xfrm>
            <a:off x="0" y="763414"/>
            <a:ext cx="12192000" cy="5331171"/>
          </a:xfrm>
          <a:prstGeom prst="rect">
            <a:avLst/>
          </a:prstGeom>
        </p:spPr>
      </p:pic>
    </p:spTree>
    <p:extLst>
      <p:ext uri="{BB962C8B-B14F-4D97-AF65-F5344CB8AC3E}">
        <p14:creationId xmlns:p14="http://schemas.microsoft.com/office/powerpoint/2010/main" val="1850418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027700-FAB6-577E-1958-F2521FD6A216}"/>
              </a:ext>
            </a:extLst>
          </p:cNvPr>
          <p:cNvPicPr>
            <a:picLocks noChangeAspect="1"/>
          </p:cNvPicPr>
          <p:nvPr/>
        </p:nvPicPr>
        <p:blipFill>
          <a:blip r:embed="rId2"/>
          <a:stretch>
            <a:fillRect/>
          </a:stretch>
        </p:blipFill>
        <p:spPr>
          <a:xfrm>
            <a:off x="0" y="72516"/>
            <a:ext cx="12192000" cy="6712967"/>
          </a:xfrm>
          <a:prstGeom prst="rect">
            <a:avLst/>
          </a:prstGeom>
        </p:spPr>
      </p:pic>
    </p:spTree>
    <p:extLst>
      <p:ext uri="{BB962C8B-B14F-4D97-AF65-F5344CB8AC3E}">
        <p14:creationId xmlns:p14="http://schemas.microsoft.com/office/powerpoint/2010/main" val="39207140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B77E3-CB13-79EE-1B5C-032150F571D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449437-55DE-42D5-BA3E-A712255CAF56}"/>
              </a:ext>
            </a:extLst>
          </p:cNvPr>
          <p:cNvPicPr>
            <a:picLocks noChangeAspect="1"/>
          </p:cNvPicPr>
          <p:nvPr/>
        </p:nvPicPr>
        <p:blipFill>
          <a:blip r:embed="rId2"/>
          <a:stretch>
            <a:fillRect/>
          </a:stretch>
        </p:blipFill>
        <p:spPr>
          <a:xfrm>
            <a:off x="408781" y="328180"/>
            <a:ext cx="11374437" cy="6201640"/>
          </a:xfrm>
          <a:prstGeom prst="rect">
            <a:avLst/>
          </a:prstGeom>
        </p:spPr>
      </p:pic>
    </p:spTree>
    <p:extLst>
      <p:ext uri="{BB962C8B-B14F-4D97-AF65-F5344CB8AC3E}">
        <p14:creationId xmlns:p14="http://schemas.microsoft.com/office/powerpoint/2010/main" val="18095558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5F79-FA5D-0D5E-96F0-BE309F4ACFA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698BE2-E4DA-D2E6-BA3D-4B5A192093AB}"/>
              </a:ext>
            </a:extLst>
          </p:cNvPr>
          <p:cNvPicPr>
            <a:picLocks noChangeAspect="1"/>
          </p:cNvPicPr>
          <p:nvPr/>
        </p:nvPicPr>
        <p:blipFill>
          <a:blip r:embed="rId2"/>
          <a:stretch>
            <a:fillRect/>
          </a:stretch>
        </p:blipFill>
        <p:spPr>
          <a:xfrm>
            <a:off x="147301" y="2856671"/>
            <a:ext cx="11298227" cy="3686689"/>
          </a:xfrm>
          <a:prstGeom prst="rect">
            <a:avLst/>
          </a:prstGeom>
        </p:spPr>
      </p:pic>
      <p:pic>
        <p:nvPicPr>
          <p:cNvPr id="6" name="Picture 5">
            <a:extLst>
              <a:ext uri="{FF2B5EF4-FFF2-40B4-BE49-F238E27FC236}">
                <a16:creationId xmlns:a16="http://schemas.microsoft.com/office/drawing/2014/main" id="{59A7065D-A9E9-B2EA-6371-D8045C524642}"/>
              </a:ext>
            </a:extLst>
          </p:cNvPr>
          <p:cNvPicPr>
            <a:picLocks noChangeAspect="1"/>
          </p:cNvPicPr>
          <p:nvPr/>
        </p:nvPicPr>
        <p:blipFill>
          <a:blip r:embed="rId3"/>
          <a:stretch>
            <a:fillRect/>
          </a:stretch>
        </p:blipFill>
        <p:spPr>
          <a:xfrm>
            <a:off x="147301" y="314640"/>
            <a:ext cx="9792227" cy="1771897"/>
          </a:xfrm>
          <a:prstGeom prst="rect">
            <a:avLst/>
          </a:prstGeom>
        </p:spPr>
      </p:pic>
    </p:spTree>
    <p:extLst>
      <p:ext uri="{BB962C8B-B14F-4D97-AF65-F5344CB8AC3E}">
        <p14:creationId xmlns:p14="http://schemas.microsoft.com/office/powerpoint/2010/main" val="2890724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CFEED-19DF-B7C0-DD2C-C999DEF7C6D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2EB09C-D17E-9D63-C8BD-4807BCBA9870}"/>
              </a:ext>
            </a:extLst>
          </p:cNvPr>
          <p:cNvPicPr>
            <a:picLocks noChangeAspect="1"/>
          </p:cNvPicPr>
          <p:nvPr/>
        </p:nvPicPr>
        <p:blipFill>
          <a:blip r:embed="rId2"/>
          <a:stretch>
            <a:fillRect/>
          </a:stretch>
        </p:blipFill>
        <p:spPr>
          <a:xfrm>
            <a:off x="0" y="1274178"/>
            <a:ext cx="12192000" cy="4309643"/>
          </a:xfrm>
          <a:prstGeom prst="rect">
            <a:avLst/>
          </a:prstGeom>
        </p:spPr>
      </p:pic>
    </p:spTree>
    <p:extLst>
      <p:ext uri="{BB962C8B-B14F-4D97-AF65-F5344CB8AC3E}">
        <p14:creationId xmlns:p14="http://schemas.microsoft.com/office/powerpoint/2010/main" val="33952331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E9E7-3867-0E8A-A62C-81F8F10F79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02040C-E9D6-789E-BF14-437A51A57B34}"/>
              </a:ext>
            </a:extLst>
          </p:cNvPr>
          <p:cNvPicPr>
            <a:picLocks noChangeAspect="1"/>
          </p:cNvPicPr>
          <p:nvPr/>
        </p:nvPicPr>
        <p:blipFill>
          <a:blip r:embed="rId2"/>
          <a:stretch>
            <a:fillRect/>
          </a:stretch>
        </p:blipFill>
        <p:spPr>
          <a:xfrm>
            <a:off x="0" y="1484236"/>
            <a:ext cx="12192000" cy="3889528"/>
          </a:xfrm>
          <a:prstGeom prst="rect">
            <a:avLst/>
          </a:prstGeom>
        </p:spPr>
      </p:pic>
    </p:spTree>
    <p:extLst>
      <p:ext uri="{BB962C8B-B14F-4D97-AF65-F5344CB8AC3E}">
        <p14:creationId xmlns:p14="http://schemas.microsoft.com/office/powerpoint/2010/main" val="2913213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4544-C448-CF75-7CED-68ED1410C8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D20DF2-4642-98B7-5CDA-E3ADB8078389}"/>
              </a:ext>
            </a:extLst>
          </p:cNvPr>
          <p:cNvPicPr>
            <a:picLocks noChangeAspect="1"/>
          </p:cNvPicPr>
          <p:nvPr/>
        </p:nvPicPr>
        <p:blipFill>
          <a:blip r:embed="rId2"/>
          <a:stretch>
            <a:fillRect/>
          </a:stretch>
        </p:blipFill>
        <p:spPr>
          <a:xfrm>
            <a:off x="601952" y="0"/>
            <a:ext cx="10988096" cy="6858000"/>
          </a:xfrm>
          <a:prstGeom prst="rect">
            <a:avLst/>
          </a:prstGeom>
        </p:spPr>
      </p:pic>
    </p:spTree>
    <p:extLst>
      <p:ext uri="{BB962C8B-B14F-4D97-AF65-F5344CB8AC3E}">
        <p14:creationId xmlns:p14="http://schemas.microsoft.com/office/powerpoint/2010/main" val="3932629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1ECD9-E10D-3457-1C00-09972618040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5F4A6A-CF5D-17C9-6C30-13242DA2A383}"/>
              </a:ext>
            </a:extLst>
          </p:cNvPr>
          <p:cNvPicPr>
            <a:picLocks noChangeAspect="1"/>
          </p:cNvPicPr>
          <p:nvPr/>
        </p:nvPicPr>
        <p:blipFill>
          <a:blip r:embed="rId2"/>
          <a:stretch>
            <a:fillRect/>
          </a:stretch>
        </p:blipFill>
        <p:spPr>
          <a:xfrm>
            <a:off x="194122" y="0"/>
            <a:ext cx="11803756" cy="6858000"/>
          </a:xfrm>
          <a:prstGeom prst="rect">
            <a:avLst/>
          </a:prstGeom>
        </p:spPr>
      </p:pic>
    </p:spTree>
    <p:extLst>
      <p:ext uri="{BB962C8B-B14F-4D97-AF65-F5344CB8AC3E}">
        <p14:creationId xmlns:p14="http://schemas.microsoft.com/office/powerpoint/2010/main" val="2223474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B2B72-D00F-0106-F02D-BD0FB85A55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D1ECC04-BE8E-F219-847F-BC997142B3A0}"/>
              </a:ext>
            </a:extLst>
          </p:cNvPr>
          <p:cNvPicPr>
            <a:picLocks noChangeAspect="1"/>
          </p:cNvPicPr>
          <p:nvPr/>
        </p:nvPicPr>
        <p:blipFill>
          <a:blip r:embed="rId2"/>
          <a:stretch>
            <a:fillRect/>
          </a:stretch>
        </p:blipFill>
        <p:spPr>
          <a:xfrm>
            <a:off x="0" y="1398514"/>
            <a:ext cx="12192000" cy="4060971"/>
          </a:xfrm>
          <a:prstGeom prst="rect">
            <a:avLst/>
          </a:prstGeom>
        </p:spPr>
      </p:pic>
    </p:spTree>
    <p:extLst>
      <p:ext uri="{BB962C8B-B14F-4D97-AF65-F5344CB8AC3E}">
        <p14:creationId xmlns:p14="http://schemas.microsoft.com/office/powerpoint/2010/main" val="39105353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443D52-5345-FB39-786A-788A082D567E}"/>
              </a:ext>
            </a:extLst>
          </p:cNvPr>
          <p:cNvPicPr>
            <a:picLocks noChangeAspect="1"/>
          </p:cNvPicPr>
          <p:nvPr/>
        </p:nvPicPr>
        <p:blipFill>
          <a:blip r:embed="rId2"/>
          <a:stretch>
            <a:fillRect/>
          </a:stretch>
        </p:blipFill>
        <p:spPr>
          <a:xfrm>
            <a:off x="0" y="989684"/>
            <a:ext cx="12192000" cy="4878631"/>
          </a:xfrm>
          <a:prstGeom prst="rect">
            <a:avLst/>
          </a:prstGeom>
        </p:spPr>
      </p:pic>
    </p:spTree>
    <p:extLst>
      <p:ext uri="{BB962C8B-B14F-4D97-AF65-F5344CB8AC3E}">
        <p14:creationId xmlns:p14="http://schemas.microsoft.com/office/powerpoint/2010/main" val="7479630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C01C3E-460D-388F-0B48-021BC5A595B6}"/>
              </a:ext>
            </a:extLst>
          </p:cNvPr>
          <p:cNvPicPr>
            <a:picLocks noChangeAspect="1"/>
          </p:cNvPicPr>
          <p:nvPr/>
        </p:nvPicPr>
        <p:blipFill>
          <a:blip r:embed="rId2"/>
          <a:stretch>
            <a:fillRect/>
          </a:stretch>
        </p:blipFill>
        <p:spPr>
          <a:xfrm>
            <a:off x="23336" y="0"/>
            <a:ext cx="12145327" cy="6858000"/>
          </a:xfrm>
          <a:prstGeom prst="rect">
            <a:avLst/>
          </a:prstGeom>
        </p:spPr>
      </p:pic>
    </p:spTree>
    <p:extLst>
      <p:ext uri="{BB962C8B-B14F-4D97-AF65-F5344CB8AC3E}">
        <p14:creationId xmlns:p14="http://schemas.microsoft.com/office/powerpoint/2010/main" val="35156503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32A886-3A3D-CD74-C92B-F0773ACB03FE}"/>
              </a:ext>
            </a:extLst>
          </p:cNvPr>
          <p:cNvPicPr>
            <a:picLocks noChangeAspect="1"/>
          </p:cNvPicPr>
          <p:nvPr/>
        </p:nvPicPr>
        <p:blipFill>
          <a:blip r:embed="rId2"/>
          <a:stretch>
            <a:fillRect/>
          </a:stretch>
        </p:blipFill>
        <p:spPr>
          <a:xfrm>
            <a:off x="497456" y="0"/>
            <a:ext cx="11197087" cy="6858000"/>
          </a:xfrm>
          <a:prstGeom prst="rect">
            <a:avLst/>
          </a:prstGeom>
        </p:spPr>
      </p:pic>
    </p:spTree>
    <p:extLst>
      <p:ext uri="{BB962C8B-B14F-4D97-AF65-F5344CB8AC3E}">
        <p14:creationId xmlns:p14="http://schemas.microsoft.com/office/powerpoint/2010/main" val="35345137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95C508-8A79-D3A6-524C-15CC45EDEAB2}"/>
              </a:ext>
            </a:extLst>
          </p:cNvPr>
          <p:cNvPicPr>
            <a:picLocks noChangeAspect="1"/>
          </p:cNvPicPr>
          <p:nvPr/>
        </p:nvPicPr>
        <p:blipFill>
          <a:blip r:embed="rId2"/>
          <a:stretch>
            <a:fillRect/>
          </a:stretch>
        </p:blipFill>
        <p:spPr>
          <a:xfrm>
            <a:off x="492721" y="0"/>
            <a:ext cx="11206557" cy="6858000"/>
          </a:xfrm>
          <a:prstGeom prst="rect">
            <a:avLst/>
          </a:prstGeom>
        </p:spPr>
      </p:pic>
    </p:spTree>
    <p:extLst>
      <p:ext uri="{BB962C8B-B14F-4D97-AF65-F5344CB8AC3E}">
        <p14:creationId xmlns:p14="http://schemas.microsoft.com/office/powerpoint/2010/main" val="939280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337D6F-8876-5247-6407-6C224BF9DADE}"/>
              </a:ext>
            </a:extLst>
          </p:cNvPr>
          <p:cNvSpPr txBox="1"/>
          <p:nvPr/>
        </p:nvSpPr>
        <p:spPr>
          <a:xfrm>
            <a:off x="192024" y="20375"/>
            <a:ext cx="11923776" cy="4878259"/>
          </a:xfrm>
          <a:prstGeom prst="rect">
            <a:avLst/>
          </a:prstGeom>
          <a:noFill/>
        </p:spPr>
        <p:txBody>
          <a:bodyPr wrap="square">
            <a:spAutoFit/>
          </a:bodyPr>
          <a:lstStyle/>
          <a:p>
            <a:pPr algn="l">
              <a:spcBef>
                <a:spcPts val="1800"/>
              </a:spcBef>
              <a:spcAft>
                <a:spcPts val="1200"/>
              </a:spcAft>
            </a:pPr>
            <a:r>
              <a:rPr lang="en-IN" b="1" i="0" dirty="0">
                <a:solidFill>
                  <a:srgbClr val="24292E"/>
                </a:solidFill>
                <a:effectLst/>
                <a:latin typeface="-apple-system"/>
              </a:rPr>
              <a:t>What is Insertion Sort Algorithm?</a:t>
            </a:r>
          </a:p>
          <a:p>
            <a:pPr algn="l">
              <a:spcAft>
                <a:spcPts val="1200"/>
              </a:spcAft>
            </a:pPr>
            <a:r>
              <a:rPr lang="en-IN" b="0" i="0" dirty="0">
                <a:solidFill>
                  <a:srgbClr val="24292E"/>
                </a:solidFill>
                <a:effectLst/>
                <a:latin typeface="-apple-system"/>
              </a:rPr>
              <a:t>Insertion sort is a simple and efficient comparison sort. In this algorithm, each iteration removes an element from the input data and inserts it into the correct position in the list is sorted. The choice of the element is removed from the input is random and this process is repeated until all input elements have gone through.</a:t>
            </a:r>
          </a:p>
          <a:p>
            <a:pPr algn="l">
              <a:spcBef>
                <a:spcPts val="1800"/>
              </a:spcBef>
              <a:spcAft>
                <a:spcPts val="1200"/>
              </a:spcAft>
            </a:pPr>
            <a:r>
              <a:rPr lang="en-IN" b="1" i="0" dirty="0">
                <a:solidFill>
                  <a:srgbClr val="24292E"/>
                </a:solidFill>
                <a:effectLst/>
                <a:latin typeface="-apple-system"/>
              </a:rPr>
              <a:t>Advantages</a:t>
            </a:r>
          </a:p>
          <a:p>
            <a:pPr algn="l">
              <a:spcAft>
                <a:spcPts val="1200"/>
              </a:spcAft>
              <a:buFont typeface="Arial" panose="020B0604020202020204" pitchFamily="34" charset="0"/>
              <a:buChar char="•"/>
            </a:pPr>
            <a:r>
              <a:rPr lang="en-IN" b="0" i="0" dirty="0">
                <a:solidFill>
                  <a:srgbClr val="24292E"/>
                </a:solidFill>
                <a:effectLst/>
                <a:latin typeface="-apple-system"/>
              </a:rPr>
              <a:t>Efficient for small data</a:t>
            </a:r>
          </a:p>
          <a:p>
            <a:pPr algn="l">
              <a:spcAft>
                <a:spcPts val="1200"/>
              </a:spcAft>
              <a:buFont typeface="Arial" panose="020B0604020202020204" pitchFamily="34" charset="0"/>
              <a:buChar char="•"/>
            </a:pPr>
            <a:r>
              <a:rPr lang="en-IN" b="0" i="0" dirty="0">
                <a:solidFill>
                  <a:srgbClr val="24292E"/>
                </a:solidFill>
                <a:effectLst/>
                <a:latin typeface="-apple-system"/>
              </a:rPr>
              <a:t>Adaptive: If the input list is </a:t>
            </a:r>
            <a:r>
              <a:rPr lang="en-IN" b="0" i="0" dirty="0" err="1">
                <a:solidFill>
                  <a:srgbClr val="24292E"/>
                </a:solidFill>
                <a:effectLst/>
                <a:latin typeface="-apple-system"/>
              </a:rPr>
              <a:t>presorted</a:t>
            </a:r>
            <a:r>
              <a:rPr lang="en-IN" b="0" i="0" dirty="0">
                <a:solidFill>
                  <a:srgbClr val="24292E"/>
                </a:solidFill>
                <a:effectLst/>
                <a:latin typeface="-apple-system"/>
              </a:rPr>
              <a:t> [may not be complete] then insertions sort takes O(n + d), where d is the number of inversions</a:t>
            </a:r>
          </a:p>
          <a:p>
            <a:pPr algn="l">
              <a:spcAft>
                <a:spcPts val="1200"/>
              </a:spcAft>
              <a:buFont typeface="Arial" panose="020B0604020202020204" pitchFamily="34" charset="0"/>
              <a:buChar char="•"/>
            </a:pPr>
            <a:r>
              <a:rPr lang="en-IN" b="0" i="0" dirty="0">
                <a:solidFill>
                  <a:srgbClr val="24292E"/>
                </a:solidFill>
                <a:effectLst/>
                <a:latin typeface="-apple-system"/>
              </a:rPr>
              <a:t>Practically more efficient than selection and bubble sorts, even though all of them have O(n2) worst case complexity</a:t>
            </a:r>
          </a:p>
          <a:p>
            <a:pPr algn="l">
              <a:spcAft>
                <a:spcPts val="1200"/>
              </a:spcAft>
              <a:buFont typeface="Arial" panose="020B0604020202020204" pitchFamily="34" charset="0"/>
              <a:buChar char="•"/>
            </a:pPr>
            <a:r>
              <a:rPr lang="en-IN" b="0" i="0" dirty="0">
                <a:solidFill>
                  <a:srgbClr val="24292E"/>
                </a:solidFill>
                <a:effectLst/>
                <a:latin typeface="-apple-system"/>
              </a:rPr>
              <a:t>Stable: Maintains relative order of input data if the keys are same</a:t>
            </a:r>
          </a:p>
          <a:p>
            <a:pPr algn="l">
              <a:spcAft>
                <a:spcPts val="1200"/>
              </a:spcAft>
              <a:buFont typeface="Arial" panose="020B0604020202020204" pitchFamily="34" charset="0"/>
              <a:buChar char="•"/>
            </a:pPr>
            <a:r>
              <a:rPr lang="en-IN" b="0" i="0" dirty="0">
                <a:solidFill>
                  <a:srgbClr val="24292E"/>
                </a:solidFill>
                <a:effectLst/>
                <a:latin typeface="-apple-system"/>
              </a:rPr>
              <a:t>In-place: It requires only a constant amount O(1) of additional memory space</a:t>
            </a:r>
          </a:p>
          <a:p>
            <a:pPr algn="l">
              <a:spcAft>
                <a:spcPts val="1200"/>
              </a:spcAft>
              <a:buFont typeface="Arial" panose="020B0604020202020204" pitchFamily="34" charset="0"/>
              <a:buChar char="•"/>
            </a:pPr>
            <a:r>
              <a:rPr lang="en-IN" b="0" i="0" dirty="0">
                <a:solidFill>
                  <a:srgbClr val="24292E"/>
                </a:solidFill>
                <a:effectLst/>
                <a:latin typeface="-apple-system"/>
              </a:rPr>
              <a:t>Online: Insertion sort can sort the list as it receives it</a:t>
            </a:r>
          </a:p>
        </p:txBody>
      </p:sp>
    </p:spTree>
    <p:extLst>
      <p:ext uri="{BB962C8B-B14F-4D97-AF65-F5344CB8AC3E}">
        <p14:creationId xmlns:p14="http://schemas.microsoft.com/office/powerpoint/2010/main" val="13580602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B4BD17-753C-12E2-B472-91D4E10335D1}"/>
              </a:ext>
            </a:extLst>
          </p:cNvPr>
          <p:cNvPicPr>
            <a:picLocks noChangeAspect="1"/>
          </p:cNvPicPr>
          <p:nvPr/>
        </p:nvPicPr>
        <p:blipFill>
          <a:blip r:embed="rId2"/>
          <a:stretch>
            <a:fillRect/>
          </a:stretch>
        </p:blipFill>
        <p:spPr>
          <a:xfrm>
            <a:off x="1507258" y="0"/>
            <a:ext cx="9177484" cy="6858000"/>
          </a:xfrm>
          <a:prstGeom prst="rect">
            <a:avLst/>
          </a:prstGeom>
        </p:spPr>
      </p:pic>
    </p:spTree>
    <p:extLst>
      <p:ext uri="{BB962C8B-B14F-4D97-AF65-F5344CB8AC3E}">
        <p14:creationId xmlns:p14="http://schemas.microsoft.com/office/powerpoint/2010/main" val="3635705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929F23-138C-74E6-74AD-A21D3D9C8680}"/>
              </a:ext>
            </a:extLst>
          </p:cNvPr>
          <p:cNvPicPr>
            <a:picLocks noChangeAspect="1"/>
          </p:cNvPicPr>
          <p:nvPr/>
        </p:nvPicPr>
        <p:blipFill>
          <a:blip r:embed="rId2"/>
          <a:stretch>
            <a:fillRect/>
          </a:stretch>
        </p:blipFill>
        <p:spPr>
          <a:xfrm>
            <a:off x="0" y="1387826"/>
            <a:ext cx="12192000" cy="4082348"/>
          </a:xfrm>
          <a:prstGeom prst="rect">
            <a:avLst/>
          </a:prstGeom>
        </p:spPr>
      </p:pic>
    </p:spTree>
    <p:extLst>
      <p:ext uri="{BB962C8B-B14F-4D97-AF65-F5344CB8AC3E}">
        <p14:creationId xmlns:p14="http://schemas.microsoft.com/office/powerpoint/2010/main" val="21501760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E70B04-BA97-21AE-F680-95BB7649B882}"/>
              </a:ext>
            </a:extLst>
          </p:cNvPr>
          <p:cNvSpPr txBox="1"/>
          <p:nvPr/>
        </p:nvSpPr>
        <p:spPr>
          <a:xfrm>
            <a:off x="1831086" y="0"/>
            <a:ext cx="6094476" cy="369332"/>
          </a:xfrm>
          <a:prstGeom prst="rect">
            <a:avLst/>
          </a:prstGeom>
          <a:noFill/>
        </p:spPr>
        <p:txBody>
          <a:bodyPr wrap="square">
            <a:spAutoFit/>
          </a:bodyPr>
          <a:lstStyle/>
          <a:p>
            <a:pPr algn="l"/>
            <a:r>
              <a:rPr lang="en-IN" b="1" dirty="0">
                <a:solidFill>
                  <a:srgbClr val="E61F5B"/>
                </a:solidFill>
                <a:effectLst/>
                <a:latin typeface="Vollkorn"/>
              </a:rPr>
              <a:t>Quick Sort Algorithm</a:t>
            </a:r>
          </a:p>
        </p:txBody>
      </p:sp>
      <p:pic>
        <p:nvPicPr>
          <p:cNvPr id="5" name="Picture 4">
            <a:extLst>
              <a:ext uri="{FF2B5EF4-FFF2-40B4-BE49-F238E27FC236}">
                <a16:creationId xmlns:a16="http://schemas.microsoft.com/office/drawing/2014/main" id="{4E7326DE-BBC9-3D9E-D79B-D31E1E93F431}"/>
              </a:ext>
            </a:extLst>
          </p:cNvPr>
          <p:cNvPicPr>
            <a:picLocks noChangeAspect="1"/>
          </p:cNvPicPr>
          <p:nvPr/>
        </p:nvPicPr>
        <p:blipFill>
          <a:blip r:embed="rId2"/>
          <a:stretch>
            <a:fillRect/>
          </a:stretch>
        </p:blipFill>
        <p:spPr>
          <a:xfrm>
            <a:off x="104634" y="550426"/>
            <a:ext cx="11846573" cy="6307574"/>
          </a:xfrm>
          <a:prstGeom prst="rect">
            <a:avLst/>
          </a:prstGeom>
        </p:spPr>
      </p:pic>
    </p:spTree>
    <p:extLst>
      <p:ext uri="{BB962C8B-B14F-4D97-AF65-F5344CB8AC3E}">
        <p14:creationId xmlns:p14="http://schemas.microsoft.com/office/powerpoint/2010/main" val="1257350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595D66-56E2-23BD-A0E5-A33EF41E4E06}"/>
              </a:ext>
            </a:extLst>
          </p:cNvPr>
          <p:cNvSpPr txBox="1"/>
          <p:nvPr/>
        </p:nvSpPr>
        <p:spPr>
          <a:xfrm>
            <a:off x="356616" y="1613119"/>
            <a:ext cx="11457432" cy="2800767"/>
          </a:xfrm>
          <a:prstGeom prst="rect">
            <a:avLst/>
          </a:prstGeom>
          <a:noFill/>
        </p:spPr>
        <p:txBody>
          <a:bodyPr wrap="square">
            <a:spAutoFit/>
          </a:bodyPr>
          <a:lstStyle/>
          <a:p>
            <a:pPr algn="l">
              <a:spcBef>
                <a:spcPts val="1800"/>
              </a:spcBef>
              <a:spcAft>
                <a:spcPts val="1200"/>
              </a:spcAft>
            </a:pPr>
            <a:r>
              <a:rPr lang="en-IN" b="1" i="0" dirty="0">
                <a:solidFill>
                  <a:srgbClr val="24292E"/>
                </a:solidFill>
                <a:effectLst/>
                <a:latin typeface="-apple-system"/>
              </a:rPr>
              <a:t>Algorithm</a:t>
            </a:r>
          </a:p>
          <a:p>
            <a:pPr algn="l">
              <a:spcAft>
                <a:spcPts val="1200"/>
              </a:spcAft>
            </a:pPr>
            <a:r>
              <a:rPr lang="en-IN" b="0" i="0" dirty="0">
                <a:solidFill>
                  <a:srgbClr val="24292E"/>
                </a:solidFill>
                <a:effectLst/>
                <a:latin typeface="-apple-system"/>
              </a:rPr>
              <a:t>The recursive algorithm consists of four steps:</a:t>
            </a:r>
          </a:p>
          <a:p>
            <a:pPr algn="l">
              <a:spcAft>
                <a:spcPts val="1200"/>
              </a:spcAft>
              <a:buFont typeface="+mj-lt"/>
              <a:buAutoNum type="arabicPeriod"/>
            </a:pPr>
            <a:r>
              <a:rPr lang="en-IN" b="0" i="0" dirty="0">
                <a:solidFill>
                  <a:srgbClr val="24292E"/>
                </a:solidFill>
                <a:effectLst/>
                <a:latin typeface="-apple-system"/>
              </a:rPr>
              <a:t>If there are one or no elements in the array to be sorted, return.</a:t>
            </a:r>
          </a:p>
          <a:p>
            <a:pPr algn="l">
              <a:spcAft>
                <a:spcPts val="1200"/>
              </a:spcAft>
              <a:buFont typeface="+mj-lt"/>
              <a:buAutoNum type="arabicPeriod"/>
            </a:pPr>
            <a:r>
              <a:rPr lang="en-IN" b="0" i="0" dirty="0">
                <a:solidFill>
                  <a:srgbClr val="24292E"/>
                </a:solidFill>
                <a:effectLst/>
                <a:latin typeface="-apple-system"/>
              </a:rPr>
              <a:t>Pick an element in the array to serve as the “pivot” point. (Usually, the left-most element in the array is used.)</a:t>
            </a:r>
          </a:p>
          <a:p>
            <a:pPr algn="l">
              <a:spcAft>
                <a:spcPts val="1200"/>
              </a:spcAft>
              <a:buFont typeface="+mj-lt"/>
              <a:buAutoNum type="arabicPeriod"/>
            </a:pPr>
            <a:r>
              <a:rPr lang="en-IN" b="0" i="0" dirty="0">
                <a:solidFill>
                  <a:srgbClr val="24292E"/>
                </a:solidFill>
                <a:effectLst/>
                <a:latin typeface="-apple-system"/>
              </a:rPr>
              <a:t>Split the array into two parts – one with elements larger than the pivot and the other with elements smaller than the pivot.</a:t>
            </a:r>
          </a:p>
          <a:p>
            <a:pPr algn="l">
              <a:spcAft>
                <a:spcPts val="1200"/>
              </a:spcAft>
              <a:buFont typeface="+mj-lt"/>
              <a:buAutoNum type="arabicPeriod"/>
            </a:pPr>
            <a:r>
              <a:rPr lang="en-IN" b="0" i="0" dirty="0">
                <a:solidFill>
                  <a:srgbClr val="24292E"/>
                </a:solidFill>
                <a:effectLst/>
                <a:latin typeface="-apple-system"/>
              </a:rPr>
              <a:t>Recursively repeat the algorithm for both halves of the original array.</a:t>
            </a:r>
          </a:p>
        </p:txBody>
      </p:sp>
    </p:spTree>
    <p:extLst>
      <p:ext uri="{BB962C8B-B14F-4D97-AF65-F5344CB8AC3E}">
        <p14:creationId xmlns:p14="http://schemas.microsoft.com/office/powerpoint/2010/main" val="3588280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AAD57A-C94B-6096-BFAB-D3051B4470CA}"/>
              </a:ext>
            </a:extLst>
          </p:cNvPr>
          <p:cNvSpPr txBox="1"/>
          <p:nvPr/>
        </p:nvSpPr>
        <p:spPr>
          <a:xfrm>
            <a:off x="1703070" y="373118"/>
            <a:ext cx="6094476" cy="369332"/>
          </a:xfrm>
          <a:prstGeom prst="rect">
            <a:avLst/>
          </a:prstGeom>
          <a:noFill/>
        </p:spPr>
        <p:txBody>
          <a:bodyPr wrap="square">
            <a:spAutoFit/>
          </a:bodyPr>
          <a:lstStyle/>
          <a:p>
            <a:pPr algn="l"/>
            <a:r>
              <a:rPr lang="en-IN" b="1" dirty="0">
                <a:solidFill>
                  <a:srgbClr val="E61F5B"/>
                </a:solidFill>
                <a:effectLst/>
                <a:latin typeface="Vollkorn"/>
              </a:rPr>
              <a:t>Binary Search Tree (BST) </a:t>
            </a:r>
          </a:p>
        </p:txBody>
      </p:sp>
      <p:sp>
        <p:nvSpPr>
          <p:cNvPr id="5" name="TextBox 4">
            <a:extLst>
              <a:ext uri="{FF2B5EF4-FFF2-40B4-BE49-F238E27FC236}">
                <a16:creationId xmlns:a16="http://schemas.microsoft.com/office/drawing/2014/main" id="{27457BF9-8C8E-72AF-3AB6-84836CC6925D}"/>
              </a:ext>
            </a:extLst>
          </p:cNvPr>
          <p:cNvSpPr txBox="1"/>
          <p:nvPr/>
        </p:nvSpPr>
        <p:spPr>
          <a:xfrm>
            <a:off x="301752" y="1502832"/>
            <a:ext cx="11466576" cy="2467342"/>
          </a:xfrm>
          <a:prstGeom prst="rect">
            <a:avLst/>
          </a:prstGeom>
          <a:noFill/>
        </p:spPr>
        <p:txBody>
          <a:bodyPr wrap="square">
            <a:spAutoFit/>
          </a:bodyPr>
          <a:lstStyle/>
          <a:p>
            <a:pPr algn="l"/>
            <a:r>
              <a:rPr lang="en-IN" b="0" i="0" dirty="0">
                <a:solidFill>
                  <a:srgbClr val="000000"/>
                </a:solidFill>
                <a:effectLst/>
                <a:latin typeface="-apple-system"/>
              </a:rPr>
              <a:t>Binary Search Trees (BST) are essential data structures that allow for efficient insertion, deletion, and search operations. In this blog post, we will walk through the implementation of a BST in Java, focusing on the primary operations: insertion, deletion, and search.</a:t>
            </a:r>
          </a:p>
          <a:p>
            <a:pPr algn="l">
              <a:lnSpc>
                <a:spcPts val="3375"/>
              </a:lnSpc>
            </a:pPr>
            <a:r>
              <a:rPr lang="en-IN" b="1" i="0" dirty="0">
                <a:solidFill>
                  <a:srgbClr val="000000"/>
                </a:solidFill>
                <a:effectLst/>
                <a:latin typeface="-apple-system"/>
              </a:rPr>
              <a:t>Understanding BST </a:t>
            </a:r>
          </a:p>
          <a:p>
            <a:pPr algn="l"/>
            <a:r>
              <a:rPr lang="en-IN" b="0" i="0" dirty="0">
                <a:solidFill>
                  <a:srgbClr val="000000"/>
                </a:solidFill>
                <a:effectLst/>
                <a:latin typeface="-apple-system"/>
              </a:rPr>
              <a:t>A BST is a binary tree where every node has the following properties: </a:t>
            </a:r>
          </a:p>
          <a:p>
            <a:pPr algn="l">
              <a:buFont typeface="Arial" panose="020B0604020202020204" pitchFamily="34" charset="0"/>
              <a:buChar char="•"/>
            </a:pPr>
            <a:r>
              <a:rPr lang="en-IN" b="0" i="0" dirty="0">
                <a:solidFill>
                  <a:srgbClr val="000000"/>
                </a:solidFill>
                <a:effectLst/>
                <a:latin typeface="-apple-system"/>
              </a:rPr>
              <a:t>The left subtree of a node contains only nodes with keys less than the node's key. </a:t>
            </a:r>
          </a:p>
          <a:p>
            <a:pPr algn="l">
              <a:buFont typeface="Arial" panose="020B0604020202020204" pitchFamily="34" charset="0"/>
              <a:buChar char="•"/>
            </a:pPr>
            <a:r>
              <a:rPr lang="en-IN" b="0" i="0" dirty="0">
                <a:solidFill>
                  <a:srgbClr val="000000"/>
                </a:solidFill>
                <a:effectLst/>
                <a:latin typeface="-apple-system"/>
              </a:rPr>
              <a:t>The right subtree of a node contains only nodes with keys greater than the node's key. </a:t>
            </a:r>
          </a:p>
          <a:p>
            <a:pPr algn="l">
              <a:buFont typeface="Arial" panose="020B0604020202020204" pitchFamily="34" charset="0"/>
              <a:buChar char="•"/>
            </a:pPr>
            <a:r>
              <a:rPr lang="en-IN" b="0" i="0" dirty="0">
                <a:solidFill>
                  <a:srgbClr val="000000"/>
                </a:solidFill>
                <a:effectLst/>
                <a:latin typeface="-apple-system"/>
              </a:rPr>
              <a:t>Both the left and right subtrees are also BSTs. </a:t>
            </a:r>
          </a:p>
        </p:txBody>
      </p:sp>
    </p:spTree>
    <p:extLst>
      <p:ext uri="{BB962C8B-B14F-4D97-AF65-F5344CB8AC3E}">
        <p14:creationId xmlns:p14="http://schemas.microsoft.com/office/powerpoint/2010/main" val="895778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C6A57E-DBDF-8031-EF53-FCBEF1923C8D}"/>
              </a:ext>
            </a:extLst>
          </p:cNvPr>
          <p:cNvSpPr txBox="1"/>
          <p:nvPr/>
        </p:nvSpPr>
        <p:spPr>
          <a:xfrm>
            <a:off x="356616" y="394836"/>
            <a:ext cx="11558016" cy="4129336"/>
          </a:xfrm>
          <a:prstGeom prst="rect">
            <a:avLst/>
          </a:prstGeom>
          <a:noFill/>
        </p:spPr>
        <p:txBody>
          <a:bodyPr wrap="square">
            <a:spAutoFit/>
          </a:bodyPr>
          <a:lstStyle/>
          <a:p>
            <a:pPr algn="l">
              <a:lnSpc>
                <a:spcPts val="3375"/>
              </a:lnSpc>
            </a:pPr>
            <a:r>
              <a:rPr lang="en-IN" b="1" i="0" dirty="0">
                <a:solidFill>
                  <a:srgbClr val="000000"/>
                </a:solidFill>
                <a:effectLst/>
                <a:latin typeface="-apple-system"/>
              </a:rPr>
              <a:t>Step-by-step Explanation</a:t>
            </a:r>
          </a:p>
          <a:p>
            <a:pPr algn="l">
              <a:buFont typeface="Arial" panose="020B0604020202020204" pitchFamily="34" charset="0"/>
              <a:buChar char="•"/>
            </a:pPr>
            <a:r>
              <a:rPr lang="en-IN" b="1" i="0" dirty="0">
                <a:solidFill>
                  <a:srgbClr val="000000"/>
                </a:solidFill>
                <a:effectLst/>
                <a:latin typeface="-apple-system"/>
              </a:rPr>
              <a:t>Node </a:t>
            </a:r>
            <a:r>
              <a:rPr lang="en-IN" b="1" i="0" dirty="0" err="1">
                <a:solidFill>
                  <a:srgbClr val="000000"/>
                </a:solidFill>
                <a:effectLst/>
                <a:latin typeface="-apple-system"/>
              </a:rPr>
              <a:t>Class:</a:t>
            </a:r>
            <a:r>
              <a:rPr lang="en-IN" b="0" i="0" dirty="0" err="1">
                <a:solidFill>
                  <a:srgbClr val="000000"/>
                </a:solidFill>
                <a:effectLst/>
                <a:latin typeface="-apple-system"/>
              </a:rPr>
              <a:t>Represents</a:t>
            </a:r>
            <a:r>
              <a:rPr lang="en-IN" b="0" i="0" dirty="0">
                <a:solidFill>
                  <a:srgbClr val="000000"/>
                </a:solidFill>
                <a:effectLst/>
                <a:latin typeface="-apple-system"/>
              </a:rPr>
              <a:t> each node in our BST. Contains an integer key and pointers to left and right child nodes. </a:t>
            </a:r>
          </a:p>
          <a:p>
            <a:pPr algn="l"/>
            <a:r>
              <a:rPr lang="en-IN" b="1" i="0" dirty="0">
                <a:solidFill>
                  <a:srgbClr val="000000"/>
                </a:solidFill>
                <a:effectLst/>
                <a:latin typeface="-apple-system"/>
              </a:rPr>
              <a:t>insert() and </a:t>
            </a:r>
            <a:r>
              <a:rPr lang="en-IN" b="1" i="0" dirty="0" err="1">
                <a:solidFill>
                  <a:srgbClr val="000000"/>
                </a:solidFill>
                <a:effectLst/>
                <a:latin typeface="-apple-system"/>
              </a:rPr>
              <a:t>insertRec</a:t>
            </a:r>
            <a:r>
              <a:rPr lang="en-IN" b="1" i="0" dirty="0">
                <a:solidFill>
                  <a:srgbClr val="000000"/>
                </a:solidFill>
                <a:effectLst/>
                <a:latin typeface="-apple-system"/>
              </a:rPr>
              <a:t>(): </a:t>
            </a:r>
            <a:endParaRPr lang="en-IN" b="0" i="0" dirty="0">
              <a:solidFill>
                <a:srgbClr val="000000"/>
              </a:solidFill>
              <a:effectLst/>
              <a:latin typeface="-apple-system"/>
            </a:endParaRPr>
          </a:p>
          <a:p>
            <a:pPr algn="l">
              <a:buFont typeface="Arial" panose="020B0604020202020204" pitchFamily="34" charset="0"/>
              <a:buChar char="•"/>
            </a:pPr>
            <a:r>
              <a:rPr lang="en-IN" b="0" i="0" dirty="0">
                <a:solidFill>
                  <a:srgbClr val="000000"/>
                </a:solidFill>
                <a:effectLst/>
                <a:latin typeface="-apple-system"/>
              </a:rPr>
              <a:t>These methods help insert a new key into the BST. Using recursion, they traverse the tree to find the correct position and then insert the key. </a:t>
            </a:r>
          </a:p>
          <a:p>
            <a:pPr algn="l"/>
            <a:r>
              <a:rPr lang="en-IN" b="1" i="0" dirty="0">
                <a:solidFill>
                  <a:srgbClr val="000000"/>
                </a:solidFill>
                <a:effectLst/>
                <a:latin typeface="-apple-system"/>
              </a:rPr>
              <a:t>delete() and </a:t>
            </a:r>
            <a:r>
              <a:rPr lang="en-IN" b="1" i="0" dirty="0" err="1">
                <a:solidFill>
                  <a:srgbClr val="000000"/>
                </a:solidFill>
                <a:effectLst/>
                <a:latin typeface="-apple-system"/>
              </a:rPr>
              <a:t>deleteRec</a:t>
            </a:r>
            <a:r>
              <a:rPr lang="en-IN" b="1" i="0" dirty="0">
                <a:solidFill>
                  <a:srgbClr val="000000"/>
                </a:solidFill>
                <a:effectLst/>
                <a:latin typeface="-apple-system"/>
              </a:rPr>
              <a:t>(): </a:t>
            </a:r>
            <a:endParaRPr lang="en-IN" b="0" i="0" dirty="0">
              <a:solidFill>
                <a:srgbClr val="000000"/>
              </a:solidFill>
              <a:effectLst/>
              <a:latin typeface="-apple-system"/>
            </a:endParaRPr>
          </a:p>
          <a:p>
            <a:pPr algn="l">
              <a:buFont typeface="Arial" panose="020B0604020202020204" pitchFamily="34" charset="0"/>
              <a:buChar char="•"/>
            </a:pPr>
            <a:r>
              <a:rPr lang="en-IN" b="0" i="0" dirty="0">
                <a:solidFill>
                  <a:srgbClr val="000000"/>
                </a:solidFill>
                <a:effectLst/>
                <a:latin typeface="-apple-system"/>
              </a:rPr>
              <a:t>Used to delete a key from the BST. The </a:t>
            </a:r>
            <a:r>
              <a:rPr lang="en-IN" b="0" i="1" dirty="0" err="1">
                <a:solidFill>
                  <a:srgbClr val="D73A49"/>
                </a:solidFill>
                <a:effectLst/>
                <a:latin typeface="Consolas" panose="020B0609020204030204" pitchFamily="49" charset="0"/>
              </a:rPr>
              <a:t>deleteRec</a:t>
            </a:r>
            <a:r>
              <a:rPr lang="en-IN" b="0" i="1" dirty="0">
                <a:solidFill>
                  <a:srgbClr val="D73A49"/>
                </a:solidFill>
                <a:effectLst/>
                <a:latin typeface="Consolas" panose="020B0609020204030204" pitchFamily="49" charset="0"/>
              </a:rPr>
              <a:t>()</a:t>
            </a:r>
            <a:r>
              <a:rPr lang="en-IN" b="0" i="0" dirty="0">
                <a:solidFill>
                  <a:srgbClr val="000000"/>
                </a:solidFill>
                <a:effectLst/>
                <a:latin typeface="-apple-system"/>
              </a:rPr>
              <a:t> function uses recursion to find the node to be deleted. If the node has one or no child, it deletes the node. For nodes with two children, it finds the </a:t>
            </a:r>
            <a:r>
              <a:rPr lang="en-IN" b="0" i="1" dirty="0" err="1">
                <a:solidFill>
                  <a:srgbClr val="D73A49"/>
                </a:solidFill>
                <a:effectLst/>
                <a:latin typeface="Consolas" panose="020B0609020204030204" pitchFamily="49" charset="0"/>
              </a:rPr>
              <a:t>inorder</a:t>
            </a:r>
            <a:r>
              <a:rPr lang="en-IN" b="0" i="0" dirty="0">
                <a:solidFill>
                  <a:srgbClr val="000000"/>
                </a:solidFill>
                <a:effectLst/>
                <a:latin typeface="-apple-system"/>
              </a:rPr>
              <a:t> successor (smallest value in the right subtree) and replaces the node's key with this value.</a:t>
            </a:r>
          </a:p>
          <a:p>
            <a:pPr algn="l"/>
            <a:r>
              <a:rPr lang="en-IN" b="1" i="0" dirty="0">
                <a:solidFill>
                  <a:srgbClr val="000000"/>
                </a:solidFill>
                <a:effectLst/>
                <a:latin typeface="-apple-system"/>
              </a:rPr>
              <a:t>search() and </a:t>
            </a:r>
            <a:r>
              <a:rPr lang="en-IN" b="1" i="0" dirty="0" err="1">
                <a:solidFill>
                  <a:srgbClr val="000000"/>
                </a:solidFill>
                <a:effectLst/>
                <a:latin typeface="-apple-system"/>
              </a:rPr>
              <a:t>searchRec</a:t>
            </a:r>
            <a:r>
              <a:rPr lang="en-IN" b="1" i="0" dirty="0">
                <a:solidFill>
                  <a:srgbClr val="000000"/>
                </a:solidFill>
                <a:effectLst/>
                <a:latin typeface="-apple-system"/>
              </a:rPr>
              <a:t>(): </a:t>
            </a:r>
            <a:endParaRPr lang="en-IN" b="0" i="0" dirty="0">
              <a:solidFill>
                <a:srgbClr val="000000"/>
              </a:solidFill>
              <a:effectLst/>
              <a:latin typeface="-apple-system"/>
            </a:endParaRPr>
          </a:p>
          <a:p>
            <a:pPr algn="l">
              <a:buFont typeface="Arial" panose="020B0604020202020204" pitchFamily="34" charset="0"/>
              <a:buChar char="•"/>
            </a:pPr>
            <a:r>
              <a:rPr lang="en-IN" b="0" i="0" dirty="0">
                <a:solidFill>
                  <a:srgbClr val="000000"/>
                </a:solidFill>
                <a:effectLst/>
                <a:latin typeface="-apple-system"/>
              </a:rPr>
              <a:t>These methods help check if a key exists in the BST. They use recursion to traverse the tree in search of the key. </a:t>
            </a:r>
          </a:p>
          <a:p>
            <a:pPr algn="l"/>
            <a:r>
              <a:rPr lang="en-IN" b="1" i="0" dirty="0">
                <a:solidFill>
                  <a:srgbClr val="000000"/>
                </a:solidFill>
                <a:effectLst/>
                <a:latin typeface="-apple-system"/>
              </a:rPr>
              <a:t>main Method: </a:t>
            </a:r>
            <a:endParaRPr lang="en-IN" b="0" i="0" dirty="0">
              <a:solidFill>
                <a:srgbClr val="000000"/>
              </a:solidFill>
              <a:effectLst/>
              <a:latin typeface="-apple-system"/>
            </a:endParaRPr>
          </a:p>
          <a:p>
            <a:pPr algn="l">
              <a:buFont typeface="Arial" panose="020B0604020202020204" pitchFamily="34" charset="0"/>
              <a:buChar char="•"/>
            </a:pPr>
            <a:r>
              <a:rPr lang="en-IN" b="0" i="0" dirty="0">
                <a:solidFill>
                  <a:srgbClr val="000000"/>
                </a:solidFill>
                <a:effectLst/>
                <a:latin typeface="-apple-system"/>
              </a:rPr>
              <a:t>Here, we create a sample BST by inserting multiple keys. Then, we search for a few keys and print the results. Lastly, we delete a key and check if it's successfully removed by searching again. </a:t>
            </a:r>
          </a:p>
        </p:txBody>
      </p:sp>
    </p:spTree>
    <p:extLst>
      <p:ext uri="{BB962C8B-B14F-4D97-AF65-F5344CB8AC3E}">
        <p14:creationId xmlns:p14="http://schemas.microsoft.com/office/powerpoint/2010/main" val="1736180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440</TotalTime>
  <Words>1629</Words>
  <Application>Microsoft Office PowerPoint</Application>
  <PresentationFormat>Widescreen</PresentationFormat>
  <Paragraphs>119</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-apple-system</vt:lpstr>
      <vt:lpstr>Aptos</vt:lpstr>
      <vt:lpstr>Aptos Display</vt:lpstr>
      <vt:lpstr>Arial</vt:lpstr>
      <vt:lpstr>Consolas</vt:lpstr>
      <vt:lpstr>Vollkorn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charan teja</dc:creator>
  <cp:lastModifiedBy>charan teja</cp:lastModifiedBy>
  <cp:revision>8</cp:revision>
  <dcterms:created xsi:type="dcterms:W3CDTF">2024-11-06T14:37:35Z</dcterms:created>
  <dcterms:modified xsi:type="dcterms:W3CDTF">2025-08-02T02:45:52Z</dcterms:modified>
</cp:coreProperties>
</file>