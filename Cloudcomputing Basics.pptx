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5" r:id="rId5"/>
    <p:sldId id="278" r:id="rId6"/>
    <p:sldId id="266" r:id="rId7"/>
    <p:sldId id="268" r:id="rId8"/>
    <p:sldId id="269" r:id="rId9"/>
    <p:sldId id="294" r:id="rId10"/>
    <p:sldId id="272" r:id="rId11"/>
    <p:sldId id="304" r:id="rId12"/>
    <p:sldId id="305" r:id="rId13"/>
    <p:sldId id="306" r:id="rId14"/>
    <p:sldId id="307" r:id="rId15"/>
    <p:sldId id="308" r:id="rId16"/>
    <p:sldId id="309" r:id="rId17"/>
    <p:sldId id="296" r:id="rId18"/>
    <p:sldId id="303" r:id="rId19"/>
    <p:sldId id="297" r:id="rId20"/>
    <p:sldId id="298" r:id="rId21"/>
    <p:sldId id="299" r:id="rId22"/>
    <p:sldId id="300" r:id="rId23"/>
    <p:sldId id="275" r:id="rId24"/>
    <p:sldId id="276" r:id="rId25"/>
    <p:sldId id="282" r:id="rId26"/>
    <p:sldId id="283" r:id="rId27"/>
    <p:sldId id="281" r:id="rId28"/>
    <p:sldId id="29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302BA-358A-4ACB-BED8-FE468FEEBEB1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D64E3-59B2-4DF0-8618-4E87DD2BBE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k21academy.com/amazon-web-services/aws-solutions-architect/aws-ec2-instance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10" y="1781174"/>
            <a:ext cx="8759170" cy="4405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250" y="1196752"/>
            <a:ext cx="8084174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736724"/>
            <a:ext cx="8578980" cy="450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268760"/>
            <a:ext cx="8928461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1556792"/>
            <a:ext cx="849694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Cloud Computing</a:t>
            </a:r>
            <a:r>
              <a:rPr lang="en-US" sz="2000" dirty="0"/>
              <a:t> is defined as storing and accessing of data and computing services over the </a:t>
            </a:r>
            <a:r>
              <a:rPr lang="en-US" sz="2000" dirty="0" smtClean="0"/>
              <a:t>internet.</a:t>
            </a:r>
          </a:p>
          <a:p>
            <a:r>
              <a:rPr lang="en-US" sz="2000" dirty="0" smtClean="0"/>
              <a:t> </a:t>
            </a:r>
          </a:p>
          <a:p>
            <a:r>
              <a:rPr lang="en-US" sz="2000" dirty="0" smtClean="0"/>
              <a:t>It </a:t>
            </a:r>
            <a:r>
              <a:rPr lang="en-US" sz="2000" dirty="0"/>
              <a:t>doesn't store any data on your personal computer. It is the on-demand availability of computer services like servers, data storage, networking, databases, etc.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The </a:t>
            </a:r>
            <a:r>
              <a:rPr lang="en-US" sz="2000" dirty="0"/>
              <a:t>main purpose of cloud computing is to give access to data centers to many users. Users can also access data from a remote server</a:t>
            </a:r>
            <a:r>
              <a:rPr lang="en-US" sz="2000" dirty="0" smtClean="0"/>
              <a:t>.</a:t>
            </a:r>
          </a:p>
          <a:p>
            <a:endParaRPr lang="en-IN" sz="2000" dirty="0"/>
          </a:p>
          <a:p>
            <a:endParaRPr lang="en-IN" sz="2000" dirty="0" smtClean="0"/>
          </a:p>
          <a:p>
            <a:r>
              <a:rPr lang="en-US" sz="2000" b="1" dirty="0"/>
              <a:t>Examples of Cloud Computing Services:</a:t>
            </a:r>
            <a:br>
              <a:rPr lang="en-US" sz="2000" b="1" dirty="0"/>
            </a:br>
            <a:endParaRPr lang="en-US" sz="2000" b="1" dirty="0" smtClean="0"/>
          </a:p>
          <a:p>
            <a:r>
              <a:rPr lang="en-US" sz="2000" dirty="0" smtClean="0"/>
              <a:t>AWS</a:t>
            </a:r>
            <a:r>
              <a:rPr lang="en-US" sz="2000" dirty="0"/>
              <a:t>, Azure, Google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552" y="476672"/>
            <a:ext cx="3570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is Cloud Computing?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836712"/>
            <a:ext cx="871296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Cloud Computing basics with an example </a:t>
            </a:r>
            <a:r>
              <a:rPr lang="en-US" sz="2000" dirty="0" smtClean="0"/>
              <a:t>–</a:t>
            </a:r>
          </a:p>
          <a:p>
            <a:endParaRPr lang="en-IN" sz="2000" dirty="0"/>
          </a:p>
          <a:p>
            <a:endParaRPr lang="en-IN" sz="2000" dirty="0" smtClean="0"/>
          </a:p>
          <a:p>
            <a:endParaRPr lang="en-US" sz="2000" dirty="0"/>
          </a:p>
          <a:p>
            <a:r>
              <a:rPr lang="en-US" sz="2000" dirty="0"/>
              <a:t>Whenever you travel through a bus or train, you take a ticket for your destination and hold back to your seat till you reach your destination.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Likewise </a:t>
            </a:r>
            <a:r>
              <a:rPr lang="en-US" sz="2000" dirty="0"/>
              <a:t>other passengers also takes ticket and travel in the same bus with you and it hardly bothers you where they go.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When </a:t>
            </a:r>
            <a:r>
              <a:rPr lang="en-US" sz="2000" dirty="0"/>
              <a:t>your stop comes you get off the bus thanking the driver. </a:t>
            </a:r>
            <a:endParaRPr lang="en-US" sz="2000" dirty="0" smtClean="0"/>
          </a:p>
          <a:p>
            <a:r>
              <a:rPr lang="en-US" sz="2000" dirty="0" smtClean="0"/>
              <a:t>Cloud </a:t>
            </a:r>
            <a:r>
              <a:rPr lang="en-US" sz="2000" dirty="0"/>
              <a:t>computing is just like that bus, carrying </a:t>
            </a:r>
            <a:r>
              <a:rPr lang="en-US" sz="2000" b="1" dirty="0"/>
              <a:t>data and information</a:t>
            </a:r>
            <a:r>
              <a:rPr lang="en-US" sz="2000" dirty="0"/>
              <a:t> for different users and allows to use its service with minimal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44624"/>
            <a:ext cx="903649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Why the Name Cloud</a:t>
            </a:r>
            <a:r>
              <a:rPr lang="en-US" sz="2000" b="1" dirty="0" smtClean="0"/>
              <a:t>?</a:t>
            </a:r>
          </a:p>
          <a:p>
            <a:endParaRPr lang="en-US" sz="2000" b="1" dirty="0"/>
          </a:p>
          <a:p>
            <a:r>
              <a:rPr lang="en-US" sz="2000" dirty="0"/>
              <a:t>The term “Cloud” came from a network design that was used by network engineers to represent the location of various network devices and there inter-connection. 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shape of this network design was like a cloud.</a:t>
            </a:r>
          </a:p>
        </p:txBody>
      </p:sp>
      <p:pic>
        <p:nvPicPr>
          <p:cNvPr id="26626" name="Picture 2" descr=" Cloud Computing for Beginn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204864"/>
            <a:ext cx="4752528" cy="45771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154" y="44624"/>
            <a:ext cx="8859334" cy="4793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427984" y="544522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Software as a Service (</a:t>
            </a:r>
            <a:r>
              <a:rPr lang="en-US" b="1" dirty="0" err="1" smtClean="0"/>
              <a:t>SaaS</a:t>
            </a:r>
            <a:r>
              <a:rPr lang="en-US" b="1" dirty="0" smtClean="0"/>
              <a:t>)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Platform as a Service (</a:t>
            </a:r>
            <a:r>
              <a:rPr lang="en-US" b="1" dirty="0" err="1" smtClean="0"/>
              <a:t>PaaS</a:t>
            </a:r>
            <a:r>
              <a:rPr lang="en-US" b="1" dirty="0" smtClean="0"/>
              <a:t>)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Infrastructure as a Service (</a:t>
            </a:r>
            <a:r>
              <a:rPr lang="en-US" b="1" dirty="0" err="1" smtClean="0"/>
              <a:t>IaaS</a:t>
            </a:r>
            <a:r>
              <a:rPr lang="en-US" b="1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8568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endParaRPr lang="en-US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800" y="581025"/>
            <a:ext cx="8788400" cy="569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612845"/>
            <a:ext cx="88583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Infrastructure As A Service (</a:t>
            </a:r>
            <a:r>
              <a:rPr lang="en-US" sz="2400" b="1" dirty="0" err="1" smtClean="0"/>
              <a:t>IaaS</a:t>
            </a:r>
            <a:r>
              <a:rPr lang="en-US" sz="2400" b="1" dirty="0" smtClean="0"/>
              <a:t>)</a:t>
            </a:r>
          </a:p>
          <a:p>
            <a:endParaRPr lang="en-US" sz="2400" b="1" dirty="0" smtClean="0"/>
          </a:p>
          <a:p>
            <a:r>
              <a:rPr lang="en-US" sz="2400" dirty="0" smtClean="0"/>
              <a:t>It is the</a:t>
            </a:r>
            <a:r>
              <a:rPr lang="en-US" sz="2400" b="1" dirty="0" smtClean="0"/>
              <a:t> most flexible</a:t>
            </a:r>
            <a:r>
              <a:rPr lang="en-US" sz="2400" dirty="0" smtClean="0"/>
              <a:t> type of cloud service which lets you rent the hardware and contains the basic building blocks for cloud and IT.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It </a:t>
            </a:r>
            <a:r>
              <a:rPr lang="en-US" sz="2400" b="1" dirty="0" smtClean="0"/>
              <a:t>gives complete control over the hardware</a:t>
            </a:r>
            <a:r>
              <a:rPr lang="en-US" sz="2400" dirty="0" smtClean="0"/>
              <a:t> that runs your application (servers, VMs, storage, networks &amp; operating systems</a:t>
            </a:r>
            <a:r>
              <a:rPr lang="en-US" sz="2400" dirty="0" smtClean="0"/>
              <a:t>).</a:t>
            </a:r>
          </a:p>
          <a:p>
            <a:endParaRPr lang="en-US" sz="2400" dirty="0" smtClean="0"/>
          </a:p>
          <a:p>
            <a:r>
              <a:rPr lang="en-US" sz="2400" dirty="0" smtClean="0"/>
              <a:t>It’s an</a:t>
            </a:r>
            <a:r>
              <a:rPr lang="en-US" sz="2400" b="1" dirty="0" smtClean="0"/>
              <a:t> instant computing</a:t>
            </a:r>
            <a:r>
              <a:rPr lang="en-US" sz="2400" dirty="0" smtClean="0"/>
              <a:t> infrastructure, provisioned and managed over the internet.</a:t>
            </a:r>
          </a:p>
          <a:p>
            <a:endParaRPr lang="en-US" sz="2400" dirty="0" smtClean="0"/>
          </a:p>
          <a:p>
            <a:r>
              <a:rPr lang="en-US" sz="2400" b="1" dirty="0" smtClean="0"/>
              <a:t>Examples</a:t>
            </a:r>
            <a:r>
              <a:rPr lang="en-US" sz="2400" dirty="0" smtClean="0"/>
              <a:t> of </a:t>
            </a:r>
            <a:r>
              <a:rPr lang="en-US" sz="2400" dirty="0" err="1" smtClean="0"/>
              <a:t>IaaS</a:t>
            </a:r>
            <a:r>
              <a:rPr lang="en-US" sz="2400" dirty="0" smtClean="0"/>
              <a:t> </a:t>
            </a:r>
            <a:r>
              <a:rPr lang="en-US" sz="2400" dirty="0" smtClean="0"/>
              <a:t>are </a:t>
            </a:r>
            <a:r>
              <a:rPr lang="en-US" sz="2400" b="1" dirty="0" smtClean="0">
                <a:hlinkClick r:id="rId2"/>
              </a:rPr>
              <a:t>AWS </a:t>
            </a:r>
            <a:r>
              <a:rPr lang="en-US" sz="2400" b="1" dirty="0" smtClean="0">
                <a:hlinkClick r:id="rId2"/>
              </a:rPr>
              <a:t>EC2</a:t>
            </a:r>
            <a:r>
              <a:rPr lang="en-US" sz="2400" dirty="0" smtClean="0"/>
              <a:t>, Storage or Networking. </a:t>
            </a:r>
            <a:r>
              <a:rPr lang="en-US" sz="2400" dirty="0" err="1" smtClean="0"/>
              <a:t>DigitalOcean</a:t>
            </a:r>
            <a:r>
              <a:rPr lang="en-US" sz="2400" dirty="0" smtClean="0"/>
              <a:t>, Amazon Web Services (AWS), Microsoft Azure, Google Compute Engine (GCE), </a:t>
            </a:r>
            <a:r>
              <a:rPr lang="en-US" sz="2400" dirty="0" err="1" smtClean="0"/>
              <a:t>Rackspace</a:t>
            </a:r>
            <a:r>
              <a:rPr lang="en-US" sz="2400" dirty="0" smtClean="0"/>
              <a:t>, and Cisco </a:t>
            </a:r>
            <a:r>
              <a:rPr lang="en-US" sz="2400" dirty="0" err="1" smtClean="0"/>
              <a:t>Metacloud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ud Service Model Ia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00108"/>
            <a:ext cx="7030516" cy="48196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1047825"/>
            <a:ext cx="864396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Platform As A Service (</a:t>
            </a:r>
            <a:r>
              <a:rPr lang="en-US" b="1" dirty="0" err="1" smtClean="0"/>
              <a:t>PaaS</a:t>
            </a:r>
            <a:r>
              <a:rPr lang="en-US" b="1" dirty="0" smtClean="0"/>
              <a:t>)</a:t>
            </a:r>
          </a:p>
          <a:p>
            <a:r>
              <a:rPr lang="en-US" dirty="0" err="1" smtClean="0"/>
              <a:t>PaaS</a:t>
            </a:r>
            <a:r>
              <a:rPr lang="en-US" dirty="0" smtClean="0"/>
              <a:t> is a cloud service model that gives a ready-to-use development environment where developers can specialize in writing and executing high-quality code to make customized applications.</a:t>
            </a:r>
          </a:p>
          <a:p>
            <a:r>
              <a:rPr lang="en-US" dirty="0" smtClean="0"/>
              <a:t>It helps to create an application quickly without managing the underlying infrastructure.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 smtClean="0"/>
              <a:t>example, when deploying a web application using </a:t>
            </a:r>
            <a:r>
              <a:rPr lang="en-US" dirty="0" err="1" smtClean="0"/>
              <a:t>PaaS</a:t>
            </a:r>
            <a:r>
              <a:rPr lang="en-US" dirty="0" smtClean="0"/>
              <a:t>, you don’t have to install an operating system, web server, or even system updates. However, you can scale and add new features to your services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Examples of </a:t>
            </a:r>
            <a:r>
              <a:rPr lang="en-US" b="1" dirty="0" err="1" smtClean="0"/>
              <a:t>PaaS</a:t>
            </a:r>
            <a:r>
              <a:rPr lang="en-US" dirty="0" smtClean="0"/>
              <a:t>: Elastic Beanstalk or Lambda from AWS, </a:t>
            </a:r>
            <a:r>
              <a:rPr lang="en-US" dirty="0" err="1" smtClean="0"/>
              <a:t>WebApps</a:t>
            </a:r>
            <a:r>
              <a:rPr lang="en-US" dirty="0" smtClean="0"/>
              <a:t>, Functions or Azure SQL DB from Azure, Cloud SQL DB from Google Cloud, or Oracle Database Cloud Service from Oracle Cloud.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Cloud Service Model Pa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714488"/>
            <a:ext cx="4229100" cy="4143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1166843"/>
            <a:ext cx="864399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Software As A Service (</a:t>
            </a:r>
            <a:r>
              <a:rPr lang="en-US" b="1" dirty="0" err="1" smtClean="0"/>
              <a:t>SaaS</a:t>
            </a:r>
            <a:r>
              <a:rPr lang="en-US" b="1" dirty="0" smtClean="0"/>
              <a:t>)</a:t>
            </a:r>
          </a:p>
          <a:p>
            <a:endParaRPr lang="en-US" b="1" dirty="0" smtClean="0"/>
          </a:p>
          <a:p>
            <a:r>
              <a:rPr lang="en-US" dirty="0" err="1" smtClean="0"/>
              <a:t>SaaS</a:t>
            </a:r>
            <a:r>
              <a:rPr lang="en-US" dirty="0" smtClean="0"/>
              <a:t> provides you with a complete product that is run and managed by the service provider.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 smtClean="0"/>
              <a:t>a </a:t>
            </a:r>
            <a:r>
              <a:rPr lang="en-US" dirty="0" err="1" smtClean="0"/>
              <a:t>SaaS</a:t>
            </a:r>
            <a:r>
              <a:rPr lang="en-US" dirty="0" smtClean="0"/>
              <a:t> offering, you don’t need to worry about how the service is maintained or how the underlying infrastructure is managed. It would help if you believed how you’d use that specific software.</a:t>
            </a:r>
          </a:p>
          <a:p>
            <a:endParaRPr lang="en-US" b="1" dirty="0" smtClean="0"/>
          </a:p>
          <a:p>
            <a:r>
              <a:rPr lang="en-US" b="1" dirty="0" smtClean="0"/>
              <a:t>Examples</a:t>
            </a:r>
            <a:r>
              <a:rPr lang="en-US" dirty="0" smtClean="0"/>
              <a:t> of </a:t>
            </a:r>
            <a:r>
              <a:rPr lang="en-US" dirty="0" err="1" smtClean="0"/>
              <a:t>SaaS</a:t>
            </a:r>
            <a:r>
              <a:rPr lang="en-US" dirty="0" smtClean="0"/>
              <a:t>: Microsoft Office 365, Oracle ERP/HCM Cloud, </a:t>
            </a:r>
            <a:r>
              <a:rPr lang="en-US" dirty="0" err="1" smtClean="0"/>
              <a:t>SalesForce</a:t>
            </a:r>
            <a:r>
              <a:rPr lang="en-US" dirty="0" smtClean="0"/>
              <a:t>, Gmail, or </a:t>
            </a:r>
            <a:r>
              <a:rPr lang="en-US" dirty="0" err="1" smtClean="0"/>
              <a:t>Dropbox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Cloud Service Model Sa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80" y="1857364"/>
            <a:ext cx="6719902" cy="40862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32656"/>
            <a:ext cx="65151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484784"/>
            <a:ext cx="8521162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804863"/>
            <a:ext cx="9001125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05991"/>
            <a:ext cx="9144000" cy="509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23875"/>
            <a:ext cx="9036496" cy="549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587375"/>
            <a:ext cx="8820472" cy="5217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676275"/>
            <a:ext cx="8892480" cy="4912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692696"/>
            <a:ext cx="88569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What is Cloud Computing Architecture</a:t>
            </a:r>
            <a:r>
              <a:rPr lang="en-US" sz="2000" b="1" dirty="0" smtClean="0"/>
              <a:t>?</a:t>
            </a:r>
          </a:p>
          <a:p>
            <a:endParaRPr lang="en-IN" sz="2000" b="1" dirty="0"/>
          </a:p>
          <a:p>
            <a:endParaRPr lang="en-US" sz="2000" b="1" dirty="0"/>
          </a:p>
          <a:p>
            <a:r>
              <a:rPr lang="en-US" sz="2000" b="1" dirty="0"/>
              <a:t>Cloud Computing Architecture</a:t>
            </a:r>
            <a:r>
              <a:rPr lang="en-US" sz="2000" dirty="0"/>
              <a:t> is a combination of components required for a Cloud Computing service. </a:t>
            </a:r>
            <a:endParaRPr lang="en-US" sz="2000" dirty="0" smtClean="0"/>
          </a:p>
          <a:p>
            <a:r>
              <a:rPr lang="en-US" sz="2000" dirty="0" smtClean="0"/>
              <a:t>A </a:t>
            </a:r>
            <a:r>
              <a:rPr lang="en-US" sz="2000" dirty="0"/>
              <a:t>Cloud computing architecture consists of several components like a front-end platform, a back-end platform or servers, a network or internet service, and a cloud based delivery service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 smtClean="0"/>
              <a:t> </a:t>
            </a:r>
          </a:p>
          <a:p>
            <a:r>
              <a:rPr lang="en-US" sz="2000" dirty="0" smtClean="0"/>
              <a:t>Cloud </a:t>
            </a:r>
            <a:r>
              <a:rPr lang="en-US" sz="2000" dirty="0"/>
              <a:t>computing comprises of two components front end and back end.  </a:t>
            </a:r>
            <a:endParaRPr lang="en-US" sz="2000" dirty="0" smtClean="0"/>
          </a:p>
          <a:p>
            <a:r>
              <a:rPr lang="en-US" sz="2000" dirty="0" smtClean="0"/>
              <a:t>Front </a:t>
            </a:r>
            <a:r>
              <a:rPr lang="en-US" sz="2000" dirty="0"/>
              <a:t>end consist client part of cloud computing system.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It </a:t>
            </a:r>
            <a:r>
              <a:rPr lang="en-US" sz="2000" dirty="0"/>
              <a:t>comprise of interfaces and applications that are required to access the Cloud Computing or Cloud Programming platform.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loud Computing Architect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08720"/>
            <a:ext cx="8572500" cy="51816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8640"/>
            <a:ext cx="88569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What is AWS? </a:t>
            </a:r>
          </a:p>
          <a:p>
            <a:endParaRPr lang="en-US" b="1" dirty="0" smtClean="0"/>
          </a:p>
          <a:p>
            <a:r>
              <a:rPr lang="en-US" dirty="0" smtClean="0"/>
              <a:t>AWS stands for Amazon Web Service, which is among the most popular cloud platforms. AWS provides developers and organizations with cloud services and helps them stay agile. From multi-million startups to government agencies, many organizations are using AWS. If you want to become a cloud-computing professional, you should learn about AWS. AWS provides a variety of services to its clients.</a:t>
            </a:r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521421"/>
            <a:ext cx="8820472" cy="4219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351627"/>
            <a:ext cx="7351741" cy="375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9025" y="1612900"/>
            <a:ext cx="6965950" cy="363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6838" y="2409825"/>
            <a:ext cx="641032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92696"/>
            <a:ext cx="8496944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920971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62" y="1628774"/>
            <a:ext cx="8940726" cy="460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4017"/>
            <a:ext cx="6552728" cy="65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990" y="836712"/>
            <a:ext cx="8948010" cy="554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202</Words>
  <Application>Microsoft Office PowerPoint</Application>
  <PresentationFormat>On-screen Show (4:3)</PresentationFormat>
  <Paragraphs>67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Windows User</cp:lastModifiedBy>
  <cp:revision>27</cp:revision>
  <dcterms:created xsi:type="dcterms:W3CDTF">2021-05-26T02:08:51Z</dcterms:created>
  <dcterms:modified xsi:type="dcterms:W3CDTF">2025-01-08T04:00:42Z</dcterms:modified>
</cp:coreProperties>
</file>