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  <p:sldId id="267" r:id="rId9"/>
    <p:sldId id="269" r:id="rId10"/>
    <p:sldId id="278" r:id="rId11"/>
    <p:sldId id="279" r:id="rId12"/>
    <p:sldId id="28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3A6E-7CA8-49BF-AF45-99BAC5FDF788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4235-3E38-4457-B363-E73279D219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3A6E-7CA8-49BF-AF45-99BAC5FDF788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4235-3E38-4457-B363-E73279D219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3A6E-7CA8-49BF-AF45-99BAC5FDF788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4235-3E38-4457-B363-E73279D219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3A6E-7CA8-49BF-AF45-99BAC5FDF788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4235-3E38-4457-B363-E73279D219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3A6E-7CA8-49BF-AF45-99BAC5FDF788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4235-3E38-4457-B363-E73279D219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3A6E-7CA8-49BF-AF45-99BAC5FDF788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4235-3E38-4457-B363-E73279D219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3A6E-7CA8-49BF-AF45-99BAC5FDF788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4235-3E38-4457-B363-E73279D219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3A6E-7CA8-49BF-AF45-99BAC5FDF788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4235-3E38-4457-B363-E73279D219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3A6E-7CA8-49BF-AF45-99BAC5FDF788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4235-3E38-4457-B363-E73279D219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3A6E-7CA8-49BF-AF45-99BAC5FDF788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4235-3E38-4457-B363-E73279D219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3A6E-7CA8-49BF-AF45-99BAC5FDF788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4235-3E38-4457-B363-E73279D219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C3A6E-7CA8-49BF-AF45-99BAC5FDF788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64235-3E38-4457-B363-E73279D2193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7663" y="1857375"/>
            <a:ext cx="8448675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3" y="1214422"/>
            <a:ext cx="8039657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3970" y="1214422"/>
            <a:ext cx="8296061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03325"/>
            <a:ext cx="9144000" cy="445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38275"/>
            <a:ext cx="9001156" cy="398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57150" y="1571612"/>
            <a:ext cx="9201150" cy="3475048"/>
            <a:chOff x="-12700" y="500042"/>
            <a:chExt cx="9201150" cy="3475048"/>
          </a:xfrm>
        </p:grpSpPr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12700" y="500042"/>
              <a:ext cx="9156700" cy="307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2000240"/>
              <a:ext cx="9188450" cy="1974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650" y="0"/>
            <a:ext cx="7324746" cy="301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357158" y="3286124"/>
            <a:ext cx="721523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What are the common instructions in a </a:t>
            </a:r>
            <a:r>
              <a:rPr lang="en-US" sz="2400" b="1" dirty="0" err="1" smtClean="0">
                <a:solidFill>
                  <a:srgbClr val="0070C0"/>
                </a:solidFill>
              </a:rPr>
              <a:t>Dockerfile</a:t>
            </a:r>
            <a:r>
              <a:rPr lang="en-US" sz="2400" b="1" dirty="0" smtClean="0">
                <a:solidFill>
                  <a:srgbClr val="0070C0"/>
                </a:solidFill>
              </a:rPr>
              <a:t>?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FROM:   </a:t>
            </a:r>
            <a:r>
              <a:rPr lang="en-US" dirty="0" smtClean="0"/>
              <a:t>Base image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RUN:      </a:t>
            </a:r>
            <a:r>
              <a:rPr lang="en-US" dirty="0" smtClean="0"/>
              <a:t>Execute command during build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CMD:      </a:t>
            </a:r>
            <a:r>
              <a:rPr lang="en-US" dirty="0" smtClean="0"/>
              <a:t>Default command to run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COPY / ADD</a:t>
            </a:r>
            <a:r>
              <a:rPr lang="en-US" dirty="0" smtClean="0"/>
              <a:t>:     Copy files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WORKDIR</a:t>
            </a:r>
            <a:r>
              <a:rPr lang="en-US" dirty="0" smtClean="0"/>
              <a:t>:       Set working directory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2359"/>
            <a:ext cx="9144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1.  How do you create a </a:t>
            </a:r>
            <a:r>
              <a:rPr lang="en-US" sz="20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Docker</a:t>
            </a:r>
            <a:r>
              <a:rPr lang="en-US" sz="20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image?</a:t>
            </a:r>
          </a:p>
          <a:p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Ans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   </a:t>
            </a:r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docker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build -t &lt;image-name&gt;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IN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2.  How do you list all images and containers?</a:t>
            </a:r>
          </a:p>
          <a:p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Ans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    </a:t>
            </a:r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docker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images,</a:t>
            </a:r>
          </a:p>
          <a:p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</a:t>
            </a:r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docker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ps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-a</a:t>
            </a:r>
          </a:p>
          <a:p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3.  How do you create a </a:t>
            </a:r>
            <a:r>
              <a:rPr lang="en-US" sz="20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Docker</a:t>
            </a:r>
            <a:r>
              <a:rPr lang="en-US" sz="20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container from an image?</a:t>
            </a:r>
          </a:p>
          <a:p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Ans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       </a:t>
            </a:r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docker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run &lt;image-name&gt;</a:t>
            </a:r>
          </a:p>
          <a:p>
            <a:endParaRPr lang="en-IN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 4.  </a:t>
            </a:r>
            <a:r>
              <a:rPr lang="en-US" sz="20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How do you check running containers?</a:t>
            </a:r>
          </a:p>
          <a:p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Ans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   </a:t>
            </a:r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docker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ps</a:t>
            </a:r>
            <a:endParaRPr lang="en-US" sz="20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AutoNum type="arabicPeriod" startAt="5"/>
            </a:pPr>
            <a:r>
              <a:rPr lang="en-US" sz="20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How do you stop, start, and remove a container?</a:t>
            </a:r>
          </a:p>
          <a:p>
            <a:pPr marL="342900" indent="-342900"/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Ans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 </a:t>
            </a:r>
            <a:endParaRPr lang="en-US" sz="2000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docker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stop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&lt;container-id&gt;</a:t>
            </a:r>
          </a:p>
          <a:p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docker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start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&lt;container-id&gt;</a:t>
            </a:r>
          </a:p>
          <a:p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docker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rm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&lt;container-id&gt;</a:t>
            </a:r>
          </a:p>
          <a:p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ChangeArrowheads="1"/>
          </p:cNvSpPr>
          <p:nvPr/>
        </p:nvSpPr>
        <p:spPr bwMode="auto">
          <a:xfrm>
            <a:off x="0" y="785794"/>
            <a:ext cx="9144000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docker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 –version    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– Show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Docker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version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docker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 info            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– Show system-wide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Docker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info</a:t>
            </a:r>
          </a:p>
          <a:p>
            <a:r>
              <a:rPr lang="en-US" sz="24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docker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images       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– List all local images</a:t>
            </a:r>
          </a:p>
          <a:p>
            <a:r>
              <a:rPr lang="en-US" sz="24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docker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pull &lt;image&gt;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– Download an image</a:t>
            </a:r>
          </a:p>
          <a:p>
            <a:r>
              <a:rPr lang="en-US" sz="24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docker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build -t &lt;name&gt;:&lt;tag&gt;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 – Build an image from a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Dockerfile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docker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rmi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&lt;image</a:t>
            </a:r>
            <a:r>
              <a:rPr lang="en-US" sz="24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&gt;  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– Remove an image</a:t>
            </a:r>
          </a:p>
          <a:p>
            <a:r>
              <a:rPr lang="en-US" sz="2400" dirty="0" err="1" smtClean="0">
                <a:solidFill>
                  <a:srgbClr val="FF0000"/>
                </a:solidFill>
              </a:rPr>
              <a:t>docker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ps</a:t>
            </a:r>
            <a:r>
              <a:rPr lang="en-US" sz="2400" dirty="0" smtClean="0">
                <a:solidFill>
                  <a:srgbClr val="FF0000"/>
                </a:solidFill>
              </a:rPr>
              <a:t>        </a:t>
            </a:r>
            <a:r>
              <a:rPr lang="en-US" sz="2400" dirty="0" smtClean="0"/>
              <a:t>– List running containers</a:t>
            </a:r>
          </a:p>
          <a:p>
            <a:r>
              <a:rPr lang="en-US" sz="2400" dirty="0" err="1" smtClean="0">
                <a:solidFill>
                  <a:srgbClr val="FF0000"/>
                </a:solidFill>
              </a:rPr>
              <a:t>docker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ps</a:t>
            </a:r>
            <a:r>
              <a:rPr lang="en-US" sz="2400" dirty="0" smtClean="0">
                <a:solidFill>
                  <a:srgbClr val="FF0000"/>
                </a:solidFill>
              </a:rPr>
              <a:t> -a    </a:t>
            </a:r>
            <a:r>
              <a:rPr lang="en-US" sz="2400" dirty="0" smtClean="0"/>
              <a:t>– List all containers (including stopped)</a:t>
            </a:r>
          </a:p>
          <a:p>
            <a:endParaRPr lang="en-IN" sz="2400" dirty="0"/>
          </a:p>
          <a:p>
            <a:endParaRPr lang="en-US" sz="2400" dirty="0" smtClean="0"/>
          </a:p>
          <a:p>
            <a:r>
              <a:rPr lang="en-US" sz="2400" dirty="0" smtClean="0">
                <a:solidFill>
                  <a:srgbClr val="FF0000"/>
                </a:solidFill>
              </a:rPr>
              <a:t>What is the difference between a </a:t>
            </a:r>
            <a:r>
              <a:rPr lang="en-US" sz="2400" dirty="0" err="1" smtClean="0">
                <a:solidFill>
                  <a:srgbClr val="FF0000"/>
                </a:solidFill>
              </a:rPr>
              <a:t>Docker</a:t>
            </a:r>
            <a:r>
              <a:rPr lang="en-US" sz="2400" dirty="0" smtClean="0">
                <a:solidFill>
                  <a:srgbClr val="FF0000"/>
                </a:solidFill>
              </a:rPr>
              <a:t> image and a </a:t>
            </a:r>
            <a:r>
              <a:rPr lang="en-US" sz="2400" dirty="0" err="1" smtClean="0">
                <a:solidFill>
                  <a:srgbClr val="FF0000"/>
                </a:solidFill>
              </a:rPr>
              <a:t>Docker</a:t>
            </a:r>
            <a:r>
              <a:rPr lang="en-US" sz="2400" dirty="0" smtClean="0">
                <a:solidFill>
                  <a:srgbClr val="FF0000"/>
                </a:solidFill>
              </a:rPr>
              <a:t> container?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/>
            </a:r>
            <a:br>
              <a:rPr lang="en-US" sz="2400" b="1" dirty="0" smtClean="0">
                <a:solidFill>
                  <a:srgbClr val="FF0000"/>
                </a:solidFill>
              </a:rPr>
            </a:br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An image is a blueprint (read-only template) for creating containers</a:t>
            </a:r>
            <a:r>
              <a:rPr lang="en-US" sz="2400" b="1" dirty="0" smtClean="0"/>
              <a:t>.</a:t>
            </a:r>
          </a:p>
          <a:p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 A container is a running instance of an image.</a:t>
            </a:r>
          </a:p>
          <a:p>
            <a:endParaRPr lang="en-US" sz="2400" dirty="0" smtClean="0"/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995" y="1214422"/>
            <a:ext cx="8876911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428604"/>
            <a:ext cx="9001189" cy="6000793"/>
            <a:chOff x="0" y="428604"/>
            <a:chExt cx="9001189" cy="6000793"/>
          </a:xfrm>
        </p:grpSpPr>
        <p:pic>
          <p:nvPicPr>
            <p:cNvPr id="1026" name="Picture 2" descr="Generated image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428604"/>
              <a:ext cx="9001189" cy="6000793"/>
            </a:xfrm>
            <a:prstGeom prst="rect">
              <a:avLst/>
            </a:prstGeom>
            <a:noFill/>
          </p:spPr>
        </p:pic>
        <p:sp>
          <p:nvSpPr>
            <p:cNvPr id="3" name="Rectangle 2"/>
            <p:cNvSpPr/>
            <p:nvPr/>
          </p:nvSpPr>
          <p:spPr>
            <a:xfrm>
              <a:off x="6643702" y="714356"/>
              <a:ext cx="2143140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>
                  <a:rot lat="0" lon="0" rev="0"/>
                </a:camera>
                <a:lightRig rig="glow" dir="t">
                  <a:rot lat="0" lon="0" rev="3600000"/>
                </a:lightRig>
              </a:scene3d>
              <a:sp3d prstMaterial="softEdge">
                <a:bevelT w="29210" h="16510"/>
                <a:contourClr>
                  <a:schemeClr val="accent4">
                    <a:alpha val="95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0" dirty="0" smtClean="0">
                  <a:ln>
                    <a:prstDash val="solid"/>
                  </a:ln>
                  <a:gradFill rotWithShape="1">
                    <a:gsLst>
                      <a:gs pos="0">
                        <a:schemeClr val="accent4">
                          <a:tint val="70000"/>
                          <a:satMod val="200000"/>
                        </a:schemeClr>
                      </a:gs>
                      <a:gs pos="40000">
                        <a:schemeClr val="accent4">
                          <a:tint val="90000"/>
                          <a:satMod val="130000"/>
                        </a:schemeClr>
                      </a:gs>
                      <a:gs pos="50000">
                        <a:schemeClr val="accent4">
                          <a:tint val="90000"/>
                          <a:satMod val="130000"/>
                        </a:schemeClr>
                      </a:gs>
                      <a:gs pos="68000">
                        <a:schemeClr val="accent4">
                          <a:tint val="90000"/>
                          <a:satMod val="130000"/>
                        </a:schemeClr>
                      </a:gs>
                      <a:gs pos="100000">
                        <a:schemeClr val="accent4">
                          <a:tint val="70000"/>
                          <a:satMod val="200000"/>
                        </a:schemeClr>
                      </a:gs>
                    </a:gsLst>
                    <a:lin ang="5400000"/>
                  </a:gradFill>
                  <a:effectLst>
                    <a:outerShdw blurRad="88000" dist="50800" dir="5040000" algn="tl">
                      <a:schemeClr val="accent4">
                        <a:tint val="80000"/>
                        <a:satMod val="250000"/>
                        <a:alpha val="45000"/>
                      </a:schemeClr>
                    </a:outerShdw>
                  </a:effectLst>
                </a:rPr>
                <a:t>Services</a:t>
              </a:r>
              <a:endParaRPr lang="en-US" sz="4000" b="1" cap="none" spc="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231</Words>
  <Application>Microsoft Office PowerPoint</Application>
  <PresentationFormat>On-screen Show (4:3)</PresentationFormat>
  <Paragraphs>47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19</cp:revision>
  <dcterms:created xsi:type="dcterms:W3CDTF">2025-04-19T07:01:47Z</dcterms:created>
  <dcterms:modified xsi:type="dcterms:W3CDTF">2025-04-20T08:10:19Z</dcterms:modified>
</cp:coreProperties>
</file>