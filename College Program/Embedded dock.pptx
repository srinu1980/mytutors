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634BAF2-770F-4D55-8888-FE2DBCF099F1}" type="datetimeFigureOut">
              <a:rPr lang="en-US" smtClean="0"/>
              <a:pPr/>
              <a:t>7/4/2025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F0258C-797B-4F5E-9CAE-64C49F1235B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634BAF2-770F-4D55-8888-FE2DBCF099F1}" type="datetimeFigureOut">
              <a:rPr lang="en-US" smtClean="0"/>
              <a:pPr/>
              <a:t>7/4/2025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F0258C-797B-4F5E-9CAE-64C49F1235B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634BAF2-770F-4D55-8888-FE2DBCF099F1}" type="datetimeFigureOut">
              <a:rPr lang="en-US" smtClean="0"/>
              <a:pPr/>
              <a:t>7/4/2025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F0258C-797B-4F5E-9CAE-64C49F1235B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634BAF2-770F-4D55-8888-FE2DBCF099F1}" type="datetimeFigureOut">
              <a:rPr lang="en-US" smtClean="0"/>
              <a:pPr/>
              <a:t>7/4/2025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F0258C-797B-4F5E-9CAE-64C49F1235B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634BAF2-770F-4D55-8888-FE2DBCF099F1}" type="datetimeFigureOut">
              <a:rPr lang="en-US" smtClean="0"/>
              <a:pPr/>
              <a:t>7/4/2025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6F0258C-797B-4F5E-9CAE-64C49F1235B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634BAF2-770F-4D55-8888-FE2DBCF099F1}" type="datetimeFigureOut">
              <a:rPr lang="en-US" smtClean="0"/>
              <a:pPr/>
              <a:t>7/4/2025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6F0258C-797B-4F5E-9CAE-64C49F1235B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34BAF2-770F-4D55-8888-FE2DBCF099F1}" type="datetimeFigureOut">
              <a:rPr lang="en-US" smtClean="0"/>
              <a:pPr/>
              <a:t>7/4/2025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6F0258C-797B-4F5E-9CAE-64C49F1235B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34BAF2-770F-4D55-8888-FE2DBCF099F1}" type="datetimeFigureOut">
              <a:rPr lang="en-US" smtClean="0"/>
              <a:pPr/>
              <a:t>7/4/2025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F0258C-797B-4F5E-9CAE-64C49F1235B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34BAF2-770F-4D55-8888-FE2DBCF099F1}" type="datetimeFigureOut">
              <a:rPr lang="en-US" smtClean="0"/>
              <a:pPr/>
              <a:t>7/4/2025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F0258C-797B-4F5E-9CAE-64C49F1235B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634BAF2-770F-4D55-8888-FE2DBCF099F1}" type="datetimeFigureOut">
              <a:rPr lang="en-US" smtClean="0"/>
              <a:pPr/>
              <a:t>7/4/2025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F0258C-797B-4F5E-9CAE-64C49F1235B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634BAF2-770F-4D55-8888-FE2DBCF099F1}" type="datetimeFigureOut">
              <a:rPr lang="en-US" smtClean="0"/>
              <a:pPr/>
              <a:t>7/4/2025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F0258C-797B-4F5E-9CAE-64C49F1235B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34BAF2-770F-4D55-8888-FE2DBCF099F1}" type="datetimeFigureOut">
              <a:rPr lang="en-US" smtClean="0"/>
              <a:pPr/>
              <a:t>7/4/2025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F0258C-797B-4F5E-9CAE-64C49F1235B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www.geeksforgeeks.org/mongodb-replication-and-sharding"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28794" y="714356"/>
            <a:ext cx="3477683" cy="369332"/>
          </a:xfrm>
          <a:prstGeom prst="rect">
            <a:avLst/>
          </a:prstGeom>
        </p:spPr>
        <p:txBody>
          <a:bodyPr wrap="none">
            <a:spAutoFit/>
          </a:bodyPr>
          <a:lstStyle/>
          <a:p>
            <a:pPr fontAlgn="base"/>
            <a:r>
              <a:rPr lang="en-US" b="1" dirty="0" err="1"/>
              <a:t>MongoDB</a:t>
            </a:r>
            <a:r>
              <a:rPr lang="en-US" b="1" dirty="0"/>
              <a:t> - Embedded Documents</a:t>
            </a:r>
          </a:p>
        </p:txBody>
      </p:sp>
      <p:sp>
        <p:nvSpPr>
          <p:cNvPr id="3" name="Rectangle 2"/>
          <p:cNvSpPr/>
          <p:nvPr/>
        </p:nvSpPr>
        <p:spPr>
          <a:xfrm>
            <a:off x="142844" y="1428736"/>
            <a:ext cx="8429684" cy="5016758"/>
          </a:xfrm>
          <a:prstGeom prst="rect">
            <a:avLst/>
          </a:prstGeom>
        </p:spPr>
        <p:txBody>
          <a:bodyPr wrap="square">
            <a:spAutoFit/>
          </a:bodyPr>
          <a:lstStyle/>
          <a:p>
            <a:r>
              <a:rPr lang="en-US" sz="3200" dirty="0" err="1"/>
              <a:t>MongoDB</a:t>
            </a:r>
            <a:r>
              <a:rPr lang="en-US" sz="3200" dirty="0"/>
              <a:t> provides you a cool feature which is known as </a:t>
            </a:r>
            <a:r>
              <a:rPr lang="en-US" sz="3200" b="1" dirty="0"/>
              <a:t>Embedded </a:t>
            </a:r>
            <a:r>
              <a:rPr lang="en-US" sz="3200" b="1" i="1" dirty="0"/>
              <a:t>or</a:t>
            </a:r>
            <a:r>
              <a:rPr lang="en-US" sz="3200" b="1" dirty="0"/>
              <a:t> Nested Document</a:t>
            </a:r>
            <a:r>
              <a:rPr lang="en-US" sz="3200" dirty="0"/>
              <a:t>. Embedded document or nested documents are those types of documents which contain a document inside another document. Or in other words, when a collection has a document, this document contains another document, another document contains another sub-document, and so on, then such types of documents are known as embedded/nested documents.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34" y="1859340"/>
            <a:ext cx="7858180" cy="1477328"/>
          </a:xfrm>
          <a:prstGeom prst="rect">
            <a:avLst/>
          </a:prstGeom>
        </p:spPr>
        <p:txBody>
          <a:bodyPr wrap="square">
            <a:spAutoFit/>
          </a:bodyPr>
          <a:lstStyle/>
          <a:p>
            <a:pPr fontAlgn="base"/>
            <a:r>
              <a:rPr lang="en-US" b="1" i="1" dirty="0"/>
              <a:t>Notes - </a:t>
            </a:r>
            <a:r>
              <a:rPr lang="en-US" i="1" dirty="0"/>
              <a:t/>
            </a:r>
            <a:br>
              <a:rPr lang="en-US" i="1" dirty="0"/>
            </a:br>
            <a:r>
              <a:rPr lang="en-US" i="1" dirty="0"/>
              <a:t> </a:t>
            </a:r>
          </a:p>
          <a:p>
            <a:pPr fontAlgn="base"/>
            <a:r>
              <a:rPr lang="en-US" i="1" dirty="0"/>
              <a:t>In </a:t>
            </a:r>
            <a:r>
              <a:rPr lang="en-US" i="1" dirty="0" err="1"/>
              <a:t>MongoDB</a:t>
            </a:r>
            <a:r>
              <a:rPr lang="en-US" i="1" dirty="0"/>
              <a:t>, you can only nest document up to 100 levels.</a:t>
            </a:r>
          </a:p>
          <a:p>
            <a:pPr fontAlgn="base"/>
            <a:r>
              <a:rPr lang="en-US" i="1" dirty="0"/>
              <a:t>The overall document size must not exceed 16 MB.</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Lightbox"/>
          <p:cNvPicPr>
            <a:picLocks noChangeAspect="1" noChangeArrowheads="1"/>
          </p:cNvPicPr>
          <p:nvPr/>
        </p:nvPicPr>
        <p:blipFill>
          <a:blip r:embed="rId2"/>
          <a:srcRect/>
          <a:stretch>
            <a:fillRect/>
          </a:stretch>
        </p:blipFill>
        <p:spPr bwMode="auto">
          <a:xfrm>
            <a:off x="0" y="428604"/>
            <a:ext cx="8786842" cy="5143512"/>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reate Embedded Documents in MongoDB"/>
          <p:cNvPicPr>
            <a:picLocks noChangeAspect="1" noChangeArrowheads="1"/>
          </p:cNvPicPr>
          <p:nvPr/>
        </p:nvPicPr>
        <p:blipFill>
          <a:blip r:embed="rId2"/>
          <a:srcRect/>
          <a:stretch>
            <a:fillRect/>
          </a:stretch>
        </p:blipFill>
        <p:spPr bwMode="auto">
          <a:xfrm>
            <a:off x="857224" y="1714488"/>
            <a:ext cx="6019800" cy="4067176"/>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1859340"/>
            <a:ext cx="8786874" cy="2862322"/>
          </a:xfrm>
          <a:prstGeom prst="rect">
            <a:avLst/>
          </a:prstGeom>
        </p:spPr>
        <p:txBody>
          <a:bodyPr wrap="square">
            <a:spAutoFit/>
          </a:bodyPr>
          <a:lstStyle/>
          <a:p>
            <a:pPr fontAlgn="base"/>
            <a:r>
              <a:rPr lang="en-US" b="1" dirty="0"/>
              <a:t>Example 1:</a:t>
            </a:r>
            <a:r>
              <a:rPr lang="en-US" dirty="0"/>
              <a:t/>
            </a:r>
            <a:br>
              <a:rPr lang="en-US" dirty="0"/>
            </a:br>
            <a:r>
              <a:rPr lang="en-US" b="1" dirty="0" err="1"/>
              <a:t>db.embeddedColl.insertOne</a:t>
            </a:r>
            <a:r>
              <a:rPr lang="en-US" b="1" dirty="0"/>
              <a:t>({ name: “</a:t>
            </a:r>
            <a:r>
              <a:rPr lang="en-US" b="1" dirty="0" err="1"/>
              <a:t>Sunita</a:t>
            </a:r>
            <a:r>
              <a:rPr lang="en-US" b="1" dirty="0"/>
              <a:t>”, Articles:{lang1:”C#”, count:45, lang2:”Java”, count:87, lang3:”C”, count:78}, Branch: “CSE”, </a:t>
            </a:r>
            <a:r>
              <a:rPr lang="en-US" b="1" dirty="0" err="1"/>
              <a:t>PassoutYear</a:t>
            </a:r>
            <a:r>
              <a:rPr lang="en-US" b="1" dirty="0"/>
              <a:t>: 2013 </a:t>
            </a:r>
            <a:r>
              <a:rPr lang="en-US" b="1" dirty="0" smtClean="0"/>
              <a:t>})</a:t>
            </a:r>
          </a:p>
          <a:p>
            <a:pPr fontAlgn="base"/>
            <a:endParaRPr lang="en-IN" b="1" dirty="0"/>
          </a:p>
          <a:p>
            <a:pPr fontAlgn="base"/>
            <a:endParaRPr lang="en-US" dirty="0"/>
          </a:p>
          <a:p>
            <a:pPr fontAlgn="base"/>
            <a:r>
              <a:rPr lang="en-US" dirty="0"/>
              <a:t>Here in the above example, we create a nested document inside the Articles field using curly braces{}. The nested document contains four field value pairs that are: </a:t>
            </a:r>
          </a:p>
          <a:p>
            <a:pPr fontAlgn="base"/>
            <a:endParaRPr lang="en-US" b="1" dirty="0" smtClean="0"/>
          </a:p>
          <a:p>
            <a:pPr fontAlgn="base"/>
            <a:endParaRPr lang="en-US" b="1" dirty="0"/>
          </a:p>
          <a:p>
            <a:pPr fontAlgn="base"/>
            <a:r>
              <a:rPr lang="en-US" b="1" dirty="0" smtClean="0"/>
              <a:t>Articles</a:t>
            </a:r>
            <a:r>
              <a:rPr lang="en-US" b="1" dirty="0"/>
              <a:t>:{lang1:”C#”, count:45, lang2:”Java”, count:87, lang3:”C”, count:78}</a:t>
            </a:r>
            <a:endParaRPr lang="en-US" dirty="0"/>
          </a:p>
        </p:txBody>
      </p:sp>
      <p:sp>
        <p:nvSpPr>
          <p:cNvPr id="3" name="Rectangle 2"/>
          <p:cNvSpPr/>
          <p:nvPr/>
        </p:nvSpPr>
        <p:spPr>
          <a:xfrm>
            <a:off x="428596" y="642918"/>
            <a:ext cx="4572000" cy="646331"/>
          </a:xfrm>
          <a:prstGeom prst="rect">
            <a:avLst/>
          </a:prstGeom>
        </p:spPr>
        <p:txBody>
          <a:bodyPr>
            <a:spAutoFit/>
          </a:bodyPr>
          <a:lstStyle/>
          <a:p>
            <a:r>
              <a:rPr lang="en-US" dirty="0" smtClean="0"/>
              <a:t>https://dotnettutorials.net/lesson/embedded-documents-in-mongodb/</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1720840"/>
            <a:ext cx="8572560" cy="2585323"/>
          </a:xfrm>
          <a:prstGeom prst="rect">
            <a:avLst/>
          </a:prstGeom>
        </p:spPr>
        <p:txBody>
          <a:bodyPr wrap="square">
            <a:spAutoFit/>
          </a:bodyPr>
          <a:lstStyle/>
          <a:p>
            <a:pPr fontAlgn="base"/>
            <a:r>
              <a:rPr lang="en-US" b="1" dirty="0"/>
              <a:t>Example 2:</a:t>
            </a:r>
          </a:p>
          <a:p>
            <a:pPr fontAlgn="base"/>
            <a:r>
              <a:rPr lang="en-US" b="1" dirty="0"/>
              <a:t>&gt; </a:t>
            </a:r>
            <a:r>
              <a:rPr lang="en-US" b="1" dirty="0" err="1"/>
              <a:t>db.embeddedColl.insertOne</a:t>
            </a:r>
            <a:r>
              <a:rPr lang="en-US" b="1" dirty="0"/>
              <a:t>({</a:t>
            </a:r>
            <a:r>
              <a:rPr lang="en-US" dirty="0"/>
              <a:t/>
            </a:r>
            <a:br>
              <a:rPr lang="en-US" dirty="0"/>
            </a:br>
            <a:r>
              <a:rPr lang="en-US" b="1" dirty="0"/>
              <a:t>… name: “</a:t>
            </a:r>
            <a:r>
              <a:rPr lang="en-US" b="1" dirty="0" err="1"/>
              <a:t>Amit</a:t>
            </a:r>
            <a:r>
              <a:rPr lang="en-US" b="1" dirty="0"/>
              <a:t>”,</a:t>
            </a:r>
            <a:r>
              <a:rPr lang="en-US" dirty="0"/>
              <a:t/>
            </a:r>
            <a:br>
              <a:rPr lang="en-US" dirty="0"/>
            </a:br>
            <a:r>
              <a:rPr lang="en-US" b="1" dirty="0"/>
              <a:t>… Articles:{</a:t>
            </a:r>
            <a:r>
              <a:rPr lang="en-US" b="1" dirty="0" err="1"/>
              <a:t>lang</a:t>
            </a:r>
            <a:r>
              <a:rPr lang="en-US" b="1" dirty="0"/>
              <a:t>:”C#”, count:45, type:{program:10, function:13, concept:22}},</a:t>
            </a:r>
            <a:r>
              <a:rPr lang="en-US" dirty="0"/>
              <a:t/>
            </a:r>
            <a:br>
              <a:rPr lang="en-US" dirty="0"/>
            </a:br>
            <a:r>
              <a:rPr lang="en-US" b="1" dirty="0"/>
              <a:t>… year:2015</a:t>
            </a:r>
            <a:r>
              <a:rPr lang="en-US" dirty="0"/>
              <a:t/>
            </a:r>
            <a:br>
              <a:rPr lang="en-US" dirty="0"/>
            </a:br>
            <a:r>
              <a:rPr lang="en-US" b="1" dirty="0"/>
              <a:t>… })</a:t>
            </a:r>
            <a:endParaRPr lang="en-US" dirty="0"/>
          </a:p>
          <a:p>
            <a:pPr fontAlgn="base"/>
            <a:r>
              <a:rPr lang="en-US" dirty="0"/>
              <a:t>Here, in the above example, we create a nested document inside the Articles field, and inside this nested document, we create another nested document inside the type field using Curley braces{}.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7224" y="857232"/>
            <a:ext cx="2578591" cy="369332"/>
          </a:xfrm>
          <a:prstGeom prst="rect">
            <a:avLst/>
          </a:prstGeom>
        </p:spPr>
        <p:txBody>
          <a:bodyPr wrap="none">
            <a:spAutoFit/>
          </a:bodyPr>
          <a:lstStyle/>
          <a:p>
            <a:pPr fontAlgn="base"/>
            <a:r>
              <a:rPr lang="en-US" b="1" dirty="0" smtClean="0"/>
              <a:t>Aggregation in </a:t>
            </a:r>
            <a:r>
              <a:rPr lang="en-US" b="1" dirty="0" err="1" smtClean="0"/>
              <a:t>MongoDB</a:t>
            </a:r>
            <a:endParaRPr lang="en-US" b="1" dirty="0"/>
          </a:p>
        </p:txBody>
      </p:sp>
      <p:sp>
        <p:nvSpPr>
          <p:cNvPr id="3" name="Rectangle 2"/>
          <p:cNvSpPr/>
          <p:nvPr/>
        </p:nvSpPr>
        <p:spPr>
          <a:xfrm>
            <a:off x="2286000" y="2274838"/>
            <a:ext cx="4572000" cy="2308324"/>
          </a:xfrm>
          <a:prstGeom prst="rect">
            <a:avLst/>
          </a:prstGeom>
        </p:spPr>
        <p:txBody>
          <a:bodyPr>
            <a:spAutoFit/>
          </a:bodyPr>
          <a:lstStyle/>
          <a:p>
            <a:r>
              <a:rPr lang="en-US" b="1" dirty="0" smtClean="0"/>
              <a:t>Aggregation </a:t>
            </a:r>
            <a:r>
              <a:rPr lang="en-US" dirty="0" smtClean="0"/>
              <a:t>in </a:t>
            </a:r>
            <a:r>
              <a:rPr lang="en-US" b="1" dirty="0" err="1" smtClean="0"/>
              <a:t>MongoDB</a:t>
            </a:r>
            <a:r>
              <a:rPr lang="en-US" b="1" dirty="0" smtClean="0"/>
              <a:t> </a:t>
            </a:r>
            <a:r>
              <a:rPr lang="en-US" dirty="0" smtClean="0"/>
              <a:t>is a powerful framework that allows developers to perform complex </a:t>
            </a:r>
            <a:r>
              <a:rPr lang="en-US" b="1" dirty="0" smtClean="0"/>
              <a:t>data transformations</a:t>
            </a:r>
            <a:r>
              <a:rPr lang="en-US" dirty="0" smtClean="0"/>
              <a:t>, computations and analysis on collections of documents. By utilizing the </a:t>
            </a:r>
            <a:r>
              <a:rPr lang="en-US" b="1" dirty="0" smtClean="0"/>
              <a:t>aggregation </a:t>
            </a:r>
            <a:r>
              <a:rPr lang="en-US" dirty="0" smtClean="0"/>
              <a:t>pipeline, users can efficiently </a:t>
            </a:r>
            <a:r>
              <a:rPr lang="en-US" b="1" dirty="0" smtClean="0"/>
              <a:t>group</a:t>
            </a:r>
            <a:r>
              <a:rPr lang="en-US" dirty="0" smtClean="0"/>
              <a:t>, </a:t>
            </a:r>
            <a:r>
              <a:rPr lang="en-US" b="1" dirty="0" smtClean="0"/>
              <a:t>filter</a:t>
            </a:r>
            <a:r>
              <a:rPr lang="en-US" dirty="0" smtClean="0"/>
              <a:t>, </a:t>
            </a:r>
            <a:r>
              <a:rPr lang="en-US" b="1" dirty="0" smtClean="0"/>
              <a:t>sort</a:t>
            </a:r>
            <a:r>
              <a:rPr lang="en-US" dirty="0" smtClean="0"/>
              <a:t>, </a:t>
            </a:r>
            <a:r>
              <a:rPr lang="en-US" b="1" dirty="0" smtClean="0"/>
              <a:t>reshape</a:t>
            </a:r>
            <a:r>
              <a:rPr lang="en-US" dirty="0" smtClean="0"/>
              <a:t>, and perform calculations on data to generate meaningful insights.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34" y="889844"/>
            <a:ext cx="8215370" cy="2862322"/>
          </a:xfrm>
          <a:prstGeom prst="rect">
            <a:avLst/>
          </a:prstGeom>
        </p:spPr>
        <p:txBody>
          <a:bodyPr wrap="square">
            <a:spAutoFit/>
          </a:bodyPr>
          <a:lstStyle/>
          <a:p>
            <a:pPr fontAlgn="base"/>
            <a:r>
              <a:rPr lang="en-US" b="1" dirty="0" smtClean="0"/>
              <a:t>What is Aggregation?</a:t>
            </a:r>
          </a:p>
          <a:p>
            <a:pPr fontAlgn="base"/>
            <a:r>
              <a:rPr lang="en-US" b="1" dirty="0" err="1" smtClean="0"/>
              <a:t>MongoDB</a:t>
            </a:r>
            <a:r>
              <a:rPr lang="en-US" b="1" dirty="0" smtClean="0"/>
              <a:t> Aggregation</a:t>
            </a:r>
            <a:r>
              <a:rPr lang="en-US" dirty="0" smtClean="0"/>
              <a:t> is a database process that allows us to perform complex </a:t>
            </a:r>
            <a:r>
              <a:rPr lang="en-US" b="1" dirty="0" smtClean="0"/>
              <a:t>data transformations </a:t>
            </a:r>
            <a:r>
              <a:rPr lang="en-US" dirty="0" smtClean="0"/>
              <a:t>and </a:t>
            </a:r>
            <a:r>
              <a:rPr lang="en-US" b="1" dirty="0" smtClean="0"/>
              <a:t>computations </a:t>
            </a:r>
            <a:r>
              <a:rPr lang="en-US" dirty="0" smtClean="0"/>
              <a:t>on collections of documents or rows. It enables us to </a:t>
            </a:r>
            <a:r>
              <a:rPr lang="en-US" b="1" dirty="0" smtClean="0"/>
              <a:t>group</a:t>
            </a:r>
            <a:r>
              <a:rPr lang="en-US" dirty="0" smtClean="0"/>
              <a:t>, </a:t>
            </a:r>
            <a:r>
              <a:rPr lang="en-US" b="1" dirty="0" smtClean="0"/>
              <a:t>filter</a:t>
            </a:r>
            <a:r>
              <a:rPr lang="en-US" dirty="0" smtClean="0"/>
              <a:t>, and </a:t>
            </a:r>
            <a:r>
              <a:rPr lang="en-US" b="1" dirty="0" smtClean="0"/>
              <a:t>manipulate </a:t>
            </a:r>
            <a:r>
              <a:rPr lang="en-US" dirty="0" smtClean="0"/>
              <a:t>data to produce summarized results. </a:t>
            </a:r>
            <a:r>
              <a:rPr lang="en-US" b="1" dirty="0" err="1" smtClean="0"/>
              <a:t>MongoDBAggregation</a:t>
            </a:r>
            <a:r>
              <a:rPr lang="en-US" b="1" dirty="0" smtClean="0"/>
              <a:t> </a:t>
            </a:r>
            <a:r>
              <a:rPr lang="en-US" dirty="0" smtClean="0"/>
              <a:t>is typically carried out using the aggregation pipeline which is a framework for </a:t>
            </a:r>
            <a:r>
              <a:rPr lang="en-US" b="1" dirty="0" smtClean="0"/>
              <a:t>data aggregation</a:t>
            </a:r>
            <a:r>
              <a:rPr lang="en-US" dirty="0" smtClean="0"/>
              <a:t> modeled on the concept of data processing pipelines.</a:t>
            </a:r>
          </a:p>
          <a:p>
            <a:pPr fontAlgn="base"/>
            <a:r>
              <a:rPr lang="en-US" dirty="0" smtClean="0"/>
              <a:t>Each stage of the pipeline transforms the documents as they pass through it and allows for operations like </a:t>
            </a:r>
            <a:r>
              <a:rPr lang="en-US" b="1" dirty="0" smtClean="0"/>
              <a:t>filtering</a:t>
            </a:r>
            <a:r>
              <a:rPr lang="en-US" dirty="0" smtClean="0"/>
              <a:t>, </a:t>
            </a:r>
            <a:r>
              <a:rPr lang="en-US" b="1" dirty="0" smtClean="0"/>
              <a:t>grouping</a:t>
            </a:r>
            <a:r>
              <a:rPr lang="en-US" dirty="0" smtClean="0"/>
              <a:t>, </a:t>
            </a:r>
            <a:r>
              <a:rPr lang="en-US" b="1" dirty="0" smtClean="0"/>
              <a:t>sorting</a:t>
            </a:r>
            <a:r>
              <a:rPr lang="en-US" dirty="0" smtClean="0"/>
              <a:t>, </a:t>
            </a:r>
            <a:r>
              <a:rPr lang="en-US" b="1" dirty="0" smtClean="0"/>
              <a:t>reshaping</a:t>
            </a:r>
            <a:r>
              <a:rPr lang="en-US" dirty="0" smtClean="0"/>
              <a:t> and performing calculations on the data. </a:t>
            </a:r>
            <a:r>
              <a:rPr lang="en-US" dirty="0" err="1" smtClean="0"/>
              <a:t>MongoDB</a:t>
            </a:r>
            <a:r>
              <a:rPr lang="en-US" dirty="0" smtClean="0"/>
              <a:t> supports two primary aggregation approaches: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2910" y="857232"/>
            <a:ext cx="4572000" cy="3693319"/>
          </a:xfrm>
          <a:prstGeom prst="rect">
            <a:avLst/>
          </a:prstGeom>
        </p:spPr>
        <p:txBody>
          <a:bodyPr>
            <a:spAutoFit/>
          </a:bodyPr>
          <a:lstStyle/>
          <a:p>
            <a:pPr fontAlgn="base"/>
            <a:r>
              <a:rPr lang="en-US" b="1" dirty="0" smtClean="0"/>
              <a:t>1. Single Purpose Aggregation</a:t>
            </a:r>
          </a:p>
          <a:p>
            <a:pPr fontAlgn="base"/>
            <a:r>
              <a:rPr lang="en-US" dirty="0" smtClean="0"/>
              <a:t>Single-purpose aggregation methods are designed for simple </a:t>
            </a:r>
            <a:r>
              <a:rPr lang="en-US" b="1" dirty="0" smtClean="0"/>
              <a:t>analytical queries</a:t>
            </a:r>
            <a:r>
              <a:rPr lang="en-US" dirty="0" smtClean="0"/>
              <a:t>. It is used when we need simple access to document like counting the number of documents or for finding all </a:t>
            </a:r>
            <a:r>
              <a:rPr lang="en-US" b="1" dirty="0" smtClean="0"/>
              <a:t>distinct values</a:t>
            </a:r>
            <a:r>
              <a:rPr lang="en-US" dirty="0" smtClean="0"/>
              <a:t> in a document</a:t>
            </a:r>
            <a:r>
              <a:rPr lang="en-US" dirty="0" smtClean="0"/>
              <a:t>.</a:t>
            </a:r>
          </a:p>
          <a:p>
            <a:pPr fontAlgn="base"/>
            <a:endParaRPr lang="en-IN" dirty="0" smtClean="0"/>
          </a:p>
          <a:p>
            <a:pPr fontAlgn="base"/>
            <a:r>
              <a:rPr lang="en-US" b="1" dirty="0" smtClean="0"/>
              <a:t>count()</a:t>
            </a:r>
            <a:r>
              <a:rPr lang="en-US" dirty="0" smtClean="0"/>
              <a:t> – Returns the number of documents in a collection.</a:t>
            </a:r>
          </a:p>
          <a:p>
            <a:pPr fontAlgn="base"/>
            <a:r>
              <a:rPr lang="en-US" b="1" dirty="0" smtClean="0"/>
              <a:t>distinct()</a:t>
            </a:r>
            <a:r>
              <a:rPr lang="en-US" dirty="0" smtClean="0"/>
              <a:t>– Retrieves unique values for a specified field.</a:t>
            </a:r>
          </a:p>
          <a:p>
            <a:pPr fontAlgn="base"/>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2844" y="571480"/>
            <a:ext cx="8358246" cy="4801314"/>
          </a:xfrm>
          <a:prstGeom prst="rect">
            <a:avLst/>
          </a:prstGeom>
        </p:spPr>
        <p:txBody>
          <a:bodyPr wrap="square">
            <a:spAutoFit/>
          </a:bodyPr>
          <a:lstStyle/>
          <a:p>
            <a:pPr fontAlgn="base"/>
            <a:r>
              <a:rPr lang="en-US" b="1" dirty="0" smtClean="0"/>
              <a:t>2. </a:t>
            </a:r>
            <a:r>
              <a:rPr lang="en-US" b="1" dirty="0" err="1" smtClean="0"/>
              <a:t>Mongodb</a:t>
            </a:r>
            <a:r>
              <a:rPr lang="en-US" b="1" dirty="0" smtClean="0"/>
              <a:t> Aggregation Pipeline</a:t>
            </a:r>
          </a:p>
          <a:p>
            <a:pPr fontAlgn="base"/>
            <a:r>
              <a:rPr lang="en-US" b="1" dirty="0" err="1" smtClean="0"/>
              <a:t>Mongodb</a:t>
            </a:r>
            <a:r>
              <a:rPr lang="en-US" b="1" dirty="0" smtClean="0"/>
              <a:t> Aggregation Pipeline</a:t>
            </a:r>
            <a:r>
              <a:rPr lang="en-US" dirty="0" smtClean="0"/>
              <a:t> consist of stages and each stage transforms the document. It is a </a:t>
            </a:r>
            <a:r>
              <a:rPr lang="en-US" b="1" dirty="0" smtClean="0"/>
              <a:t>multi-stage pipeline</a:t>
            </a:r>
            <a:r>
              <a:rPr lang="en-US" dirty="0" smtClean="0"/>
              <a:t> and in each state the documents are taken as input to produce the resultant set of documents. In the next stage (ID available) the resultant documents are taken as input to produce output, this process continues till the last stage. Each stage filters, modifies, or computes on documents before passing them to the next stage</a:t>
            </a:r>
            <a:r>
              <a:rPr lang="en-US" dirty="0" smtClean="0"/>
              <a:t>.</a:t>
            </a:r>
          </a:p>
          <a:p>
            <a:pPr fontAlgn="base"/>
            <a:endParaRPr lang="en-IN" dirty="0" smtClean="0"/>
          </a:p>
          <a:p>
            <a:pPr fontAlgn="base"/>
            <a:r>
              <a:rPr lang="en-US" dirty="0" smtClean="0"/>
              <a:t>The </a:t>
            </a:r>
            <a:r>
              <a:rPr lang="en-US" b="1" dirty="0" smtClean="0"/>
              <a:t>basic pipeline stages </a:t>
            </a:r>
            <a:r>
              <a:rPr lang="en-US" dirty="0" smtClean="0"/>
              <a:t>are defined below:</a:t>
            </a:r>
          </a:p>
          <a:p>
            <a:pPr fontAlgn="base"/>
            <a:r>
              <a:rPr lang="en-US" dirty="0" smtClean="0"/>
              <a:t>filters that will operate like queries.</a:t>
            </a:r>
            <a:br>
              <a:rPr lang="en-US" dirty="0" smtClean="0"/>
            </a:br>
            <a:endParaRPr lang="en-US" dirty="0" smtClean="0"/>
          </a:p>
          <a:p>
            <a:pPr fontAlgn="base"/>
            <a:r>
              <a:rPr lang="en-US" dirty="0" smtClean="0"/>
              <a:t>the document transformation that modifies the resultant document.</a:t>
            </a:r>
            <a:br>
              <a:rPr lang="en-US" dirty="0" smtClean="0"/>
            </a:br>
            <a:endParaRPr lang="en-US" dirty="0" smtClean="0"/>
          </a:p>
          <a:p>
            <a:pPr fontAlgn="base"/>
            <a:r>
              <a:rPr lang="en-US" dirty="0" smtClean="0"/>
              <a:t>provide pipeline tools for </a:t>
            </a:r>
            <a:r>
              <a:rPr lang="en-US" b="1" dirty="0" smtClean="0"/>
              <a:t>grouping and sorting documents.</a:t>
            </a:r>
            <a:r>
              <a:rPr lang="en-US" dirty="0" smtClean="0"/>
              <a:t/>
            </a:r>
            <a:br>
              <a:rPr lang="en-US" dirty="0" smtClean="0"/>
            </a:br>
            <a:endParaRPr lang="en-US" dirty="0" smtClean="0"/>
          </a:p>
          <a:p>
            <a:pPr fontAlgn="base"/>
            <a:r>
              <a:rPr lang="en-US" dirty="0" smtClean="0"/>
              <a:t>Aggregation pipeline can also be used in </a:t>
            </a:r>
            <a:r>
              <a:rPr lang="en-US" b="1" u="sng" dirty="0" err="1" smtClean="0">
                <a:hlinkClick r:id="rId2"/>
              </a:rPr>
              <a:t>sharded</a:t>
            </a:r>
            <a:r>
              <a:rPr lang="en-US" b="1" u="sng" dirty="0" smtClean="0">
                <a:hlinkClick r:id="rId2"/>
              </a:rPr>
              <a:t> collection</a:t>
            </a:r>
            <a:r>
              <a:rPr lang="en-US" dirty="0" smtClean="0"/>
              <a:t>.</a:t>
            </a:r>
          </a:p>
          <a:p>
            <a:pPr fontAlgn="base"/>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ghtbox"/>
          <p:cNvPicPr>
            <a:picLocks noChangeAspect="1" noChangeArrowheads="1"/>
          </p:cNvPicPr>
          <p:nvPr/>
        </p:nvPicPr>
        <p:blipFill>
          <a:blip r:embed="rId2"/>
          <a:srcRect/>
          <a:stretch>
            <a:fillRect/>
          </a:stretch>
        </p:blipFill>
        <p:spPr bwMode="auto">
          <a:xfrm>
            <a:off x="1071538" y="1000108"/>
            <a:ext cx="6286500" cy="4543426"/>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The user sees a typical MongoDB aggregation Pipeline. Stage 1: Input. Stage 2: Match. Stage 3: Group . Stage 4: Sort. Stage 5: Output"/>
          <p:cNvPicPr>
            <a:picLocks noChangeAspect="1" noChangeArrowheads="1"/>
          </p:cNvPicPr>
          <p:nvPr/>
        </p:nvPicPr>
        <p:blipFill>
          <a:blip r:embed="rId2"/>
          <a:srcRect/>
          <a:stretch>
            <a:fillRect/>
          </a:stretch>
        </p:blipFill>
        <p:spPr bwMode="auto">
          <a:xfrm>
            <a:off x="428596" y="1142984"/>
            <a:ext cx="8215370" cy="2143125"/>
          </a:xfrm>
          <a:prstGeom prst="rect">
            <a:avLst/>
          </a:prstGeom>
          <a:noFill/>
        </p:spPr>
      </p:pic>
      <p:sp>
        <p:nvSpPr>
          <p:cNvPr id="25603" name="Rectangle 3"/>
          <p:cNvSpPr>
            <a:spLocks noChangeArrowheads="1"/>
          </p:cNvSpPr>
          <p:nvPr/>
        </p:nvSpPr>
        <p:spPr bwMode="auto">
          <a:xfrm>
            <a:off x="357158" y="4429132"/>
            <a:ext cx="8309967" cy="1840813"/>
          </a:xfrm>
          <a:prstGeom prst="rect">
            <a:avLst/>
          </a:prstGeom>
          <a:solidFill>
            <a:srgbClr val="DADADA"/>
          </a:solidFill>
          <a:ln w="9525">
            <a:noFill/>
            <a:miter lim="800000"/>
            <a:headEnd/>
            <a:tailEnd/>
          </a:ln>
          <a:effectLst/>
        </p:spPr>
        <p:txBody>
          <a:bodyPr vert="horz" wrap="none" lIns="0" tIns="0" rIns="0" bIns="23805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0" i="0" u="none" strike="noStrike" cap="none" normalizeH="0" baseline="0" dirty="0" smtClean="0">
                <a:ln>
                  <a:noFill/>
                </a:ln>
                <a:solidFill>
                  <a:srgbClr val="595959"/>
                </a:solidFill>
                <a:effectLst/>
                <a:latin typeface="Monaco"/>
                <a:cs typeface="Arial" pitchFamily="34" charset="0"/>
              </a:rPr>
              <a:t>$match</a:t>
            </a:r>
            <a:r>
              <a:rPr kumimoji="0" lang="en-US" sz="1600" b="0" i="0" u="none" strike="noStrike" cap="none" normalizeH="0" baseline="0" dirty="0" smtClean="0">
                <a:ln>
                  <a:noFill/>
                </a:ln>
                <a:solidFill>
                  <a:srgbClr val="000000"/>
                </a:solidFill>
                <a:effectLst/>
                <a:latin typeface="Clarity City"/>
                <a:cs typeface="Arial" pitchFamily="34" charset="0"/>
              </a:rPr>
              <a:t> stage – filters those documents we need to work with, those that fit our needs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0" i="0" u="none" strike="noStrike" cap="none" normalizeH="0" baseline="0" dirty="0" smtClean="0">
                <a:ln>
                  <a:noFill/>
                </a:ln>
                <a:solidFill>
                  <a:srgbClr val="595959"/>
                </a:solidFill>
                <a:effectLst/>
                <a:latin typeface="Monaco"/>
                <a:cs typeface="Arial" pitchFamily="34" charset="0"/>
              </a:rPr>
              <a:t>$group</a:t>
            </a:r>
            <a:r>
              <a:rPr kumimoji="0" lang="en-US" sz="1600" b="0" i="0" u="none" strike="noStrike" cap="none" normalizeH="0" baseline="0" dirty="0" smtClean="0">
                <a:ln>
                  <a:noFill/>
                </a:ln>
                <a:solidFill>
                  <a:srgbClr val="000000"/>
                </a:solidFill>
                <a:effectLst/>
                <a:latin typeface="Clarity City"/>
                <a:cs typeface="Arial" pitchFamily="34" charset="0"/>
              </a:rPr>
              <a:t> stage – does the aggregation job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0" i="0" u="none" strike="noStrike" cap="none" normalizeH="0" baseline="0" dirty="0" smtClean="0">
                <a:ln>
                  <a:noFill/>
                </a:ln>
                <a:solidFill>
                  <a:srgbClr val="595959"/>
                </a:solidFill>
                <a:effectLst/>
                <a:latin typeface="Monaco"/>
                <a:cs typeface="Arial" pitchFamily="34" charset="0"/>
              </a:rPr>
              <a:t>$sort</a:t>
            </a:r>
            <a:r>
              <a:rPr kumimoji="0" lang="en-US" sz="1600" b="0" i="0" u="none" strike="noStrike" cap="none" normalizeH="0" baseline="0" dirty="0" smtClean="0">
                <a:ln>
                  <a:noFill/>
                </a:ln>
                <a:solidFill>
                  <a:srgbClr val="000000"/>
                </a:solidFill>
                <a:effectLst/>
                <a:latin typeface="Clarity City"/>
                <a:cs typeface="Arial" pitchFamily="34" charset="0"/>
              </a:rPr>
              <a:t>  stage – sorts the resulting documents the way we require (ascending or descending)</a:t>
            </a:r>
            <a:endParaRPr kumimoji="0" lang="en-US" sz="1200" b="0" i="0" u="none" strike="noStrike" cap="none" normalizeH="0" baseline="0" dirty="0" smtClean="0">
              <a:ln>
                <a:noFill/>
              </a:ln>
              <a:solidFill>
                <a:srgbClr val="404040"/>
              </a:solidFill>
              <a:effectLst/>
              <a:latin typeface="Clarity City"/>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ChangeArrowheads="1"/>
          </p:cNvSpPr>
          <p:nvPr/>
        </p:nvSpPr>
        <p:spPr bwMode="auto">
          <a:xfrm>
            <a:off x="142844" y="1928802"/>
            <a:ext cx="9001156" cy="2215991"/>
          </a:xfrm>
          <a:prstGeom prst="rect">
            <a:avLst/>
          </a:prstGeom>
          <a:no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0000"/>
                </a:solidFill>
                <a:effectLst/>
                <a:latin typeface="Lato"/>
                <a:cs typeface="Arial" pitchFamily="34" charset="0"/>
              </a:rPr>
              <a:t>The aggregate() Method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Verdana" pitchFamily="34" charset="0"/>
                <a:cs typeface="Arial" pitchFamily="34" charset="0"/>
              </a:rPr>
              <a:t>For the aggregation in </a:t>
            </a:r>
            <a:r>
              <a:rPr kumimoji="0" lang="en-US" sz="2400" b="0" i="0" u="none" strike="noStrike" cap="none" normalizeH="0" baseline="0" dirty="0" err="1" smtClean="0">
                <a:ln>
                  <a:noFill/>
                </a:ln>
                <a:solidFill>
                  <a:srgbClr val="000000"/>
                </a:solidFill>
                <a:effectLst/>
                <a:latin typeface="Verdana" pitchFamily="34" charset="0"/>
                <a:cs typeface="Arial" pitchFamily="34" charset="0"/>
              </a:rPr>
              <a:t>MongoDB</a:t>
            </a:r>
            <a:r>
              <a:rPr kumimoji="0" lang="en-US" sz="2400" b="0" i="0" u="none" strike="noStrike" cap="none" normalizeH="0" baseline="0" dirty="0" smtClean="0">
                <a:ln>
                  <a:noFill/>
                </a:ln>
                <a:solidFill>
                  <a:srgbClr val="000000"/>
                </a:solidFill>
                <a:effectLst/>
                <a:latin typeface="Verdana" pitchFamily="34" charset="0"/>
                <a:cs typeface="Arial" pitchFamily="34" charset="0"/>
              </a:rPr>
              <a:t>, you should use </a:t>
            </a:r>
            <a:r>
              <a:rPr kumimoji="0" lang="en-US" sz="2400" b="1" i="0" u="none" strike="noStrike" cap="none" normalizeH="0" baseline="0" dirty="0" smtClean="0">
                <a:ln>
                  <a:noFill/>
                </a:ln>
                <a:solidFill>
                  <a:srgbClr val="000000"/>
                </a:solidFill>
                <a:effectLst/>
                <a:latin typeface="inherit"/>
                <a:cs typeface="Arial" pitchFamily="34" charset="0"/>
              </a:rPr>
              <a:t>aggregate()</a:t>
            </a:r>
            <a:r>
              <a:rPr kumimoji="0" lang="en-US" sz="2400" b="0" i="0" u="none" strike="noStrike" cap="none" normalizeH="0" baseline="0" dirty="0" smtClean="0">
                <a:ln>
                  <a:noFill/>
                </a:ln>
                <a:solidFill>
                  <a:srgbClr val="000000"/>
                </a:solidFill>
                <a:effectLst/>
                <a:latin typeface="Verdana" pitchFamily="34" charset="0"/>
                <a:cs typeface="Arial" pitchFamily="34" charset="0"/>
              </a:rPr>
              <a:t> method.</a:t>
            </a:r>
            <a:endParaRPr kumimoji="0" lang="en-US" sz="3200" b="0" i="0" u="none" strike="noStrike" cap="none" normalizeH="0" baseline="0" dirty="0" smtClean="0">
              <a:ln>
                <a:noFill/>
              </a:ln>
              <a:solidFill>
                <a:schemeClr val="tx1"/>
              </a:solidFill>
              <a:effectLst/>
              <a:latin typeface="Verdana"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Verdana" pitchFamily="34" charset="0"/>
                <a:cs typeface="Arial" pitchFamily="34" charset="0"/>
              </a:rPr>
              <a:t>Syntax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Verdana" pitchFamily="34" charset="0"/>
                <a:cs typeface="Arial" pitchFamily="34" charset="0"/>
              </a:rPr>
              <a:t>Basic syntax of </a:t>
            </a:r>
            <a:r>
              <a:rPr kumimoji="0" lang="en-US" sz="2400" b="1" i="0" u="none" strike="noStrike" cap="none" normalizeH="0" baseline="0" dirty="0" smtClean="0">
                <a:ln>
                  <a:noFill/>
                </a:ln>
                <a:solidFill>
                  <a:srgbClr val="000000"/>
                </a:solidFill>
                <a:effectLst/>
                <a:latin typeface="inherit"/>
                <a:cs typeface="Arial" pitchFamily="34" charset="0"/>
              </a:rPr>
              <a:t>aggregate()</a:t>
            </a:r>
            <a:r>
              <a:rPr kumimoji="0" lang="en-US" sz="2400" b="0" i="0" u="none" strike="noStrike" cap="none" normalizeH="0" baseline="0" dirty="0" smtClean="0">
                <a:ln>
                  <a:noFill/>
                </a:ln>
                <a:solidFill>
                  <a:srgbClr val="000000"/>
                </a:solidFill>
                <a:effectLst/>
                <a:latin typeface="Verdana" pitchFamily="34" charset="0"/>
                <a:cs typeface="Arial" pitchFamily="34" charset="0"/>
              </a:rPr>
              <a:t> method is as follows −</a:t>
            </a:r>
            <a:endParaRPr kumimoji="0" lang="en-US" sz="2400" b="0" i="0" u="none" strike="noStrike" cap="none" normalizeH="0" baseline="0" dirty="0" smtClean="0">
              <a:ln>
                <a:noFill/>
              </a:ln>
              <a:solidFill>
                <a:srgbClr val="000000"/>
              </a:solidFill>
              <a:effectLst/>
              <a:latin typeface="ui-monospace"/>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ui-monospace"/>
                <a:cs typeface="Arial" pitchFamily="34" charset="0"/>
              </a:rPr>
              <a:t>&gt;</a:t>
            </a:r>
            <a:r>
              <a:rPr kumimoji="0" lang="en-US" sz="2400" b="0" i="0" u="none" strike="noStrike" cap="none" normalizeH="0" baseline="0" dirty="0" err="1" smtClean="0">
                <a:ln>
                  <a:noFill/>
                </a:ln>
                <a:solidFill>
                  <a:srgbClr val="000000"/>
                </a:solidFill>
                <a:effectLst/>
                <a:latin typeface="ui-monospace"/>
                <a:cs typeface="Arial" pitchFamily="34" charset="0"/>
              </a:rPr>
              <a:t>db.COLLECTION_NAME.aggregate</a:t>
            </a:r>
            <a:r>
              <a:rPr kumimoji="0" lang="en-US" sz="2400" b="0" i="0" u="none" strike="noStrike" cap="none" normalizeH="0" baseline="0" dirty="0" smtClean="0">
                <a:ln>
                  <a:noFill/>
                </a:ln>
                <a:solidFill>
                  <a:srgbClr val="000000"/>
                </a:solidFill>
                <a:effectLst/>
                <a:latin typeface="ui-monospace"/>
                <a:cs typeface="Arial" pitchFamily="34" charset="0"/>
              </a:rPr>
              <a:t>(AGGREGATE_OPERAT</a:t>
            </a:r>
            <a:r>
              <a:rPr kumimoji="0" lang="en-US" sz="1100" b="0" i="0" u="none" strike="noStrike" cap="none" normalizeH="0" baseline="0" dirty="0" smtClean="0">
                <a:ln>
                  <a:noFill/>
                </a:ln>
                <a:solidFill>
                  <a:schemeClr val="tx1"/>
                </a:solidFill>
                <a:effectLst/>
                <a:latin typeface="Arial" pitchFamily="34" charset="0"/>
                <a:cs typeface="Arial" pitchFamily="34" charset="0"/>
              </a:rPr>
              <a:t> </a:t>
            </a:r>
            <a:endParaRPr kumimoji="0" lang="en-US" sz="4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00034" y="1582341"/>
            <a:ext cx="8143932" cy="2862322"/>
          </a:xfrm>
          <a:prstGeom prst="rect">
            <a:avLst/>
          </a:prstGeom>
        </p:spPr>
        <p:txBody>
          <a:bodyPr wrap="square">
            <a:spAutoFit/>
          </a:bodyPr>
          <a:lstStyle/>
          <a:p>
            <a:r>
              <a:rPr lang="en-US" dirty="0" err="1" smtClean="0"/>
              <a:t>db.posts.aggregate</a:t>
            </a:r>
            <a:r>
              <a:rPr lang="en-US" dirty="0" smtClean="0"/>
              <a:t>([</a:t>
            </a:r>
          </a:p>
          <a:p>
            <a:r>
              <a:rPr lang="en-US" dirty="0" smtClean="0"/>
              <a:t>  // Stage 1: Only find documents that have more than 1 like</a:t>
            </a:r>
          </a:p>
          <a:p>
            <a:r>
              <a:rPr lang="en-US" dirty="0" smtClean="0"/>
              <a:t>  {</a:t>
            </a:r>
          </a:p>
          <a:p>
            <a:r>
              <a:rPr lang="en-US" dirty="0" smtClean="0"/>
              <a:t>    $match: { likes: { $</a:t>
            </a:r>
            <a:r>
              <a:rPr lang="en-US" dirty="0" err="1" smtClean="0"/>
              <a:t>gt</a:t>
            </a:r>
            <a:r>
              <a:rPr lang="en-US" dirty="0" smtClean="0"/>
              <a:t>: 1 } }</a:t>
            </a:r>
          </a:p>
          <a:p>
            <a:r>
              <a:rPr lang="en-US" dirty="0" smtClean="0"/>
              <a:t>  },</a:t>
            </a:r>
          </a:p>
          <a:p>
            <a:r>
              <a:rPr lang="en-US" dirty="0" smtClean="0"/>
              <a:t>  // Stage 2: Group documents by category and sum each categories likes</a:t>
            </a:r>
          </a:p>
          <a:p>
            <a:r>
              <a:rPr lang="en-US" dirty="0" smtClean="0"/>
              <a:t>  {</a:t>
            </a:r>
          </a:p>
          <a:p>
            <a:r>
              <a:rPr lang="en-US" dirty="0" smtClean="0"/>
              <a:t>    $group: { _id: "$category", </a:t>
            </a:r>
            <a:r>
              <a:rPr lang="en-US" dirty="0" err="1" smtClean="0"/>
              <a:t>totalLikes</a:t>
            </a:r>
            <a:r>
              <a:rPr lang="en-US" dirty="0" smtClean="0"/>
              <a:t>: { $sum: "$likes" } }</a:t>
            </a:r>
          </a:p>
          <a:p>
            <a:r>
              <a:rPr lang="en-US" dirty="0" smtClean="0"/>
              <a:t>  }</a:t>
            </a:r>
          </a:p>
          <a:p>
            <a:r>
              <a:rPr lang="en-US" dirty="0" smtClean="0"/>
              <a:t>])</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137</Words>
  <Application>Microsoft Office PowerPoint</Application>
  <PresentationFormat>On-screen Show (4:3)</PresentationFormat>
  <Paragraphs>53</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Windows User</cp:lastModifiedBy>
  <cp:revision>14</cp:revision>
  <dcterms:created xsi:type="dcterms:W3CDTF">2025-07-03T17:03:03Z</dcterms:created>
  <dcterms:modified xsi:type="dcterms:W3CDTF">2025-07-04T01:35:29Z</dcterms:modified>
</cp:coreProperties>
</file>