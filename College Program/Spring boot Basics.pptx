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7" r:id="rId3"/>
    <p:sldId id="318" r:id="rId4"/>
    <p:sldId id="321" r:id="rId5"/>
    <p:sldId id="319" r:id="rId6"/>
    <p:sldId id="320" r:id="rId7"/>
    <p:sldId id="257" r:id="rId8"/>
    <p:sldId id="258" r:id="rId9"/>
    <p:sldId id="322" r:id="rId10"/>
    <p:sldId id="259" r:id="rId11"/>
    <p:sldId id="260" r:id="rId12"/>
    <p:sldId id="316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314" r:id="rId37"/>
    <p:sldId id="315" r:id="rId38"/>
    <p:sldId id="306" r:id="rId39"/>
    <p:sldId id="307" r:id="rId40"/>
    <p:sldId id="308" r:id="rId41"/>
    <p:sldId id="309" r:id="rId42"/>
    <p:sldId id="310" r:id="rId43"/>
    <p:sldId id="311" r:id="rId44"/>
    <p:sldId id="312" r:id="rId45"/>
    <p:sldId id="313" r:id="rId46"/>
    <p:sldId id="323" r:id="rId47"/>
    <p:sldId id="324" r:id="rId4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83D8-9660-469E-BB89-B0E8EB1DD0AA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4AFE-8E4C-40BE-BFEB-35F614E27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83D8-9660-469E-BB89-B0E8EB1DD0AA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4AFE-8E4C-40BE-BFEB-35F614E27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83D8-9660-469E-BB89-B0E8EB1DD0AA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4AFE-8E4C-40BE-BFEB-35F614E27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83D8-9660-469E-BB89-B0E8EB1DD0AA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4AFE-8E4C-40BE-BFEB-35F614E27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83D8-9660-469E-BB89-B0E8EB1DD0AA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4AFE-8E4C-40BE-BFEB-35F614E27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83D8-9660-469E-BB89-B0E8EB1DD0AA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4AFE-8E4C-40BE-BFEB-35F614E27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83D8-9660-469E-BB89-B0E8EB1DD0AA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4AFE-8E4C-40BE-BFEB-35F614E27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83D8-9660-469E-BB89-B0E8EB1DD0AA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4AFE-8E4C-40BE-BFEB-35F614E27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83D8-9660-469E-BB89-B0E8EB1DD0AA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4AFE-8E4C-40BE-BFEB-35F614E27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83D8-9660-469E-BB89-B0E8EB1DD0AA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4AFE-8E4C-40BE-BFEB-35F614E27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83D8-9660-469E-BB89-B0E8EB1DD0AA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4AFE-8E4C-40BE-BFEB-35F614E27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D83D8-9660-469E-BB89-B0E8EB1DD0AA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24AFE-8E4C-40BE-BFEB-35F614E27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8596" y="2274838"/>
            <a:ext cx="828680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b="1" dirty="0" smtClean="0"/>
              <a:t>What is Spring Boot ?</a:t>
            </a:r>
          </a:p>
          <a:p>
            <a:pPr fontAlgn="base"/>
            <a:r>
              <a:rPr lang="en-US" dirty="0" smtClean="0"/>
              <a:t>Spring Boot is a combination of two words “Spring” and “Boot”. Here, the word ‘Spring’ represents a Spring Application. The word ‘Boot’ represents bootstrap. Hence, Spring Boot is an open-source java-based framework that helps in bootstrapping the Spring Application.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Spring Boot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Spring Boot is the combination of </a:t>
            </a:r>
            <a:r>
              <a:rPr lang="en-US" b="1" dirty="0" smtClean="0"/>
              <a:t>Spring Framework</a:t>
            </a:r>
            <a:r>
              <a:rPr lang="en-US" dirty="0" smtClean="0"/>
              <a:t> and </a:t>
            </a:r>
            <a:r>
              <a:rPr lang="en-US" b="1" dirty="0" smtClean="0"/>
              <a:t>Embedded Servers</a:t>
            </a:r>
            <a:r>
              <a:rPr lang="en-US" dirty="0" smtClean="0"/>
              <a:t>.</a:t>
            </a:r>
          </a:p>
          <a:p>
            <a:r>
              <a:rPr lang="en-US" dirty="0" smtClean="0"/>
              <a:t>In Spring Boot, there is no requirement for XML configuration (deployment descriptor). It uses convention over configuration software design paradigm that means it decreases the effort of the developer.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Spring Boot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What is Spring Boo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2564904"/>
            <a:ext cx="7620000" cy="19335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42844" y="499191"/>
            <a:ext cx="8858312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The main goal </a:t>
            </a:r>
            <a:r>
              <a:rPr lang="en-US" sz="2400" b="1" dirty="0" smtClean="0"/>
              <a:t>of Spring Boot Framework </a:t>
            </a:r>
            <a:r>
              <a:rPr lang="en-US" sz="2400" dirty="0" smtClean="0"/>
              <a:t>is to </a:t>
            </a:r>
            <a:r>
              <a:rPr lang="en-US" sz="2400" b="1" dirty="0" smtClean="0"/>
              <a:t>reduce Development, Unit Test and Integration Test time and to ease the development of Production ready web applications very easily compared to existing Spring Framework</a:t>
            </a:r>
            <a:r>
              <a:rPr lang="en-US" sz="2400" dirty="0" smtClean="0"/>
              <a:t>, which really takes more time.</a:t>
            </a:r>
          </a:p>
          <a:p>
            <a:endParaRPr lang="en-US" sz="2400" dirty="0" smtClean="0"/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To avoid XML Configuration completely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To avoid defining more Annotation Configuration(It combined some existing Spring Framework Annotations to a simple and single Annotation)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To avoid writing lots of import statements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To provide some defaults to quick start new projects within no time.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To provide Opinionated Development approach.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By providing or avoiding these things, Spring Boot Framework reduces Development time, Developer Effort and increases productivity.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2" y="285728"/>
            <a:ext cx="9154846" cy="6357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736725"/>
            <a:ext cx="9144000" cy="338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50" y="892175"/>
            <a:ext cx="8801100" cy="507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42852"/>
            <a:ext cx="8929718" cy="67151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1670" y="500042"/>
            <a:ext cx="9002330" cy="5715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76" y="714356"/>
            <a:ext cx="9142124" cy="57864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8" y="214290"/>
            <a:ext cx="8858280" cy="6072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214290"/>
            <a:ext cx="7429552" cy="66437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142852"/>
            <a:ext cx="8858312" cy="6572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000108"/>
            <a:ext cx="8353425" cy="227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1463" y="414359"/>
            <a:ext cx="8601075" cy="608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6" y="71414"/>
            <a:ext cx="8501090" cy="6770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3413" y="1471613"/>
            <a:ext cx="7877175" cy="391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0"/>
            <a:ext cx="8072494" cy="6572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4940" y="1357298"/>
            <a:ext cx="8594117" cy="41434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9563" y="928688"/>
            <a:ext cx="8524875" cy="500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3797" y="500042"/>
            <a:ext cx="8554483" cy="6000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6238" y="857232"/>
            <a:ext cx="8553480" cy="4862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214290"/>
            <a:ext cx="7929618" cy="6493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3863" y="1119188"/>
            <a:ext cx="8296275" cy="461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71480"/>
            <a:ext cx="9021521" cy="18669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42852"/>
            <a:ext cx="8715436" cy="6429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214290"/>
            <a:ext cx="8811959" cy="4500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1142984"/>
            <a:ext cx="6442944" cy="4643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5" y="428604"/>
            <a:ext cx="9001125" cy="435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300163"/>
            <a:ext cx="7772400" cy="425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785794"/>
            <a:ext cx="6638925" cy="101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282" y="4143380"/>
            <a:ext cx="8845274" cy="200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14290"/>
            <a:ext cx="8072462" cy="6591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0" y="2967335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mtClean="0"/>
              <a:t>https://medium.com/spring-boot/spring-boot-3-spring-security-6-jwt-authentication-authorization-98702d6313a5</a:t>
            </a:r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0" y="2967335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https://www.youtube.com/watch?v=l2eJAMHNdQs&amp;list=PLajapDHA6CyeWFG6hbi8wkdxf76m2mmGZ&amp;index=7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785918" y="1357298"/>
            <a:ext cx="45794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https://github.com/nakeshsingh/microservices</a:t>
            </a:r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428603"/>
            <a:ext cx="9144000" cy="61087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54025"/>
            <a:ext cx="9144000" cy="5949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8137" y="214290"/>
            <a:ext cx="9055863" cy="61118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428604"/>
            <a:ext cx="9144000" cy="61118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472" y="2413338"/>
            <a:ext cx="785818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What is Lombok?</a:t>
            </a:r>
          </a:p>
          <a:p>
            <a:r>
              <a:rPr lang="en-US" dirty="0" smtClean="0"/>
              <a:t>Lombok is a Java library that plugs into your IDE and builds tools to automatically generate boilerplate code at compile-time. This means that developers don’t have to write repetitive code for getters, setters, constructors, or logging — Lombok does it for them.</a:t>
            </a:r>
            <a:endParaRPr 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4282" y="857232"/>
            <a:ext cx="8643998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b="1" dirty="0" smtClean="0"/>
              <a:t>Layers in Spring Boot</a:t>
            </a:r>
          </a:p>
          <a:p>
            <a:pPr fontAlgn="base"/>
            <a:r>
              <a:rPr lang="en-US" dirty="0" smtClean="0"/>
              <a:t>Spring Boot follows a layered architecture with the following key layers:</a:t>
            </a:r>
          </a:p>
          <a:p>
            <a:pPr fontAlgn="base"/>
            <a:r>
              <a:rPr lang="en-US" b="1" dirty="0" smtClean="0"/>
              <a:t>Client Layer:</a:t>
            </a:r>
            <a:endParaRPr lang="en-US" dirty="0" smtClean="0"/>
          </a:p>
          <a:p>
            <a:pPr lvl="1" fontAlgn="base"/>
            <a:r>
              <a:rPr lang="en-US" dirty="0" smtClean="0"/>
              <a:t>This represents the external system or user that interacts with the application by sending HTTPS requests.</a:t>
            </a:r>
          </a:p>
          <a:p>
            <a:pPr fontAlgn="base"/>
            <a:r>
              <a:rPr lang="en-US" b="1" dirty="0" smtClean="0"/>
              <a:t>Controller Layer (Presentation Layer):</a:t>
            </a:r>
            <a:endParaRPr lang="en-US" dirty="0" smtClean="0"/>
          </a:p>
          <a:p>
            <a:pPr lvl="1" fontAlgn="base"/>
            <a:r>
              <a:rPr lang="en-US" dirty="0" smtClean="0"/>
              <a:t>Handles incoming HTTP requests from the client.</a:t>
            </a:r>
          </a:p>
          <a:p>
            <a:pPr lvl="1" fontAlgn="base"/>
            <a:r>
              <a:rPr lang="en-US" dirty="0" smtClean="0"/>
              <a:t>Processes the request and sends a response.</a:t>
            </a:r>
          </a:p>
          <a:p>
            <a:pPr lvl="1" fontAlgn="base"/>
            <a:r>
              <a:rPr lang="en-US" dirty="0" smtClean="0"/>
              <a:t>Delegates business logic processing to the Service Layer.</a:t>
            </a:r>
          </a:p>
          <a:p>
            <a:pPr fontAlgn="base"/>
            <a:r>
              <a:rPr lang="en-US" b="1" dirty="0" smtClean="0"/>
              <a:t>Service Layer (Business Logic Layer)</a:t>
            </a:r>
            <a:r>
              <a:rPr lang="en-US" dirty="0" smtClean="0"/>
              <a:t>:</a:t>
            </a:r>
          </a:p>
          <a:p>
            <a:pPr lvl="1" fontAlgn="base"/>
            <a:r>
              <a:rPr lang="en-US" dirty="0" smtClean="0"/>
              <a:t>Contains business logic and service classes.</a:t>
            </a:r>
          </a:p>
          <a:p>
            <a:pPr lvl="1" fontAlgn="base"/>
            <a:r>
              <a:rPr lang="en-US" dirty="0" smtClean="0"/>
              <a:t>Communicates with the Repository Layer to fetch or update data.</a:t>
            </a:r>
          </a:p>
          <a:p>
            <a:pPr lvl="1" fontAlgn="base"/>
            <a:r>
              <a:rPr lang="en-US" dirty="0" smtClean="0"/>
              <a:t>Uses Dependency Injection to get required repository services</a:t>
            </a:r>
            <a:r>
              <a:rPr lang="en-US" dirty="0" smtClean="0"/>
              <a:t>.</a:t>
            </a:r>
            <a:endParaRPr lang="en-US" dirty="0" smtClean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5720" y="1305342"/>
            <a:ext cx="657228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b="1" dirty="0" smtClean="0"/>
              <a:t>Repository Layer (Data Access Layer)</a:t>
            </a:r>
            <a:r>
              <a:rPr lang="en-US" dirty="0" smtClean="0"/>
              <a:t>:</a:t>
            </a:r>
          </a:p>
          <a:p>
            <a:pPr lvl="1" fontAlgn="base"/>
            <a:r>
              <a:rPr lang="en-US" dirty="0" smtClean="0"/>
              <a:t>Handles CRUD (Create, Read, Update, Delete) operations on the database.</a:t>
            </a:r>
          </a:p>
          <a:p>
            <a:pPr lvl="1" fontAlgn="base"/>
            <a:r>
              <a:rPr lang="en-US" dirty="0" smtClean="0"/>
              <a:t>Extends Spring Data JPA or other persistence mechanisms.</a:t>
            </a:r>
          </a:p>
          <a:p>
            <a:pPr fontAlgn="base"/>
            <a:r>
              <a:rPr lang="en-US" b="1" dirty="0" smtClean="0"/>
              <a:t>Model Layer (Entity Layer):</a:t>
            </a:r>
            <a:endParaRPr lang="en-US" dirty="0" smtClean="0"/>
          </a:p>
          <a:p>
            <a:pPr lvl="1" fontAlgn="base"/>
            <a:r>
              <a:rPr lang="en-US" dirty="0" smtClean="0"/>
              <a:t>Represents database entities and domain models.</a:t>
            </a:r>
          </a:p>
          <a:p>
            <a:pPr lvl="1" fontAlgn="base"/>
            <a:r>
              <a:rPr lang="en-US" dirty="0" smtClean="0"/>
              <a:t>Maps to tables in the database using JPA/Spring Data.</a:t>
            </a:r>
          </a:p>
          <a:p>
            <a:pPr fontAlgn="base"/>
            <a:r>
              <a:rPr lang="en-US" b="1" dirty="0" smtClean="0"/>
              <a:t>Database Layer:</a:t>
            </a:r>
            <a:endParaRPr lang="en-US" dirty="0" smtClean="0"/>
          </a:p>
          <a:p>
            <a:pPr lvl="1" fontAlgn="base"/>
            <a:r>
              <a:rPr lang="en-US" dirty="0" smtClean="0"/>
              <a:t>The actual database that stores application data.</a:t>
            </a:r>
          </a:p>
          <a:p>
            <a:pPr lvl="1" fontAlgn="base"/>
            <a:r>
              <a:rPr lang="en-US" dirty="0" smtClean="0"/>
              <a:t>Spring Boot interacts with it through JPA/Spring Data.</a:t>
            </a:r>
            <a:endParaRPr 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75" y="114300"/>
            <a:ext cx="7715250" cy="662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422</Words>
  <Application>Microsoft Office PowerPoint</Application>
  <PresentationFormat>On-screen Show (4:3)</PresentationFormat>
  <Paragraphs>42</Paragraphs>
  <Slides>47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48" baseType="lpstr">
      <vt:lpstr>Office Theme</vt:lpstr>
      <vt:lpstr>Slide 1</vt:lpstr>
      <vt:lpstr>Slide 2</vt:lpstr>
      <vt:lpstr>Slide 3</vt:lpstr>
      <vt:lpstr>Slide 4</vt:lpstr>
      <vt:lpstr>What is Spring Boot ?</vt:lpstr>
      <vt:lpstr>What is Spring Boot ?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Windows User</cp:lastModifiedBy>
  <cp:revision>28</cp:revision>
  <dcterms:created xsi:type="dcterms:W3CDTF">2023-10-01T05:28:31Z</dcterms:created>
  <dcterms:modified xsi:type="dcterms:W3CDTF">2025-07-01T08:29:55Z</dcterms:modified>
</cp:coreProperties>
</file>