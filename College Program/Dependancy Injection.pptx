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  <p:sldId id="300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99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5" r:id="rId42"/>
    <p:sldId id="296" r:id="rId43"/>
    <p:sldId id="297" r:id="rId44"/>
    <p:sldId id="298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8E434-ED76-45E6-919E-6F50FFCDC17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714356"/>
            <a:ext cx="7929618" cy="499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196752"/>
            <a:ext cx="7704856" cy="4540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340768"/>
            <a:ext cx="7200800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124744"/>
            <a:ext cx="612068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000108"/>
            <a:ext cx="8286808" cy="402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357166"/>
            <a:ext cx="8001056" cy="600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714356"/>
            <a:ext cx="8572560" cy="516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785794"/>
            <a:ext cx="8072494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196752"/>
            <a:ext cx="7386044" cy="4804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571480"/>
            <a:ext cx="7858180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42910" y="4143380"/>
            <a:ext cx="5143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1. XML Based Configuration</a:t>
            </a:r>
          </a:p>
          <a:p>
            <a:r>
              <a:rPr lang="en-US" dirty="0" smtClean="0"/>
              <a:t>2. Annotation Based Configuration</a:t>
            </a:r>
          </a:p>
          <a:p>
            <a:r>
              <a:rPr lang="en-US" dirty="0" smtClean="0"/>
              <a:t>3. Java Based </a:t>
            </a:r>
            <a:r>
              <a:rPr lang="en-US" dirty="0" smtClean="0"/>
              <a:t>Configuration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&lt;?xml version = "1.0" encoding = "UTF-8"?&gt; &lt;beans </a:t>
            </a:r>
            <a:r>
              <a:rPr lang="en-US" dirty="0" err="1" smtClean="0"/>
              <a:t>xmlns</a:t>
            </a:r>
            <a:r>
              <a:rPr lang="en-US" dirty="0" smtClean="0"/>
              <a:t> = "http://www.springframework.org/schema/beans" </a:t>
            </a:r>
            <a:r>
              <a:rPr lang="en-US" dirty="0" err="1" smtClean="0"/>
              <a:t>xmlns:xsi</a:t>
            </a:r>
            <a:r>
              <a:rPr lang="en-US" dirty="0" smtClean="0"/>
              <a:t> = "http://www.w3.org/2001/XMLSchema-instance" </a:t>
            </a:r>
            <a:r>
              <a:rPr lang="en-US" dirty="0" err="1" smtClean="0"/>
              <a:t>xsi:schemaLocation</a:t>
            </a:r>
            <a:r>
              <a:rPr lang="en-US" dirty="0" smtClean="0"/>
              <a:t> = "http://www.springframework.org/schema/beans http://www.springframework.org/schema/beans/spring-beans-3.0.xsd"&gt;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&lt;!-- </a:t>
            </a:r>
            <a:r>
              <a:rPr lang="en-US" dirty="0" smtClean="0"/>
              <a:t>A simple bean definition --&gt; &lt;bean id = "..." class = </a:t>
            </a:r>
            <a:r>
              <a:rPr lang="en-US" dirty="0" smtClean="0"/>
              <a:t>"..."&gt;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&lt;!-- collaborators and configuration for this bean go here --&gt; &lt;/bean</a:t>
            </a:r>
            <a:r>
              <a:rPr lang="en-US" dirty="0" smtClean="0"/>
              <a:t>&gt;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&lt;!-- A bean definition with lazy init set on </a:t>
            </a:r>
            <a:r>
              <a:rPr lang="en-US" dirty="0" smtClean="0"/>
              <a:t>--&gt;</a:t>
            </a:r>
          </a:p>
          <a:p>
            <a:r>
              <a:rPr lang="en-US" dirty="0" smtClean="0"/>
              <a:t> </a:t>
            </a:r>
            <a:r>
              <a:rPr lang="en-US" dirty="0" smtClean="0"/>
              <a:t>&lt;bean id = "..." class = "..." lazy-init = "true"&gt; &lt;!-- collaborators and configuration for this bean go here --&gt; &lt;/bean&gt;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&lt;!-- </a:t>
            </a:r>
            <a:r>
              <a:rPr lang="en-US" dirty="0" smtClean="0"/>
              <a:t>A bean definition with initialization method --&gt; </a:t>
            </a:r>
            <a:endParaRPr lang="en-US" dirty="0" smtClean="0"/>
          </a:p>
          <a:p>
            <a:r>
              <a:rPr lang="en-US" dirty="0" smtClean="0"/>
              <a:t>&lt;</a:t>
            </a:r>
            <a:r>
              <a:rPr lang="en-US" dirty="0" smtClean="0"/>
              <a:t>bean id = "..." class = "..." init-method = </a:t>
            </a:r>
            <a:r>
              <a:rPr lang="en-US" dirty="0" smtClean="0"/>
              <a:t>"..."&gt;</a:t>
            </a:r>
          </a:p>
          <a:p>
            <a:r>
              <a:rPr lang="en-US" dirty="0" smtClean="0"/>
              <a:t> </a:t>
            </a:r>
            <a:r>
              <a:rPr lang="en-US" dirty="0" smtClean="0"/>
              <a:t>&lt;!-- collaborators and configuration for this bean go here </a:t>
            </a:r>
            <a:r>
              <a:rPr lang="en-US" dirty="0" smtClean="0"/>
              <a:t>--&gt;</a:t>
            </a:r>
          </a:p>
          <a:p>
            <a:r>
              <a:rPr lang="en-US" dirty="0" smtClean="0"/>
              <a:t> </a:t>
            </a:r>
            <a:r>
              <a:rPr lang="en-US" dirty="0" smtClean="0"/>
              <a:t>&lt;/bean</a:t>
            </a:r>
            <a:r>
              <a:rPr lang="en-US" dirty="0" smtClean="0"/>
              <a:t>&gt;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&lt;!-- A bean definition with destruction method --&gt; </a:t>
            </a:r>
            <a:endParaRPr lang="en-US" dirty="0" smtClean="0"/>
          </a:p>
          <a:p>
            <a:r>
              <a:rPr lang="en-US" dirty="0" smtClean="0"/>
              <a:t>&lt;</a:t>
            </a:r>
            <a:r>
              <a:rPr lang="en-US" dirty="0" smtClean="0"/>
              <a:t>bean id = "..." class = "..." destroy-method = "..."&gt; </a:t>
            </a:r>
            <a:endParaRPr lang="en-US" dirty="0" smtClean="0"/>
          </a:p>
          <a:p>
            <a:r>
              <a:rPr lang="en-US" dirty="0" smtClean="0"/>
              <a:t>&lt;!-- </a:t>
            </a:r>
            <a:r>
              <a:rPr lang="en-US" dirty="0" smtClean="0"/>
              <a:t>collaborators and configuration for this bean go here --&gt; &lt;/bean&gt;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&lt;!-- </a:t>
            </a:r>
            <a:r>
              <a:rPr lang="en-US" dirty="0" smtClean="0"/>
              <a:t>more bean definitions go here --&gt; &lt;/beans&gt;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285860"/>
            <a:ext cx="7585728" cy="3507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071546"/>
            <a:ext cx="7500990" cy="4015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772816"/>
            <a:ext cx="6749742" cy="375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996440"/>
            <a:ext cx="7488832" cy="3952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506980"/>
            <a:ext cx="7560840" cy="322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412776"/>
            <a:ext cx="6264696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980728"/>
            <a:ext cx="4824536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548680"/>
            <a:ext cx="5400600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980728"/>
            <a:ext cx="6624736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4050" y="1400175"/>
            <a:ext cx="52959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95536" y="33265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1" dirty="0" smtClean="0"/>
          </a:p>
          <a:p>
            <a:r>
              <a:rPr lang="en-US" b="1" dirty="0" smtClean="0"/>
              <a:t>Reference Type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12776"/>
            <a:ext cx="8604448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8600" y="1701800"/>
            <a:ext cx="6146800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704850"/>
            <a:ext cx="80010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9188" y="1104900"/>
            <a:ext cx="690562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247606"/>
            <a:ext cx="9144000" cy="715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228528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Autowiring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modes: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r>
              <a:rPr lang="en-IN" b="1" dirty="0" smtClean="0">
                <a:latin typeface="Arial" pitchFamily="34" charset="0"/>
                <a:cs typeface="Arial" pitchFamily="34" charset="0"/>
              </a:rPr>
              <a:t>no: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IN" dirty="0" smtClean="0">
                <a:latin typeface="Arial" pitchFamily="34" charset="0"/>
                <a:cs typeface="Arial" pitchFamily="34" charset="0"/>
              </a:rPr>
              <a:t>Default, no auto wiring, set it manually via “ref” attribute as we have done in dependency injection via </a:t>
            </a:r>
            <a:r>
              <a:rPr lang="en-IN" dirty="0" err="1" smtClean="0">
                <a:latin typeface="Arial" pitchFamily="34" charset="0"/>
                <a:cs typeface="Arial" pitchFamily="34" charset="0"/>
              </a:rPr>
              <a:t>settor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 method post.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IN" b="1" dirty="0" err="1" smtClean="0">
                <a:latin typeface="Arial" pitchFamily="34" charset="0"/>
                <a:cs typeface="Arial" pitchFamily="34" charset="0"/>
              </a:rPr>
              <a:t>byName</a:t>
            </a:r>
            <a:r>
              <a:rPr lang="en-IN" b="1" dirty="0" smtClean="0">
                <a:latin typeface="Arial" pitchFamily="34" charset="0"/>
                <a:cs typeface="Arial" pitchFamily="34" charset="0"/>
              </a:rPr>
              <a:t>: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IN" dirty="0" err="1" smtClean="0">
                <a:latin typeface="Arial" pitchFamily="34" charset="0"/>
                <a:cs typeface="Arial" pitchFamily="34" charset="0"/>
              </a:rPr>
              <a:t>Autowiring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 by property name. Spring container looks at the properties of the beans on which </a:t>
            </a:r>
            <a:r>
              <a:rPr lang="en-IN" i="1" dirty="0" err="1" smtClean="0">
                <a:latin typeface="Arial" pitchFamily="34" charset="0"/>
                <a:cs typeface="Arial" pitchFamily="34" charset="0"/>
              </a:rPr>
              <a:t>autowire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 attribute is set to </a:t>
            </a:r>
            <a:r>
              <a:rPr lang="en-IN" i="1" dirty="0" err="1" smtClean="0">
                <a:latin typeface="Arial" pitchFamily="34" charset="0"/>
                <a:cs typeface="Arial" pitchFamily="34" charset="0"/>
              </a:rPr>
              <a:t>byName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 in the XML configuration file and it tries to match it with name of bean in xml configuration file.</a:t>
            </a:r>
          </a:p>
          <a:p>
            <a:endParaRPr lang="en-IN" dirty="0" smtClean="0">
              <a:latin typeface="Arial" pitchFamily="34" charset="0"/>
              <a:cs typeface="Arial" pitchFamily="34" charset="0"/>
            </a:endParaRP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IN" b="1" dirty="0" err="1" smtClean="0">
                <a:latin typeface="Arial" pitchFamily="34" charset="0"/>
                <a:cs typeface="Arial" pitchFamily="34" charset="0"/>
              </a:rPr>
              <a:t>byType</a:t>
            </a:r>
            <a:r>
              <a:rPr lang="en-IN" b="1" dirty="0" smtClean="0">
                <a:latin typeface="Arial" pitchFamily="34" charset="0"/>
                <a:cs typeface="Arial" pitchFamily="34" charset="0"/>
              </a:rPr>
              <a:t>: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IN" dirty="0" err="1" smtClean="0">
                <a:latin typeface="Arial" pitchFamily="34" charset="0"/>
                <a:cs typeface="Arial" pitchFamily="34" charset="0"/>
              </a:rPr>
              <a:t>Autowiring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 by property </a:t>
            </a:r>
            <a:r>
              <a:rPr lang="en-IN" dirty="0" err="1" smtClean="0">
                <a:latin typeface="Arial" pitchFamily="34" charset="0"/>
                <a:cs typeface="Arial" pitchFamily="34" charset="0"/>
              </a:rPr>
              <a:t>datatype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. Spring container looks at the properties of the beans on which </a:t>
            </a:r>
            <a:r>
              <a:rPr lang="en-IN" i="1" dirty="0" err="1" smtClean="0">
                <a:latin typeface="Arial" pitchFamily="34" charset="0"/>
                <a:cs typeface="Arial" pitchFamily="34" charset="0"/>
              </a:rPr>
              <a:t>autowire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 attribute is set to </a:t>
            </a:r>
            <a:r>
              <a:rPr lang="en-IN" i="1" dirty="0" err="1" smtClean="0">
                <a:latin typeface="Arial" pitchFamily="34" charset="0"/>
                <a:cs typeface="Arial" pitchFamily="34" charset="0"/>
              </a:rPr>
              <a:t>byType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 in the XML configuration file. </a:t>
            </a:r>
          </a:p>
          <a:p>
            <a:r>
              <a:rPr lang="en-IN" dirty="0" smtClean="0">
                <a:latin typeface="Arial" pitchFamily="34" charset="0"/>
                <a:cs typeface="Arial" pitchFamily="34" charset="0"/>
              </a:rPr>
              <a:t>It then tries to match and wire a property if its </a:t>
            </a:r>
            <a:r>
              <a:rPr lang="en-IN" b="1" dirty="0" smtClean="0">
                <a:latin typeface="Arial" pitchFamily="34" charset="0"/>
                <a:cs typeface="Arial" pitchFamily="34" charset="0"/>
              </a:rPr>
              <a:t>type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 matches with exactly one of the beans name in configuration file. If more than one such beans exists, a fatal exception is thrown.</a:t>
            </a:r>
          </a:p>
          <a:p>
            <a:endParaRPr lang="en-IN" dirty="0" smtClean="0">
              <a:latin typeface="Arial" pitchFamily="34" charset="0"/>
              <a:cs typeface="Arial" pitchFamily="34" charset="0"/>
            </a:endParaRP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IN" b="1" dirty="0" err="1" smtClean="0">
                <a:latin typeface="Arial" pitchFamily="34" charset="0"/>
                <a:cs typeface="Arial" pitchFamily="34" charset="0"/>
              </a:rPr>
              <a:t>contructor</a:t>
            </a:r>
            <a:r>
              <a:rPr lang="en-IN" b="1" dirty="0" smtClean="0">
                <a:latin typeface="Arial" pitchFamily="34" charset="0"/>
                <a:cs typeface="Arial" pitchFamily="34" charset="0"/>
              </a:rPr>
              <a:t>: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IN" dirty="0" err="1" smtClean="0">
                <a:latin typeface="Arial" pitchFamily="34" charset="0"/>
                <a:cs typeface="Arial" pitchFamily="34" charset="0"/>
              </a:rPr>
              <a:t>byType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 mode in constructor argument.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4472C4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1063" y="828675"/>
            <a:ext cx="7381875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625" y="890588"/>
            <a:ext cx="523875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913" y="1624013"/>
            <a:ext cx="8258175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788" y="1800225"/>
            <a:ext cx="873442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9150" y="1095375"/>
            <a:ext cx="7505700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3" y="1247775"/>
            <a:ext cx="7153275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2113" y="1028700"/>
            <a:ext cx="581977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952500"/>
            <a:ext cx="6404173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2188" y="1414463"/>
            <a:ext cx="4619625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9588" y="1647825"/>
            <a:ext cx="8124825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0975" y="1939925"/>
            <a:ext cx="6242050" cy="297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7950" y="1524000"/>
            <a:ext cx="63881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7775" y="1033463"/>
            <a:ext cx="6648450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642918"/>
            <a:ext cx="820891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The objects that form the backbone of your application and that are managed by the Spring </a:t>
            </a:r>
            <a:r>
              <a:rPr lang="en-US" sz="2800" dirty="0" err="1" smtClean="0"/>
              <a:t>IoC</a:t>
            </a:r>
            <a:r>
              <a:rPr lang="en-US" sz="2800" dirty="0" smtClean="0"/>
              <a:t> container are called </a:t>
            </a:r>
            <a:r>
              <a:rPr lang="en-US" sz="2800" b="1" dirty="0" smtClean="0"/>
              <a:t>beans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A bean is an object that is instantiated, assembled, and otherwise managed by a Spring </a:t>
            </a:r>
            <a:r>
              <a:rPr lang="en-US" sz="2800" dirty="0" err="1" smtClean="0"/>
              <a:t>IoC</a:t>
            </a:r>
            <a:r>
              <a:rPr lang="en-US" sz="2800" dirty="0" smtClean="0"/>
              <a:t> container. These beans are created with the configuration metadata that you supply to the container. 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For </a:t>
            </a:r>
            <a:r>
              <a:rPr lang="en-US" sz="2800" dirty="0" smtClean="0"/>
              <a:t>example, in the form of XML &lt;bean/&gt; definitions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692696"/>
            <a:ext cx="78488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In Spring, bean scope is used to decide which type of bean instance should be return from Spring container back to the caller.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67544" y="1720840"/>
            <a:ext cx="835292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There are 5 types of bean scopes supported in spring</a:t>
            </a:r>
          </a:p>
          <a:p>
            <a:endParaRPr lang="en-US" sz="2000" dirty="0" smtClean="0"/>
          </a:p>
          <a:p>
            <a:r>
              <a:rPr lang="en-US" sz="2000" b="1" dirty="0" smtClean="0"/>
              <a:t>singleton</a:t>
            </a:r>
            <a:r>
              <a:rPr lang="en-US" sz="2000" dirty="0" smtClean="0"/>
              <a:t> – Scopes a single bean definition to a single object instance per Spring </a:t>
            </a:r>
            <a:r>
              <a:rPr lang="en-US" sz="2000" dirty="0" err="1" smtClean="0"/>
              <a:t>IoC</a:t>
            </a:r>
            <a:r>
              <a:rPr lang="en-US" sz="2000" dirty="0" smtClean="0"/>
              <a:t> container.</a:t>
            </a:r>
          </a:p>
          <a:p>
            <a:endParaRPr lang="en-US" sz="2000" dirty="0" smtClean="0"/>
          </a:p>
          <a:p>
            <a:r>
              <a:rPr lang="en-US" sz="2000" b="1" dirty="0" smtClean="0"/>
              <a:t>prototype</a:t>
            </a:r>
            <a:r>
              <a:rPr lang="en-US" sz="2000" dirty="0" smtClean="0"/>
              <a:t> – Return a new bean instance each time when requested</a:t>
            </a:r>
          </a:p>
          <a:p>
            <a:endParaRPr lang="en-US" sz="2000" dirty="0" smtClean="0"/>
          </a:p>
          <a:p>
            <a:r>
              <a:rPr lang="en-US" sz="2000" b="1" dirty="0" smtClean="0"/>
              <a:t>request </a:t>
            </a:r>
            <a:r>
              <a:rPr lang="en-US" sz="2000" dirty="0" smtClean="0"/>
              <a:t>– Return a single bean instance per HTTP request.</a:t>
            </a:r>
          </a:p>
          <a:p>
            <a:endParaRPr lang="en-US" sz="2000" dirty="0" smtClean="0"/>
          </a:p>
          <a:p>
            <a:r>
              <a:rPr lang="en-US" sz="2000" b="1" dirty="0" smtClean="0"/>
              <a:t>session </a:t>
            </a:r>
            <a:r>
              <a:rPr lang="en-US" sz="2000" dirty="0" smtClean="0"/>
              <a:t>– Return a single bean instance per HTTP session.</a:t>
            </a:r>
          </a:p>
          <a:p>
            <a:endParaRPr lang="en-US" sz="2000" dirty="0" smtClean="0"/>
          </a:p>
          <a:p>
            <a:r>
              <a:rPr lang="en-US" sz="2000" b="1" dirty="0" err="1" smtClean="0"/>
              <a:t>globalSession</a:t>
            </a:r>
            <a:r>
              <a:rPr lang="en-US" sz="2000" dirty="0" smtClean="0"/>
              <a:t> – Return a single bean instance per global HTTP session.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332656"/>
            <a:ext cx="2207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Singleton bean scope</a:t>
            </a:r>
            <a:endParaRPr lang="en-US" b="1" dirty="0"/>
          </a:p>
        </p:txBody>
      </p:sp>
      <p:pic>
        <p:nvPicPr>
          <p:cNvPr id="3074" name="Picture 2" descr="https://2.bp.blogspot.com/-qofSu3rBgpM/UDkR5T_hV8I/AAAAAAAAAS0/ZAcHnGTa_VA/s640/singletonInSpring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857232"/>
            <a:ext cx="8358246" cy="55007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142852"/>
            <a:ext cx="2270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Prototype bean scope</a:t>
            </a:r>
            <a:endParaRPr lang="en-US" b="1" dirty="0"/>
          </a:p>
        </p:txBody>
      </p:sp>
      <p:pic>
        <p:nvPicPr>
          <p:cNvPr id="2050" name="Picture 2" descr="https://3.bp.blogspot.com/-pr4c67Nka1A/UDkPHP_JXcI/AAAAAAAAASc/iyv6oRPj4R0/s640/PrototypeInSpring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571480"/>
            <a:ext cx="7715304" cy="594264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309</Words>
  <Application>Microsoft Office PowerPoint</Application>
  <PresentationFormat>On-screen Show (4:3)</PresentationFormat>
  <Paragraphs>61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91924</dc:creator>
  <cp:lastModifiedBy>Windows User</cp:lastModifiedBy>
  <cp:revision>102</cp:revision>
  <dcterms:created xsi:type="dcterms:W3CDTF">2021-03-25T03:17:42Z</dcterms:created>
  <dcterms:modified xsi:type="dcterms:W3CDTF">2025-07-01T05:29:05Z</dcterms:modified>
</cp:coreProperties>
</file>